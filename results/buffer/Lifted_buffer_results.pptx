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buffer, gap 4.2 µm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  <c:pt idx="46">
                  <c:v>12.1</c:v>
                </c:pt>
              </c:numCache>
            </c:numRef>
          </c:xVal>
          <c:yVal>
            <c:numRef>
              <c:f>Sheet1!$B$2:$B$48</c:f>
              <c:numCache>
                <c:formatCode>General</c:formatCode>
                <c:ptCount val="47"/>
                <c:pt idx="0">
                  <c:v>0.6815</c:v>
                </c:pt>
                <c:pt idx="1">
                  <c:v>0.3521</c:v>
                </c:pt>
                <c:pt idx="2">
                  <c:v>0.2271</c:v>
                </c:pt>
                <c:pt idx="3">
                  <c:v>0.1826</c:v>
                </c:pt>
                <c:pt idx="4">
                  <c:v>0.1807</c:v>
                </c:pt>
                <c:pt idx="5">
                  <c:v>0.2216</c:v>
                </c:pt>
                <c:pt idx="6">
                  <c:v>0.3345</c:v>
                </c:pt>
                <c:pt idx="7">
                  <c:v>0.6016</c:v>
                </c:pt>
                <c:pt idx="8">
                  <c:v>0.8827</c:v>
                </c:pt>
                <c:pt idx="9">
                  <c:v>0.6382</c:v>
                </c:pt>
                <c:pt idx="10">
                  <c:v>0.3731</c:v>
                </c:pt>
                <c:pt idx="11">
                  <c:v>0.2513</c:v>
                </c:pt>
                <c:pt idx="12">
                  <c:v>0.2077</c:v>
                </c:pt>
                <c:pt idx="13">
                  <c:v>0.2073</c:v>
                </c:pt>
                <c:pt idx="14">
                  <c:v>0.2509</c:v>
                </c:pt>
                <c:pt idx="15">
                  <c:v>0.3633</c:v>
                </c:pt>
                <c:pt idx="16">
                  <c:v>0.5965</c:v>
                </c:pt>
                <c:pt idx="17">
                  <c:v>0.7824</c:v>
                </c:pt>
                <c:pt idx="18">
                  <c:v>0.6002</c:v>
                </c:pt>
                <c:pt idx="19">
                  <c:v>0.3825</c:v>
                </c:pt>
                <c:pt idx="20">
                  <c:v>0.2751</c:v>
                </c:pt>
                <c:pt idx="21">
                  <c:v>0.231</c:v>
                </c:pt>
                <c:pt idx="22">
                  <c:v>0.2329</c:v>
                </c:pt>
                <c:pt idx="23">
                  <c:v>0.2782</c:v>
                </c:pt>
                <c:pt idx="24">
                  <c:v>0.391</c:v>
                </c:pt>
                <c:pt idx="25">
                  <c:v>0.585</c:v>
                </c:pt>
                <c:pt idx="26">
                  <c:v>0.7076</c:v>
                </c:pt>
                <c:pt idx="27">
                  <c:v>0.566</c:v>
                </c:pt>
                <c:pt idx="28">
                  <c:v>0.3916</c:v>
                </c:pt>
                <c:pt idx="29">
                  <c:v>0.2914</c:v>
                </c:pt>
                <c:pt idx="30">
                  <c:v>0.2525</c:v>
                </c:pt>
                <c:pt idx="31">
                  <c:v>0.2549</c:v>
                </c:pt>
                <c:pt idx="32">
                  <c:v>0.3051</c:v>
                </c:pt>
                <c:pt idx="33">
                  <c:v>0.4036</c:v>
                </c:pt>
                <c:pt idx="34">
                  <c:v>0.5742</c:v>
                </c:pt>
                <c:pt idx="35">
                  <c:v>0.6495</c:v>
                </c:pt>
                <c:pt idx="36">
                  <c:v>0.5403</c:v>
                </c:pt>
                <c:pt idx="37">
                  <c:v>0.3937</c:v>
                </c:pt>
                <c:pt idx="38">
                  <c:v>0.3071</c:v>
                </c:pt>
                <c:pt idx="39">
                  <c:v>0.2723</c:v>
                </c:pt>
                <c:pt idx="40">
                  <c:v>0.276</c:v>
                </c:pt>
                <c:pt idx="41">
                  <c:v>0.3228</c:v>
                </c:pt>
                <c:pt idx="42">
                  <c:v>0.4169</c:v>
                </c:pt>
                <c:pt idx="43">
                  <c:v>0.5605</c:v>
                </c:pt>
                <c:pt idx="44">
                  <c:v>0.6071</c:v>
                </c:pt>
                <c:pt idx="45">
                  <c:v>0.5169</c:v>
                </c:pt>
                <c:pt idx="46">
                  <c:v>0.3284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Sheet1!$B$50</c:f>
              <c:strCache>
                <c:ptCount val="1"/>
                <c:pt idx="0">
                  <c:v>Legacy flat electrode, no lift (0.420)</c:v>
                </c:pt>
              </c:strCache>
            </c:strRef>
          </c:tx>
          <c:spPr>
            <a:ln w="19050">
              <a:solidFill>
                <a:srgbClr val="1BAF7A"/>
              </a:solidFill>
              <a:prstDash val="dash"/>
            </a:ln>
          </c:spPr>
          <c:marker>
            <c:symbol val="none"/>
          </c:marker>
          <c:xVal>
            <c:numRef>
              <c:f>Sheet1!$A$51:$A$52</c:f>
              <c:numCache>
                <c:formatCode>General</c:formatCode>
                <c:ptCount val="2"/>
                <c:pt idx="0">
                  <c:v>6.5</c:v>
                </c:pt>
                <c:pt idx="1">
                  <c:v>12.2</c:v>
                </c:pt>
              </c:numCache>
            </c:numRef>
          </c:xVal>
          <c:yVal>
            <c:numRef>
              <c:f>Sheet1!$B$51:$B$52</c:f>
              <c:numCache>
                <c:formatCode>General</c:formatCode>
                <c:ptCount val="2"/>
                <c:pt idx="0">
                  <c:v>0.4202</c:v>
                </c:pt>
                <c:pt idx="1">
                  <c:v>0.4202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5"/>
          <c:min val="6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x_lift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1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[dB/cm]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 nm buffer (new design)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4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Sheet1!$A$2:$A$84</c:f>
              <c:numCache>
                <c:formatCode>General</c:formatCode>
                <c:ptCount val="83"/>
                <c:pt idx="0">
                  <c:v>3.8</c:v>
                </c:pt>
                <c:pt idx="1">
                  <c:v>3.9</c:v>
                </c:pt>
                <c:pt idx="2">
                  <c:v>4.0</c:v>
                </c:pt>
                <c:pt idx="3">
                  <c:v>4.1</c:v>
                </c:pt>
                <c:pt idx="4">
                  <c:v>4.2</c:v>
                </c:pt>
                <c:pt idx="5">
                  <c:v>4.3</c:v>
                </c:pt>
                <c:pt idx="6">
                  <c:v>4.4</c:v>
                </c:pt>
                <c:pt idx="7">
                  <c:v>4.5</c:v>
                </c:pt>
                <c:pt idx="8">
                  <c:v>4.6</c:v>
                </c:pt>
                <c:pt idx="9">
                  <c:v>4.7</c:v>
                </c:pt>
                <c:pt idx="10">
                  <c:v>4.8</c:v>
                </c:pt>
                <c:pt idx="11">
                  <c:v>4.9</c:v>
                </c:pt>
                <c:pt idx="12">
                  <c:v>5.0</c:v>
                </c:pt>
                <c:pt idx="13">
                  <c:v>5.1</c:v>
                </c:pt>
                <c:pt idx="14">
                  <c:v>5.2</c:v>
                </c:pt>
                <c:pt idx="15">
                  <c:v>5.3</c:v>
                </c:pt>
                <c:pt idx="16">
                  <c:v>5.4</c:v>
                </c:pt>
                <c:pt idx="17">
                  <c:v>5.5</c:v>
                </c:pt>
                <c:pt idx="18">
                  <c:v>5.6</c:v>
                </c:pt>
                <c:pt idx="19">
                  <c:v>5.7</c:v>
                </c:pt>
                <c:pt idx="20">
                  <c:v>5.8</c:v>
                </c:pt>
                <c:pt idx="21">
                  <c:v>5.9</c:v>
                </c:pt>
                <c:pt idx="22">
                  <c:v>6.0</c:v>
                </c:pt>
                <c:pt idx="23">
                  <c:v>6.1</c:v>
                </c:pt>
                <c:pt idx="24">
                  <c:v>6.2</c:v>
                </c:pt>
                <c:pt idx="25">
                  <c:v>6.3</c:v>
                </c:pt>
                <c:pt idx="26">
                  <c:v>6.4</c:v>
                </c:pt>
                <c:pt idx="27">
                  <c:v>6.5</c:v>
                </c:pt>
                <c:pt idx="28">
                  <c:v>6.6</c:v>
                </c:pt>
                <c:pt idx="29">
                  <c:v>6.7</c:v>
                </c:pt>
                <c:pt idx="30">
                  <c:v>6.8</c:v>
                </c:pt>
                <c:pt idx="31">
                  <c:v>6.9</c:v>
                </c:pt>
                <c:pt idx="32">
                  <c:v>7.0</c:v>
                </c:pt>
                <c:pt idx="33">
                  <c:v>7.1</c:v>
                </c:pt>
                <c:pt idx="34">
                  <c:v>7.2</c:v>
                </c:pt>
                <c:pt idx="35">
                  <c:v>7.3</c:v>
                </c:pt>
                <c:pt idx="36">
                  <c:v>7.4</c:v>
                </c:pt>
                <c:pt idx="37">
                  <c:v>7.5</c:v>
                </c:pt>
                <c:pt idx="38">
                  <c:v>7.6</c:v>
                </c:pt>
                <c:pt idx="39">
                  <c:v>7.7</c:v>
                </c:pt>
                <c:pt idx="40">
                  <c:v>7.8</c:v>
                </c:pt>
                <c:pt idx="41">
                  <c:v>7.9</c:v>
                </c:pt>
                <c:pt idx="42">
                  <c:v>8.0</c:v>
                </c:pt>
                <c:pt idx="43">
                  <c:v>8.1</c:v>
                </c:pt>
                <c:pt idx="44">
                  <c:v>8.2</c:v>
                </c:pt>
                <c:pt idx="45">
                  <c:v>8.3</c:v>
                </c:pt>
                <c:pt idx="46">
                  <c:v>8.4</c:v>
                </c:pt>
                <c:pt idx="47">
                  <c:v>8.5</c:v>
                </c:pt>
                <c:pt idx="48">
                  <c:v>8.6</c:v>
                </c:pt>
                <c:pt idx="49">
                  <c:v>8.7</c:v>
                </c:pt>
                <c:pt idx="50">
                  <c:v>8.8</c:v>
                </c:pt>
                <c:pt idx="51">
                  <c:v>8.9</c:v>
                </c:pt>
                <c:pt idx="52">
                  <c:v>9.0</c:v>
                </c:pt>
                <c:pt idx="53">
                  <c:v>9.1</c:v>
                </c:pt>
                <c:pt idx="54">
                  <c:v>9.2</c:v>
                </c:pt>
                <c:pt idx="55">
                  <c:v>9.3</c:v>
                </c:pt>
                <c:pt idx="56">
                  <c:v>9.4</c:v>
                </c:pt>
                <c:pt idx="57">
                  <c:v>9.5</c:v>
                </c:pt>
                <c:pt idx="58">
                  <c:v>9.6</c:v>
                </c:pt>
                <c:pt idx="59">
                  <c:v>9.7</c:v>
                </c:pt>
                <c:pt idx="60">
                  <c:v>9.8</c:v>
                </c:pt>
                <c:pt idx="61">
                  <c:v>9.9</c:v>
                </c:pt>
                <c:pt idx="62">
                  <c:v>10.0</c:v>
                </c:pt>
                <c:pt idx="63">
                  <c:v>10.1</c:v>
                </c:pt>
                <c:pt idx="64">
                  <c:v>10.2</c:v>
                </c:pt>
                <c:pt idx="65">
                  <c:v>10.3</c:v>
                </c:pt>
                <c:pt idx="66">
                  <c:v>10.4</c:v>
                </c:pt>
                <c:pt idx="67">
                  <c:v>10.5</c:v>
                </c:pt>
                <c:pt idx="68">
                  <c:v>10.6</c:v>
                </c:pt>
                <c:pt idx="69">
                  <c:v>10.7</c:v>
                </c:pt>
                <c:pt idx="70">
                  <c:v>10.8</c:v>
                </c:pt>
                <c:pt idx="71">
                  <c:v>10.9</c:v>
                </c:pt>
                <c:pt idx="72">
                  <c:v>11.0</c:v>
                </c:pt>
                <c:pt idx="73">
                  <c:v>11.1</c:v>
                </c:pt>
                <c:pt idx="74">
                  <c:v>11.2</c:v>
                </c:pt>
                <c:pt idx="75">
                  <c:v>11.3</c:v>
                </c:pt>
                <c:pt idx="76">
                  <c:v>11.4</c:v>
                </c:pt>
                <c:pt idx="77">
                  <c:v>11.5</c:v>
                </c:pt>
                <c:pt idx="78">
                  <c:v>11.6</c:v>
                </c:pt>
                <c:pt idx="79">
                  <c:v>11.7</c:v>
                </c:pt>
                <c:pt idx="80">
                  <c:v>11.8</c:v>
                </c:pt>
                <c:pt idx="81">
                  <c:v>11.9</c:v>
                </c:pt>
                <c:pt idx="82">
                  <c:v>12.0</c:v>
                </c:pt>
              </c:numCache>
            </c:numRef>
          </c:xVal>
          <c:yVal>
            <c:numRef>
              <c:f>Sheet1!$B$2:$B$84</c:f>
              <c:numCache>
                <c:formatCode>General</c:formatCode>
                <c:ptCount val="83"/>
                <c:pt idx="0">
                  <c:v>0.0481</c:v>
                </c:pt>
                <c:pt idx="1">
                  <c:v>0.0481</c:v>
                </c:pt>
                <c:pt idx="2">
                  <c:v>0.0481</c:v>
                </c:pt>
                <c:pt idx="3">
                  <c:v>0.0481</c:v>
                </c:pt>
                <c:pt idx="4">
                  <c:v>0.0481</c:v>
                </c:pt>
                <c:pt idx="5">
                  <c:v>0.0481</c:v>
                </c:pt>
                <c:pt idx="6">
                  <c:v>0.0481</c:v>
                </c:pt>
                <c:pt idx="7">
                  <c:v>0.0481</c:v>
                </c:pt>
                <c:pt idx="8">
                  <c:v>0.048</c:v>
                </c:pt>
                <c:pt idx="9">
                  <c:v>0.048</c:v>
                </c:pt>
                <c:pt idx="10">
                  <c:v>0.0481</c:v>
                </c:pt>
                <c:pt idx="11">
                  <c:v>0.048</c:v>
                </c:pt>
                <c:pt idx="12">
                  <c:v>0.048</c:v>
                </c:pt>
                <c:pt idx="13">
                  <c:v>0.0481</c:v>
                </c:pt>
                <c:pt idx="14">
                  <c:v>0.048</c:v>
                </c:pt>
                <c:pt idx="15">
                  <c:v>0.0481</c:v>
                </c:pt>
                <c:pt idx="16">
                  <c:v>0.0481</c:v>
                </c:pt>
                <c:pt idx="17">
                  <c:v>0.048</c:v>
                </c:pt>
                <c:pt idx="18">
                  <c:v>0.048</c:v>
                </c:pt>
                <c:pt idx="19">
                  <c:v>0.0481</c:v>
                </c:pt>
                <c:pt idx="20">
                  <c:v>0.048</c:v>
                </c:pt>
                <c:pt idx="21">
                  <c:v>0.0481</c:v>
                </c:pt>
                <c:pt idx="22">
                  <c:v>0.0481</c:v>
                </c:pt>
                <c:pt idx="23">
                  <c:v>0.0481</c:v>
                </c:pt>
                <c:pt idx="24">
                  <c:v>0.0481</c:v>
                </c:pt>
                <c:pt idx="25">
                  <c:v>0.0481</c:v>
                </c:pt>
                <c:pt idx="26">
                  <c:v>0.0481</c:v>
                </c:pt>
                <c:pt idx="27">
                  <c:v>0.0481</c:v>
                </c:pt>
                <c:pt idx="28">
                  <c:v>0.0481</c:v>
                </c:pt>
                <c:pt idx="29">
                  <c:v>0.0481</c:v>
                </c:pt>
                <c:pt idx="30">
                  <c:v>0.0481</c:v>
                </c:pt>
                <c:pt idx="31">
                  <c:v>0.0481</c:v>
                </c:pt>
                <c:pt idx="32">
                  <c:v>0.0481</c:v>
                </c:pt>
                <c:pt idx="33">
                  <c:v>0.0481</c:v>
                </c:pt>
                <c:pt idx="34">
                  <c:v>0.0481</c:v>
                </c:pt>
                <c:pt idx="35">
                  <c:v>0.0481</c:v>
                </c:pt>
                <c:pt idx="36">
                  <c:v>0.0481</c:v>
                </c:pt>
                <c:pt idx="37">
                  <c:v>0.0481</c:v>
                </c:pt>
                <c:pt idx="38">
                  <c:v>0.0481</c:v>
                </c:pt>
                <c:pt idx="39">
                  <c:v>0.0481</c:v>
                </c:pt>
                <c:pt idx="40">
                  <c:v>0.0481</c:v>
                </c:pt>
                <c:pt idx="41">
                  <c:v>0.048</c:v>
                </c:pt>
                <c:pt idx="42">
                  <c:v>0.0481</c:v>
                </c:pt>
                <c:pt idx="43">
                  <c:v>0.0481</c:v>
                </c:pt>
                <c:pt idx="44">
                  <c:v>0.0481</c:v>
                </c:pt>
                <c:pt idx="45">
                  <c:v>0.0481</c:v>
                </c:pt>
                <c:pt idx="46">
                  <c:v>0.0481</c:v>
                </c:pt>
                <c:pt idx="47">
                  <c:v>0.0481</c:v>
                </c:pt>
                <c:pt idx="48">
                  <c:v>0.0481</c:v>
                </c:pt>
                <c:pt idx="49">
                  <c:v>0.0481</c:v>
                </c:pt>
                <c:pt idx="50">
                  <c:v>0.0481</c:v>
                </c:pt>
                <c:pt idx="51">
                  <c:v>0.0481</c:v>
                </c:pt>
                <c:pt idx="52">
                  <c:v>0.0481</c:v>
                </c:pt>
                <c:pt idx="53">
                  <c:v>0.0481</c:v>
                </c:pt>
                <c:pt idx="54">
                  <c:v>0.0481</c:v>
                </c:pt>
                <c:pt idx="55">
                  <c:v>0.0481</c:v>
                </c:pt>
                <c:pt idx="56">
                  <c:v>0.048</c:v>
                </c:pt>
                <c:pt idx="57">
                  <c:v>0.0481</c:v>
                </c:pt>
                <c:pt idx="58">
                  <c:v>0.0481</c:v>
                </c:pt>
                <c:pt idx="59">
                  <c:v>0.0481</c:v>
                </c:pt>
                <c:pt idx="60">
                  <c:v>0.0481</c:v>
                </c:pt>
                <c:pt idx="61">
                  <c:v>0.0481</c:v>
                </c:pt>
                <c:pt idx="62">
                  <c:v>0.0481</c:v>
                </c:pt>
                <c:pt idx="63">
                  <c:v>0.0481</c:v>
                </c:pt>
                <c:pt idx="64">
                  <c:v>0.0481</c:v>
                </c:pt>
                <c:pt idx="65">
                  <c:v>0.0481</c:v>
                </c:pt>
                <c:pt idx="66">
                  <c:v>0.0481</c:v>
                </c:pt>
                <c:pt idx="67">
                  <c:v>0.0481</c:v>
                </c:pt>
                <c:pt idx="68">
                  <c:v>0.0481</c:v>
                </c:pt>
                <c:pt idx="69">
                  <c:v>0.0481</c:v>
                </c:pt>
                <c:pt idx="70">
                  <c:v>0.0481</c:v>
                </c:pt>
                <c:pt idx="71">
                  <c:v>0.0481</c:v>
                </c:pt>
                <c:pt idx="72">
                  <c:v>0.0481</c:v>
                </c:pt>
                <c:pt idx="73">
                  <c:v>0.0481</c:v>
                </c:pt>
                <c:pt idx="74">
                  <c:v>0.0481</c:v>
                </c:pt>
                <c:pt idx="75">
                  <c:v>0.0481</c:v>
                </c:pt>
                <c:pt idx="76">
                  <c:v>0.0481</c:v>
                </c:pt>
                <c:pt idx="77">
                  <c:v>0.0481</c:v>
                </c:pt>
                <c:pt idx="78">
                  <c:v>0.0481</c:v>
                </c:pt>
                <c:pt idx="79">
                  <c:v>0.0481</c:v>
                </c:pt>
                <c:pt idx="80">
                  <c:v>0.0481</c:v>
                </c:pt>
                <c:pt idx="81">
                  <c:v>0.0481</c:v>
                </c:pt>
                <c:pt idx="82">
                  <c:v>0.0481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Sheet1!$B$86</c:f>
              <c:strCache>
                <c:ptCount val="1"/>
                <c:pt idx="0">
                  <c:v>No buffer, gap 4.2 (previous)</c:v>
                </c:pt>
              </c:strCache>
            </c:strRef>
          </c:tx>
          <c:spPr>
            <a:ln w="19050">
              <a:solidFill>
                <a:srgbClr val="8A8A8A"/>
              </a:solidFill>
            </a:ln>
          </c:spPr>
          <c:marker>
            <c:symbol val="circle"/>
            <c:size val="4"/>
            <c:spPr>
              <a:solidFill>
                <a:srgbClr val="8A8A8A"/>
              </a:solidFill>
              <a:ln>
                <a:solidFill>
                  <a:srgbClr val="8A8A8A"/>
                </a:solidFill>
              </a:ln>
            </c:spPr>
          </c:marker>
          <c:xVal>
            <c:numRef>
              <c:f>Sheet1!$A$87:$A$133</c:f>
              <c:numCache>
                <c:formatCode>General</c:formatCode>
                <c:ptCount val="47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  <c:pt idx="46">
                  <c:v>12.1</c:v>
                </c:pt>
              </c:numCache>
            </c:numRef>
          </c:xVal>
          <c:yVal>
            <c:numRef>
              <c:f>Sheet1!$B$87:$B$133</c:f>
              <c:numCache>
                <c:formatCode>General</c:formatCode>
                <c:ptCount val="47"/>
                <c:pt idx="0">
                  <c:v>0.6815</c:v>
                </c:pt>
                <c:pt idx="1">
                  <c:v>0.3521</c:v>
                </c:pt>
                <c:pt idx="2">
                  <c:v>0.2271</c:v>
                </c:pt>
                <c:pt idx="3">
                  <c:v>0.1826</c:v>
                </c:pt>
                <c:pt idx="4">
                  <c:v>0.1807</c:v>
                </c:pt>
                <c:pt idx="5">
                  <c:v>0.2216</c:v>
                </c:pt>
                <c:pt idx="6">
                  <c:v>0.3345</c:v>
                </c:pt>
                <c:pt idx="7">
                  <c:v>0.6016</c:v>
                </c:pt>
                <c:pt idx="8">
                  <c:v>0.8827</c:v>
                </c:pt>
                <c:pt idx="9">
                  <c:v>0.6382</c:v>
                </c:pt>
                <c:pt idx="10">
                  <c:v>0.3731</c:v>
                </c:pt>
                <c:pt idx="11">
                  <c:v>0.2513</c:v>
                </c:pt>
                <c:pt idx="12">
                  <c:v>0.2077</c:v>
                </c:pt>
                <c:pt idx="13">
                  <c:v>0.2073</c:v>
                </c:pt>
                <c:pt idx="14">
                  <c:v>0.2509</c:v>
                </c:pt>
                <c:pt idx="15">
                  <c:v>0.3633</c:v>
                </c:pt>
                <c:pt idx="16">
                  <c:v>0.5965</c:v>
                </c:pt>
                <c:pt idx="17">
                  <c:v>0.7824</c:v>
                </c:pt>
                <c:pt idx="18">
                  <c:v>0.6002</c:v>
                </c:pt>
                <c:pt idx="19">
                  <c:v>0.3825</c:v>
                </c:pt>
                <c:pt idx="20">
                  <c:v>0.2751</c:v>
                </c:pt>
                <c:pt idx="21">
                  <c:v>0.231</c:v>
                </c:pt>
                <c:pt idx="22">
                  <c:v>0.2329</c:v>
                </c:pt>
                <c:pt idx="23">
                  <c:v>0.2782</c:v>
                </c:pt>
                <c:pt idx="24">
                  <c:v>0.391</c:v>
                </c:pt>
                <c:pt idx="25">
                  <c:v>0.585</c:v>
                </c:pt>
                <c:pt idx="26">
                  <c:v>0.7076</c:v>
                </c:pt>
                <c:pt idx="27">
                  <c:v>0.566</c:v>
                </c:pt>
                <c:pt idx="28">
                  <c:v>0.3916</c:v>
                </c:pt>
                <c:pt idx="29">
                  <c:v>0.2914</c:v>
                </c:pt>
                <c:pt idx="30">
                  <c:v>0.2525</c:v>
                </c:pt>
                <c:pt idx="31">
                  <c:v>0.2549</c:v>
                </c:pt>
                <c:pt idx="32">
                  <c:v>0.3051</c:v>
                </c:pt>
                <c:pt idx="33">
                  <c:v>0.4036</c:v>
                </c:pt>
                <c:pt idx="34">
                  <c:v>0.5742</c:v>
                </c:pt>
                <c:pt idx="35">
                  <c:v>0.6495</c:v>
                </c:pt>
                <c:pt idx="36">
                  <c:v>0.5403</c:v>
                </c:pt>
                <c:pt idx="37">
                  <c:v>0.3937</c:v>
                </c:pt>
                <c:pt idx="38">
                  <c:v>0.3071</c:v>
                </c:pt>
                <c:pt idx="39">
                  <c:v>0.2723</c:v>
                </c:pt>
                <c:pt idx="40">
                  <c:v>0.276</c:v>
                </c:pt>
                <c:pt idx="41">
                  <c:v>0.3228</c:v>
                </c:pt>
                <c:pt idx="42">
                  <c:v>0.4169</c:v>
                </c:pt>
                <c:pt idx="43">
                  <c:v>0.5605</c:v>
                </c:pt>
                <c:pt idx="44">
                  <c:v>0.6071</c:v>
                </c:pt>
                <c:pt idx="45">
                  <c:v>0.5169</c:v>
                </c:pt>
                <c:pt idx="46">
                  <c:v>0.3284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Sheet1!$B$135</c:f>
              <c:strCache>
                <c:ptCount val="1"/>
                <c:pt idx="0">
                  <c:v>No buffer, gap 3.2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circle"/>
            <c:size val="4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Sheet1!$A$136:$A$176</c:f>
              <c:numCache>
                <c:formatCode>General</c:formatCode>
                <c:ptCount val="41"/>
                <c:pt idx="0">
                  <c:v>5.0</c:v>
                </c:pt>
                <c:pt idx="1">
                  <c:v>5.1</c:v>
                </c:pt>
                <c:pt idx="2">
                  <c:v>5.2</c:v>
                </c:pt>
                <c:pt idx="3">
                  <c:v>5.3</c:v>
                </c:pt>
                <c:pt idx="4">
                  <c:v>5.4</c:v>
                </c:pt>
                <c:pt idx="5">
                  <c:v>5.5</c:v>
                </c:pt>
                <c:pt idx="6">
                  <c:v>5.6</c:v>
                </c:pt>
                <c:pt idx="7">
                  <c:v>5.7</c:v>
                </c:pt>
                <c:pt idx="8">
                  <c:v>5.8</c:v>
                </c:pt>
                <c:pt idx="9">
                  <c:v>5.9</c:v>
                </c:pt>
                <c:pt idx="10">
                  <c:v>6.0</c:v>
                </c:pt>
                <c:pt idx="11">
                  <c:v>6.1</c:v>
                </c:pt>
                <c:pt idx="12">
                  <c:v>6.2</c:v>
                </c:pt>
                <c:pt idx="13">
                  <c:v>6.3</c:v>
                </c:pt>
                <c:pt idx="14">
                  <c:v>6.4</c:v>
                </c:pt>
                <c:pt idx="15">
                  <c:v>6.5</c:v>
                </c:pt>
                <c:pt idx="16">
                  <c:v>6.6</c:v>
                </c:pt>
                <c:pt idx="17">
                  <c:v>6.7</c:v>
                </c:pt>
                <c:pt idx="18">
                  <c:v>6.8</c:v>
                </c:pt>
                <c:pt idx="19">
                  <c:v>6.9</c:v>
                </c:pt>
                <c:pt idx="20">
                  <c:v>7.0</c:v>
                </c:pt>
                <c:pt idx="21">
                  <c:v>7.1</c:v>
                </c:pt>
                <c:pt idx="22">
                  <c:v>7.2</c:v>
                </c:pt>
                <c:pt idx="23">
                  <c:v>7.3</c:v>
                </c:pt>
                <c:pt idx="24">
                  <c:v>7.4</c:v>
                </c:pt>
                <c:pt idx="25">
                  <c:v>7.5</c:v>
                </c:pt>
                <c:pt idx="26">
                  <c:v>7.6</c:v>
                </c:pt>
                <c:pt idx="27">
                  <c:v>7.7</c:v>
                </c:pt>
                <c:pt idx="28">
                  <c:v>7.8</c:v>
                </c:pt>
                <c:pt idx="29">
                  <c:v>7.9</c:v>
                </c:pt>
                <c:pt idx="30">
                  <c:v>8.0</c:v>
                </c:pt>
                <c:pt idx="31">
                  <c:v>8.1</c:v>
                </c:pt>
                <c:pt idx="32">
                  <c:v>8.2</c:v>
                </c:pt>
                <c:pt idx="33">
                  <c:v>8.3</c:v>
                </c:pt>
                <c:pt idx="34">
                  <c:v>8.4</c:v>
                </c:pt>
                <c:pt idx="35">
                  <c:v>8.5</c:v>
                </c:pt>
                <c:pt idx="36">
                  <c:v>8.6</c:v>
                </c:pt>
                <c:pt idx="37">
                  <c:v>8.7</c:v>
                </c:pt>
                <c:pt idx="38">
                  <c:v>8.8</c:v>
                </c:pt>
                <c:pt idx="39">
                  <c:v>8.9</c:v>
                </c:pt>
                <c:pt idx="40">
                  <c:v>9.0</c:v>
                </c:pt>
              </c:numCache>
            </c:numRef>
          </c:xVal>
          <c:yVal>
            <c:numRef>
              <c:f>Sheet1!$B$136:$B$176</c:f>
              <c:numCache>
                <c:formatCode>General</c:formatCode>
                <c:ptCount val="41"/>
                <c:pt idx="0">
                  <c:v>32.6735</c:v>
                </c:pt>
                <c:pt idx="1">
                  <c:v>18.6256</c:v>
                </c:pt>
                <c:pt idx="2">
                  <c:v>8.4692</c:v>
                </c:pt>
                <c:pt idx="3">
                  <c:v>5.1592</c:v>
                </c:pt>
                <c:pt idx="4">
                  <c:v>4.051</c:v>
                </c:pt>
                <c:pt idx="5">
                  <c:v>3.9911</c:v>
                </c:pt>
                <c:pt idx="6">
                  <c:v>4.9432</c:v>
                </c:pt>
                <c:pt idx="7">
                  <c:v>7.8046</c:v>
                </c:pt>
                <c:pt idx="8">
                  <c:v>15.8887</c:v>
                </c:pt>
                <c:pt idx="9">
                  <c:v>27.1554</c:v>
                </c:pt>
                <c:pt idx="10">
                  <c:v>17.8348</c:v>
                </c:pt>
                <c:pt idx="11">
                  <c:v>9.251</c:v>
                </c:pt>
                <c:pt idx="12">
                  <c:v>5.9113</c:v>
                </c:pt>
                <c:pt idx="13">
                  <c:v>4.7793</c:v>
                </c:pt>
                <c:pt idx="14">
                  <c:v>4.7469</c:v>
                </c:pt>
                <c:pt idx="15">
                  <c:v>5.8313</c:v>
                </c:pt>
                <c:pt idx="16">
                  <c:v>8.8934</c:v>
                </c:pt>
                <c:pt idx="17">
                  <c:v>16.0269</c:v>
                </c:pt>
                <c:pt idx="18">
                  <c:v>23.4481</c:v>
                </c:pt>
                <c:pt idx="19">
                  <c:v>16.7002</c:v>
                </c:pt>
                <c:pt idx="20">
                  <c:v>9.7113</c:v>
                </c:pt>
                <c:pt idx="21">
                  <c:v>6.5754</c:v>
                </c:pt>
                <c:pt idx="22">
                  <c:v>5.4707</c:v>
                </c:pt>
                <c:pt idx="23">
                  <c:v>5.468</c:v>
                </c:pt>
                <c:pt idx="24">
                  <c:v>6.6251</c:v>
                </c:pt>
                <c:pt idx="25">
                  <c:v>9.6857</c:v>
                </c:pt>
                <c:pt idx="26">
                  <c:v>15.8036</c:v>
                </c:pt>
                <c:pt idx="27">
                  <c:v>20.75</c:v>
                </c:pt>
                <c:pt idx="28">
                  <c:v>15.7184</c:v>
                </c:pt>
                <c:pt idx="29">
                  <c:v>10.0388</c:v>
                </c:pt>
                <c:pt idx="30">
                  <c:v>7.1382</c:v>
                </c:pt>
                <c:pt idx="31">
                  <c:v>6.0612</c:v>
                </c:pt>
                <c:pt idx="32">
                  <c:v>6.128</c:v>
                </c:pt>
                <c:pt idx="33">
                  <c:v>7.3568</c:v>
                </c:pt>
                <c:pt idx="34">
                  <c:v>10.3098</c:v>
                </c:pt>
                <c:pt idx="35">
                  <c:v>15.574</c:v>
                </c:pt>
                <c:pt idx="36">
                  <c:v>18.6608</c:v>
                </c:pt>
                <c:pt idx="37">
                  <c:v>14.8981</c:v>
                </c:pt>
                <c:pt idx="38">
                  <c:v>10.2062</c:v>
                </c:pt>
                <c:pt idx="39">
                  <c:v>7.6795</c:v>
                </c:pt>
                <c:pt idx="40">
                  <c:v>6.6503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Sheet1!$B$178</c:f>
              <c:strCache>
                <c:ptCount val="1"/>
                <c:pt idx="0">
                  <c:v>25 nm buffer</c:v>
                </c:pt>
              </c:strCache>
            </c:strRef>
          </c:tx>
          <c:spPr>
            <a:ln w="22225">
              <a:solidFill>
                <a:srgbClr val="1BAF7A"/>
              </a:solidFill>
            </a:ln>
          </c:spPr>
          <c:marker>
            <c:symbol val="circle"/>
            <c:size val="4"/>
            <c:spPr>
              <a:solidFill>
                <a:srgbClr val="1BAF7A"/>
              </a:solidFill>
              <a:ln>
                <a:solidFill>
                  <a:srgbClr val="1BAF7A"/>
                </a:solidFill>
              </a:ln>
            </c:spPr>
          </c:marker>
          <c:xVal>
            <c:numRef>
              <c:f>Sheet1!$A$179:$A$199</c:f>
              <c:numCache>
                <c:formatCode>General</c:formatCode>
                <c:ptCount val="21"/>
                <c:pt idx="0">
                  <c:v>5.0</c:v>
                </c:pt>
                <c:pt idx="1">
                  <c:v>5.2</c:v>
                </c:pt>
                <c:pt idx="2">
                  <c:v>5.4</c:v>
                </c:pt>
                <c:pt idx="3">
                  <c:v>5.6</c:v>
                </c:pt>
                <c:pt idx="4">
                  <c:v>5.8</c:v>
                </c:pt>
                <c:pt idx="5">
                  <c:v>6.0</c:v>
                </c:pt>
                <c:pt idx="6">
                  <c:v>6.2</c:v>
                </c:pt>
                <c:pt idx="7">
                  <c:v>6.4</c:v>
                </c:pt>
                <c:pt idx="8">
                  <c:v>6.6</c:v>
                </c:pt>
                <c:pt idx="9">
                  <c:v>6.8</c:v>
                </c:pt>
                <c:pt idx="10">
                  <c:v>7.0</c:v>
                </c:pt>
                <c:pt idx="11">
                  <c:v>7.2</c:v>
                </c:pt>
                <c:pt idx="12">
                  <c:v>7.4</c:v>
                </c:pt>
                <c:pt idx="13">
                  <c:v>7.6</c:v>
                </c:pt>
                <c:pt idx="14">
                  <c:v>7.8</c:v>
                </c:pt>
                <c:pt idx="15">
                  <c:v>8.0</c:v>
                </c:pt>
                <c:pt idx="16">
                  <c:v>8.2</c:v>
                </c:pt>
                <c:pt idx="17">
                  <c:v>8.4</c:v>
                </c:pt>
                <c:pt idx="18">
                  <c:v>8.6</c:v>
                </c:pt>
                <c:pt idx="19">
                  <c:v>8.8</c:v>
                </c:pt>
                <c:pt idx="20">
                  <c:v>9.0</c:v>
                </c:pt>
              </c:numCache>
            </c:numRef>
          </c:xVal>
          <c:yVal>
            <c:numRef>
              <c:f>Sheet1!$B$179:$B$199</c:f>
              <c:numCache>
                <c:formatCode>General</c:formatCode>
                <c:ptCount val="21"/>
                <c:pt idx="0">
                  <c:v>3.9954</c:v>
                </c:pt>
                <c:pt idx="1">
                  <c:v>6.1133</c:v>
                </c:pt>
                <c:pt idx="2">
                  <c:v>11.0714</c:v>
                </c:pt>
                <c:pt idx="3">
                  <c:v>17.0486</c:v>
                </c:pt>
                <c:pt idx="4">
                  <c:v>13.8247</c:v>
                </c:pt>
                <c:pt idx="5">
                  <c:v>8.2275</c:v>
                </c:pt>
                <c:pt idx="6">
                  <c:v>5.4456</c:v>
                </c:pt>
                <c:pt idx="7">
                  <c:v>4.4578</c:v>
                </c:pt>
                <c:pt idx="8">
                  <c:v>4.3916</c:v>
                </c:pt>
                <c:pt idx="9">
                  <c:v>5.1868</c:v>
                </c:pt>
                <c:pt idx="10">
                  <c:v>7.0758</c:v>
                </c:pt>
                <c:pt idx="11">
                  <c:v>10.3539</c:v>
                </c:pt>
                <c:pt idx="12">
                  <c:v>13.4322</c:v>
                </c:pt>
                <c:pt idx="13">
                  <c:v>12.1382</c:v>
                </c:pt>
                <c:pt idx="14">
                  <c:v>8.7712</c:v>
                </c:pt>
                <c:pt idx="15">
                  <c:v>6.4944</c:v>
                </c:pt>
                <c:pt idx="16">
                  <c:v>5.5013</c:v>
                </c:pt>
                <c:pt idx="17">
                  <c:v>5.3787</c:v>
                </c:pt>
                <c:pt idx="18">
                  <c:v>6.0241</c:v>
                </c:pt>
                <c:pt idx="19">
                  <c:v>7.5089</c:v>
                </c:pt>
                <c:pt idx="20">
                  <c:v>9.7266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Sheet1!$B$201</c:f>
              <c:strCache>
                <c:ptCount val="1"/>
                <c:pt idx="0">
                  <c:v>50 nm buffer</c:v>
                </c:pt>
              </c:strCache>
            </c:strRef>
          </c:tx>
          <c:spPr>
            <a:ln w="22225">
              <a:solidFill>
                <a:srgbClr val="EDA100"/>
              </a:solidFill>
            </a:ln>
          </c:spPr>
          <c:marker>
            <c:symbol val="circle"/>
            <c:size val="4"/>
            <c:spPr>
              <a:solidFill>
                <a:srgbClr val="EDA100"/>
              </a:solidFill>
              <a:ln>
                <a:solidFill>
                  <a:srgbClr val="EDA100"/>
                </a:solidFill>
              </a:ln>
            </c:spPr>
          </c:marker>
          <c:xVal>
            <c:numRef>
              <c:f>Sheet1!$A$202:$A$222</c:f>
              <c:numCache>
                <c:formatCode>General</c:formatCode>
                <c:ptCount val="21"/>
                <c:pt idx="0">
                  <c:v>5.0</c:v>
                </c:pt>
                <c:pt idx="1">
                  <c:v>5.2</c:v>
                </c:pt>
                <c:pt idx="2">
                  <c:v>5.4</c:v>
                </c:pt>
                <c:pt idx="3">
                  <c:v>5.6</c:v>
                </c:pt>
                <c:pt idx="4">
                  <c:v>5.8</c:v>
                </c:pt>
                <c:pt idx="5">
                  <c:v>6.0</c:v>
                </c:pt>
                <c:pt idx="6">
                  <c:v>6.2</c:v>
                </c:pt>
                <c:pt idx="7">
                  <c:v>6.4</c:v>
                </c:pt>
                <c:pt idx="8">
                  <c:v>6.6</c:v>
                </c:pt>
                <c:pt idx="9">
                  <c:v>6.8</c:v>
                </c:pt>
                <c:pt idx="10">
                  <c:v>7.0</c:v>
                </c:pt>
                <c:pt idx="11">
                  <c:v>7.2</c:v>
                </c:pt>
                <c:pt idx="12">
                  <c:v>7.4</c:v>
                </c:pt>
                <c:pt idx="13">
                  <c:v>7.6</c:v>
                </c:pt>
                <c:pt idx="14">
                  <c:v>7.8</c:v>
                </c:pt>
                <c:pt idx="15">
                  <c:v>8.0</c:v>
                </c:pt>
                <c:pt idx="16">
                  <c:v>8.2</c:v>
                </c:pt>
                <c:pt idx="17">
                  <c:v>8.4</c:v>
                </c:pt>
                <c:pt idx="18">
                  <c:v>8.6</c:v>
                </c:pt>
                <c:pt idx="19">
                  <c:v>8.8</c:v>
                </c:pt>
                <c:pt idx="20">
                  <c:v>9.0</c:v>
                </c:pt>
              </c:numCache>
            </c:numRef>
          </c:xVal>
          <c:yVal>
            <c:numRef>
              <c:f>Sheet1!$B$202:$B$222</c:f>
              <c:numCache>
                <c:formatCode>General</c:formatCode>
                <c:ptCount val="21"/>
                <c:pt idx="0">
                  <c:v>0.3257</c:v>
                </c:pt>
                <c:pt idx="1">
                  <c:v>0.3256</c:v>
                </c:pt>
                <c:pt idx="2">
                  <c:v>0.3258</c:v>
                </c:pt>
                <c:pt idx="3">
                  <c:v>0.3257</c:v>
                </c:pt>
                <c:pt idx="4">
                  <c:v>0.3257</c:v>
                </c:pt>
                <c:pt idx="5">
                  <c:v>0.3256</c:v>
                </c:pt>
                <c:pt idx="6">
                  <c:v>0.3259</c:v>
                </c:pt>
                <c:pt idx="7">
                  <c:v>0.3256</c:v>
                </c:pt>
                <c:pt idx="8">
                  <c:v>0.3259</c:v>
                </c:pt>
                <c:pt idx="9">
                  <c:v>0.3259</c:v>
                </c:pt>
                <c:pt idx="10">
                  <c:v>0.3258</c:v>
                </c:pt>
                <c:pt idx="11">
                  <c:v>0.3259</c:v>
                </c:pt>
                <c:pt idx="12">
                  <c:v>0.3259</c:v>
                </c:pt>
                <c:pt idx="13">
                  <c:v>0.3258</c:v>
                </c:pt>
                <c:pt idx="14">
                  <c:v>0.3259</c:v>
                </c:pt>
                <c:pt idx="15">
                  <c:v>0.3259</c:v>
                </c:pt>
                <c:pt idx="16">
                  <c:v>0.3258</c:v>
                </c:pt>
                <c:pt idx="17">
                  <c:v>0.3259</c:v>
                </c:pt>
                <c:pt idx="18">
                  <c:v>0.3259</c:v>
                </c:pt>
                <c:pt idx="19">
                  <c:v>0.3257</c:v>
                </c:pt>
                <c:pt idx="20">
                  <c:v>0.3259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5"/>
          <c:min val="3.5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x_lift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logBase val="10"/>
          <c:orientation val="minMax"/>
          <c:max val="100.0"/>
          <c:min val="0.01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[dB/cm], log scale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 nm buffer, gap 3.2 µm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4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Sheet1!$A$2:$A$89</c:f>
              <c:numCache>
                <c:formatCode>General</c:formatCode>
                <c:ptCount val="88"/>
                <c:pt idx="0">
                  <c:v>3.8</c:v>
                </c:pt>
                <c:pt idx="1">
                  <c:v>3.9</c:v>
                </c:pt>
                <c:pt idx="2">
                  <c:v>4.0</c:v>
                </c:pt>
                <c:pt idx="3">
                  <c:v>4.1</c:v>
                </c:pt>
                <c:pt idx="4">
                  <c:v>4.2</c:v>
                </c:pt>
                <c:pt idx="5">
                  <c:v>4.3</c:v>
                </c:pt>
                <c:pt idx="6">
                  <c:v>4.4</c:v>
                </c:pt>
                <c:pt idx="7">
                  <c:v>4.5</c:v>
                </c:pt>
                <c:pt idx="8">
                  <c:v>4.6</c:v>
                </c:pt>
                <c:pt idx="9">
                  <c:v>4.7</c:v>
                </c:pt>
                <c:pt idx="10">
                  <c:v>4.8</c:v>
                </c:pt>
                <c:pt idx="11">
                  <c:v>4.9</c:v>
                </c:pt>
                <c:pt idx="12">
                  <c:v>5.0</c:v>
                </c:pt>
                <c:pt idx="13">
                  <c:v>5.1</c:v>
                </c:pt>
                <c:pt idx="14">
                  <c:v>5.2</c:v>
                </c:pt>
                <c:pt idx="15">
                  <c:v>5.3</c:v>
                </c:pt>
                <c:pt idx="16">
                  <c:v>5.4</c:v>
                </c:pt>
                <c:pt idx="17">
                  <c:v>5.5</c:v>
                </c:pt>
                <c:pt idx="18">
                  <c:v>5.6</c:v>
                </c:pt>
                <c:pt idx="19">
                  <c:v>5.7</c:v>
                </c:pt>
                <c:pt idx="20">
                  <c:v>5.8</c:v>
                </c:pt>
                <c:pt idx="21">
                  <c:v>5.9</c:v>
                </c:pt>
                <c:pt idx="22">
                  <c:v>6.0</c:v>
                </c:pt>
                <c:pt idx="23">
                  <c:v>6.1</c:v>
                </c:pt>
                <c:pt idx="24">
                  <c:v>6.2</c:v>
                </c:pt>
                <c:pt idx="25">
                  <c:v>6.3</c:v>
                </c:pt>
                <c:pt idx="26">
                  <c:v>6.4</c:v>
                </c:pt>
                <c:pt idx="27">
                  <c:v>6.5</c:v>
                </c:pt>
                <c:pt idx="28">
                  <c:v>6.6</c:v>
                </c:pt>
                <c:pt idx="29">
                  <c:v>6.7</c:v>
                </c:pt>
                <c:pt idx="30">
                  <c:v>6.8</c:v>
                </c:pt>
                <c:pt idx="31">
                  <c:v>6.9</c:v>
                </c:pt>
                <c:pt idx="32">
                  <c:v>7.0</c:v>
                </c:pt>
                <c:pt idx="33">
                  <c:v>7.1</c:v>
                </c:pt>
                <c:pt idx="34">
                  <c:v>7.2</c:v>
                </c:pt>
                <c:pt idx="35">
                  <c:v>7.3</c:v>
                </c:pt>
                <c:pt idx="36">
                  <c:v>7.4</c:v>
                </c:pt>
                <c:pt idx="37">
                  <c:v>7.5</c:v>
                </c:pt>
                <c:pt idx="38">
                  <c:v>7.6</c:v>
                </c:pt>
                <c:pt idx="39">
                  <c:v>7.7</c:v>
                </c:pt>
                <c:pt idx="40">
                  <c:v>7.8</c:v>
                </c:pt>
                <c:pt idx="41">
                  <c:v>7.9</c:v>
                </c:pt>
                <c:pt idx="42">
                  <c:v>8.0</c:v>
                </c:pt>
                <c:pt idx="43">
                  <c:v>8.1</c:v>
                </c:pt>
                <c:pt idx="44">
                  <c:v>8.2</c:v>
                </c:pt>
                <c:pt idx="45">
                  <c:v>8.3</c:v>
                </c:pt>
                <c:pt idx="46">
                  <c:v>8.4</c:v>
                </c:pt>
                <c:pt idx="47">
                  <c:v>8.5</c:v>
                </c:pt>
                <c:pt idx="48">
                  <c:v>8.6</c:v>
                </c:pt>
                <c:pt idx="49">
                  <c:v>8.7</c:v>
                </c:pt>
                <c:pt idx="50">
                  <c:v>8.8</c:v>
                </c:pt>
                <c:pt idx="51">
                  <c:v>8.9</c:v>
                </c:pt>
                <c:pt idx="52">
                  <c:v>9.0</c:v>
                </c:pt>
                <c:pt idx="53">
                  <c:v>9.1</c:v>
                </c:pt>
                <c:pt idx="54">
                  <c:v>9.2</c:v>
                </c:pt>
                <c:pt idx="55">
                  <c:v>9.3</c:v>
                </c:pt>
                <c:pt idx="56">
                  <c:v>9.4</c:v>
                </c:pt>
                <c:pt idx="57">
                  <c:v>9.5</c:v>
                </c:pt>
                <c:pt idx="58">
                  <c:v>9.6</c:v>
                </c:pt>
                <c:pt idx="59">
                  <c:v>9.7</c:v>
                </c:pt>
                <c:pt idx="60">
                  <c:v>9.8</c:v>
                </c:pt>
                <c:pt idx="61">
                  <c:v>9.9</c:v>
                </c:pt>
                <c:pt idx="62">
                  <c:v>10.0</c:v>
                </c:pt>
                <c:pt idx="63">
                  <c:v>10.1</c:v>
                </c:pt>
                <c:pt idx="64">
                  <c:v>10.2</c:v>
                </c:pt>
                <c:pt idx="65">
                  <c:v>10.3</c:v>
                </c:pt>
                <c:pt idx="66">
                  <c:v>10.4</c:v>
                </c:pt>
                <c:pt idx="67">
                  <c:v>10.5</c:v>
                </c:pt>
                <c:pt idx="68">
                  <c:v>10.6</c:v>
                </c:pt>
                <c:pt idx="69">
                  <c:v>10.7</c:v>
                </c:pt>
                <c:pt idx="70">
                  <c:v>10.8</c:v>
                </c:pt>
                <c:pt idx="71">
                  <c:v>10.9</c:v>
                </c:pt>
                <c:pt idx="72">
                  <c:v>11.0</c:v>
                </c:pt>
                <c:pt idx="73">
                  <c:v>11.1</c:v>
                </c:pt>
                <c:pt idx="74">
                  <c:v>11.2</c:v>
                </c:pt>
                <c:pt idx="75">
                  <c:v>11.3</c:v>
                </c:pt>
                <c:pt idx="76">
                  <c:v>11.4</c:v>
                </c:pt>
                <c:pt idx="77">
                  <c:v>11.5</c:v>
                </c:pt>
                <c:pt idx="78">
                  <c:v>11.6</c:v>
                </c:pt>
                <c:pt idx="79">
                  <c:v>11.7</c:v>
                </c:pt>
                <c:pt idx="80">
                  <c:v>11.8</c:v>
                </c:pt>
                <c:pt idx="81">
                  <c:v>11.9</c:v>
                </c:pt>
                <c:pt idx="82">
                  <c:v>12.0</c:v>
                </c:pt>
                <c:pt idx="83">
                  <c:v>16.0</c:v>
                </c:pt>
                <c:pt idx="84">
                  <c:v>20.0</c:v>
                </c:pt>
                <c:pt idx="85">
                  <c:v>24.0</c:v>
                </c:pt>
                <c:pt idx="86">
                  <c:v>28.0</c:v>
                </c:pt>
                <c:pt idx="87">
                  <c:v>30.1</c:v>
                </c:pt>
              </c:numCache>
            </c:numRef>
          </c:xVal>
          <c:yVal>
            <c:numRef>
              <c:f>Sheet1!$B$2:$B$89</c:f>
              <c:numCache>
                <c:formatCode>General</c:formatCode>
                <c:ptCount val="88"/>
                <c:pt idx="0">
                  <c:v>0.0481</c:v>
                </c:pt>
                <c:pt idx="1">
                  <c:v>0.0481</c:v>
                </c:pt>
                <c:pt idx="2">
                  <c:v>0.0481</c:v>
                </c:pt>
                <c:pt idx="3">
                  <c:v>0.0481</c:v>
                </c:pt>
                <c:pt idx="4">
                  <c:v>0.0481</c:v>
                </c:pt>
                <c:pt idx="5">
                  <c:v>0.0481</c:v>
                </c:pt>
                <c:pt idx="6">
                  <c:v>0.0481</c:v>
                </c:pt>
                <c:pt idx="7">
                  <c:v>0.0481</c:v>
                </c:pt>
                <c:pt idx="8">
                  <c:v>0.048</c:v>
                </c:pt>
                <c:pt idx="9">
                  <c:v>0.048</c:v>
                </c:pt>
                <c:pt idx="10">
                  <c:v>0.0481</c:v>
                </c:pt>
                <c:pt idx="11">
                  <c:v>0.048</c:v>
                </c:pt>
                <c:pt idx="12">
                  <c:v>0.048</c:v>
                </c:pt>
                <c:pt idx="13">
                  <c:v>0.0481</c:v>
                </c:pt>
                <c:pt idx="14">
                  <c:v>0.048</c:v>
                </c:pt>
                <c:pt idx="15">
                  <c:v>0.0481</c:v>
                </c:pt>
                <c:pt idx="16">
                  <c:v>0.0481</c:v>
                </c:pt>
                <c:pt idx="17">
                  <c:v>0.048</c:v>
                </c:pt>
                <c:pt idx="18">
                  <c:v>0.048</c:v>
                </c:pt>
                <c:pt idx="19">
                  <c:v>0.0481</c:v>
                </c:pt>
                <c:pt idx="20">
                  <c:v>0.048</c:v>
                </c:pt>
                <c:pt idx="21">
                  <c:v>0.0481</c:v>
                </c:pt>
                <c:pt idx="22">
                  <c:v>0.0481</c:v>
                </c:pt>
                <c:pt idx="23">
                  <c:v>0.0481</c:v>
                </c:pt>
                <c:pt idx="24">
                  <c:v>0.0481</c:v>
                </c:pt>
                <c:pt idx="25">
                  <c:v>0.0481</c:v>
                </c:pt>
                <c:pt idx="26">
                  <c:v>0.0481</c:v>
                </c:pt>
                <c:pt idx="27">
                  <c:v>0.0481</c:v>
                </c:pt>
                <c:pt idx="28">
                  <c:v>0.0481</c:v>
                </c:pt>
                <c:pt idx="29">
                  <c:v>0.0481</c:v>
                </c:pt>
                <c:pt idx="30">
                  <c:v>0.0481</c:v>
                </c:pt>
                <c:pt idx="31">
                  <c:v>0.0481</c:v>
                </c:pt>
                <c:pt idx="32">
                  <c:v>0.0481</c:v>
                </c:pt>
                <c:pt idx="33">
                  <c:v>0.0481</c:v>
                </c:pt>
                <c:pt idx="34">
                  <c:v>0.0481</c:v>
                </c:pt>
                <c:pt idx="35">
                  <c:v>0.0481</c:v>
                </c:pt>
                <c:pt idx="36">
                  <c:v>0.0481</c:v>
                </c:pt>
                <c:pt idx="37">
                  <c:v>0.0481</c:v>
                </c:pt>
                <c:pt idx="38">
                  <c:v>0.0481</c:v>
                </c:pt>
                <c:pt idx="39">
                  <c:v>0.0481</c:v>
                </c:pt>
                <c:pt idx="40">
                  <c:v>0.0481</c:v>
                </c:pt>
                <c:pt idx="41">
                  <c:v>0.048</c:v>
                </c:pt>
                <c:pt idx="42">
                  <c:v>0.0481</c:v>
                </c:pt>
                <c:pt idx="43">
                  <c:v>0.0481</c:v>
                </c:pt>
                <c:pt idx="44">
                  <c:v>0.0481</c:v>
                </c:pt>
                <c:pt idx="45">
                  <c:v>0.0481</c:v>
                </c:pt>
                <c:pt idx="46">
                  <c:v>0.0481</c:v>
                </c:pt>
                <c:pt idx="47">
                  <c:v>0.0481</c:v>
                </c:pt>
                <c:pt idx="48">
                  <c:v>0.0481</c:v>
                </c:pt>
                <c:pt idx="49">
                  <c:v>0.0481</c:v>
                </c:pt>
                <c:pt idx="50">
                  <c:v>0.0481</c:v>
                </c:pt>
                <c:pt idx="51">
                  <c:v>0.0481</c:v>
                </c:pt>
                <c:pt idx="52">
                  <c:v>0.0481</c:v>
                </c:pt>
                <c:pt idx="53">
                  <c:v>0.0481</c:v>
                </c:pt>
                <c:pt idx="54">
                  <c:v>0.0481</c:v>
                </c:pt>
                <c:pt idx="55">
                  <c:v>0.0481</c:v>
                </c:pt>
                <c:pt idx="56">
                  <c:v>0.048</c:v>
                </c:pt>
                <c:pt idx="57">
                  <c:v>0.0481</c:v>
                </c:pt>
                <c:pt idx="58">
                  <c:v>0.0481</c:v>
                </c:pt>
                <c:pt idx="59">
                  <c:v>0.0481</c:v>
                </c:pt>
                <c:pt idx="60">
                  <c:v>0.0481</c:v>
                </c:pt>
                <c:pt idx="61">
                  <c:v>0.0481</c:v>
                </c:pt>
                <c:pt idx="62">
                  <c:v>0.0481</c:v>
                </c:pt>
                <c:pt idx="63">
                  <c:v>0.0481</c:v>
                </c:pt>
                <c:pt idx="64">
                  <c:v>0.0481</c:v>
                </c:pt>
                <c:pt idx="65">
                  <c:v>0.0481</c:v>
                </c:pt>
                <c:pt idx="66">
                  <c:v>0.0481</c:v>
                </c:pt>
                <c:pt idx="67">
                  <c:v>0.0481</c:v>
                </c:pt>
                <c:pt idx="68">
                  <c:v>0.0481</c:v>
                </c:pt>
                <c:pt idx="69">
                  <c:v>0.0481</c:v>
                </c:pt>
                <c:pt idx="70">
                  <c:v>0.0481</c:v>
                </c:pt>
                <c:pt idx="71">
                  <c:v>0.0481</c:v>
                </c:pt>
                <c:pt idx="72">
                  <c:v>0.0481</c:v>
                </c:pt>
                <c:pt idx="73">
                  <c:v>0.0481</c:v>
                </c:pt>
                <c:pt idx="74">
                  <c:v>0.0481</c:v>
                </c:pt>
                <c:pt idx="75">
                  <c:v>0.0481</c:v>
                </c:pt>
                <c:pt idx="76">
                  <c:v>0.0481</c:v>
                </c:pt>
                <c:pt idx="77">
                  <c:v>0.0481</c:v>
                </c:pt>
                <c:pt idx="78">
                  <c:v>0.0481</c:v>
                </c:pt>
                <c:pt idx="79">
                  <c:v>0.0481</c:v>
                </c:pt>
                <c:pt idx="80">
                  <c:v>0.0481</c:v>
                </c:pt>
                <c:pt idx="81">
                  <c:v>0.0481</c:v>
                </c:pt>
                <c:pt idx="82">
                  <c:v>0.0481</c:v>
                </c:pt>
                <c:pt idx="83">
                  <c:v>0.0481</c:v>
                </c:pt>
                <c:pt idx="84">
                  <c:v>0.0481</c:v>
                </c:pt>
                <c:pt idx="85">
                  <c:v>0.0481</c:v>
                </c:pt>
                <c:pt idx="86">
                  <c:v>0.0481</c:v>
                </c:pt>
                <c:pt idx="87">
                  <c:v>0.0481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Sheet1!$B$91</c:f>
              <c:strCache>
                <c:ptCount val="1"/>
                <c:pt idx="0">
                  <c:v>200 nm buffer, gap 3.4 µm</c:v>
                </c:pt>
              </c:strCache>
            </c:strRef>
          </c:tx>
          <c:spPr>
            <a:ln w="25400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Sheet1!$A$92:$A$99</c:f>
              <c:numCache>
                <c:formatCode>General</c:formatCode>
                <c:ptCount val="8"/>
                <c:pt idx="0">
                  <c:v>4.5</c:v>
                </c:pt>
                <c:pt idx="1">
                  <c:v>5.5</c:v>
                </c:pt>
                <c:pt idx="2">
                  <c:v>6.5</c:v>
                </c:pt>
                <c:pt idx="3">
                  <c:v>7.5</c:v>
                </c:pt>
                <c:pt idx="4">
                  <c:v>8.5</c:v>
                </c:pt>
                <c:pt idx="5">
                  <c:v>9.5</c:v>
                </c:pt>
                <c:pt idx="6">
                  <c:v>11.0</c:v>
                </c:pt>
                <c:pt idx="7">
                  <c:v>16.0</c:v>
                </c:pt>
              </c:numCache>
            </c:numRef>
          </c:xVal>
          <c:yVal>
            <c:numRef>
              <c:f>Sheet1!$B$92:$B$99</c:f>
              <c:numCache>
                <c:formatCode>General</c:formatCode>
                <c:ptCount val="8"/>
                <c:pt idx="0">
                  <c:v>0.026</c:v>
                </c:pt>
                <c:pt idx="1">
                  <c:v>0.026</c:v>
                </c:pt>
                <c:pt idx="2">
                  <c:v>0.026</c:v>
                </c:pt>
                <c:pt idx="3">
                  <c:v>0.026</c:v>
                </c:pt>
                <c:pt idx="4">
                  <c:v>0.026</c:v>
                </c:pt>
                <c:pt idx="5">
                  <c:v>0.026</c:v>
                </c:pt>
                <c:pt idx="6">
                  <c:v>0.026</c:v>
                </c:pt>
                <c:pt idx="7">
                  <c:v>0.026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2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x_lift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0.1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[dB/cm]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1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Vπ·L, gap 3.2 µm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100</c:v>
                </c:pt>
                <c:pt idx="4">
                  <c:v>200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1.6496</c:v>
                </c:pt>
                <c:pt idx="1">
                  <c:v>1.799</c:v>
                </c:pt>
                <c:pt idx="2">
                  <c:v>1.8785</c:v>
                </c:pt>
                <c:pt idx="3">
                  <c:v>1.9912</c:v>
                </c:pt>
                <c:pt idx="4">
                  <c:v>2.1484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1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buffer thickness [nm]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5.0"/>
      </c:valAx>
      <c:valAx>
        <c:axId val="-2129643912"/>
        <c:scaling>
          <c:orientation val="minMax"/>
          <c:max val="2.3"/>
          <c:min val="1.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[V·cm]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2.4</c:v>
                </c:pt>
                <c:pt idx="1">
                  <c:v>2.6</c:v>
                </c:pt>
                <c:pt idx="2">
                  <c:v>2.8</c:v>
                </c:pt>
                <c:pt idx="3">
                  <c:v>3.0</c:v>
                </c:pt>
                <c:pt idx="4">
                  <c:v>3.2</c:v>
                </c:pt>
                <c:pt idx="5">
                  <c:v>3.4</c:v>
                </c:pt>
                <c:pt idx="6">
                  <c:v>3.6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1.6353</c:v>
                </c:pt>
                <c:pt idx="1">
                  <c:v>1.7704</c:v>
                </c:pt>
                <c:pt idx="2">
                  <c:v>1.8993</c:v>
                </c:pt>
                <c:pt idx="3">
                  <c:v>2.0249</c:v>
                </c:pt>
                <c:pt idx="4">
                  <c:v>2.1484</c:v>
                </c:pt>
                <c:pt idx="5">
                  <c:v>2.2707</c:v>
                </c:pt>
                <c:pt idx="6">
                  <c:v>2.392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.7"/>
          <c:min val="2.3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bottom gap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2.5"/>
          <c:min val="1.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[V·cm]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5400">
              <a:solidFill>
                <a:srgbClr val="EB6834"/>
              </a:solidFill>
            </a:ln>
          </c:spPr>
          <c:marker>
            <c:symbol val="circle"/>
            <c:size val="7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2.4</c:v>
                </c:pt>
                <c:pt idx="1">
                  <c:v>2.6</c:v>
                </c:pt>
                <c:pt idx="2">
                  <c:v>2.8</c:v>
                </c:pt>
                <c:pt idx="3">
                  <c:v>3.0</c:v>
                </c:pt>
                <c:pt idx="4">
                  <c:v>3.2</c:v>
                </c:pt>
                <c:pt idx="5">
                  <c:v>3.4</c:v>
                </c:pt>
                <c:pt idx="6">
                  <c:v>3.6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0.6509</c:v>
                </c:pt>
                <c:pt idx="1">
                  <c:v>0.3257</c:v>
                </c:pt>
                <c:pt idx="2">
                  <c:v>0.1689</c:v>
                </c:pt>
                <c:pt idx="3">
                  <c:v>0.0895</c:v>
                </c:pt>
                <c:pt idx="4">
                  <c:v>0.0481</c:v>
                </c:pt>
                <c:pt idx="5">
                  <c:v>0.026</c:v>
                </c:pt>
                <c:pt idx="6">
                  <c:v>0.0142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.7"/>
          <c:min val="2.3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bottom gap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logBase val="10"/>
          <c:orientation val="minMax"/>
          <c:max val="1.0"/>
          <c:min val="0.01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[dB/cm], log scale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 of the lifted-electrode study. A 200 nm SiO2 buffer is added under the whole electrode and across the gap, and the bottom gap is reduced to recover part of the electro-optic efficiency. This deck shows that the standing wave responsible for the lift-position resonance disappears, explains why, quantifies the Vpi cost, and closes with the final design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values from the femwell N1xP1 vector FEM, production mesh re-converged for the buffered geometry: IL within 1.7 %, Vpi*L within 0.04 % of a 220k-triangle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Data: results/lift_sweep.csv (previous study). Nominal x_lift 7.0 um sat just past the first dip.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Geometry drawn directly from the polygons of cell 0 (cells/cell0_lifted_buffer.py).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notebook was executed end to end both at BUFFER_H = 200 nm and at BUFFER_H = 0 (gap 4.2), without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Data: results/buffer/mesh_convergence_buffer200nm.csv.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x_lift sampled every 0.1 um (0 nm, 200 nm) or 0.2 um (25, 50 nm) between 5 and 9 um; 200 nm from 3.8 to 12 um. The gap-3.2 no-buffer IL is much larger than the gap-4.2 one because the rib couples to the gold by tunnelling across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Data: results/buffer/lift_sweep_buffer200nm.csv. Gap 3.4 um points at x_lift = 4.5-16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1D solver is a finite-difference TM (Hz) mode solver of the layer stack with anisotropic LN; the band between in-plane eps = ne^2 and no^2 is &lt; 0.01 in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Decay rate predicted as 10*log10(e)*2*kappa with kappa = k0*sqrt(n_rib^2 - n_sw^2).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Cases at x_lift = 7.0 um except 25 nm, shown at its IL peak (7.45 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Absorbed power integral is consistent with IL through the same constant (R = 7.54e8) as in the previous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Vpi*L barely depends on x_lift (2.148-2.157 V*cm), so these values hold for any lift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scan at x_lift = 7.0 um (GAP_TOP fixed at 10 um, so the overhang changes with the gap).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Simulated Vpi*L at gap 3.4 um: 2.2707 V*cm (x_lift 7.0 um); range over x_lift 4.5-16 um: 2.2701-2.2748. Vpi = 2.2707/(1.485*0.92) = 1.662 V. With the rounded 2.27 V*cm: 1.662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simulations are 2D cross-sections, z-invariant.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48840"/>
            <a:ext cx="96012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222222"/>
                </a:solidFill>
                <a:latin typeface="Arial"/>
              </a:rPr>
              <a:t>Lifted electrodes on a SiO₂ buffer:</a:t>
            </a:r>
          </a:p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222222"/>
                </a:solidFill>
                <a:latin typeface="Arial"/>
              </a:rPr>
              <a:t>removing the lift-position resonance</a:t>
            </a:r>
          </a:p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femwell / scikit-fem eigenmode study at λ = 1575 nm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7040880" cy="5029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</a:rPr>
              <a:t>A 200 nm SiO₂ buffer under the lifted electrodes removes the standing wave completely: IL = 0.0480–0.0481 dB/cm for every lift position from 3.8 to 30.1 µm (88 simulations).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</a:rPr>
              <a:t>Without the buffer, at the same 3.2 µm gap, IL swings between 4 and 33 dB/cm with the lift position (period 0.90 µm).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</a:rPr>
              <a:t>Why: the buffer lowers the index of the wave guided under the gold (2.07 → 1.69) below the rib index (1.884). The wave can no longer travel sideways; the field under the metal is evanescent (−29 dB/µm) and never reaches the lift. Cutoff ≈ 38 nm.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</a:rPr>
              <a:t>The 1D cutoff model predicts the full 2D results quantitatively: ripple periods at 0 and 25 nm, decay rates at 50 and 200 nm.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</a:rPr>
              <a:t>Cost: the oxide sits in series with the LN and raises Vπ·L (1.65 → 2.15 V·cm at 3.2 µm gap). The gap sets the trade-off, independently of the lift.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22222"/>
                </a:solidFill>
                <a:latin typeface="Arial"/>
              </a:rPr>
              <a:t>Final design: 200 nm buffer, 3.4 µm gap → Vπ·L = 2.27 V·cm, IL = 0.026 dB/cm. Line of 14.85 mm with duty cycle 0.92 → Vπ = 1.66 V &lt; 1.7 V.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41732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527048"/>
            <a:ext cx="1874519" cy="72923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1.66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212848"/>
            <a:ext cx="1691639" cy="50383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Vπ, final design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(14.85 mm, duty 0.92)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41732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1527048"/>
            <a:ext cx="1874519" cy="72923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0.026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2212848"/>
            <a:ext cx="1691639" cy="50383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IL (dB/cm),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final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92608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035808"/>
            <a:ext cx="1874519" cy="72923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flat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721608"/>
            <a:ext cx="1691639" cy="50383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IL vs lift position,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3.8 – 30.1 µm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92608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3035808"/>
            <a:ext cx="1874519" cy="72923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38 nm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3721608"/>
            <a:ext cx="1691639" cy="50383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buffer thickness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at cutoff (1D)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480560"/>
            <a:ext cx="3886200" cy="146304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Bottom line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The loss is no longer resonant: it is set only by the gap, and it is robust to lift position, lithography and fabrication tolerances at the lift.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Starting point: the lift-position resonance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Previous lifted design: gold directly on the LN slab, gap 4.2 µm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600200"/>
            <a:ext cx="4160520" cy="4572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What we found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IL oscillated with the lift position between 0.18 and 0.88 dB/cm, period 0.90 µm.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Cause: the rib mode leaks into a surface wave guided under the gold (index ≈ 2.08 &gt; rib 1.883). The lift step reflects it; the gold-on-slab strip becomes a lossy resonator beside the rib.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Even at a 30 µm lift the step still reflects: ±1.1 % swing vs &lt; ±0.2 % for a flat electrode.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Goal of this study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Remove the discontinuity's effect with minimal structural change: add a 200 nm SiO₂ buffer between the gold and the slab, and reduce the bottom gap from 4.2 to 3.2 µm to compensate the Vπ increase.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New geometry: lifted electrodes on a SiO₂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Two changes only: a 200 nm SiO₂ buffer on the whole slab and a 3.2 µm bottom gap</a:t>
            </a:r>
          </a:p>
        </p:txBody>
      </p:sp>
      <p:pic>
        <p:nvPicPr>
          <p:cNvPr id="4" name="Picture 3" descr="geometry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11338560" cy="27934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72000"/>
            <a:ext cx="566928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Buffer 200 nm SiO₂: under the lower block, under the lift (one oxide with it) and across the gap, fused with the cap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Bottom gap 3.2 µm (was 4.2); top gap 10 µm, column 2.0 µm → overhang 3.4 µm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Unchanged: λ = 1575 nm, LN 550 / 275 nm etch, electrodes 2.0 µm, cap 2.0 µm wide, EL_W = 30 µm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4572000"/>
            <a:ext cx="54864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Vertical references from the buffer top (= bottom of the gold): lower block 2.0 µm, SiO₂ lift 3.6 µm, pad 2.0 µm, cap 1.4 µm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x_lift = GAP_TOP/2 + COL_W = 7.0 µm nominal; moved with GAP_TOP = 2·(x_lift − 2)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BUFFER_H = 0 gives back the previous lifted geometry exactly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Model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Notebook: cells 0, 1, 5 updated; eigensolver, diagnostics and Vπ·L cells (2–4) unchanged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5760720" cy="4754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Cell 0: geometry and mesh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New parameters BUFFER_H (buffer) and LIFT_H (lift oxide); the lower block, cap, lift and pad all reference the buffer top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Buffer mesh follows its thickness (4 elements across, ≤ 50 nm); gold skin 18 nm with buffer, 12 nm without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Corner patches (6 nm mesh at the metal wedges) carved from every region they touch: valid for any BUFFER_H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Refined zone where the gold leaves the buffer (lift step)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Robustness: all regions snapped to a 1 pm grid. Float round-off (e.g. BUFFER_H = corner size, or xg + LOW_W ≠ GAP_TOP/2 + COL_W) produced zero-width slivers that gmsh rejected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Cell 5: leak diagnostic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Now measures the decay slope and ripple under the metal (inner edge → lift). The old test probed past the lift, where every case decays, and gave a false alarm with the buffer.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92240" y="1691640"/>
          <a:ext cx="5257800" cy="1152144"/>
        </p:xfrm>
        <a:graphic>
          <a:graphicData uri="http://schemas.openxmlformats.org/drawingml/2006/table">
            <a:tbl>
              <a:tblPr firstRow="1" bandRow="1"/>
              <a:tblGrid>
                <a:gridCol w="3063240"/>
                <a:gridCol w="100584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BUFFER_H = 0 check (gap 4.2, x_lift 7.0)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IL [dB/cm]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Vπ·L [V·cm]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Previous lifted notebook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0.2216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2.2647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New notebook, BUFFER_H = 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0.2220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2.2648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92240" y="29260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Leak diagnostic on the four buffer cases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2222"/>
                </a:solidFill>
                <a:latin typeface="Arial"/>
              </a:rPr>
              <a:t>0 nm: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slope −0.7 dB/µm, ripple 18 dB → LEAKY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2222"/>
                </a:solidFill>
                <a:latin typeface="Arial"/>
              </a:rPr>
              <a:t>25 nm: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slope −1.2 dB/µm, ripple 15 dB → LEAKY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2222"/>
                </a:solidFill>
                <a:latin typeface="Arial"/>
              </a:rPr>
              <a:t>50 nm: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slope −11.5 dB/µm → BOUND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2222"/>
                </a:solidFill>
                <a:latin typeface="Arial"/>
              </a:rPr>
              <a:t>200 nm:  </a:t>
            </a:r>
            <a:r>
              <a:rPr sz="1100" b="0" i="0">
                <a:solidFill>
                  <a:srgbClr val="222222"/>
                </a:solidFill>
                <a:latin typeface="Arial"/>
              </a:rPr>
              <a:t>slope −29.0 dB/µm → BOUND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475488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Runtime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Arial"/>
              </a:rPr>
              <a:t>67 k triangles; full notebook ≈ 85 s (8-mode eigensolve ≈ 65 s) on 4 cores. Every sweep point was run with the same production mesh.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Mesh convergence with the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200 nm buffer, gap 3.2 µm, x_lift 7.0 µm; one-at-a-time refinements and a global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45920"/>
          <a:ext cx="7589520" cy="3657600"/>
        </p:xfrm>
        <a:graphic>
          <a:graphicData uri="http://schemas.openxmlformats.org/drawingml/2006/table">
            <a:tbl>
              <a:tblPr firstRow="1" bandRow="1"/>
              <a:tblGrid>
                <a:gridCol w="3931920"/>
                <a:gridCol w="1188720"/>
                <a:gridCol w="128016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Mesh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Triangles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IL [dB/cm]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Vπ·L [V·cm]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Reference: everything near the mode ×1.5–2 finer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220 k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0.0473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2.1493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Production: buffer 50 nm, skin 18 nm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67 k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0.0481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2.1484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Buffer 25 nm / 12.5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87 k / 117 k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0.0478 / 0.0478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2.1488 / 2.1489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Gold skin 12 nm / 8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87 k / 115 k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0.0478 / 0.0476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2.1488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LN slab 25 → 15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122 k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0.0479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2.1489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Corner patches 6 → 12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84 k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0.0482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2.1479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Lift-step zone 40 → 20 nm, 1 → 2 µm long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99 k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0.0478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2.1487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Far slab 110 → 50 nm, lift oxide 150 → 80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105 k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0.0478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2.1488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Gap air, cap, core, BOX ×1.4–1.6 finer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98 k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0.0475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2.1487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66760" y="1645920"/>
            <a:ext cx="3429000" cy="4572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Accuracy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IL: production within +1.7 % of the reference; every single refinement moves it by &lt; 1 %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Vπ·L: within 0.04 %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Why it is easier than before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With the buffer the field at the gold is weak and evanescent: no resonance to resolve, no long strip carrying a surface wave. The skin could be relaxed to 18 nm.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BUFFER_H = 0 automatically restores the 12 nm skin converged for the bare-gold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IL vs lift position: the standing wave is gone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Same gap (3.2 µm), four buffer thicknesses; previous design for reference. Log scale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554480"/>
          <a:ext cx="768096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21040" y="1645920"/>
          <a:ext cx="3429000" cy="1828800"/>
        </p:xfrm>
        <a:graphic>
          <a:graphicData uri="http://schemas.openxmlformats.org/drawingml/2006/table">
            <a:tbl>
              <a:tblPr firstRow="1" bandRow="1"/>
              <a:tblGrid>
                <a:gridCol w="1463040"/>
                <a:gridCol w="19659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Buffer (gap 3.2)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IL range [dB/cm]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4.0 – 32.7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25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4.0 – 17.0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50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0.3256 – 0.3259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200 nm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0.0480 – 0.0481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3657600"/>
            <a:ext cx="3474720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0 and 25 nm: strong resonance, periods 0.90 and 1.81 µm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50 and 200 nm: flat to the 4th digit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The transition happens between 25 and 50 nm, exactly where the 1D model puts the cutoff (≈ 38 nm)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200 nm buffer: IL independent of the lift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Linear scale, 3.8–30.1 µm; gap 3.2 µm (full sweep) and gap 3.4 µm (final design, spot checks)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554480"/>
          <a:ext cx="768096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21040" y="1645920"/>
          <a:ext cx="3429000" cy="1828800"/>
        </p:xfrm>
        <a:graphic>
          <a:graphicData uri="http://schemas.openxmlformats.org/drawingml/2006/table">
            <a:tbl>
              <a:tblPr firstRow="1" bandRow="1"/>
              <a:tblGrid>
                <a:gridCol w="1234440"/>
                <a:gridCol w="1097280"/>
                <a:gridCol w="10972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gap 3.2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gap 3.4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x_lift [µm]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3.8 – 30.1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4.5 – 16.0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IL [dB/cm]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0.0480 – 0.0481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0.0260 – 0.0260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Vπ·L [V·cm]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2.148 – 2.156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2.270 – 2.275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3657600"/>
            <a:ext cx="3474720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IL changes by &lt; 0.3 % over 26 µm of lift position: no ripple, no far-end residual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Vπ·L rises by &lt; 0.4 % only when the column comes within ~2 µm of the gap (x_lift &lt; 5 µm)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The lift position is now a free mechanical/RF design parameter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Why: the buffer pushes the surface wave below cutoff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1D mode of the stack Au / SiO₂ buffer / 275 nm LN slab / BOX, propagating sideways</a:t>
            </a:r>
          </a:p>
        </p:txBody>
      </p:sp>
      <p:pic>
        <p:nvPicPr>
          <p:cNvPr id="4" name="Picture 3" descr="surface_wave_cut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7863840" cy="30025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77724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Phase matching: the wave under the gold must share the rib's propagation constant β = k₀·n_rib. Its lateral wavenumber is k_x = k₀·√(n_sw² − n_rib²).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n_sw &gt; n_rib: k_x real → the wave travels sideways, reflects at the lift → standing wave, IL period π/k_x.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n_sw &lt; n_rib: k_x imaginary (κ) → the field under the gold is evanescent, decaying as exp(−2κx): nothing reaches the lift.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600200"/>
            <a:ext cx="3200400" cy="452628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Physical picture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Gold directly on LN supports a plasmon-like wave pulled into the high-index slab: n ≈ 2.07.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A low-index SiO₂ layer between gold and LN pushes the wave's field into the oxide: its index falls quickly (1.93 at 25 nm, 1.85 at 50 nm, 1.69 at 200 nm).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Crossing the rib index (1.884) at ≈ 38 nm switches the region under the gold from a leaky channel to a barrier.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At 200 nm the power decays in 0.15 µm under the gold: the lift at ≥ 3.8 µm is invisible to the mode.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Evidence: the 1D model predicts the full 2D simulations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No fitting: 1D stack index → predicted period (propagating) or decay rate (evanescent) → compared with femwell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45920"/>
          <a:ext cx="11247120" cy="2057400"/>
        </p:xfrm>
        <a:graphic>
          <a:graphicData uri="http://schemas.openxmlformats.org/drawingml/2006/table">
            <a:tbl>
              <a:tblPr firstRow="1" bandRow="1"/>
              <a:tblGrid>
                <a:gridCol w="1463040"/>
                <a:gridCol w="1645920"/>
                <a:gridCol w="2011680"/>
                <a:gridCol w="2926080"/>
                <a:gridCol w="32004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Buffer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n_sw (1D)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Regime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1D prediction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Full 2D simulation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0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2.072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propagating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IL period 0.91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0.90 µm (4 peaks)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25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1.929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propagating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IL period 1.90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1.81 µm (2 peaks)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50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1.852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evanescent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decay 12.0 dB/µm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11.5 dB/µm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200 nm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1.688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evanescent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decay 29.0 dB/µm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Arial"/>
                        </a:rPr>
                        <a:t>29.0 dB/µm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886200"/>
            <a:ext cx="6675120" cy="2468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Periods: from the IL peaks of the x_lift sweeps (parabolic peak fit). Decay rates: slope of |E|² along the slab between the inner edge and the lift (cell 5 diagnostic).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Agreement within 1–5 %; the residual at 25 nm comes from the rib's proximity and the oblique propagation, both ignored in 1D.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The same number explains both regimes: it is one mechanism, controlled by one parameter (the buffer index contrast/thickness).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886200"/>
            <a:ext cx="4251960" cy="21031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Design rule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Buffer thickness well above the ≈ 38 nm cutoff. Margin matters: at 50 nm the decay is 2.5× slower than at 200 nm and IL is 7× higher at the same gap (0.33 vs 0.048 dB/cm).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Field: standing wave without buffer, clean decay with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|E|² in dB below peak, gap 3.2 µm</a:t>
            </a:r>
          </a:p>
        </p:txBody>
      </p:sp>
      <p:pic>
        <p:nvPicPr>
          <p:cNvPr id="4" name="Picture 3" descr="field_buffer_vs_no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603818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00200"/>
            <a:ext cx="5212080" cy="4754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Top: cut through the slab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No buffer / 25 nm: plateau at −30…−45 dB all along the gold with regular ripples, abrupt change at the lift: power travels to the lift and back.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50 nm: straight line with a slower slope; 200 nm: straight line at −29 dB/µm, below −160 dB well before the lift.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Maps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No buffer: bright band under the whole lower block with nodes every ≈ 0.9 µm, the same period as the IL oscillation.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200 nm: the rib mode ends at the inner corner; under the gold the field fades within ~1 µm.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Zooms: without buffer the field enters the gold along the whole slab contact; with the buffer only the inner corner region sees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Where the loss is deposited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Absorbed power Im(ε)|E|² in the gold, binned along x (one electrode), scaled to dB/cm</a:t>
            </a:r>
          </a:p>
        </p:txBody>
      </p:sp>
      <p:pic>
        <p:nvPicPr>
          <p:cNvPr id="4" name="Picture 3" descr="absorption_along_x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7772400" cy="282632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0" y="1600200"/>
          <a:ext cx="3337560" cy="1828800"/>
        </p:xfrm>
        <a:graphic>
          <a:graphicData uri="http://schemas.openxmlformats.org/drawingml/2006/table">
            <a:tbl>
              <a:tblPr firstRow="1" bandRow="1"/>
              <a:tblGrid>
                <a:gridCol w="1325880"/>
                <a:gridCol w="731520"/>
                <a:gridCol w="12801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Case (x_lift 7.0)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IL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within 1 µm of edge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No buffer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9.71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26 %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25 nm (7.45)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13.6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31 %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50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0.326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97 %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200 nm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0.048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99.9 %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09160"/>
            <a:ext cx="112471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Leaky cases: absorption spread over the whole 5.4 µm lower block, ripple-modulated; only 26–31 % in the first micron.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200 nm: 99.9 % of the loss within 1 µm of the inner edge. Loss map of the notebook: 67 % in the bottom skin of the lower blocks, 33 % in the 50 nm corner patches, 0 % in the outer skin (near the lift).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Consequence: the remaining loss is controlled only by the distance rib–inner corner, i.e. by the bottom gap.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The price: the oxide raises Vπ·L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Same gap (3.2 µm): the buffer is a low-permittivity layer in series with the LN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55448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55080" y="1645920"/>
          <a:ext cx="5394960" cy="2194560"/>
        </p:xfrm>
        <a:graphic>
          <a:graphicData uri="http://schemas.openxmlformats.org/drawingml/2006/table">
            <a:tbl>
              <a:tblPr firstRow="1" bandRow="1"/>
              <a:tblGrid>
                <a:gridCol w="1188720"/>
                <a:gridCol w="146304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Buffer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Vπ·L [V·cm]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IL at x_lift 7.0 [dB/cm]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1.650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9.71 (resonant: 4–33)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25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1.799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7.08 (resonant: 4–17)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50 nm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1.879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0.326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100 nm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1.991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0.101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200 nm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2.148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0.048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4069080"/>
            <a:ext cx="5440680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ε_DC(SiO₂) = 3.75 vs ε_DC(LN) = 28: the DC field must cross the low-permittivity oxide to enter the slab and part of the voltage drops there. At 0.63 V·cm per µm of gap, the 200 nm buffer costs as much as ≈ 0.8 µm of extra gap.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Vπ·L grows smoothly with thickness (+30 % at 200 nm); the loss falls much faster (resonant → 0.05 dB/cm).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For reference, the 200 nm buffer at the old 4.2 µm gap gives 2.75 V·cm / 0.002 dB/cm: reducing the gap is the right lever.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Gap trade-off at 200 nm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IL no longer depends on the lift: the bottom gap alone sets Vπ·L vs loss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554480"/>
          <a:ext cx="39319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434840" y="1554480"/>
          <a:ext cx="393192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41080" y="1645920"/>
          <a:ext cx="3108960" cy="2633472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09728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Gap [µm]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Vπ·L [V·cm]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IL [dB/cm]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1.635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0.651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2.6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1.770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0.326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1.899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0.169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2.025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0.089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2.148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0.048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2.271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0.026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3.6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2.392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Arial"/>
                        </a:rPr>
                        <a:t>0.014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4924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Vπ·L is linear in the gap (+0.62 V·cm per µm); IL is exponential (×0.53 per +0.2 µm): tunnelling from the rib to the inner corner through the evanescent region.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Every 0.2 µm of gap costs ≈ 0.12 V·cm and halves the gold loss. 3.4 µm puts the gold loss at ≈ 0.03 dB/cm, negligible next to typical TFLN propagation loss.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Final design: 200 nm buffer, 3.4 µm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Vπ of a 14.85 mm line with 0.92 duty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09928"/>
            <a:ext cx="2651760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2.27 V·cm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2468879" cy="5212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(simulated)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709928"/>
            <a:ext cx="2651760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0.026 dB/cm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423160"/>
            <a:ext cx="2468879" cy="5212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optical IL from the gold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09928"/>
            <a:ext cx="2651760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flat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23160"/>
            <a:ext cx="2468879" cy="5212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IL = 0.0260 dB/cm for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x_lift = 4.5 – 16 µm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6002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709928"/>
            <a:ext cx="2743200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B7F4A"/>
                </a:solidFill>
                <a:latin typeface="Arial"/>
              </a:rPr>
              <a:t>1.66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423160"/>
            <a:ext cx="2560320" cy="5212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Vπ, final 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00400"/>
            <a:ext cx="6583680" cy="27432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Vπ of the line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Line length  L = 14.85 mm = 1.485 cm; duty cycle  D = 0.92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Effective electro-optic length  L·D = 1.485 × 0.92 = 1.366 cm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Vπ = (Vπ·L) / (L·D) = 2.27 / (1.485 × 0.92) = </a:t>
            </a:r>
            <a:r>
              <a:rPr sz="1400" b="1" i="0">
                <a:solidFill>
                  <a:srgbClr val="222222"/>
                </a:solidFill>
                <a:latin typeface="Arial"/>
              </a:rPr>
              <a:t>1.66 V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22222"/>
                </a:solidFill>
                <a:latin typeface="Arial"/>
              </a:rPr>
              <a:t>Target &lt; 1.7 V: </a:t>
            </a:r>
            <a:r>
              <a:rPr sz="1400" b="0" i="0">
                <a:solidFill>
                  <a:srgbClr val="222222"/>
                </a:solidFill>
                <a:latin typeface="Arial"/>
              </a:rPr>
              <a:t>met, with 0.04 V (2.2 %) of margin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Gold-induced optical loss over the line: </a:t>
            </a:r>
            <a:r>
              <a:rPr sz="1400" b="1" i="0">
                <a:solidFill>
                  <a:srgbClr val="222222"/>
                </a:solidFill>
                <a:latin typeface="Arial"/>
              </a:rPr>
              <a:t>0.026 dB/cm × 1.485 cm ≈ 0.04 dB</a:t>
            </a:r>
            <a:r>
              <a:rPr sz="1400" b="0" i="0">
                <a:solidFill>
                  <a:srgbClr val="222222"/>
                </a:solidFill>
                <a:latin typeface="Arial"/>
              </a:rPr>
              <a:t> (upper bound: full length metallised)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00400"/>
            <a:ext cx="448056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Why this point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200 nm is 5× the cutoff thickness: the loss is non-resonant and insensitive to the lift position and to its fabrication tolerance.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3.4 µm instead of 3.2 µm: Vπ·L +0.12 V·cm, but the gold loss halves (0.048 → 0.026 dB/cm), while Vπ still meets the 1.7 V target.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Assumptions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222222"/>
                </a:solidFill>
                <a:latin typeface="Arial"/>
              </a:rPr>
              <a:t>Vπ·L from the 2D cross-section; duty cycle = fraction of the line with active electrodes. IL counts gold absorption only (no LN propagation / scattering loss).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7223760" cy="4937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Conclusions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A 200 nm SiO₂ buffer under the lifted electrodes eliminates the lift-position resonance: IL is flat over 3.8–30.1 µm.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Mechanism understood and verified: the buffer pushes the wave under the gold below the rib index (cutoff ≈ 38 nm); 1D predictions match the 2D simulations within a few %.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The buffer raises Vπ·L by ~30 % at fixed gap; the gap then sets the trade-off without any resonance.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Final design (200 nm, 3.4 µm): Vπ·L 2.27 V·cm, IL 0.026 dB/cm; 14.85 mm line, duty cycle 0.92 → Vπ = 1.66 V &lt; 1.7 V.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Next steps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Independent check of the final design point (COMSOL).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Buffer thickness tolerance (e.g. 150–250 nm) and SiO₂ permittivity: effect on Vπ·L.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RF: impedance, microwave loss and velocity matching of the buffered lifted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463040"/>
            <a:ext cx="3703320" cy="30175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Files (branch VPI-CODE)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results/buffer/VPI_interface_optimized_Lisbona_lifted_buffer.ipynb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cells/cell0/1/5_lifted_buffer.py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results/buffer/*.csv: lift sweeps, comparison sweeps, gap scan, mesh convergence, 1D index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results/buffer/*.png: figures of this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1056</Words>
  <Application>Microsoft Office PowerPoint</Application>
  <PresentationFormat>Widescreen</PresentationFormat>
  <Paragraphs>139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38</cp:revision>
  <dcterms:created xsi:type="dcterms:W3CDTF">2025-12-01T09:32:09Z</dcterms:created>
  <dcterms:modified xsi:type="dcterms:W3CDTF">2026-08-19T15:16:26Z</dcterms:modified>
</cp:coreProperties>
</file>