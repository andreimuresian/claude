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Insertion loss vs lift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Lisbon, lifted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Sheet1!$A$2:$A$48</c:f>
              <c:numCache>
                <c:formatCode>General</c:formatCode>
                <c:ptCount val="47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  <c:pt idx="46">
                  <c:v>12.1</c:v>
                </c:pt>
              </c:numCache>
            </c:numRef>
          </c:xVal>
          <c:yVal>
            <c:numRef>
              <c:f>Sheet1!$B$2:$B$48</c:f>
              <c:numCache>
                <c:formatCode>General</c:formatCode>
                <c:ptCount val="47"/>
                <c:pt idx="0">
                  <c:v>0.6815</c:v>
                </c:pt>
                <c:pt idx="1">
                  <c:v>0.3521</c:v>
                </c:pt>
                <c:pt idx="2">
                  <c:v>0.2271</c:v>
                </c:pt>
                <c:pt idx="3">
                  <c:v>0.1826</c:v>
                </c:pt>
                <c:pt idx="4">
                  <c:v>0.1807</c:v>
                </c:pt>
                <c:pt idx="5">
                  <c:v>0.2216</c:v>
                </c:pt>
                <c:pt idx="6">
                  <c:v>0.3345</c:v>
                </c:pt>
                <c:pt idx="7">
                  <c:v>0.6016</c:v>
                </c:pt>
                <c:pt idx="8">
                  <c:v>0.8827</c:v>
                </c:pt>
                <c:pt idx="9">
                  <c:v>0.6382</c:v>
                </c:pt>
                <c:pt idx="10">
                  <c:v>0.3731</c:v>
                </c:pt>
                <c:pt idx="11">
                  <c:v>0.2513</c:v>
                </c:pt>
                <c:pt idx="12">
                  <c:v>0.2077</c:v>
                </c:pt>
                <c:pt idx="13">
                  <c:v>0.2073</c:v>
                </c:pt>
                <c:pt idx="14">
                  <c:v>0.2509</c:v>
                </c:pt>
                <c:pt idx="15">
                  <c:v>0.3633</c:v>
                </c:pt>
                <c:pt idx="16">
                  <c:v>0.5965</c:v>
                </c:pt>
                <c:pt idx="17">
                  <c:v>0.7824</c:v>
                </c:pt>
                <c:pt idx="18">
                  <c:v>0.6002</c:v>
                </c:pt>
                <c:pt idx="19">
                  <c:v>0.3825</c:v>
                </c:pt>
                <c:pt idx="20">
                  <c:v>0.2751</c:v>
                </c:pt>
                <c:pt idx="21">
                  <c:v>0.231</c:v>
                </c:pt>
                <c:pt idx="22">
                  <c:v>0.2329</c:v>
                </c:pt>
                <c:pt idx="23">
                  <c:v>0.2782</c:v>
                </c:pt>
                <c:pt idx="24">
                  <c:v>0.391</c:v>
                </c:pt>
                <c:pt idx="25">
                  <c:v>0.585</c:v>
                </c:pt>
                <c:pt idx="26">
                  <c:v>0.7076</c:v>
                </c:pt>
                <c:pt idx="27">
                  <c:v>0.566</c:v>
                </c:pt>
                <c:pt idx="28">
                  <c:v>0.3916</c:v>
                </c:pt>
                <c:pt idx="29">
                  <c:v>0.2914</c:v>
                </c:pt>
                <c:pt idx="30">
                  <c:v>0.2525</c:v>
                </c:pt>
                <c:pt idx="31">
                  <c:v>0.2549</c:v>
                </c:pt>
                <c:pt idx="32">
                  <c:v>0.3051</c:v>
                </c:pt>
                <c:pt idx="33">
                  <c:v>0.4036</c:v>
                </c:pt>
                <c:pt idx="34">
                  <c:v>0.5742</c:v>
                </c:pt>
                <c:pt idx="35">
                  <c:v>0.6495</c:v>
                </c:pt>
                <c:pt idx="36">
                  <c:v>0.5403</c:v>
                </c:pt>
                <c:pt idx="37">
                  <c:v>0.3937</c:v>
                </c:pt>
                <c:pt idx="38">
                  <c:v>0.3071</c:v>
                </c:pt>
                <c:pt idx="39">
                  <c:v>0.2723</c:v>
                </c:pt>
                <c:pt idx="40">
                  <c:v>0.276</c:v>
                </c:pt>
                <c:pt idx="41">
                  <c:v>0.3228</c:v>
                </c:pt>
                <c:pt idx="42">
                  <c:v>0.4169</c:v>
                </c:pt>
                <c:pt idx="43">
                  <c:v>0.5605</c:v>
                </c:pt>
                <c:pt idx="44">
                  <c:v>0.6071</c:v>
                </c:pt>
                <c:pt idx="45">
                  <c:v>0.5169</c:v>
                </c:pt>
                <c:pt idx="46">
                  <c:v>0.3284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Sheet1!$B$50</c:f>
              <c:strCache>
                <c:ptCount val="1"/>
                <c:pt idx="0">
                  <c:v>Cordoba, legacy (0.42 dB/cm)</c:v>
                </c:pt>
              </c:strCache>
            </c:strRef>
          </c:tx>
          <c:spPr>
            <a:ln w="25400">
              <a:solidFill>
                <a:srgbClr val="1BAF7A"/>
              </a:solidFill>
              <a:prstDash val="dash"/>
            </a:ln>
          </c:spPr>
          <c:marker>
            <c:symbol val="none"/>
          </c:marker>
          <c:xVal>
            <c:numRef>
              <c:f>Sheet1!$A$51:$A$52</c:f>
              <c:numCache>
                <c:formatCode>General</c:formatCode>
                <c:ptCount val="2"/>
                <c:pt idx="0">
                  <c:v>6.0</c:v>
                </c:pt>
                <c:pt idx="1">
                  <c:v>12.5</c:v>
                </c:pt>
              </c:numCache>
            </c:numRef>
          </c:xVal>
          <c:yVal>
            <c:numRef>
              <c:f>Sheet1!$B$51:$B$52</c:f>
              <c:numCache>
                <c:formatCode>General</c:formatCode>
                <c:ptCount val="2"/>
                <c:pt idx="0">
                  <c:v>0.4202</c:v>
                </c:pt>
                <c:pt idx="1">
                  <c:v>0.4202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Sheet1!$B$54</c:f>
              <c:strCache>
                <c:ptCount val="1"/>
                <c:pt idx="0">
                  <c:v>x_lift 7.1 → 7.2 µm</c:v>
                </c:pt>
              </c:strCache>
            </c:strRef>
          </c:tx>
          <c:spPr>
            <a:ln w="31750">
              <a:solidFill>
                <a:srgbClr val="C0262D"/>
              </a:solidFill>
            </a:ln>
          </c:spPr>
          <c:marker>
            <c:symbol val="circle"/>
            <c:size val="9"/>
            <c:spPr>
              <a:solidFill>
                <a:srgbClr val="C0262D"/>
              </a:solidFill>
              <a:ln>
                <a:solidFill>
                  <a:srgbClr val="C0262D"/>
                </a:solidFill>
              </a:ln>
            </c:spPr>
          </c:marker>
          <c:xVal>
            <c:numRef>
              <c:f>Sheet1!$A$55:$A$56</c:f>
              <c:numCache>
                <c:formatCode>General</c:formatCode>
                <c:ptCount val="2"/>
                <c:pt idx="0">
                  <c:v>7.1</c:v>
                </c:pt>
                <c:pt idx="1">
                  <c:v>7.2</c:v>
                </c:pt>
              </c:numCache>
            </c:numRef>
          </c:xVal>
          <c:yVal>
            <c:numRef>
              <c:f>Sheet1!$B$55:$B$56</c:f>
              <c:numCache>
                <c:formatCode>General</c:formatCode>
                <c:ptCount val="2"/>
                <c:pt idx="0">
                  <c:v>0.3345</c:v>
                </c:pt>
                <c:pt idx="1">
                  <c:v>0.6016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5"/>
          <c:min val="6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Index of the wave under the gold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wave under the gold</c:v>
                </c:pt>
              </c:strCache>
            </c:strRef>
          </c:tx>
          <c:spPr>
            <a:ln w="31750">
              <a:solidFill>
                <a:srgbClr val="1F4E79"/>
              </a:solidFill>
            </a:ln>
          </c:spPr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0.0</c:v>
                </c:pt>
                <c:pt idx="1">
                  <c:v>5.0</c:v>
                </c:pt>
                <c:pt idx="2">
                  <c:v>10.0</c:v>
                </c:pt>
                <c:pt idx="3">
                  <c:v>15.0</c:v>
                </c:pt>
                <c:pt idx="4">
                  <c:v>20.0</c:v>
                </c:pt>
                <c:pt idx="5">
                  <c:v>25.0</c:v>
                </c:pt>
                <c:pt idx="6">
                  <c:v>30.0</c:v>
                </c:pt>
                <c:pt idx="7">
                  <c:v>35.0</c:v>
                </c:pt>
                <c:pt idx="8">
                  <c:v>40.0</c:v>
                </c:pt>
                <c:pt idx="9">
                  <c:v>45.0</c:v>
                </c:pt>
                <c:pt idx="10">
                  <c:v>50.0</c:v>
                </c:pt>
                <c:pt idx="11">
                  <c:v>75.0</c:v>
                </c:pt>
                <c:pt idx="12">
                  <c:v>100.0</c:v>
                </c:pt>
                <c:pt idx="13">
                  <c:v>125.0</c:v>
                </c:pt>
                <c:pt idx="14">
                  <c:v>150.0</c:v>
                </c:pt>
                <c:pt idx="15">
                  <c:v>175.0</c:v>
                </c:pt>
                <c:pt idx="16">
                  <c:v>200.0</c:v>
                </c:pt>
                <c:pt idx="17">
                  <c:v>225.0</c:v>
                </c:pt>
                <c:pt idx="18">
                  <c:v>250.0</c:v>
                </c:pt>
                <c:pt idx="19">
                  <c:v>275.0</c:v>
                </c:pt>
                <c:pt idx="20">
                  <c:v>300.0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2.072245</c:v>
                </c:pt>
                <c:pt idx="1">
                  <c:v>2.033595</c:v>
                </c:pt>
                <c:pt idx="2">
                  <c:v>2.001285</c:v>
                </c:pt>
                <c:pt idx="3">
                  <c:v>1.97369</c:v>
                </c:pt>
                <c:pt idx="4">
                  <c:v>1.9497499999999999</c:v>
                </c:pt>
                <c:pt idx="5">
                  <c:v>1.9286949999999998</c:v>
                </c:pt>
                <c:pt idx="6">
                  <c:v>1.91</c:v>
                </c:pt>
                <c:pt idx="7">
                  <c:v>1.89323</c:v>
                </c:pt>
                <c:pt idx="8">
                  <c:v>1.878085</c:v>
                </c:pt>
                <c:pt idx="9">
                  <c:v>1.864325</c:v>
                </c:pt>
                <c:pt idx="10">
                  <c:v>1.8517450000000002</c:v>
                </c:pt>
                <c:pt idx="11">
                  <c:v>1.80192</c:v>
                </c:pt>
                <c:pt idx="12">
                  <c:v>1.7664900000000001</c:v>
                </c:pt>
                <c:pt idx="13">
                  <c:v>1.73982</c:v>
                </c:pt>
                <c:pt idx="14">
                  <c:v>1.718955</c:v>
                </c:pt>
                <c:pt idx="15">
                  <c:v>1.7021799999999998</c:v>
                </c:pt>
                <c:pt idx="16">
                  <c:v>1.68841</c:v>
                </c:pt>
                <c:pt idx="17">
                  <c:v>1.676935</c:v>
                </c:pt>
                <c:pt idx="18">
                  <c:v>1.6672449999999999</c:v>
                </c:pt>
                <c:pt idx="19">
                  <c:v>1.65899</c:v>
                </c:pt>
                <c:pt idx="20">
                  <c:v>1.6518950000000001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rib mode</c:v>
                </c:pt>
              </c:strCache>
            </c:strRef>
          </c:tx>
          <c:spPr>
            <a:ln w="22225">
              <a:solidFill>
                <a:srgbClr val="8A8A8A"/>
              </a:solidFill>
              <a:prstDash val="dash"/>
            </a:ln>
          </c:spPr>
          <c:marker>
            <c:symbol val="none"/>
          </c:marker>
          <c:xVal>
            <c:numRef>
              <c:f>Sheet1!$A$25:$A$26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Sheet1!$B$25:$B$26</c:f>
              <c:numCache>
                <c:formatCode>General</c:formatCode>
                <c:ptCount val="2"/>
                <c:pt idx="0">
                  <c:v>1.883806</c:v>
                </c:pt>
                <c:pt idx="1">
                  <c:v>1.883806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Sheet1!$B$28</c:f>
              <c:strCache>
                <c:ptCount val="1"/>
                <c:pt idx="0">
                  <c:v>cutoff ≈ 38 nm</c:v>
                </c:pt>
              </c:strCache>
            </c:strRef>
          </c:tx>
          <c:spPr>
            <a:ln w="22225">
              <a:solidFill>
                <a:srgbClr val="C0262D"/>
              </a:solidFill>
              <a:prstDash val="dash"/>
            </a:ln>
          </c:spPr>
          <c:marker>
            <c:symbol val="none"/>
          </c:marker>
          <c:xVal>
            <c:numRef>
              <c:f>Sheet1!$A$29:$A$30</c:f>
              <c:numCache>
                <c:formatCode>General</c:formatCode>
                <c:ptCount val="2"/>
                <c:pt idx="0">
                  <c:v>38</c:v>
                </c:pt>
                <c:pt idx="1">
                  <c:v>38</c:v>
                </c:pt>
              </c:numCache>
            </c:numRef>
          </c:xVal>
          <c:yVal>
            <c:numRef>
              <c:f>Sheet1!$B$29:$B$30</c:f>
              <c:numCache>
                <c:formatCode>General</c:formatCode>
                <c:ptCount val="2"/>
                <c:pt idx="0">
                  <c:v>1.62</c:v>
                </c:pt>
                <c:pt idx="1">
                  <c:v>2.1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Sheet1!$B$32</c:f>
              <c:strCache>
                <c:ptCount val="1"/>
                <c:pt idx="0">
                  <c:v>design</c:v>
                </c:pt>
              </c:strCache>
            </c:strRef>
          </c:tx>
          <c:spPr>
            <a:ln w="12700">
              <a:solidFill>
                <a:srgbClr val="EB6834"/>
              </a:solidFill>
            </a:ln>
          </c:spPr>
          <c:marker>
            <c:symbol val="circle"/>
            <c:size val="9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Sheet1!$A$33:$A$33</c:f>
              <c:numCache>
                <c:formatCode>General</c:formatCode>
                <c:ptCount val="1"/>
                <c:pt idx="0">
                  <c:v>200</c:v>
                </c:pt>
              </c:numCache>
            </c:numRef>
          </c:xVal>
          <c:yVal>
            <c:numRef>
              <c:f>Sheet1!$B$33:$B$33</c:f>
              <c:numCache>
                <c:formatCode>General</c:formatCode>
                <c:ptCount val="1"/>
                <c:pt idx="0">
                  <c:v>1.68841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buffer thickness [nm]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50.0"/>
      </c:valAx>
      <c:valAx>
        <c:axId val="-2129643912"/>
        <c:scaling>
          <c:orientation val="minMax"/>
          <c:max val="2.1"/>
          <c:min val="1.6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effective index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Insertion loss vs lift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Lisbon + 200 nm buffer, gap 3.2 µm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4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Sheet1!$A$2:$A$84</c:f>
              <c:numCache>
                <c:formatCode>General</c:formatCode>
                <c:ptCount val="83"/>
                <c:pt idx="0">
                  <c:v>3.8</c:v>
                </c:pt>
                <c:pt idx="1">
                  <c:v>3.9</c:v>
                </c:pt>
                <c:pt idx="2">
                  <c:v>4.0</c:v>
                </c:pt>
                <c:pt idx="3">
                  <c:v>4.1</c:v>
                </c:pt>
                <c:pt idx="4">
                  <c:v>4.2</c:v>
                </c:pt>
                <c:pt idx="5">
                  <c:v>4.3</c:v>
                </c:pt>
                <c:pt idx="6">
                  <c:v>4.4</c:v>
                </c:pt>
                <c:pt idx="7">
                  <c:v>4.5</c:v>
                </c:pt>
                <c:pt idx="8">
                  <c:v>4.6</c:v>
                </c:pt>
                <c:pt idx="9">
                  <c:v>4.7</c:v>
                </c:pt>
                <c:pt idx="10">
                  <c:v>4.8</c:v>
                </c:pt>
                <c:pt idx="11">
                  <c:v>4.9</c:v>
                </c:pt>
                <c:pt idx="12">
                  <c:v>5.0</c:v>
                </c:pt>
                <c:pt idx="13">
                  <c:v>5.1</c:v>
                </c:pt>
                <c:pt idx="14">
                  <c:v>5.2</c:v>
                </c:pt>
                <c:pt idx="15">
                  <c:v>5.3</c:v>
                </c:pt>
                <c:pt idx="16">
                  <c:v>5.4</c:v>
                </c:pt>
                <c:pt idx="17">
                  <c:v>5.5</c:v>
                </c:pt>
                <c:pt idx="18">
                  <c:v>5.6</c:v>
                </c:pt>
                <c:pt idx="19">
                  <c:v>5.7</c:v>
                </c:pt>
                <c:pt idx="20">
                  <c:v>5.8</c:v>
                </c:pt>
                <c:pt idx="21">
                  <c:v>5.9</c:v>
                </c:pt>
                <c:pt idx="22">
                  <c:v>6.0</c:v>
                </c:pt>
                <c:pt idx="23">
                  <c:v>6.1</c:v>
                </c:pt>
                <c:pt idx="24">
                  <c:v>6.2</c:v>
                </c:pt>
                <c:pt idx="25">
                  <c:v>6.3</c:v>
                </c:pt>
                <c:pt idx="26">
                  <c:v>6.4</c:v>
                </c:pt>
                <c:pt idx="27">
                  <c:v>6.5</c:v>
                </c:pt>
                <c:pt idx="28">
                  <c:v>6.6</c:v>
                </c:pt>
                <c:pt idx="29">
                  <c:v>6.7</c:v>
                </c:pt>
                <c:pt idx="30">
                  <c:v>6.8</c:v>
                </c:pt>
                <c:pt idx="31">
                  <c:v>6.9</c:v>
                </c:pt>
                <c:pt idx="32">
                  <c:v>7.0</c:v>
                </c:pt>
                <c:pt idx="33">
                  <c:v>7.1</c:v>
                </c:pt>
                <c:pt idx="34">
                  <c:v>7.2</c:v>
                </c:pt>
                <c:pt idx="35">
                  <c:v>7.3</c:v>
                </c:pt>
                <c:pt idx="36">
                  <c:v>7.4</c:v>
                </c:pt>
                <c:pt idx="37">
                  <c:v>7.5</c:v>
                </c:pt>
                <c:pt idx="38">
                  <c:v>7.6</c:v>
                </c:pt>
                <c:pt idx="39">
                  <c:v>7.7</c:v>
                </c:pt>
                <c:pt idx="40">
                  <c:v>7.8</c:v>
                </c:pt>
                <c:pt idx="41">
                  <c:v>7.9</c:v>
                </c:pt>
                <c:pt idx="42">
                  <c:v>8.0</c:v>
                </c:pt>
                <c:pt idx="43">
                  <c:v>8.1</c:v>
                </c:pt>
                <c:pt idx="44">
                  <c:v>8.2</c:v>
                </c:pt>
                <c:pt idx="45">
                  <c:v>8.3</c:v>
                </c:pt>
                <c:pt idx="46">
                  <c:v>8.4</c:v>
                </c:pt>
                <c:pt idx="47">
                  <c:v>8.5</c:v>
                </c:pt>
                <c:pt idx="48">
                  <c:v>8.6</c:v>
                </c:pt>
                <c:pt idx="49">
                  <c:v>8.7</c:v>
                </c:pt>
                <c:pt idx="50">
                  <c:v>8.8</c:v>
                </c:pt>
                <c:pt idx="51">
                  <c:v>8.9</c:v>
                </c:pt>
                <c:pt idx="52">
                  <c:v>9.0</c:v>
                </c:pt>
                <c:pt idx="53">
                  <c:v>9.1</c:v>
                </c:pt>
                <c:pt idx="54">
                  <c:v>9.2</c:v>
                </c:pt>
                <c:pt idx="55">
                  <c:v>9.3</c:v>
                </c:pt>
                <c:pt idx="56">
                  <c:v>9.4</c:v>
                </c:pt>
                <c:pt idx="57">
                  <c:v>9.5</c:v>
                </c:pt>
                <c:pt idx="58">
                  <c:v>9.6</c:v>
                </c:pt>
                <c:pt idx="59">
                  <c:v>9.7</c:v>
                </c:pt>
                <c:pt idx="60">
                  <c:v>9.8</c:v>
                </c:pt>
                <c:pt idx="61">
                  <c:v>9.9</c:v>
                </c:pt>
                <c:pt idx="62">
                  <c:v>10.0</c:v>
                </c:pt>
                <c:pt idx="63">
                  <c:v>10.1</c:v>
                </c:pt>
                <c:pt idx="64">
                  <c:v>10.2</c:v>
                </c:pt>
                <c:pt idx="65">
                  <c:v>10.3</c:v>
                </c:pt>
                <c:pt idx="66">
                  <c:v>10.4</c:v>
                </c:pt>
                <c:pt idx="67">
                  <c:v>10.5</c:v>
                </c:pt>
                <c:pt idx="68">
                  <c:v>10.6</c:v>
                </c:pt>
                <c:pt idx="69">
                  <c:v>10.7</c:v>
                </c:pt>
                <c:pt idx="70">
                  <c:v>10.8</c:v>
                </c:pt>
                <c:pt idx="71">
                  <c:v>10.9</c:v>
                </c:pt>
                <c:pt idx="72">
                  <c:v>11.0</c:v>
                </c:pt>
                <c:pt idx="73">
                  <c:v>11.1</c:v>
                </c:pt>
                <c:pt idx="74">
                  <c:v>11.2</c:v>
                </c:pt>
                <c:pt idx="75">
                  <c:v>11.3</c:v>
                </c:pt>
                <c:pt idx="76">
                  <c:v>11.4</c:v>
                </c:pt>
                <c:pt idx="77">
                  <c:v>11.5</c:v>
                </c:pt>
                <c:pt idx="78">
                  <c:v>11.6</c:v>
                </c:pt>
                <c:pt idx="79">
                  <c:v>11.7</c:v>
                </c:pt>
                <c:pt idx="80">
                  <c:v>11.8</c:v>
                </c:pt>
                <c:pt idx="81">
                  <c:v>11.9</c:v>
                </c:pt>
                <c:pt idx="82">
                  <c:v>12.0</c:v>
                </c:pt>
              </c:numCache>
            </c:numRef>
          </c:xVal>
          <c:yVal>
            <c:numRef>
              <c:f>Sheet1!$B$2:$B$84</c:f>
              <c:numCache>
                <c:formatCode>General</c:formatCode>
                <c:ptCount val="83"/>
                <c:pt idx="0">
                  <c:v>0.0481</c:v>
                </c:pt>
                <c:pt idx="1">
                  <c:v>0.0481</c:v>
                </c:pt>
                <c:pt idx="2">
                  <c:v>0.0481</c:v>
                </c:pt>
                <c:pt idx="3">
                  <c:v>0.0481</c:v>
                </c:pt>
                <c:pt idx="4">
                  <c:v>0.0481</c:v>
                </c:pt>
                <c:pt idx="5">
                  <c:v>0.0481</c:v>
                </c:pt>
                <c:pt idx="6">
                  <c:v>0.0481</c:v>
                </c:pt>
                <c:pt idx="7">
                  <c:v>0.0481</c:v>
                </c:pt>
                <c:pt idx="8">
                  <c:v>0.048</c:v>
                </c:pt>
                <c:pt idx="9">
                  <c:v>0.048</c:v>
                </c:pt>
                <c:pt idx="10">
                  <c:v>0.0481</c:v>
                </c:pt>
                <c:pt idx="11">
                  <c:v>0.048</c:v>
                </c:pt>
                <c:pt idx="12">
                  <c:v>0.048</c:v>
                </c:pt>
                <c:pt idx="13">
                  <c:v>0.0481</c:v>
                </c:pt>
                <c:pt idx="14">
                  <c:v>0.048</c:v>
                </c:pt>
                <c:pt idx="15">
                  <c:v>0.0481</c:v>
                </c:pt>
                <c:pt idx="16">
                  <c:v>0.0481</c:v>
                </c:pt>
                <c:pt idx="17">
                  <c:v>0.048</c:v>
                </c:pt>
                <c:pt idx="18">
                  <c:v>0.048</c:v>
                </c:pt>
                <c:pt idx="19">
                  <c:v>0.0481</c:v>
                </c:pt>
                <c:pt idx="20">
                  <c:v>0.048</c:v>
                </c:pt>
                <c:pt idx="21">
                  <c:v>0.0481</c:v>
                </c:pt>
                <c:pt idx="22">
                  <c:v>0.0481</c:v>
                </c:pt>
                <c:pt idx="23">
                  <c:v>0.0481</c:v>
                </c:pt>
                <c:pt idx="24">
                  <c:v>0.0481</c:v>
                </c:pt>
                <c:pt idx="25">
                  <c:v>0.0481</c:v>
                </c:pt>
                <c:pt idx="26">
                  <c:v>0.0481</c:v>
                </c:pt>
                <c:pt idx="27">
                  <c:v>0.0481</c:v>
                </c:pt>
                <c:pt idx="28">
                  <c:v>0.0481</c:v>
                </c:pt>
                <c:pt idx="29">
                  <c:v>0.0481</c:v>
                </c:pt>
                <c:pt idx="30">
                  <c:v>0.0481</c:v>
                </c:pt>
                <c:pt idx="31">
                  <c:v>0.0481</c:v>
                </c:pt>
                <c:pt idx="32">
                  <c:v>0.0481</c:v>
                </c:pt>
                <c:pt idx="33">
                  <c:v>0.0481</c:v>
                </c:pt>
                <c:pt idx="34">
                  <c:v>0.0481</c:v>
                </c:pt>
                <c:pt idx="35">
                  <c:v>0.0481</c:v>
                </c:pt>
                <c:pt idx="36">
                  <c:v>0.0481</c:v>
                </c:pt>
                <c:pt idx="37">
                  <c:v>0.0481</c:v>
                </c:pt>
                <c:pt idx="38">
                  <c:v>0.0481</c:v>
                </c:pt>
                <c:pt idx="39">
                  <c:v>0.0481</c:v>
                </c:pt>
                <c:pt idx="40">
                  <c:v>0.0481</c:v>
                </c:pt>
                <c:pt idx="41">
                  <c:v>0.048</c:v>
                </c:pt>
                <c:pt idx="42">
                  <c:v>0.0481</c:v>
                </c:pt>
                <c:pt idx="43">
                  <c:v>0.0481</c:v>
                </c:pt>
                <c:pt idx="44">
                  <c:v>0.0481</c:v>
                </c:pt>
                <c:pt idx="45">
                  <c:v>0.0481</c:v>
                </c:pt>
                <c:pt idx="46">
                  <c:v>0.0481</c:v>
                </c:pt>
                <c:pt idx="47">
                  <c:v>0.0481</c:v>
                </c:pt>
                <c:pt idx="48">
                  <c:v>0.0481</c:v>
                </c:pt>
                <c:pt idx="49">
                  <c:v>0.0481</c:v>
                </c:pt>
                <c:pt idx="50">
                  <c:v>0.0481</c:v>
                </c:pt>
                <c:pt idx="51">
                  <c:v>0.0481</c:v>
                </c:pt>
                <c:pt idx="52">
                  <c:v>0.0481</c:v>
                </c:pt>
                <c:pt idx="53">
                  <c:v>0.0481</c:v>
                </c:pt>
                <c:pt idx="54">
                  <c:v>0.0481</c:v>
                </c:pt>
                <c:pt idx="55">
                  <c:v>0.0481</c:v>
                </c:pt>
                <c:pt idx="56">
                  <c:v>0.048</c:v>
                </c:pt>
                <c:pt idx="57">
                  <c:v>0.0481</c:v>
                </c:pt>
                <c:pt idx="58">
                  <c:v>0.0481</c:v>
                </c:pt>
                <c:pt idx="59">
                  <c:v>0.0481</c:v>
                </c:pt>
                <c:pt idx="60">
                  <c:v>0.0481</c:v>
                </c:pt>
                <c:pt idx="61">
                  <c:v>0.0481</c:v>
                </c:pt>
                <c:pt idx="62">
                  <c:v>0.0481</c:v>
                </c:pt>
                <c:pt idx="63">
                  <c:v>0.0481</c:v>
                </c:pt>
                <c:pt idx="64">
                  <c:v>0.0481</c:v>
                </c:pt>
                <c:pt idx="65">
                  <c:v>0.0481</c:v>
                </c:pt>
                <c:pt idx="66">
                  <c:v>0.0481</c:v>
                </c:pt>
                <c:pt idx="67">
                  <c:v>0.0481</c:v>
                </c:pt>
                <c:pt idx="68">
                  <c:v>0.0481</c:v>
                </c:pt>
                <c:pt idx="69">
                  <c:v>0.0481</c:v>
                </c:pt>
                <c:pt idx="70">
                  <c:v>0.0481</c:v>
                </c:pt>
                <c:pt idx="71">
                  <c:v>0.0481</c:v>
                </c:pt>
                <c:pt idx="72">
                  <c:v>0.0481</c:v>
                </c:pt>
                <c:pt idx="73">
                  <c:v>0.0481</c:v>
                </c:pt>
                <c:pt idx="74">
                  <c:v>0.0481</c:v>
                </c:pt>
                <c:pt idx="75">
                  <c:v>0.0481</c:v>
                </c:pt>
                <c:pt idx="76">
                  <c:v>0.0481</c:v>
                </c:pt>
                <c:pt idx="77">
                  <c:v>0.0481</c:v>
                </c:pt>
                <c:pt idx="78">
                  <c:v>0.0481</c:v>
                </c:pt>
                <c:pt idx="79">
                  <c:v>0.0481</c:v>
                </c:pt>
                <c:pt idx="80">
                  <c:v>0.0481</c:v>
                </c:pt>
                <c:pt idx="81">
                  <c:v>0.0481</c:v>
                </c:pt>
                <c:pt idx="82">
                  <c:v>0.0481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Sheet1!$B$86</c:f>
              <c:strCache>
                <c:ptCount val="1"/>
                <c:pt idx="0">
                  <c:v>Lisbon, no buffer, gap 4.2 µm</c:v>
                </c:pt>
              </c:strCache>
            </c:strRef>
          </c:tx>
          <c:spPr>
            <a:ln w="19050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Sheet1!$A$87:$A$133</c:f>
              <c:numCache>
                <c:formatCode>General</c:formatCode>
                <c:ptCount val="47"/>
                <c:pt idx="0">
                  <c:v>6.5</c:v>
                </c:pt>
                <c:pt idx="1">
                  <c:v>6.6</c:v>
                </c:pt>
                <c:pt idx="2">
                  <c:v>6.7</c:v>
                </c:pt>
                <c:pt idx="3">
                  <c:v>6.8</c:v>
                </c:pt>
                <c:pt idx="4">
                  <c:v>6.9</c:v>
                </c:pt>
                <c:pt idx="5">
                  <c:v>7.0</c:v>
                </c:pt>
                <c:pt idx="6">
                  <c:v>7.1</c:v>
                </c:pt>
                <c:pt idx="7">
                  <c:v>7.2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  <c:pt idx="12">
                  <c:v>7.7</c:v>
                </c:pt>
                <c:pt idx="13">
                  <c:v>7.8</c:v>
                </c:pt>
                <c:pt idx="14">
                  <c:v>7.9</c:v>
                </c:pt>
                <c:pt idx="15">
                  <c:v>8.0</c:v>
                </c:pt>
                <c:pt idx="16">
                  <c:v>8.1</c:v>
                </c:pt>
                <c:pt idx="17">
                  <c:v>8.2</c:v>
                </c:pt>
                <c:pt idx="18">
                  <c:v>8.3</c:v>
                </c:pt>
                <c:pt idx="19">
                  <c:v>8.4</c:v>
                </c:pt>
                <c:pt idx="20">
                  <c:v>8.5</c:v>
                </c:pt>
                <c:pt idx="21">
                  <c:v>8.6</c:v>
                </c:pt>
                <c:pt idx="22">
                  <c:v>8.7</c:v>
                </c:pt>
                <c:pt idx="23">
                  <c:v>8.8</c:v>
                </c:pt>
                <c:pt idx="24">
                  <c:v>8.9</c:v>
                </c:pt>
                <c:pt idx="25">
                  <c:v>9.0</c:v>
                </c:pt>
                <c:pt idx="26">
                  <c:v>9.1</c:v>
                </c:pt>
                <c:pt idx="27">
                  <c:v>9.2</c:v>
                </c:pt>
                <c:pt idx="28">
                  <c:v>9.3</c:v>
                </c:pt>
                <c:pt idx="29">
                  <c:v>9.4</c:v>
                </c:pt>
                <c:pt idx="30">
                  <c:v>9.5</c:v>
                </c:pt>
                <c:pt idx="31">
                  <c:v>9.6</c:v>
                </c:pt>
                <c:pt idx="32">
                  <c:v>9.7</c:v>
                </c:pt>
                <c:pt idx="33">
                  <c:v>9.8</c:v>
                </c:pt>
                <c:pt idx="34">
                  <c:v>9.9</c:v>
                </c:pt>
                <c:pt idx="35">
                  <c:v>10.0</c:v>
                </c:pt>
                <c:pt idx="36">
                  <c:v>10.1</c:v>
                </c:pt>
                <c:pt idx="37">
                  <c:v>10.2</c:v>
                </c:pt>
                <c:pt idx="38">
                  <c:v>10.3</c:v>
                </c:pt>
                <c:pt idx="39">
                  <c:v>10.4</c:v>
                </c:pt>
                <c:pt idx="40">
                  <c:v>10.5</c:v>
                </c:pt>
                <c:pt idx="41">
                  <c:v>10.6</c:v>
                </c:pt>
                <c:pt idx="42">
                  <c:v>10.7</c:v>
                </c:pt>
                <c:pt idx="43">
                  <c:v>10.8</c:v>
                </c:pt>
                <c:pt idx="44">
                  <c:v>10.9</c:v>
                </c:pt>
                <c:pt idx="45">
                  <c:v>11.0</c:v>
                </c:pt>
                <c:pt idx="46">
                  <c:v>12.1</c:v>
                </c:pt>
              </c:numCache>
            </c:numRef>
          </c:xVal>
          <c:yVal>
            <c:numRef>
              <c:f>Sheet1!$B$87:$B$133</c:f>
              <c:numCache>
                <c:formatCode>General</c:formatCode>
                <c:ptCount val="47"/>
                <c:pt idx="0">
                  <c:v>0.6815</c:v>
                </c:pt>
                <c:pt idx="1">
                  <c:v>0.3521</c:v>
                </c:pt>
                <c:pt idx="2">
                  <c:v>0.2271</c:v>
                </c:pt>
                <c:pt idx="3">
                  <c:v>0.1826</c:v>
                </c:pt>
                <c:pt idx="4">
                  <c:v>0.1807</c:v>
                </c:pt>
                <c:pt idx="5">
                  <c:v>0.2216</c:v>
                </c:pt>
                <c:pt idx="6">
                  <c:v>0.3345</c:v>
                </c:pt>
                <c:pt idx="7">
                  <c:v>0.6016</c:v>
                </c:pt>
                <c:pt idx="8">
                  <c:v>0.8827</c:v>
                </c:pt>
                <c:pt idx="9">
                  <c:v>0.6382</c:v>
                </c:pt>
                <c:pt idx="10">
                  <c:v>0.3731</c:v>
                </c:pt>
                <c:pt idx="11">
                  <c:v>0.2513</c:v>
                </c:pt>
                <c:pt idx="12">
                  <c:v>0.2077</c:v>
                </c:pt>
                <c:pt idx="13">
                  <c:v>0.2073</c:v>
                </c:pt>
                <c:pt idx="14">
                  <c:v>0.2509</c:v>
                </c:pt>
                <c:pt idx="15">
                  <c:v>0.3633</c:v>
                </c:pt>
                <c:pt idx="16">
                  <c:v>0.5965</c:v>
                </c:pt>
                <c:pt idx="17">
                  <c:v>0.7824</c:v>
                </c:pt>
                <c:pt idx="18">
                  <c:v>0.6002</c:v>
                </c:pt>
                <c:pt idx="19">
                  <c:v>0.3825</c:v>
                </c:pt>
                <c:pt idx="20">
                  <c:v>0.2751</c:v>
                </c:pt>
                <c:pt idx="21">
                  <c:v>0.231</c:v>
                </c:pt>
                <c:pt idx="22">
                  <c:v>0.2329</c:v>
                </c:pt>
                <c:pt idx="23">
                  <c:v>0.2782</c:v>
                </c:pt>
                <c:pt idx="24">
                  <c:v>0.391</c:v>
                </c:pt>
                <c:pt idx="25">
                  <c:v>0.585</c:v>
                </c:pt>
                <c:pt idx="26">
                  <c:v>0.7076</c:v>
                </c:pt>
                <c:pt idx="27">
                  <c:v>0.566</c:v>
                </c:pt>
                <c:pt idx="28">
                  <c:v>0.3916</c:v>
                </c:pt>
                <c:pt idx="29">
                  <c:v>0.2914</c:v>
                </c:pt>
                <c:pt idx="30">
                  <c:v>0.2525</c:v>
                </c:pt>
                <c:pt idx="31">
                  <c:v>0.2549</c:v>
                </c:pt>
                <c:pt idx="32">
                  <c:v>0.3051</c:v>
                </c:pt>
                <c:pt idx="33">
                  <c:v>0.4036</c:v>
                </c:pt>
                <c:pt idx="34">
                  <c:v>0.5742</c:v>
                </c:pt>
                <c:pt idx="35">
                  <c:v>0.6495</c:v>
                </c:pt>
                <c:pt idx="36">
                  <c:v>0.5403</c:v>
                </c:pt>
                <c:pt idx="37">
                  <c:v>0.3937</c:v>
                </c:pt>
                <c:pt idx="38">
                  <c:v>0.3071</c:v>
                </c:pt>
                <c:pt idx="39">
                  <c:v>0.2723</c:v>
                </c:pt>
                <c:pt idx="40">
                  <c:v>0.276</c:v>
                </c:pt>
                <c:pt idx="41">
                  <c:v>0.3228</c:v>
                </c:pt>
                <c:pt idx="42">
                  <c:v>0.4169</c:v>
                </c:pt>
                <c:pt idx="43">
                  <c:v>0.5605</c:v>
                </c:pt>
                <c:pt idx="44">
                  <c:v>0.6071</c:v>
                </c:pt>
                <c:pt idx="45">
                  <c:v>0.5169</c:v>
                </c:pt>
                <c:pt idx="46">
                  <c:v>0.3284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6"/>
          <c:min val="3.5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x_lift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Vπ·L vs buffer (gap 3.2 µm)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6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  <c:pt idx="6">
                  <c:v>250</c:v>
                </c:pt>
                <c:pt idx="7">
                  <c:v>300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1.6496</c:v>
                </c:pt>
                <c:pt idx="1">
                  <c:v>1.7989</c:v>
                </c:pt>
                <c:pt idx="2">
                  <c:v>1.8784</c:v>
                </c:pt>
                <c:pt idx="3">
                  <c:v>1.9912</c:v>
                </c:pt>
                <c:pt idx="4">
                  <c:v>2.0767</c:v>
                </c:pt>
                <c:pt idx="5">
                  <c:v>2.1484</c:v>
                </c:pt>
                <c:pt idx="6">
                  <c:v>2.212</c:v>
                </c:pt>
                <c:pt idx="7">
                  <c:v>2.2703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200 nm</c:v>
                </c:pt>
              </c:strCache>
            </c:strRef>
          </c:tx>
          <c:spPr>
            <a:ln w="12700">
              <a:solidFill>
                <a:srgbClr val="EB6834"/>
              </a:solidFill>
            </a:ln>
          </c:spPr>
          <c:marker>
            <c:symbol val="circle"/>
            <c:size val="10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Sheet1!$A$12:$A$12</c:f>
              <c:numCache>
                <c:formatCode>General</c:formatCode>
                <c:ptCount val="1"/>
                <c:pt idx="0">
                  <c:v>200</c:v>
                </c:pt>
              </c:numCache>
            </c:numRef>
          </c:xVal>
          <c:yVal>
            <c:numRef>
              <c:f>Sheet1!$B$12:$B$12</c:f>
              <c:numCache>
                <c:formatCode>General</c:formatCode>
                <c:ptCount val="1"/>
                <c:pt idx="0">
                  <c:v>2.1484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buffer [nm]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50.0"/>
      </c:valAx>
      <c:valAx>
        <c:axId val="-2129643912"/>
        <c:scaling>
          <c:orientation val="minMax"/>
          <c:max val="2.4"/>
          <c:min val="1.6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[V·cm]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Vπ·L vs gap (200 nm buffer)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6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2.4</c:v>
                </c:pt>
                <c:pt idx="1">
                  <c:v>2.6</c:v>
                </c:pt>
                <c:pt idx="2">
                  <c:v>2.8</c:v>
                </c:pt>
                <c:pt idx="3">
                  <c:v>3.0</c:v>
                </c:pt>
                <c:pt idx="4">
                  <c:v>3.2</c:v>
                </c:pt>
                <c:pt idx="5">
                  <c:v>3.4</c:v>
                </c:pt>
                <c:pt idx="6">
                  <c:v>3.6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1.6353</c:v>
                </c:pt>
                <c:pt idx="1">
                  <c:v>1.7704</c:v>
                </c:pt>
                <c:pt idx="2">
                  <c:v>1.8993</c:v>
                </c:pt>
                <c:pt idx="3">
                  <c:v>2.0249</c:v>
                </c:pt>
                <c:pt idx="4">
                  <c:v>2.1484</c:v>
                </c:pt>
                <c:pt idx="5">
                  <c:v>2.2707</c:v>
                </c:pt>
                <c:pt idx="6">
                  <c:v>2.392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3.4 µm</c:v>
                </c:pt>
              </c:strCache>
            </c:strRef>
          </c:tx>
          <c:spPr>
            <a:ln w="12700">
              <a:solidFill>
                <a:srgbClr val="EB6834"/>
              </a:solidFill>
            </a:ln>
          </c:spPr>
          <c:marker>
            <c:symbol val="circle"/>
            <c:size val="10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Sheet1!$A$11:$A$11</c:f>
              <c:numCache>
                <c:formatCode>General</c:formatCode>
                <c:ptCount val="1"/>
                <c:pt idx="0">
                  <c:v>3.4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2.2707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.7"/>
          <c:min val="2.3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2.4"/>
          <c:min val="1.6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[V·cm]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Arial"/>
              </a:rPr>
              <a:t>IL vs gap (200 nm buffer)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2.4</c:v>
                </c:pt>
                <c:pt idx="1">
                  <c:v>2.6</c:v>
                </c:pt>
                <c:pt idx="2">
                  <c:v>2.8</c:v>
                </c:pt>
                <c:pt idx="3">
                  <c:v>3.0</c:v>
                </c:pt>
                <c:pt idx="4">
                  <c:v>3.2</c:v>
                </c:pt>
                <c:pt idx="5">
                  <c:v>3.4</c:v>
                </c:pt>
                <c:pt idx="6">
                  <c:v>3.6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0.6509</c:v>
                </c:pt>
                <c:pt idx="1">
                  <c:v>0.3257</c:v>
                </c:pt>
                <c:pt idx="2">
                  <c:v>0.1689</c:v>
                </c:pt>
                <c:pt idx="3">
                  <c:v>0.0895</c:v>
                </c:pt>
                <c:pt idx="4">
                  <c:v>0.0481</c:v>
                </c:pt>
                <c:pt idx="5">
                  <c:v>0.026</c:v>
                </c:pt>
                <c:pt idx="6">
                  <c:v>0.0142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3.4 µm</c:v>
                </c:pt>
              </c:strCache>
            </c:strRef>
          </c:tx>
          <c:spPr>
            <a:ln w="12700">
              <a:solidFill>
                <a:srgbClr val="EB6834"/>
              </a:solidFill>
            </a:ln>
          </c:spPr>
          <c:marker>
            <c:symbol val="circle"/>
            <c:size val="10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Sheet1!$A$11:$A$11</c:f>
              <c:numCache>
                <c:formatCode>General</c:formatCode>
                <c:ptCount val="1"/>
                <c:pt idx="0">
                  <c:v>3.4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0.026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.7"/>
          <c:min val="2.3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[µm]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logBase val="10"/>
          <c:orientation val="minMax"/>
          <c:max val="1.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[dB/cm], log</a:t>
                </a:r>
              </a:p>
            </c:rich>
          </c:tx>
          <c:layout/>
          <c:overlay val="0"/>
        </c:title>
        <c:numFmt formatCode="0.0#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Lisbon lifted electrodes show an insertion loss that oscillates with the lift position. We show where it comes from, how a 200 nm SiO2 buffer removes it, what it costs in Vpi*L, and the final buffer/gap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Geometries drawn from the model polygons, same scale. x_lift = distance from the rib centre to the point where the gold leaves the LN slab and climbs onto the SiO2 lift. Vpi*L: Cordoba 2.260, Lisbon 2.265 V*cm at the same 4.2 um gap. IL of Lisbon oscillates between 0.18 and 0.88 dB/cm with a 0.9 um period around the Cordoba value 0.42 dB/cm. Red points: 7.1 -&gt; 7.2 um, the steepest 100 nm step (0.33 -&gt; 0.60 dB/cm). Lithography/overlay errors of this size are realistic, so the IL of a fabricated device is not predictable. Data: results/lift_sweep.csv.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|E|^2 at slab mid-height vs x. Dip (x_lift 6.9 um, IL 0.18) and peak (7.3 um, IL 0.88) show ripples between the gap edge and the lift; legacy (no lift) shows a smooth, slowly decaying travelling wave. Right: field maps, same dB scale. The gold/LN interface supports a lossy surface wave with index about 2.07, above the rib mode index 1.884, so it is phase-matched to leak sideways. The step where the gold leaves the slab reflects it; the reflected wave interferes with the incoming one. Ripple period 0.90 um = pi/k_x predicted by a 1D model (0.91 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top right: 1D effective index of the wave guided under the gold vs buffer thickness (mean of the two in-plane LN permittivities; cutoff 37-39 nm). Below the rib index the wave cannot be phase matched, so the rib mode cannot couple into a propagating wave: there is no standing wave to form, whatever x_lift. The 1D model matches the 2D simulations (period 0.90 vs 0.91 um at 0 nm; decay 28.98 vs 28.95 dB/um at 200 nm). Bottom: 200 nm buffer, 88 lift positions 3.8-30.1 um, IL 0.0480-0.0481 dB/cm. Chart shows up to 12.6 um; flat also at 16-30 um. Without buffer at gap 3.2 IL would be 4-30 dB/cm and still oscillating.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Vpi*L vs buffer thickness at gap 3.2 um, x_lift 7 um (150, 250 nm added for this deck). 150 nm: Vpi*L 2.077 vs 2.148 V*cm (-3.3 %), IL 0.068 vs 0.048 dB/cm. Centre/right: gap scan at 200 nm (GAP_TOP fixed at 10 um). Vpi*L grows linearly with the gap, IL falls exponentially. Gap 3.4 um: Vpi*L 2.2707 V*cm, IL 0.0260 dB/cm, flat for x_lift 4.5-16 um (2.270-2.275 V*cm). On the 14.84 mm line with duty cycle 0.925: Vpi = 1.654 V. The 1.7 V limit allows Vpi*L up to 2.334 V*cm (gap about 3.5 um), so 3.4 um keeps about 0.05 V of margin. Gold loss over the line: 0.039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48840"/>
            <a:ext cx="96012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222222"/>
                </a:solidFill>
                <a:latin typeface="Arial"/>
              </a:rPr>
              <a:t>Lifted electrodes on a SiO₂ buffer: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22222"/>
                </a:solidFill>
                <a:latin typeface="Arial"/>
              </a:rPr>
              <a:t>removing the lift-position standing wave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femwell / scikit-fem eigenmode study at λ = 1575 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Lifting the gold: same Vπ·L, but IL oscillates with x_lift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Cordoba (gold flat on the LN slab) vs Lisbon (gold lifted onto SiO₂ at x_lift), both with a 4.2 µm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Cordoba (legacy)</a:t>
            </a:r>
          </a:p>
        </p:txBody>
      </p:sp>
      <p:pic>
        <p:nvPicPr>
          <p:cNvPr id="5" name="Picture 4" descr="geom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6816"/>
            <a:ext cx="5486400" cy="82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898648"/>
            <a:ext cx="548640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Lisbon (lifted)</a:t>
            </a:r>
          </a:p>
        </p:txBody>
      </p:sp>
      <p:pic>
        <p:nvPicPr>
          <p:cNvPr id="7" name="Picture 6" descr="geom_lif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5486400" cy="17634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1663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02936"/>
            <a:ext cx="26517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2.260 | 2.265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5783580"/>
            <a:ext cx="250545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[V·cm], Cordoba | Lisbon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identical (Δ 0.2 %)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51663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5202936"/>
            <a:ext cx="265176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Arial"/>
              </a:rPr>
              <a:t>x_lift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5783580"/>
            <a:ext cx="250545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distance from the rib centre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to the gold/oxide step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63640" y="1554480"/>
          <a:ext cx="5532120" cy="3520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55080" y="51663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202936"/>
            <a:ext cx="26060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C0262D"/>
                </a:solidFill>
                <a:latin typeface="Arial"/>
              </a:rPr>
              <a:t>+80 %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5783580"/>
            <a:ext cx="245973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for a 100 nm shift of x_lift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(0.33 → 0.60 dB/cm)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16636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5202936"/>
            <a:ext cx="26060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C0262D"/>
                </a:solidFill>
                <a:latin typeface="Arial"/>
              </a:rPr>
              <a:t>0.18 – 0.88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5783580"/>
            <a:ext cx="245973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range [dB/cm] within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0.4 µm of x_lift (period 0.9 µm)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Origin: a standing wave under the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|E|² along the slab: ripples appear under the gold in the lifted design, not in the legacy one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6629400" cy="2696636"/>
          </a:xfrm>
          <a:prstGeom prst="rect">
            <a:avLst/>
          </a:prstGeom>
        </p:spPr>
      </p:pic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4480"/>
            <a:ext cx="4846320" cy="28987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754880"/>
            <a:ext cx="3246120" cy="9601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22222"/>
                </a:solidFill>
                <a:latin typeface="Arial"/>
              </a:rPr>
              <a:t>Gold on the LN slab guides a surface wave</a:t>
            </a:r>
          </a:p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n = 2.07 &gt; n_rib = 1.88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94760" y="5084064"/>
            <a:ext cx="320040" cy="29260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4754880"/>
            <a:ext cx="3246120" cy="96012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22222"/>
                </a:solidFill>
                <a:latin typeface="Arial"/>
              </a:rPr>
              <a:t>The rib mode leaks into it; the wave travels sideways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and is reflected at the gold/oxide step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43800" y="5084064"/>
            <a:ext cx="320040" cy="29260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4754880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22222"/>
                </a:solidFill>
                <a:latin typeface="Arial"/>
              </a:rPr>
              <a:t>Standing wave: period 0.9 µm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IL peaks when x_lift makes the cavity resonant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95959"/>
                </a:solidFill>
                <a:latin typeface="Arial"/>
              </a:rPr>
              <a:t>Cordoba: no step, so the wave simply travels away and is absorbed: smooth curve, no x_lift dependence.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SiO₂ buffer: the standing wave can no longer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200 nm SiO₂ under the whole electrode and across the gap; bottom gap 4.2 → 3.2 µm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66751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Lisbon on a SiO₂ buffer</a:t>
            </a:r>
          </a:p>
        </p:txBody>
      </p:sp>
      <p:pic>
        <p:nvPicPr>
          <p:cNvPr id="5" name="Picture 4" descr="geom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6675120" cy="2145574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52360" y="1508760"/>
          <a:ext cx="43891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4069080"/>
          <a:ext cx="685800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52360" y="4389120"/>
            <a:ext cx="4389120" cy="19659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Above 38 nm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wave under the gold falls below the rib index: it is cut off.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At 200 nm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it decays by 29 dB/µm: nothing reaches the step, nothing is reflected.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Result: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IL = 0.048 dB/cm, flat (±0.1 %) for x_lift 3.8–30 µm.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Check: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the 1D cutoff model reproduces the 2D ripple periods and decay rates within about 5 %.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price: higher Vπ·L, recovered with a narrower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DC field must cross the low-ε oxide (ε 3.75 vs 28 in LN); narrowing the gap compensates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554480"/>
          <a:ext cx="370332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206240" y="1554480"/>
          <a:ext cx="37033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46720" y="1554480"/>
          <a:ext cx="3703320" cy="2697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80560"/>
            <a:ext cx="5669280" cy="17830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Trade-off: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at a fixed gap the buffer raises Vπ·L by 30 % (1.65 → 2.15 V·cm at 3.2 µm).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Buffer 200 nm: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5× the 38 nm cutoff, safe against thickness errors. 150 nm would cut Vπ·L by only 3 % and raise IL by 41 %.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Gap 3.4 µm: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Vπ·L 2.27 V·cm, the same as the original 4.2 µm design (2.26), with IL 0.026 dB/cm and no x_lift dependence.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434840"/>
            <a:ext cx="53949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Final design: buffer 200 nm, gap 3.4 µm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800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837176"/>
            <a:ext cx="1737360" cy="49926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Arial"/>
              </a:rPr>
              <a:t>2.27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5319064"/>
            <a:ext cx="1591056" cy="4224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[V·cm]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4800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837176"/>
            <a:ext cx="1737360" cy="49926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Arial"/>
              </a:rPr>
              <a:t>0.026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5319064"/>
            <a:ext cx="1591056" cy="4224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[dB/cm], flat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48006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4837176"/>
            <a:ext cx="1737360" cy="49926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C0262D"/>
                </a:solidFill>
                <a:latin typeface="Arial"/>
              </a:rPr>
              <a:t>1.65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5832" y="5319064"/>
            <a:ext cx="1591056" cy="4224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 on the line (&lt; 1.7 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852160"/>
            <a:ext cx="53949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22222"/>
                </a:solidFill>
                <a:latin typeface="Arial"/>
              </a:rPr>
              <a:t>Vπ = Vπ·L / (L × duty) = 2.27 / (1.484 cm × 0.925) = 1.65 V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line L = 14.84 mm, duty cycle 0.925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794</Words>
  <Application>Microsoft Office PowerPoint</Application>
  <PresentationFormat>Widescreen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40</cp:revision>
  <dcterms:created xsi:type="dcterms:W3CDTF">2025-12-01T09:32:09Z</dcterms:created>
  <dcterms:modified xsi:type="dcterms:W3CDTF">2026-10-01T07:24:56Z</dcterms:modified>
</cp:coreProperties>
</file>