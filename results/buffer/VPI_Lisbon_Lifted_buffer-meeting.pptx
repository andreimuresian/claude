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>
                <a:solidFill>
                  <a:srgbClr val="222222"/>
                </a:solidFill>
                <a:latin typeface="Arial"/>
              </a:rPr>
              <a:t>Insertion loss vs lift position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Fabry–Pérot envelope</c:v>
                </c:pt>
              </c:strCache>
            </c:strRef>
          </c:tx>
          <c:spPr>
            <a:ln w="15875">
              <a:solidFill>
                <a:srgbClr val="8A8A8A"/>
              </a:solidFill>
            </a:ln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6.5</c:v>
                </c:pt>
                <c:pt idx="1">
                  <c:v>6.6</c:v>
                </c:pt>
                <c:pt idx="2">
                  <c:v>6.7</c:v>
                </c:pt>
                <c:pt idx="3">
                  <c:v>6.8</c:v>
                </c:pt>
                <c:pt idx="4">
                  <c:v>6.9</c:v>
                </c:pt>
                <c:pt idx="5">
                  <c:v>7.0</c:v>
                </c:pt>
                <c:pt idx="6">
                  <c:v>7.1</c:v>
                </c:pt>
                <c:pt idx="7">
                  <c:v>7.2</c:v>
                </c:pt>
                <c:pt idx="8">
                  <c:v>7.3</c:v>
                </c:pt>
                <c:pt idx="9">
                  <c:v>7.4</c:v>
                </c:pt>
                <c:pt idx="10">
                  <c:v>7.5</c:v>
                </c:pt>
                <c:pt idx="11">
                  <c:v>7.6</c:v>
                </c:pt>
                <c:pt idx="12">
                  <c:v>7.7</c:v>
                </c:pt>
                <c:pt idx="13">
                  <c:v>7.8</c:v>
                </c:pt>
                <c:pt idx="14">
                  <c:v>7.9</c:v>
                </c:pt>
                <c:pt idx="15">
                  <c:v>8.0</c:v>
                </c:pt>
                <c:pt idx="16">
                  <c:v>8.1</c:v>
                </c:pt>
                <c:pt idx="17">
                  <c:v>8.2</c:v>
                </c:pt>
                <c:pt idx="18">
                  <c:v>8.3</c:v>
                </c:pt>
                <c:pt idx="19">
                  <c:v>8.4</c:v>
                </c:pt>
                <c:pt idx="20">
                  <c:v>8.5</c:v>
                </c:pt>
                <c:pt idx="21">
                  <c:v>8.6</c:v>
                </c:pt>
                <c:pt idx="22">
                  <c:v>8.7</c:v>
                </c:pt>
                <c:pt idx="23">
                  <c:v>8.8</c:v>
                </c:pt>
                <c:pt idx="24">
                  <c:v>8.9</c:v>
                </c:pt>
                <c:pt idx="25">
                  <c:v>9.0</c:v>
                </c:pt>
                <c:pt idx="26">
                  <c:v>9.1</c:v>
                </c:pt>
                <c:pt idx="27">
                  <c:v>9.2</c:v>
                </c:pt>
                <c:pt idx="28">
                  <c:v>9.3</c:v>
                </c:pt>
                <c:pt idx="29">
                  <c:v>9.4</c:v>
                </c:pt>
                <c:pt idx="30">
                  <c:v>9.5</c:v>
                </c:pt>
                <c:pt idx="31">
                  <c:v>9.6</c:v>
                </c:pt>
                <c:pt idx="32">
                  <c:v>9.7</c:v>
                </c:pt>
                <c:pt idx="33">
                  <c:v>9.8</c:v>
                </c:pt>
                <c:pt idx="34">
                  <c:v>9.9</c:v>
                </c:pt>
                <c:pt idx="35">
                  <c:v>10.0</c:v>
                </c:pt>
                <c:pt idx="36">
                  <c:v>10.1</c:v>
                </c:pt>
                <c:pt idx="37">
                  <c:v>10.2</c:v>
                </c:pt>
                <c:pt idx="38">
                  <c:v>10.3</c:v>
                </c:pt>
                <c:pt idx="39">
                  <c:v>10.4</c:v>
                </c:pt>
                <c:pt idx="40">
                  <c:v>10.5</c:v>
                </c:pt>
                <c:pt idx="41">
                  <c:v>10.600000000000001</c:v>
                </c:pt>
                <c:pt idx="42">
                  <c:v>10.7</c:v>
                </c:pt>
                <c:pt idx="43">
                  <c:v>10.8</c:v>
                </c:pt>
                <c:pt idx="44">
                  <c:v>10.9</c:v>
                </c:pt>
                <c:pt idx="45">
                  <c:v>11.0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1.006650587053012</c:v>
                </c:pt>
                <c:pt idx="1">
                  <c:v>0.9890504365904927</c:v>
                </c:pt>
                <c:pt idx="2">
                  <c:v>0.9721766277620217</c:v>
                </c:pt>
                <c:pt idx="3">
                  <c:v>0.9559875457464122</c:v>
                </c:pt>
                <c:pt idx="4">
                  <c:v>0.9404446835184903</c:v>
                </c:pt>
                <c:pt idx="5">
                  <c:v>0.9255123568961874</c:v>
                </c:pt>
                <c:pt idx="6">
                  <c:v>0.9111574503787427</c:v>
                </c:pt>
                <c:pt idx="7">
                  <c:v>0.8973491899629845</c:v>
                </c:pt>
                <c:pt idx="8">
                  <c:v>0.8840589396549298</c:v>
                </c:pt>
                <c:pt idx="9">
                  <c:v>0.8712600188426537</c:v>
                </c:pt>
                <c:pt idx="10">
                  <c:v>0.8589275380772697</c:v>
                </c:pt>
                <c:pt idx="11">
                  <c:v>0.8470382511330767</c:v>
                </c:pt>
                <c:pt idx="12">
                  <c:v>0.8355704214947759</c:v>
                </c:pt>
                <c:pt idx="13">
                  <c:v>0.8245037016566026</c:v>
                </c:pt>
                <c:pt idx="14">
                  <c:v>0.8138190238216242</c:v>
                </c:pt>
                <c:pt idx="15">
                  <c:v>0.8034985007644893</c:v>
                </c:pt>
                <c:pt idx="16">
                  <c:v>0.7935253357718876</c:v>
                </c:pt>
                <c:pt idx="17">
                  <c:v>0.7838837407055548</c:v>
                </c:pt>
                <c:pt idx="18">
                  <c:v>0.7745588613458081</c:v>
                </c:pt>
                <c:pt idx="19">
                  <c:v>0.7655367092719055</c:v>
                </c:pt>
                <c:pt idx="20">
                  <c:v>0.7568040996210808</c:v>
                </c:pt>
                <c:pt idx="21">
                  <c:v>0.7483485941427807</c:v>
                </c:pt>
                <c:pt idx="22">
                  <c:v>0.7401584490298743</c:v>
                </c:pt>
                <c:pt idx="23">
                  <c:v>0.7322225670657726</c:v>
                </c:pt>
                <c:pt idx="24">
                  <c:v>0.7245304536765667</c:v>
                </c:pt>
                <c:pt idx="25">
                  <c:v>0.7170721765213897</c:v>
                </c:pt>
                <c:pt idx="26">
                  <c:v>0.7098383282930668</c:v>
                </c:pt>
                <c:pt idx="27">
                  <c:v>0.7028199924354015</c:v>
                </c:pt>
                <c:pt idx="28">
                  <c:v>0.6960087115137353</c:v>
                </c:pt>
                <c:pt idx="29">
                  <c:v>0.6893964580022703</c:v>
                </c:pt>
                <c:pt idx="30">
                  <c:v>0.6829756072754077</c:v>
                </c:pt>
                <c:pt idx="31">
                  <c:v>0.6767389126115225</c:v>
                </c:pt>
                <c:pt idx="32">
                  <c:v>0.6706794820363629</c:v>
                </c:pt>
                <c:pt idx="33">
                  <c:v>0.6647907568500406</c:v>
                </c:pt>
                <c:pt idx="34">
                  <c:v>0.6590664916965068</c:v>
                </c:pt>
                <c:pt idx="35">
                  <c:v>0.653500736047768</c:v>
                </c:pt>
                <c:pt idx="36">
                  <c:v>0.6480878169870493</c:v>
                </c:pt>
                <c:pt idx="37">
                  <c:v>0.6428223231858109</c:v>
                </c:pt>
                <c:pt idx="38">
                  <c:v>0.6376990899791363</c:v>
                </c:pt>
                <c:pt idx="39">
                  <c:v>0.6327131854526343</c:v>
                </c:pt>
                <c:pt idx="40">
                  <c:v>0.6278598974617616</c:v>
                </c:pt>
                <c:pt idx="41">
                  <c:v>0.6231347215114608</c:v>
                </c:pt>
                <c:pt idx="42">
                  <c:v>0.6185333494303112</c:v>
                </c:pt>
                <c:pt idx="43">
                  <c:v>0.6140516587790796</c:v>
                </c:pt>
                <c:pt idx="44">
                  <c:v>0.6096857029387015</c:v>
                </c:pt>
                <c:pt idx="45">
                  <c:v>0.6054317018273723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Sheet1!$B$49</c:f>
              <c:strCache>
                <c:ptCount val="1"/>
                <c:pt idx="0">
                  <c:v>envelope_lo</c:v>
                </c:pt>
              </c:strCache>
            </c:strRef>
          </c:tx>
          <c:spPr>
            <a:ln w="15875">
              <a:solidFill>
                <a:srgbClr val="8A8A8A"/>
              </a:solidFill>
            </a:ln>
          </c:spPr>
          <c:marker>
            <c:symbol val="none"/>
          </c:marker>
          <c:xVal>
            <c:numRef>
              <c:f>Sheet1!$A$50:$A$95</c:f>
              <c:numCache>
                <c:formatCode>General</c:formatCode>
                <c:ptCount val="46"/>
                <c:pt idx="0">
                  <c:v>6.5</c:v>
                </c:pt>
                <c:pt idx="1">
                  <c:v>6.6</c:v>
                </c:pt>
                <c:pt idx="2">
                  <c:v>6.7</c:v>
                </c:pt>
                <c:pt idx="3">
                  <c:v>6.8</c:v>
                </c:pt>
                <c:pt idx="4">
                  <c:v>6.9</c:v>
                </c:pt>
                <c:pt idx="5">
                  <c:v>7.0</c:v>
                </c:pt>
                <c:pt idx="6">
                  <c:v>7.1</c:v>
                </c:pt>
                <c:pt idx="7">
                  <c:v>7.2</c:v>
                </c:pt>
                <c:pt idx="8">
                  <c:v>7.3</c:v>
                </c:pt>
                <c:pt idx="9">
                  <c:v>7.4</c:v>
                </c:pt>
                <c:pt idx="10">
                  <c:v>7.5</c:v>
                </c:pt>
                <c:pt idx="11">
                  <c:v>7.6</c:v>
                </c:pt>
                <c:pt idx="12">
                  <c:v>7.7</c:v>
                </c:pt>
                <c:pt idx="13">
                  <c:v>7.8</c:v>
                </c:pt>
                <c:pt idx="14">
                  <c:v>7.9</c:v>
                </c:pt>
                <c:pt idx="15">
                  <c:v>8.0</c:v>
                </c:pt>
                <c:pt idx="16">
                  <c:v>8.1</c:v>
                </c:pt>
                <c:pt idx="17">
                  <c:v>8.2</c:v>
                </c:pt>
                <c:pt idx="18">
                  <c:v>8.3</c:v>
                </c:pt>
                <c:pt idx="19">
                  <c:v>8.4</c:v>
                </c:pt>
                <c:pt idx="20">
                  <c:v>8.5</c:v>
                </c:pt>
                <c:pt idx="21">
                  <c:v>8.6</c:v>
                </c:pt>
                <c:pt idx="22">
                  <c:v>8.7</c:v>
                </c:pt>
                <c:pt idx="23">
                  <c:v>8.8</c:v>
                </c:pt>
                <c:pt idx="24">
                  <c:v>8.9</c:v>
                </c:pt>
                <c:pt idx="25">
                  <c:v>9.0</c:v>
                </c:pt>
                <c:pt idx="26">
                  <c:v>9.1</c:v>
                </c:pt>
                <c:pt idx="27">
                  <c:v>9.2</c:v>
                </c:pt>
                <c:pt idx="28">
                  <c:v>9.3</c:v>
                </c:pt>
                <c:pt idx="29">
                  <c:v>9.4</c:v>
                </c:pt>
                <c:pt idx="30">
                  <c:v>9.5</c:v>
                </c:pt>
                <c:pt idx="31">
                  <c:v>9.6</c:v>
                </c:pt>
                <c:pt idx="32">
                  <c:v>9.7</c:v>
                </c:pt>
                <c:pt idx="33">
                  <c:v>9.8</c:v>
                </c:pt>
                <c:pt idx="34">
                  <c:v>9.9</c:v>
                </c:pt>
                <c:pt idx="35">
                  <c:v>10.0</c:v>
                </c:pt>
                <c:pt idx="36">
                  <c:v>10.1</c:v>
                </c:pt>
                <c:pt idx="37">
                  <c:v>10.2</c:v>
                </c:pt>
                <c:pt idx="38">
                  <c:v>10.3</c:v>
                </c:pt>
                <c:pt idx="39">
                  <c:v>10.4</c:v>
                </c:pt>
                <c:pt idx="40">
                  <c:v>10.5</c:v>
                </c:pt>
                <c:pt idx="41">
                  <c:v>10.600000000000001</c:v>
                </c:pt>
                <c:pt idx="42">
                  <c:v>10.7</c:v>
                </c:pt>
                <c:pt idx="43">
                  <c:v>10.8</c:v>
                </c:pt>
                <c:pt idx="44">
                  <c:v>10.9</c:v>
                </c:pt>
                <c:pt idx="45">
                  <c:v>11.0</c:v>
                </c:pt>
              </c:numCache>
            </c:numRef>
          </c:xVal>
          <c:yVal>
            <c:numRef>
              <c:f>Sheet1!$B$50:$B$95</c:f>
              <c:numCache>
                <c:formatCode>General</c:formatCode>
                <c:ptCount val="46"/>
                <c:pt idx="0">
                  <c:v>0.1683091246190541</c:v>
                </c:pt>
                <c:pt idx="1">
                  <c:v>0.17130418514167206</c:v>
                </c:pt>
                <c:pt idx="2">
                  <c:v>0.1742774659108793</c:v>
                </c:pt>
                <c:pt idx="3">
                  <c:v>0.17722875141837086</c:v>
                </c:pt>
                <c:pt idx="4">
                  <c:v>0.18015783604652405</c:v>
                </c:pt>
                <c:pt idx="5">
                  <c:v>0.183064524035473</c:v>
                </c:pt>
                <c:pt idx="6">
                  <c:v>0.1859486294423896</c:v>
                </c:pt>
                <c:pt idx="7">
                  <c:v>0.18880997609318423</c:v>
                </c:pt>
                <c:pt idx="8">
                  <c:v>0.19164839752684534</c:v>
                </c:pt>
                <c:pt idx="9">
                  <c:v>0.19446373693264526</c:v>
                </c:pt>
                <c:pt idx="10">
                  <c:v>0.19725584708044072</c:v>
                </c:pt>
                <c:pt idx="11">
                  <c:v>0.2000245902443085</c:v>
                </c:pt>
                <c:pt idx="12">
                  <c:v>0.20276983811975283</c:v>
                </c:pt>
                <c:pt idx="13">
                  <c:v>0.20549147173473162</c:v>
                </c:pt>
                <c:pt idx="14">
                  <c:v>0.20818938135474863</c:v>
                </c:pt>
                <c:pt idx="15">
                  <c:v>0.21086346638226022</c:v>
                </c:pt>
                <c:pt idx="16">
                  <c:v>0.2135136352506512</c:v>
                </c:pt>
                <c:pt idx="17">
                  <c:v>0.21613980531303137</c:v>
                </c:pt>
                <c:pt idx="18">
                  <c:v>0.21874190272610752</c:v>
                </c:pt>
                <c:pt idx="19">
                  <c:v>0.22131986232938605</c:v>
                </c:pt>
                <c:pt idx="20">
                  <c:v>0.2238736275199611</c:v>
                </c:pt>
                <c:pt idx="21">
                  <c:v>0.22640315012314077</c:v>
                </c:pt>
                <c:pt idx="22">
                  <c:v>0.22890839025916584</c:v>
                </c:pt>
                <c:pt idx="23">
                  <c:v>0.23138931620627073</c:v>
                </c:pt>
                <c:pt idx="24">
                  <c:v>0.23384590426033755</c:v>
                </c:pt>
                <c:pt idx="25">
                  <c:v>0.23627813859138824</c:v>
                </c:pt>
                <c:pt idx="26">
                  <c:v>0.23868601109716125</c:v>
                </c:pt>
                <c:pt idx="27">
                  <c:v>0.2410695212540103</c:v>
                </c:pt>
                <c:pt idx="28">
                  <c:v>0.24342867596536652</c:v>
                </c:pt>
                <c:pt idx="29">
                  <c:v>0.24576348940799375</c:v>
                </c:pt>
                <c:pt idx="30">
                  <c:v>0.2480739828762696</c:v>
                </c:pt>
                <c:pt idx="31">
                  <c:v>0.25036018462471454</c:v>
                </c:pt>
                <c:pt idx="32">
                  <c:v>0.25262212970899156</c:v>
                </c:pt>
                <c:pt idx="33">
                  <c:v>0.2548598598255902</c:v>
                </c:pt>
                <c:pt idx="34">
                  <c:v>0.2570734231504056</c:v>
                </c:pt>
                <c:pt idx="35">
                  <c:v>0.25926287417641847</c:v>
                </c:pt>
                <c:pt idx="36">
                  <c:v>0.2614282735506738</c:v>
                </c:pt>
                <c:pt idx="37">
                  <c:v>0.2635696879107529</c:v>
                </c:pt>
                <c:pt idx="38">
                  <c:v>0.2656871897209271</c:v>
                </c:pt>
                <c:pt idx="39">
                  <c:v>0.2677808571081738</c:v>
                </c:pt>
                <c:pt idx="40">
                  <c:v>0.26985077369823257</c:v>
                </c:pt>
                <c:pt idx="41">
                  <c:v>0.27189702845186936</c:v>
                </c:pt>
                <c:pt idx="42">
                  <c:v>0.27391971550151395</c:v>
                </c:pt>
                <c:pt idx="43">
                  <c:v>0.2759189339884276</c:v>
                </c:pt>
                <c:pt idx="44">
                  <c:v>0.2778947879005519</c:v>
                </c:pt>
                <c:pt idx="45">
                  <c:v>0.27984738591118374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Sheet1!$B$97</c:f>
              <c:strCache>
                <c:ptCount val="1"/>
                <c:pt idx="0">
                  <c:v>Lisbon, lifted</c:v>
                </c:pt>
              </c:strCache>
            </c:strRef>
          </c:tx>
          <c:spPr>
            <a:ln w="22225">
              <a:solidFill>
                <a:srgbClr val="2A78D6"/>
              </a:solidFill>
            </a:ln>
          </c:spPr>
          <c:marker>
            <c:symbol val="circle"/>
            <c:size val="5"/>
            <c:spPr>
              <a:solidFill>
                <a:srgbClr val="2A78D6"/>
              </a:solidFill>
              <a:ln>
                <a:solidFill>
                  <a:srgbClr val="2A78D6"/>
                </a:solidFill>
              </a:ln>
            </c:spPr>
          </c:marker>
          <c:xVal>
            <c:numRef>
              <c:f>Sheet1!$A$98:$A$143</c:f>
              <c:numCache>
                <c:formatCode>General</c:formatCode>
                <c:ptCount val="46"/>
                <c:pt idx="0">
                  <c:v>6.5</c:v>
                </c:pt>
                <c:pt idx="1">
                  <c:v>6.6</c:v>
                </c:pt>
                <c:pt idx="2">
                  <c:v>6.7</c:v>
                </c:pt>
                <c:pt idx="3">
                  <c:v>6.8</c:v>
                </c:pt>
                <c:pt idx="4">
                  <c:v>6.9</c:v>
                </c:pt>
                <c:pt idx="5">
                  <c:v>7.0</c:v>
                </c:pt>
                <c:pt idx="6">
                  <c:v>7.1</c:v>
                </c:pt>
                <c:pt idx="7">
                  <c:v>7.2</c:v>
                </c:pt>
                <c:pt idx="8">
                  <c:v>7.3</c:v>
                </c:pt>
                <c:pt idx="9">
                  <c:v>7.4</c:v>
                </c:pt>
                <c:pt idx="10">
                  <c:v>7.5</c:v>
                </c:pt>
                <c:pt idx="11">
                  <c:v>7.6</c:v>
                </c:pt>
                <c:pt idx="12">
                  <c:v>7.7</c:v>
                </c:pt>
                <c:pt idx="13">
                  <c:v>7.8</c:v>
                </c:pt>
                <c:pt idx="14">
                  <c:v>7.9</c:v>
                </c:pt>
                <c:pt idx="15">
                  <c:v>8.0</c:v>
                </c:pt>
                <c:pt idx="16">
                  <c:v>8.1</c:v>
                </c:pt>
                <c:pt idx="17">
                  <c:v>8.2</c:v>
                </c:pt>
                <c:pt idx="18">
                  <c:v>8.3</c:v>
                </c:pt>
                <c:pt idx="19">
                  <c:v>8.4</c:v>
                </c:pt>
                <c:pt idx="20">
                  <c:v>8.5</c:v>
                </c:pt>
                <c:pt idx="21">
                  <c:v>8.6</c:v>
                </c:pt>
                <c:pt idx="22">
                  <c:v>8.7</c:v>
                </c:pt>
                <c:pt idx="23">
                  <c:v>8.8</c:v>
                </c:pt>
                <c:pt idx="24">
                  <c:v>8.9</c:v>
                </c:pt>
                <c:pt idx="25">
                  <c:v>9.0</c:v>
                </c:pt>
                <c:pt idx="26">
                  <c:v>9.1</c:v>
                </c:pt>
                <c:pt idx="27">
                  <c:v>9.2</c:v>
                </c:pt>
                <c:pt idx="28">
                  <c:v>9.3</c:v>
                </c:pt>
                <c:pt idx="29">
                  <c:v>9.4</c:v>
                </c:pt>
                <c:pt idx="30">
                  <c:v>9.5</c:v>
                </c:pt>
                <c:pt idx="31">
                  <c:v>9.6</c:v>
                </c:pt>
                <c:pt idx="32">
                  <c:v>9.7</c:v>
                </c:pt>
                <c:pt idx="33">
                  <c:v>9.8</c:v>
                </c:pt>
                <c:pt idx="34">
                  <c:v>9.9</c:v>
                </c:pt>
                <c:pt idx="35">
                  <c:v>10.0</c:v>
                </c:pt>
                <c:pt idx="36">
                  <c:v>10.1</c:v>
                </c:pt>
                <c:pt idx="37">
                  <c:v>10.2</c:v>
                </c:pt>
                <c:pt idx="38">
                  <c:v>10.3</c:v>
                </c:pt>
                <c:pt idx="39">
                  <c:v>10.4</c:v>
                </c:pt>
                <c:pt idx="40">
                  <c:v>10.5</c:v>
                </c:pt>
                <c:pt idx="41">
                  <c:v>10.6</c:v>
                </c:pt>
                <c:pt idx="42">
                  <c:v>10.7</c:v>
                </c:pt>
                <c:pt idx="43">
                  <c:v>10.8</c:v>
                </c:pt>
                <c:pt idx="44">
                  <c:v>10.9</c:v>
                </c:pt>
                <c:pt idx="45">
                  <c:v>11.0</c:v>
                </c:pt>
              </c:numCache>
            </c:numRef>
          </c:xVal>
          <c:yVal>
            <c:numRef>
              <c:f>Sheet1!$B$98:$B$143</c:f>
              <c:numCache>
                <c:formatCode>General</c:formatCode>
                <c:ptCount val="46"/>
                <c:pt idx="0">
                  <c:v>0.6815</c:v>
                </c:pt>
                <c:pt idx="1">
                  <c:v>0.3521</c:v>
                </c:pt>
                <c:pt idx="2">
                  <c:v>0.2271</c:v>
                </c:pt>
                <c:pt idx="3">
                  <c:v>0.1826</c:v>
                </c:pt>
                <c:pt idx="4">
                  <c:v>0.1807</c:v>
                </c:pt>
                <c:pt idx="5">
                  <c:v>0.2216</c:v>
                </c:pt>
                <c:pt idx="6">
                  <c:v>0.3345</c:v>
                </c:pt>
                <c:pt idx="7">
                  <c:v>0.6016</c:v>
                </c:pt>
                <c:pt idx="8">
                  <c:v>0.8827</c:v>
                </c:pt>
                <c:pt idx="9">
                  <c:v>0.6382</c:v>
                </c:pt>
                <c:pt idx="10">
                  <c:v>0.3731</c:v>
                </c:pt>
                <c:pt idx="11">
                  <c:v>0.2513</c:v>
                </c:pt>
                <c:pt idx="12">
                  <c:v>0.2077</c:v>
                </c:pt>
                <c:pt idx="13">
                  <c:v>0.2073</c:v>
                </c:pt>
                <c:pt idx="14">
                  <c:v>0.2509</c:v>
                </c:pt>
                <c:pt idx="15">
                  <c:v>0.3633</c:v>
                </c:pt>
                <c:pt idx="16">
                  <c:v>0.5965</c:v>
                </c:pt>
                <c:pt idx="17">
                  <c:v>0.7824</c:v>
                </c:pt>
                <c:pt idx="18">
                  <c:v>0.6002</c:v>
                </c:pt>
                <c:pt idx="19">
                  <c:v>0.3825</c:v>
                </c:pt>
                <c:pt idx="20">
                  <c:v>0.2751</c:v>
                </c:pt>
                <c:pt idx="21">
                  <c:v>0.231</c:v>
                </c:pt>
                <c:pt idx="22">
                  <c:v>0.2329</c:v>
                </c:pt>
                <c:pt idx="23">
                  <c:v>0.2782</c:v>
                </c:pt>
                <c:pt idx="24">
                  <c:v>0.391</c:v>
                </c:pt>
                <c:pt idx="25">
                  <c:v>0.585</c:v>
                </c:pt>
                <c:pt idx="26">
                  <c:v>0.7076</c:v>
                </c:pt>
                <c:pt idx="27">
                  <c:v>0.566</c:v>
                </c:pt>
                <c:pt idx="28">
                  <c:v>0.3916</c:v>
                </c:pt>
                <c:pt idx="29">
                  <c:v>0.2914</c:v>
                </c:pt>
                <c:pt idx="30">
                  <c:v>0.2525</c:v>
                </c:pt>
                <c:pt idx="31">
                  <c:v>0.2549</c:v>
                </c:pt>
                <c:pt idx="32">
                  <c:v>0.3051</c:v>
                </c:pt>
                <c:pt idx="33">
                  <c:v>0.4036</c:v>
                </c:pt>
                <c:pt idx="34">
                  <c:v>0.5742</c:v>
                </c:pt>
                <c:pt idx="35">
                  <c:v>0.6495</c:v>
                </c:pt>
                <c:pt idx="36">
                  <c:v>0.5403</c:v>
                </c:pt>
                <c:pt idx="37">
                  <c:v>0.3937</c:v>
                </c:pt>
                <c:pt idx="38">
                  <c:v>0.3071</c:v>
                </c:pt>
                <c:pt idx="39">
                  <c:v>0.2723</c:v>
                </c:pt>
                <c:pt idx="40">
                  <c:v>0.276</c:v>
                </c:pt>
                <c:pt idx="41">
                  <c:v>0.3228</c:v>
                </c:pt>
                <c:pt idx="42">
                  <c:v>0.4169</c:v>
                </c:pt>
                <c:pt idx="43">
                  <c:v>0.5605</c:v>
                </c:pt>
                <c:pt idx="44">
                  <c:v>0.6071</c:v>
                </c:pt>
                <c:pt idx="45">
                  <c:v>0.5169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Sheet1!$B$145</c:f>
              <c:strCache>
                <c:ptCount val="1"/>
                <c:pt idx="0">
                  <c:v>Cordoba (0.42 dB/cm)</c:v>
                </c:pt>
              </c:strCache>
            </c:strRef>
          </c:tx>
          <c:spPr>
            <a:ln w="25400">
              <a:solidFill>
                <a:srgbClr val="1BAF7A"/>
              </a:solidFill>
              <a:prstDash val="dash"/>
            </a:ln>
          </c:spPr>
          <c:marker>
            <c:symbol val="none"/>
          </c:marker>
          <c:xVal>
            <c:numRef>
              <c:f>Sheet1!$A$146:$A$147</c:f>
              <c:numCache>
                <c:formatCode>General</c:formatCode>
                <c:ptCount val="2"/>
                <c:pt idx="0">
                  <c:v>6.5</c:v>
                </c:pt>
                <c:pt idx="1">
                  <c:v>11.0</c:v>
                </c:pt>
              </c:numCache>
            </c:numRef>
          </c:xVal>
          <c:yVal>
            <c:numRef>
              <c:f>Sheet1!$B$146:$B$147</c:f>
              <c:numCache>
                <c:formatCode>General</c:formatCode>
                <c:ptCount val="2"/>
                <c:pt idx="0">
                  <c:v>0.4202</c:v>
                </c:pt>
                <c:pt idx="1">
                  <c:v>0.4202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Sheet1!$B$149</c:f>
              <c:strCache>
                <c:ptCount val="1"/>
                <c:pt idx="0">
                  <c:v>x_lift 7.1 → 7.2 µm</c:v>
                </c:pt>
              </c:strCache>
            </c:strRef>
          </c:tx>
          <c:spPr>
            <a:ln w="31750">
              <a:solidFill>
                <a:srgbClr val="C0262D"/>
              </a:solidFill>
            </a:ln>
          </c:spPr>
          <c:marker>
            <c:symbol val="circle"/>
            <c:size val="9"/>
            <c:spPr>
              <a:solidFill>
                <a:srgbClr val="C0262D"/>
              </a:solidFill>
              <a:ln>
                <a:solidFill>
                  <a:srgbClr val="C0262D"/>
                </a:solidFill>
              </a:ln>
            </c:spPr>
          </c:marker>
          <c:xVal>
            <c:numRef>
              <c:f>Sheet1!$A$150:$A$151</c:f>
              <c:numCache>
                <c:formatCode>General</c:formatCode>
                <c:ptCount val="2"/>
                <c:pt idx="0">
                  <c:v>7.1</c:v>
                </c:pt>
                <c:pt idx="1">
                  <c:v>7.2</c:v>
                </c:pt>
              </c:numCache>
            </c:numRef>
          </c:xVal>
          <c:yVal>
            <c:numRef>
              <c:f>Sheet1!$B$150:$B$151</c:f>
              <c:numCache>
                <c:formatCode>General</c:formatCode>
                <c:ptCount val="2"/>
                <c:pt idx="0">
                  <c:v>0.3345</c:v>
                </c:pt>
                <c:pt idx="1">
                  <c:v>0.6016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1.0"/>
          <c:min val="6.5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x_lift [µm]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0.5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IL [dB/cm]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legend>
      <c:legendPos val="t"/>
      <c:legendEntry>
        <c:idx val="1"/>
        <c:delete val="1"/>
      </c:legendEntry>
      <c:layout/>
      <c:overlay val="0"/>
      <c:txPr>
        <a:bodyPr/>
        <a:lstStyle/>
        <a:p>
          <a:pPr>
            <a:defRPr sz="9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>
                <a:solidFill>
                  <a:srgbClr val="222222"/>
                </a:solidFill>
                <a:latin typeface="Arial"/>
              </a:rPr>
              <a:t>Index of the wave under the gold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wave under the gold</c:v>
                </c:pt>
              </c:strCache>
            </c:strRef>
          </c:tx>
          <c:spPr>
            <a:ln w="31750">
              <a:solidFill>
                <a:srgbClr val="1F4E79"/>
              </a:solidFill>
            </a:ln>
          </c:spPr>
          <c:marker>
            <c:symbol val="none"/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0.0</c:v>
                </c:pt>
                <c:pt idx="1">
                  <c:v>5.0</c:v>
                </c:pt>
                <c:pt idx="2">
                  <c:v>10.0</c:v>
                </c:pt>
                <c:pt idx="3">
                  <c:v>15.0</c:v>
                </c:pt>
                <c:pt idx="4">
                  <c:v>20.0</c:v>
                </c:pt>
                <c:pt idx="5">
                  <c:v>25.0</c:v>
                </c:pt>
                <c:pt idx="6">
                  <c:v>30.0</c:v>
                </c:pt>
                <c:pt idx="7">
                  <c:v>35.0</c:v>
                </c:pt>
                <c:pt idx="8">
                  <c:v>40.0</c:v>
                </c:pt>
                <c:pt idx="9">
                  <c:v>45.0</c:v>
                </c:pt>
                <c:pt idx="10">
                  <c:v>50.0</c:v>
                </c:pt>
                <c:pt idx="11">
                  <c:v>75.0</c:v>
                </c:pt>
                <c:pt idx="12">
                  <c:v>100.0</c:v>
                </c:pt>
                <c:pt idx="13">
                  <c:v>125.0</c:v>
                </c:pt>
                <c:pt idx="14">
                  <c:v>150.0</c:v>
                </c:pt>
                <c:pt idx="15">
                  <c:v>175.0</c:v>
                </c:pt>
                <c:pt idx="16">
                  <c:v>200.0</c:v>
                </c:pt>
                <c:pt idx="17">
                  <c:v>225.0</c:v>
                </c:pt>
                <c:pt idx="18">
                  <c:v>250.0</c:v>
                </c:pt>
                <c:pt idx="19">
                  <c:v>275.0</c:v>
                </c:pt>
                <c:pt idx="20">
                  <c:v>300.0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2.072245</c:v>
                </c:pt>
                <c:pt idx="1">
                  <c:v>2.033595</c:v>
                </c:pt>
                <c:pt idx="2">
                  <c:v>2.001285</c:v>
                </c:pt>
                <c:pt idx="3">
                  <c:v>1.97369</c:v>
                </c:pt>
                <c:pt idx="4">
                  <c:v>1.9497499999999999</c:v>
                </c:pt>
                <c:pt idx="5">
                  <c:v>1.9286949999999998</c:v>
                </c:pt>
                <c:pt idx="6">
                  <c:v>1.91</c:v>
                </c:pt>
                <c:pt idx="7">
                  <c:v>1.89323</c:v>
                </c:pt>
                <c:pt idx="8">
                  <c:v>1.878085</c:v>
                </c:pt>
                <c:pt idx="9">
                  <c:v>1.864325</c:v>
                </c:pt>
                <c:pt idx="10">
                  <c:v>1.8517450000000002</c:v>
                </c:pt>
                <c:pt idx="11">
                  <c:v>1.80192</c:v>
                </c:pt>
                <c:pt idx="12">
                  <c:v>1.7664900000000001</c:v>
                </c:pt>
                <c:pt idx="13">
                  <c:v>1.73982</c:v>
                </c:pt>
                <c:pt idx="14">
                  <c:v>1.718955</c:v>
                </c:pt>
                <c:pt idx="15">
                  <c:v>1.7021799999999998</c:v>
                </c:pt>
                <c:pt idx="16">
                  <c:v>1.68841</c:v>
                </c:pt>
                <c:pt idx="17">
                  <c:v>1.676935</c:v>
                </c:pt>
                <c:pt idx="18">
                  <c:v>1.6672449999999999</c:v>
                </c:pt>
                <c:pt idx="19">
                  <c:v>1.65899</c:v>
                </c:pt>
                <c:pt idx="20">
                  <c:v>1.6518950000000001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Sheet1!$B$24</c:f>
              <c:strCache>
                <c:ptCount val="1"/>
                <c:pt idx="0">
                  <c:v>rib mode</c:v>
                </c:pt>
              </c:strCache>
            </c:strRef>
          </c:tx>
          <c:spPr>
            <a:ln w="22225">
              <a:solidFill>
                <a:srgbClr val="8A8A8A"/>
              </a:solidFill>
              <a:prstDash val="dash"/>
            </a:ln>
          </c:spPr>
          <c:marker>
            <c:symbol val="none"/>
          </c:marker>
          <c:xVal>
            <c:numRef>
              <c:f>Sheet1!$A$25:$A$26</c:f>
              <c:numCache>
                <c:formatCode>General</c:formatCode>
                <c:ptCount val="2"/>
                <c:pt idx="0">
                  <c:v>0</c:v>
                </c:pt>
                <c:pt idx="1">
                  <c:v>300</c:v>
                </c:pt>
              </c:numCache>
            </c:numRef>
          </c:xVal>
          <c:yVal>
            <c:numRef>
              <c:f>Sheet1!$B$25:$B$26</c:f>
              <c:numCache>
                <c:formatCode>General</c:formatCode>
                <c:ptCount val="2"/>
                <c:pt idx="0">
                  <c:v>1.883806</c:v>
                </c:pt>
                <c:pt idx="1">
                  <c:v>1.883806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Sheet1!$B$28</c:f>
              <c:strCache>
                <c:ptCount val="1"/>
                <c:pt idx="0">
                  <c:v>cutoff ≈ 38 nm</c:v>
                </c:pt>
              </c:strCache>
            </c:strRef>
          </c:tx>
          <c:spPr>
            <a:ln w="22225">
              <a:solidFill>
                <a:srgbClr val="C0262D"/>
              </a:solidFill>
              <a:prstDash val="dash"/>
            </a:ln>
          </c:spPr>
          <c:marker>
            <c:symbol val="none"/>
          </c:marker>
          <c:xVal>
            <c:numRef>
              <c:f>Sheet1!$A$29:$A$30</c:f>
              <c:numCache>
                <c:formatCode>General</c:formatCode>
                <c:ptCount val="2"/>
                <c:pt idx="0">
                  <c:v>38</c:v>
                </c:pt>
                <c:pt idx="1">
                  <c:v>38</c:v>
                </c:pt>
              </c:numCache>
            </c:numRef>
          </c:xVal>
          <c:yVal>
            <c:numRef>
              <c:f>Sheet1!$B$29:$B$30</c:f>
              <c:numCache>
                <c:formatCode>General</c:formatCode>
                <c:ptCount val="2"/>
                <c:pt idx="0">
                  <c:v>1.62</c:v>
                </c:pt>
                <c:pt idx="1">
                  <c:v>2.1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Sheet1!$B$32</c:f>
              <c:strCache>
                <c:ptCount val="1"/>
                <c:pt idx="0">
                  <c:v>design</c:v>
                </c:pt>
              </c:strCache>
            </c:strRef>
          </c:tx>
          <c:spPr>
            <a:ln w="12700">
              <a:solidFill>
                <a:srgbClr val="EB6834"/>
              </a:solidFill>
            </a:ln>
          </c:spPr>
          <c:marker>
            <c:symbol val="circle"/>
            <c:size val="9"/>
            <c:spPr>
              <a:solidFill>
                <a:srgbClr val="EB6834"/>
              </a:solidFill>
              <a:ln>
                <a:solidFill>
                  <a:srgbClr val="EB6834"/>
                </a:solidFill>
              </a:ln>
            </c:spPr>
          </c:marker>
          <c:xVal>
            <c:numRef>
              <c:f>Sheet1!$A$33:$A$33</c:f>
              <c:numCache>
                <c:formatCode>General</c:formatCode>
                <c:ptCount val="1"/>
                <c:pt idx="0">
                  <c:v>200</c:v>
                </c:pt>
              </c:numCache>
            </c:numRef>
          </c:xVal>
          <c:yVal>
            <c:numRef>
              <c:f>Sheet1!$B$33:$B$33</c:f>
              <c:numCache>
                <c:formatCode>General</c:formatCode>
                <c:ptCount val="1"/>
                <c:pt idx="0">
                  <c:v>1.68841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buffer thickness [nm]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50.0"/>
      </c:valAx>
      <c:valAx>
        <c:axId val="-2129643912"/>
        <c:scaling>
          <c:orientation val="minMax"/>
          <c:max val="2.1"/>
          <c:min val="1.6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effective index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9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>
                <a:solidFill>
                  <a:srgbClr val="222222"/>
                </a:solidFill>
                <a:latin typeface="Arial"/>
              </a:rPr>
              <a:t>Insertion loss vs lift position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Lisbon + 200 nm buffer, gap 3.2 µm</c:v>
                </c:pt>
              </c:strCache>
            </c:strRef>
          </c:tx>
          <c:spPr>
            <a:ln w="28575">
              <a:solidFill>
                <a:srgbClr val="EB6834"/>
              </a:solidFill>
            </a:ln>
          </c:spPr>
          <c:marker>
            <c:symbol val="circle"/>
            <c:size val="4"/>
            <c:spPr>
              <a:solidFill>
                <a:srgbClr val="EB6834"/>
              </a:solidFill>
              <a:ln>
                <a:solidFill>
                  <a:srgbClr val="EB6834"/>
                </a:solidFill>
              </a:ln>
            </c:spPr>
          </c:marker>
          <c:xVal>
            <c:numRef>
              <c:f>Sheet1!$A$2:$A$74</c:f>
              <c:numCache>
                <c:formatCode>General</c:formatCode>
                <c:ptCount val="73"/>
                <c:pt idx="0">
                  <c:v>3.8</c:v>
                </c:pt>
                <c:pt idx="1">
                  <c:v>3.9</c:v>
                </c:pt>
                <c:pt idx="2">
                  <c:v>4.0</c:v>
                </c:pt>
                <c:pt idx="3">
                  <c:v>4.1</c:v>
                </c:pt>
                <c:pt idx="4">
                  <c:v>4.2</c:v>
                </c:pt>
                <c:pt idx="5">
                  <c:v>4.3</c:v>
                </c:pt>
                <c:pt idx="6">
                  <c:v>4.4</c:v>
                </c:pt>
                <c:pt idx="7">
                  <c:v>4.5</c:v>
                </c:pt>
                <c:pt idx="8">
                  <c:v>4.6</c:v>
                </c:pt>
                <c:pt idx="9">
                  <c:v>4.7</c:v>
                </c:pt>
                <c:pt idx="10">
                  <c:v>4.8</c:v>
                </c:pt>
                <c:pt idx="11">
                  <c:v>4.9</c:v>
                </c:pt>
                <c:pt idx="12">
                  <c:v>5.0</c:v>
                </c:pt>
                <c:pt idx="13">
                  <c:v>5.1</c:v>
                </c:pt>
                <c:pt idx="14">
                  <c:v>5.2</c:v>
                </c:pt>
                <c:pt idx="15">
                  <c:v>5.3</c:v>
                </c:pt>
                <c:pt idx="16">
                  <c:v>5.4</c:v>
                </c:pt>
                <c:pt idx="17">
                  <c:v>5.5</c:v>
                </c:pt>
                <c:pt idx="18">
                  <c:v>5.6</c:v>
                </c:pt>
                <c:pt idx="19">
                  <c:v>5.7</c:v>
                </c:pt>
                <c:pt idx="20">
                  <c:v>5.8</c:v>
                </c:pt>
                <c:pt idx="21">
                  <c:v>5.9</c:v>
                </c:pt>
                <c:pt idx="22">
                  <c:v>6.0</c:v>
                </c:pt>
                <c:pt idx="23">
                  <c:v>6.1</c:v>
                </c:pt>
                <c:pt idx="24">
                  <c:v>6.2</c:v>
                </c:pt>
                <c:pt idx="25">
                  <c:v>6.3</c:v>
                </c:pt>
                <c:pt idx="26">
                  <c:v>6.4</c:v>
                </c:pt>
                <c:pt idx="27">
                  <c:v>6.5</c:v>
                </c:pt>
                <c:pt idx="28">
                  <c:v>6.6</c:v>
                </c:pt>
                <c:pt idx="29">
                  <c:v>6.7</c:v>
                </c:pt>
                <c:pt idx="30">
                  <c:v>6.8</c:v>
                </c:pt>
                <c:pt idx="31">
                  <c:v>6.9</c:v>
                </c:pt>
                <c:pt idx="32">
                  <c:v>7.0</c:v>
                </c:pt>
                <c:pt idx="33">
                  <c:v>7.1</c:v>
                </c:pt>
                <c:pt idx="34">
                  <c:v>7.2</c:v>
                </c:pt>
                <c:pt idx="35">
                  <c:v>7.3</c:v>
                </c:pt>
                <c:pt idx="36">
                  <c:v>7.4</c:v>
                </c:pt>
                <c:pt idx="37">
                  <c:v>7.5</c:v>
                </c:pt>
                <c:pt idx="38">
                  <c:v>7.6</c:v>
                </c:pt>
                <c:pt idx="39">
                  <c:v>7.7</c:v>
                </c:pt>
                <c:pt idx="40">
                  <c:v>7.8</c:v>
                </c:pt>
                <c:pt idx="41">
                  <c:v>7.9</c:v>
                </c:pt>
                <c:pt idx="42">
                  <c:v>8.0</c:v>
                </c:pt>
                <c:pt idx="43">
                  <c:v>8.1</c:v>
                </c:pt>
                <c:pt idx="44">
                  <c:v>8.2</c:v>
                </c:pt>
                <c:pt idx="45">
                  <c:v>8.3</c:v>
                </c:pt>
                <c:pt idx="46">
                  <c:v>8.4</c:v>
                </c:pt>
                <c:pt idx="47">
                  <c:v>8.5</c:v>
                </c:pt>
                <c:pt idx="48">
                  <c:v>8.6</c:v>
                </c:pt>
                <c:pt idx="49">
                  <c:v>8.7</c:v>
                </c:pt>
                <c:pt idx="50">
                  <c:v>8.8</c:v>
                </c:pt>
                <c:pt idx="51">
                  <c:v>8.9</c:v>
                </c:pt>
                <c:pt idx="52">
                  <c:v>9.0</c:v>
                </c:pt>
                <c:pt idx="53">
                  <c:v>9.1</c:v>
                </c:pt>
                <c:pt idx="54">
                  <c:v>9.2</c:v>
                </c:pt>
                <c:pt idx="55">
                  <c:v>9.3</c:v>
                </c:pt>
                <c:pt idx="56">
                  <c:v>9.4</c:v>
                </c:pt>
                <c:pt idx="57">
                  <c:v>9.5</c:v>
                </c:pt>
                <c:pt idx="58">
                  <c:v>9.6</c:v>
                </c:pt>
                <c:pt idx="59">
                  <c:v>9.7</c:v>
                </c:pt>
                <c:pt idx="60">
                  <c:v>9.8</c:v>
                </c:pt>
                <c:pt idx="61">
                  <c:v>9.9</c:v>
                </c:pt>
                <c:pt idx="62">
                  <c:v>10.0</c:v>
                </c:pt>
                <c:pt idx="63">
                  <c:v>10.1</c:v>
                </c:pt>
                <c:pt idx="64">
                  <c:v>10.2</c:v>
                </c:pt>
                <c:pt idx="65">
                  <c:v>10.3</c:v>
                </c:pt>
                <c:pt idx="66">
                  <c:v>10.4</c:v>
                </c:pt>
                <c:pt idx="67">
                  <c:v>10.5</c:v>
                </c:pt>
                <c:pt idx="68">
                  <c:v>10.6</c:v>
                </c:pt>
                <c:pt idx="69">
                  <c:v>10.7</c:v>
                </c:pt>
                <c:pt idx="70">
                  <c:v>10.8</c:v>
                </c:pt>
                <c:pt idx="71">
                  <c:v>10.9</c:v>
                </c:pt>
                <c:pt idx="72">
                  <c:v>11.0</c:v>
                </c:pt>
              </c:numCache>
            </c:numRef>
          </c:xVal>
          <c:yVal>
            <c:numRef>
              <c:f>Sheet1!$B$2:$B$74</c:f>
              <c:numCache>
                <c:formatCode>General</c:formatCode>
                <c:ptCount val="73"/>
                <c:pt idx="0">
                  <c:v>0.0481</c:v>
                </c:pt>
                <c:pt idx="1">
                  <c:v>0.0481</c:v>
                </c:pt>
                <c:pt idx="2">
                  <c:v>0.0481</c:v>
                </c:pt>
                <c:pt idx="3">
                  <c:v>0.0481</c:v>
                </c:pt>
                <c:pt idx="4">
                  <c:v>0.0481</c:v>
                </c:pt>
                <c:pt idx="5">
                  <c:v>0.0481</c:v>
                </c:pt>
                <c:pt idx="6">
                  <c:v>0.0481</c:v>
                </c:pt>
                <c:pt idx="7">
                  <c:v>0.0481</c:v>
                </c:pt>
                <c:pt idx="8">
                  <c:v>0.048</c:v>
                </c:pt>
                <c:pt idx="9">
                  <c:v>0.048</c:v>
                </c:pt>
                <c:pt idx="10">
                  <c:v>0.0481</c:v>
                </c:pt>
                <c:pt idx="11">
                  <c:v>0.048</c:v>
                </c:pt>
                <c:pt idx="12">
                  <c:v>0.048</c:v>
                </c:pt>
                <c:pt idx="13">
                  <c:v>0.0481</c:v>
                </c:pt>
                <c:pt idx="14">
                  <c:v>0.048</c:v>
                </c:pt>
                <c:pt idx="15">
                  <c:v>0.0481</c:v>
                </c:pt>
                <c:pt idx="16">
                  <c:v>0.0481</c:v>
                </c:pt>
                <c:pt idx="17">
                  <c:v>0.048</c:v>
                </c:pt>
                <c:pt idx="18">
                  <c:v>0.048</c:v>
                </c:pt>
                <c:pt idx="19">
                  <c:v>0.0481</c:v>
                </c:pt>
                <c:pt idx="20">
                  <c:v>0.048</c:v>
                </c:pt>
                <c:pt idx="21">
                  <c:v>0.0481</c:v>
                </c:pt>
                <c:pt idx="22">
                  <c:v>0.0481</c:v>
                </c:pt>
                <c:pt idx="23">
                  <c:v>0.0481</c:v>
                </c:pt>
                <c:pt idx="24">
                  <c:v>0.0481</c:v>
                </c:pt>
                <c:pt idx="25">
                  <c:v>0.0481</c:v>
                </c:pt>
                <c:pt idx="26">
                  <c:v>0.0481</c:v>
                </c:pt>
                <c:pt idx="27">
                  <c:v>0.0481</c:v>
                </c:pt>
                <c:pt idx="28">
                  <c:v>0.0481</c:v>
                </c:pt>
                <c:pt idx="29">
                  <c:v>0.0481</c:v>
                </c:pt>
                <c:pt idx="30">
                  <c:v>0.0481</c:v>
                </c:pt>
                <c:pt idx="31">
                  <c:v>0.0481</c:v>
                </c:pt>
                <c:pt idx="32">
                  <c:v>0.0481</c:v>
                </c:pt>
                <c:pt idx="33">
                  <c:v>0.0481</c:v>
                </c:pt>
                <c:pt idx="34">
                  <c:v>0.0481</c:v>
                </c:pt>
                <c:pt idx="35">
                  <c:v>0.0481</c:v>
                </c:pt>
                <c:pt idx="36">
                  <c:v>0.0481</c:v>
                </c:pt>
                <c:pt idx="37">
                  <c:v>0.0481</c:v>
                </c:pt>
                <c:pt idx="38">
                  <c:v>0.0481</c:v>
                </c:pt>
                <c:pt idx="39">
                  <c:v>0.0481</c:v>
                </c:pt>
                <c:pt idx="40">
                  <c:v>0.0481</c:v>
                </c:pt>
                <c:pt idx="41">
                  <c:v>0.048</c:v>
                </c:pt>
                <c:pt idx="42">
                  <c:v>0.0481</c:v>
                </c:pt>
                <c:pt idx="43">
                  <c:v>0.0481</c:v>
                </c:pt>
                <c:pt idx="44">
                  <c:v>0.0481</c:v>
                </c:pt>
                <c:pt idx="45">
                  <c:v>0.0481</c:v>
                </c:pt>
                <c:pt idx="46">
                  <c:v>0.0481</c:v>
                </c:pt>
                <c:pt idx="47">
                  <c:v>0.0481</c:v>
                </c:pt>
                <c:pt idx="48">
                  <c:v>0.0481</c:v>
                </c:pt>
                <c:pt idx="49">
                  <c:v>0.0481</c:v>
                </c:pt>
                <c:pt idx="50">
                  <c:v>0.0481</c:v>
                </c:pt>
                <c:pt idx="51">
                  <c:v>0.0481</c:v>
                </c:pt>
                <c:pt idx="52">
                  <c:v>0.0481</c:v>
                </c:pt>
                <c:pt idx="53">
                  <c:v>0.0481</c:v>
                </c:pt>
                <c:pt idx="54">
                  <c:v>0.0481</c:v>
                </c:pt>
                <c:pt idx="55">
                  <c:v>0.0481</c:v>
                </c:pt>
                <c:pt idx="56">
                  <c:v>0.048</c:v>
                </c:pt>
                <c:pt idx="57">
                  <c:v>0.0481</c:v>
                </c:pt>
                <c:pt idx="58">
                  <c:v>0.0481</c:v>
                </c:pt>
                <c:pt idx="59">
                  <c:v>0.0481</c:v>
                </c:pt>
                <c:pt idx="60">
                  <c:v>0.0481</c:v>
                </c:pt>
                <c:pt idx="61">
                  <c:v>0.0481</c:v>
                </c:pt>
                <c:pt idx="62">
                  <c:v>0.0481</c:v>
                </c:pt>
                <c:pt idx="63">
                  <c:v>0.0481</c:v>
                </c:pt>
                <c:pt idx="64">
                  <c:v>0.0481</c:v>
                </c:pt>
                <c:pt idx="65">
                  <c:v>0.0481</c:v>
                </c:pt>
                <c:pt idx="66">
                  <c:v>0.0481</c:v>
                </c:pt>
                <c:pt idx="67">
                  <c:v>0.0481</c:v>
                </c:pt>
                <c:pt idx="68">
                  <c:v>0.0481</c:v>
                </c:pt>
                <c:pt idx="69">
                  <c:v>0.0481</c:v>
                </c:pt>
                <c:pt idx="70">
                  <c:v>0.0481</c:v>
                </c:pt>
                <c:pt idx="71">
                  <c:v>0.0481</c:v>
                </c:pt>
                <c:pt idx="72">
                  <c:v>0.0481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Sheet1!$B$76</c:f>
              <c:strCache>
                <c:ptCount val="1"/>
                <c:pt idx="0">
                  <c:v>Lisbon, no buffer, gap 4.2 µm</c:v>
                </c:pt>
              </c:strCache>
            </c:strRef>
          </c:tx>
          <c:spPr>
            <a:ln w="19050">
              <a:solidFill>
                <a:srgbClr val="2A78D6"/>
              </a:solidFill>
            </a:ln>
          </c:spPr>
          <c:marker>
            <c:symbol val="circle"/>
            <c:size val="4"/>
            <c:spPr>
              <a:solidFill>
                <a:srgbClr val="2A78D6"/>
              </a:solidFill>
              <a:ln>
                <a:solidFill>
                  <a:srgbClr val="2A78D6"/>
                </a:solidFill>
              </a:ln>
            </c:spPr>
          </c:marker>
          <c:xVal>
            <c:numRef>
              <c:f>Sheet1!$A$77:$A$122</c:f>
              <c:numCache>
                <c:formatCode>General</c:formatCode>
                <c:ptCount val="46"/>
                <c:pt idx="0">
                  <c:v>6.5</c:v>
                </c:pt>
                <c:pt idx="1">
                  <c:v>6.6</c:v>
                </c:pt>
                <c:pt idx="2">
                  <c:v>6.7</c:v>
                </c:pt>
                <c:pt idx="3">
                  <c:v>6.8</c:v>
                </c:pt>
                <c:pt idx="4">
                  <c:v>6.9</c:v>
                </c:pt>
                <c:pt idx="5">
                  <c:v>7.0</c:v>
                </c:pt>
                <c:pt idx="6">
                  <c:v>7.1</c:v>
                </c:pt>
                <c:pt idx="7">
                  <c:v>7.2</c:v>
                </c:pt>
                <c:pt idx="8">
                  <c:v>7.3</c:v>
                </c:pt>
                <c:pt idx="9">
                  <c:v>7.4</c:v>
                </c:pt>
                <c:pt idx="10">
                  <c:v>7.5</c:v>
                </c:pt>
                <c:pt idx="11">
                  <c:v>7.6</c:v>
                </c:pt>
                <c:pt idx="12">
                  <c:v>7.7</c:v>
                </c:pt>
                <c:pt idx="13">
                  <c:v>7.8</c:v>
                </c:pt>
                <c:pt idx="14">
                  <c:v>7.9</c:v>
                </c:pt>
                <c:pt idx="15">
                  <c:v>8.0</c:v>
                </c:pt>
                <c:pt idx="16">
                  <c:v>8.1</c:v>
                </c:pt>
                <c:pt idx="17">
                  <c:v>8.2</c:v>
                </c:pt>
                <c:pt idx="18">
                  <c:v>8.3</c:v>
                </c:pt>
                <c:pt idx="19">
                  <c:v>8.4</c:v>
                </c:pt>
                <c:pt idx="20">
                  <c:v>8.5</c:v>
                </c:pt>
                <c:pt idx="21">
                  <c:v>8.6</c:v>
                </c:pt>
                <c:pt idx="22">
                  <c:v>8.7</c:v>
                </c:pt>
                <c:pt idx="23">
                  <c:v>8.8</c:v>
                </c:pt>
                <c:pt idx="24">
                  <c:v>8.9</c:v>
                </c:pt>
                <c:pt idx="25">
                  <c:v>9.0</c:v>
                </c:pt>
                <c:pt idx="26">
                  <c:v>9.1</c:v>
                </c:pt>
                <c:pt idx="27">
                  <c:v>9.2</c:v>
                </c:pt>
                <c:pt idx="28">
                  <c:v>9.3</c:v>
                </c:pt>
                <c:pt idx="29">
                  <c:v>9.4</c:v>
                </c:pt>
                <c:pt idx="30">
                  <c:v>9.5</c:v>
                </c:pt>
                <c:pt idx="31">
                  <c:v>9.6</c:v>
                </c:pt>
                <c:pt idx="32">
                  <c:v>9.7</c:v>
                </c:pt>
                <c:pt idx="33">
                  <c:v>9.8</c:v>
                </c:pt>
                <c:pt idx="34">
                  <c:v>9.9</c:v>
                </c:pt>
                <c:pt idx="35">
                  <c:v>10.0</c:v>
                </c:pt>
                <c:pt idx="36">
                  <c:v>10.1</c:v>
                </c:pt>
                <c:pt idx="37">
                  <c:v>10.2</c:v>
                </c:pt>
                <c:pt idx="38">
                  <c:v>10.3</c:v>
                </c:pt>
                <c:pt idx="39">
                  <c:v>10.4</c:v>
                </c:pt>
                <c:pt idx="40">
                  <c:v>10.5</c:v>
                </c:pt>
                <c:pt idx="41">
                  <c:v>10.6</c:v>
                </c:pt>
                <c:pt idx="42">
                  <c:v>10.7</c:v>
                </c:pt>
                <c:pt idx="43">
                  <c:v>10.8</c:v>
                </c:pt>
                <c:pt idx="44">
                  <c:v>10.9</c:v>
                </c:pt>
                <c:pt idx="45">
                  <c:v>11.0</c:v>
                </c:pt>
              </c:numCache>
            </c:numRef>
          </c:xVal>
          <c:yVal>
            <c:numRef>
              <c:f>Sheet1!$B$77:$B$122</c:f>
              <c:numCache>
                <c:formatCode>General</c:formatCode>
                <c:ptCount val="46"/>
                <c:pt idx="0">
                  <c:v>0.6815</c:v>
                </c:pt>
                <c:pt idx="1">
                  <c:v>0.3521</c:v>
                </c:pt>
                <c:pt idx="2">
                  <c:v>0.2271</c:v>
                </c:pt>
                <c:pt idx="3">
                  <c:v>0.1826</c:v>
                </c:pt>
                <c:pt idx="4">
                  <c:v>0.1807</c:v>
                </c:pt>
                <c:pt idx="5">
                  <c:v>0.2216</c:v>
                </c:pt>
                <c:pt idx="6">
                  <c:v>0.3345</c:v>
                </c:pt>
                <c:pt idx="7">
                  <c:v>0.6016</c:v>
                </c:pt>
                <c:pt idx="8">
                  <c:v>0.8827</c:v>
                </c:pt>
                <c:pt idx="9">
                  <c:v>0.6382</c:v>
                </c:pt>
                <c:pt idx="10">
                  <c:v>0.3731</c:v>
                </c:pt>
                <c:pt idx="11">
                  <c:v>0.2513</c:v>
                </c:pt>
                <c:pt idx="12">
                  <c:v>0.2077</c:v>
                </c:pt>
                <c:pt idx="13">
                  <c:v>0.2073</c:v>
                </c:pt>
                <c:pt idx="14">
                  <c:v>0.2509</c:v>
                </c:pt>
                <c:pt idx="15">
                  <c:v>0.3633</c:v>
                </c:pt>
                <c:pt idx="16">
                  <c:v>0.5965</c:v>
                </c:pt>
                <c:pt idx="17">
                  <c:v>0.7824</c:v>
                </c:pt>
                <c:pt idx="18">
                  <c:v>0.6002</c:v>
                </c:pt>
                <c:pt idx="19">
                  <c:v>0.3825</c:v>
                </c:pt>
                <c:pt idx="20">
                  <c:v>0.2751</c:v>
                </c:pt>
                <c:pt idx="21">
                  <c:v>0.231</c:v>
                </c:pt>
                <c:pt idx="22">
                  <c:v>0.2329</c:v>
                </c:pt>
                <c:pt idx="23">
                  <c:v>0.2782</c:v>
                </c:pt>
                <c:pt idx="24">
                  <c:v>0.391</c:v>
                </c:pt>
                <c:pt idx="25">
                  <c:v>0.585</c:v>
                </c:pt>
                <c:pt idx="26">
                  <c:v>0.7076</c:v>
                </c:pt>
                <c:pt idx="27">
                  <c:v>0.566</c:v>
                </c:pt>
                <c:pt idx="28">
                  <c:v>0.3916</c:v>
                </c:pt>
                <c:pt idx="29">
                  <c:v>0.2914</c:v>
                </c:pt>
                <c:pt idx="30">
                  <c:v>0.2525</c:v>
                </c:pt>
                <c:pt idx="31">
                  <c:v>0.2549</c:v>
                </c:pt>
                <c:pt idx="32">
                  <c:v>0.3051</c:v>
                </c:pt>
                <c:pt idx="33">
                  <c:v>0.4036</c:v>
                </c:pt>
                <c:pt idx="34">
                  <c:v>0.5742</c:v>
                </c:pt>
                <c:pt idx="35">
                  <c:v>0.6495</c:v>
                </c:pt>
                <c:pt idx="36">
                  <c:v>0.5403</c:v>
                </c:pt>
                <c:pt idx="37">
                  <c:v>0.3937</c:v>
                </c:pt>
                <c:pt idx="38">
                  <c:v>0.3071</c:v>
                </c:pt>
                <c:pt idx="39">
                  <c:v>0.2723</c:v>
                </c:pt>
                <c:pt idx="40">
                  <c:v>0.276</c:v>
                </c:pt>
                <c:pt idx="41">
                  <c:v>0.3228</c:v>
                </c:pt>
                <c:pt idx="42">
                  <c:v>0.4169</c:v>
                </c:pt>
                <c:pt idx="43">
                  <c:v>0.5605</c:v>
                </c:pt>
                <c:pt idx="44">
                  <c:v>0.6071</c:v>
                </c:pt>
                <c:pt idx="45">
                  <c:v>0.5169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1.0"/>
          <c:min val="3.5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x_lift [µm]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IL [dB/cm]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>
                <a:solidFill>
                  <a:srgbClr val="222222"/>
                </a:solidFill>
                <a:latin typeface="Arial"/>
              </a:rPr>
              <a:t>Vπ·L vs buffer (gap 3.2 µm)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Vπ·L</c:v>
                </c:pt>
              </c:strCache>
            </c:strRef>
          </c:tx>
          <c:spPr>
            <a:ln w="25400">
              <a:solidFill>
                <a:srgbClr val="1F4E79"/>
              </a:solidFill>
            </a:ln>
          </c:spPr>
          <c:marker>
            <c:symbol val="circle"/>
            <c:size val="6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25</c:v>
                </c:pt>
                <c:pt idx="2">
                  <c:v>50</c:v>
                </c:pt>
                <c:pt idx="3">
                  <c:v>100</c:v>
                </c:pt>
                <c:pt idx="4">
                  <c:v>150</c:v>
                </c:pt>
                <c:pt idx="5">
                  <c:v>200</c:v>
                </c:pt>
                <c:pt idx="6">
                  <c:v>250</c:v>
                </c:pt>
                <c:pt idx="7">
                  <c:v>300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1.6496</c:v>
                </c:pt>
                <c:pt idx="1">
                  <c:v>1.7989</c:v>
                </c:pt>
                <c:pt idx="2">
                  <c:v>1.8784</c:v>
                </c:pt>
                <c:pt idx="3">
                  <c:v>1.9912</c:v>
                </c:pt>
                <c:pt idx="4">
                  <c:v>2.0767</c:v>
                </c:pt>
                <c:pt idx="5">
                  <c:v>2.1484</c:v>
                </c:pt>
                <c:pt idx="6">
                  <c:v>2.212</c:v>
                </c:pt>
                <c:pt idx="7">
                  <c:v>2.2703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200 nm</c:v>
                </c:pt>
              </c:strCache>
            </c:strRef>
          </c:tx>
          <c:spPr>
            <a:ln w="12700">
              <a:solidFill>
                <a:srgbClr val="EB6834"/>
              </a:solidFill>
            </a:ln>
          </c:spPr>
          <c:marker>
            <c:symbol val="circle"/>
            <c:size val="10"/>
            <c:spPr>
              <a:solidFill>
                <a:srgbClr val="EB6834"/>
              </a:solidFill>
              <a:ln>
                <a:solidFill>
                  <a:srgbClr val="EB6834"/>
                </a:solidFill>
              </a:ln>
            </c:spPr>
          </c:marker>
          <c:xVal>
            <c:numRef>
              <c:f>Sheet1!$A$12:$A$12</c:f>
              <c:numCache>
                <c:formatCode>General</c:formatCode>
                <c:ptCount val="1"/>
                <c:pt idx="0">
                  <c:v>200</c:v>
                </c:pt>
              </c:numCache>
            </c:numRef>
          </c:xVal>
          <c:yVal>
            <c:numRef>
              <c:f>Sheet1!$B$12:$B$12</c:f>
              <c:numCache>
                <c:formatCode>General</c:formatCode>
                <c:ptCount val="1"/>
                <c:pt idx="0">
                  <c:v>2.1484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buffer [nm]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50.0"/>
      </c:valAx>
      <c:valAx>
        <c:axId val="-2129643912"/>
        <c:scaling>
          <c:orientation val="minMax"/>
          <c:max val="2.4"/>
          <c:min val="1.6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Vπ·L [V·cm]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>
                <a:solidFill>
                  <a:srgbClr val="222222"/>
                </a:solidFill>
                <a:latin typeface="Arial"/>
              </a:rPr>
              <a:t>Vπ·L vs gap (200 nm buffer)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Vπ·L</c:v>
                </c:pt>
              </c:strCache>
            </c:strRef>
          </c:tx>
          <c:spPr>
            <a:ln w="25400">
              <a:solidFill>
                <a:srgbClr val="1F4E79"/>
              </a:solidFill>
            </a:ln>
          </c:spPr>
          <c:marker>
            <c:symbol val="circle"/>
            <c:size val="6"/>
            <c:spPr>
              <a:solidFill>
                <a:srgbClr val="1F4E79"/>
              </a:solidFill>
              <a:ln>
                <a:solidFill>
                  <a:srgbClr val="1F4E79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2.4</c:v>
                </c:pt>
                <c:pt idx="1">
                  <c:v>2.6</c:v>
                </c:pt>
                <c:pt idx="2">
                  <c:v>2.8</c:v>
                </c:pt>
                <c:pt idx="3">
                  <c:v>3.0</c:v>
                </c:pt>
                <c:pt idx="4">
                  <c:v>3.2</c:v>
                </c:pt>
                <c:pt idx="5">
                  <c:v>3.4</c:v>
                </c:pt>
                <c:pt idx="6">
                  <c:v>3.6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1.6353</c:v>
                </c:pt>
                <c:pt idx="1">
                  <c:v>1.7704</c:v>
                </c:pt>
                <c:pt idx="2">
                  <c:v>1.8993</c:v>
                </c:pt>
                <c:pt idx="3">
                  <c:v>2.0249</c:v>
                </c:pt>
                <c:pt idx="4">
                  <c:v>2.1484</c:v>
                </c:pt>
                <c:pt idx="5">
                  <c:v>2.2707</c:v>
                </c:pt>
                <c:pt idx="6">
                  <c:v>2.392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3.4 µm</c:v>
                </c:pt>
              </c:strCache>
            </c:strRef>
          </c:tx>
          <c:spPr>
            <a:ln w="12700">
              <a:solidFill>
                <a:srgbClr val="EB6834"/>
              </a:solidFill>
            </a:ln>
          </c:spPr>
          <c:marker>
            <c:symbol val="circle"/>
            <c:size val="10"/>
            <c:spPr>
              <a:solidFill>
                <a:srgbClr val="EB6834"/>
              </a:solidFill>
              <a:ln>
                <a:solidFill>
                  <a:srgbClr val="EB6834"/>
                </a:solidFill>
              </a:ln>
            </c:spPr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3.4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2.2707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.7"/>
          <c:min val="2.3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bottom gap [µm]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2.4"/>
          <c:min val="1.6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Vπ·L [V·cm]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>
                <a:solidFill>
                  <a:srgbClr val="222222"/>
                </a:solidFill>
                <a:latin typeface="Arial"/>
              </a:rPr>
              <a:t>IL vs gap (200 nm buffer)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2A78D6"/>
              </a:solidFill>
            </a:ln>
          </c:spPr>
          <c:marker>
            <c:symbol val="circle"/>
            <c:size val="6"/>
            <c:spPr>
              <a:solidFill>
                <a:srgbClr val="2A78D6"/>
              </a:solidFill>
              <a:ln>
                <a:solidFill>
                  <a:srgbClr val="2A78D6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2.4</c:v>
                </c:pt>
                <c:pt idx="1">
                  <c:v>2.6</c:v>
                </c:pt>
                <c:pt idx="2">
                  <c:v>2.8</c:v>
                </c:pt>
                <c:pt idx="3">
                  <c:v>3.0</c:v>
                </c:pt>
                <c:pt idx="4">
                  <c:v>3.2</c:v>
                </c:pt>
                <c:pt idx="5">
                  <c:v>3.4</c:v>
                </c:pt>
                <c:pt idx="6">
                  <c:v>3.6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0.6509</c:v>
                </c:pt>
                <c:pt idx="1">
                  <c:v>0.3257</c:v>
                </c:pt>
                <c:pt idx="2">
                  <c:v>0.1689</c:v>
                </c:pt>
                <c:pt idx="3">
                  <c:v>0.0895</c:v>
                </c:pt>
                <c:pt idx="4">
                  <c:v>0.0481</c:v>
                </c:pt>
                <c:pt idx="5">
                  <c:v>0.026</c:v>
                </c:pt>
                <c:pt idx="6">
                  <c:v>0.0142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3.4 µm</c:v>
                </c:pt>
              </c:strCache>
            </c:strRef>
          </c:tx>
          <c:spPr>
            <a:ln w="12700">
              <a:solidFill>
                <a:srgbClr val="EB6834"/>
              </a:solidFill>
            </a:ln>
          </c:spPr>
          <c:marker>
            <c:symbol val="circle"/>
            <c:size val="10"/>
            <c:spPr>
              <a:solidFill>
                <a:srgbClr val="EB6834"/>
              </a:solidFill>
              <a:ln>
                <a:solidFill>
                  <a:srgbClr val="EB6834"/>
                </a:solidFill>
              </a:ln>
            </c:spPr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3.4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0.026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.7"/>
          <c:min val="2.3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bottom gap [µm]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0.2"/>
      </c:valAx>
      <c:valAx>
        <c:axId val="-2129643912"/>
        <c:scaling>
          <c:logBase val="10"/>
          <c:orientation val="minMax"/>
          <c:max val="1.0"/>
          <c:min val="0.01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IL [dB/cm], log</a:t>
                </a:r>
              </a:p>
            </c:rich>
          </c:tx>
          <c:layout/>
          <c:overlay val="0"/>
        </c:title>
        <c:numFmt formatCode="0.0#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34B894-4718-4C4D-B942-55BEF7CC3F90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BACFE-D1E4-4E9E-9D2A-07301B51F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Lisbon lifted electrodes show an insertion loss that oscillates with the lift position. We show where it comes from, how a 200 nm SiO2 buffer removes it, what it costs in Vpi*L, and the final buffer/gap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Cross-sections drawn from the model polygons, same scale; dimensions in um. x_lift = distance from the rib centre to the point where the gold leaves the LN slab and climbs onto the SiO2 lift. Vpi*L: Cordoba 2.260, Lisbon 2.265 V*cm at the same 4.2 um gap. IL of Lisbon oscillates with a 0.9 um period around the Cordoba value; the steepest 100 nm step is 7.1 -&gt; 7.2 um (0.33 -&gt; 0.60 dB/cm), so the IL of a fabricated device is not predictable. Envelopes: the rib mode leaks into the wave guided under the gold, which bounces between two cut-off regions (gap edge and lift). The leakage rate is that of a source inside a Fabry-Perot cavity (Airy function), with round-trip factor rho = rho0*exp(-2*alpha*L), where alpha = Im(k_x) is the gold absorption of the lateral wave. Peaks (1+rho)/(1-rho) and dips (1-rho)/(1+rho) times IL_inf, so peak*dip = IL_inf^2 (measured sqrt(P*D) = 0.40-0.41 at every period) and both converge to IL_inf when the step is far. Free fit of all 46 points 6.5-11 um: IL_inf 0.412, rho0 0.91, 2*alpha 0.175 1/um, period 0.895 um. Independent 1D prediction from the complex index of the gold-guided wave (2.072 - 0.0095i) and n_rib 1.8834: 2*alpha 0.181 1/um, period 0.91 um. Data: results/lift_sweep.csv (beyond 11 um only sparse points, not shown).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left: |E|^2 at slab mid-height vs x. Dip (x_lift 6.9 um, IL 0.18) and peak (7.3 um, IL 0.88) show ripples between the gap edge and the lift; Cordoba shows a smooth, slowly decaying travelling wave. Right: field maps, same dB scale. Indices: 1D mode solve of each vertical stack (TM-like wave under the gold: Au / 275 nm LN slab / SiO2 BOX, n = 2.065-2.080 depending on the in-plane LN permittivity; gold-free slab with air or SiO2 on top: TE 1.70-1.80, TM 1.48-1.60). Rib mode: 2D FEM n_eff 1.8834. n &gt; n_rib alone gives lateral leakage (a travelling wave, as in Cordoba, where 30 um of gold absorbs it: round trip attenuation e^-5). The standing wave needs the second mirror: in Lisbon the slab beyond x_lift has no gold, so the wave is cut off there and reflected. The gap edge is also cut off, so the wave bounces between two mirrors. Interference: at the dip the reflected wave returns out of phase at the gap edge and suppresses the leakage (destructive); at the peak it returns in phase and enhances it (constructive). Fringe period inside the cavity and IL period vs x_lift are both pi/k_x: the cavity length fixes the order m, not the spacing (as in a Fabry-Perot, where resonances are spaced by half a wavelength in length).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Chart top right: 1D effective index of the wave guided under the gold vs buffer thickness (mean of the two in-plane LN permittivities; cutoff 37-39 nm). Below the rib index the wave cannot be phase matched, so the rib mode cannot couple into a propagating wave: there is no standing wave to form, whatever x_lift. The 1D model matches the 2D simulations (period 0.90 vs 0.91 um at 0 nm; decay 28.98 vs 28.95 dB/um at 200 nm). Bottom: 200 nm buffer, 88 lift positions 3.8-30.1 um, IL 0.0480-0.0481 dB/cm. Chart shows up to 11 um; flat also at 12-30 um. Without buffer at gap 3.2 IL would be 4-30 dB/cm and still oscillating.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Vpi*L vs buffer thickness at gap 3.2 um, x_lift 7 um (150, 250 nm added for this deck). 150 nm: Vpi*L 2.077 vs 2.148 V*cm (-3.3 %), IL 0.068 vs 0.048 dB/cm. Centre/right: gap scan at 200 nm (GAP_TOP fixed at 10 um). Vpi*L grows linearly with the gap, IL falls exponentially. Gap 3.4 um: Vpi*L 2.2707 V*cm, IL 0.0260 dB/cm, flat for x_lift 4.5-16 um (2.270-2.275 V*cm). On the 14.84 mm line with duty cycle 0.925: Vpi = 1.654 V. The 1.7 V limit allows Vpi*L up to 2.334 V*cm (gap about 3.5 um), so 3.4 um keeps about 0.05 V of margin. Gold loss over the line: 0.039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2A20-D9C5-BEC1-A331-516D50C93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255FB-8776-2600-FB0D-D37C26A9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B4982-190C-6C07-7215-C2698E3AA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7267E-3FDA-B66E-4AD8-C6CE92D5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F8C8B-ACEA-A9A3-B4F0-BCD03B8FF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482B-292E-DBE7-F2D3-E10B4F58E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1C4E-1EAF-9AB5-5CC4-FC701A97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75CCB-9B55-2936-B303-10802E385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C055-00ED-86ED-9C00-23DE18EC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B0205-9236-F40A-0142-178DCCE8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8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4F1D0-DAB1-67E8-1B2F-73E26B78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1E0F4-EFC3-E680-F6BE-0E77EFE3E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D891C-D277-DFAA-497C-2B8823A5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FF4E-20C2-F541-1DAB-613C759BA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AB07-57B8-0995-EE56-BB900832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A6F8-85E3-4B22-2629-A5CD88BC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67E19-2A08-183A-315B-2C68CBD4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4FEB9-11F8-683F-4BCD-D299C05A4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671DF-0476-B756-5E54-A09AD8F8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C4BB-5CDA-73D0-C1DA-C42A6DE9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1ABC2-6DE1-3D69-6A5D-C3CA3F61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5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F1152-8B57-3EF5-D4C6-0E6876662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A3013-0656-B7EA-B887-6A7B2A857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63B16-884B-1811-7BAE-21CA8A6B7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255C07-A3DB-F6DA-0F4A-E9B970AC63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7223D-1F4E-936C-E584-1AAB09D0A3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643326-229D-65B9-2C15-C2124F231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5B61B-ED00-86A7-6ACD-C43B67AC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19906-6F6F-6917-EF5E-B774E6919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52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C6A1B-B2AF-E050-ECF5-ACC5B7AF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D89E8-F0D6-0E88-9769-D89E6292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829C5-1B60-2268-F333-5B76066F8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F9A2B-0D7A-2052-FFC8-8CBE90A1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98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24D48-6995-0099-CD08-7A3FDDC78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EEC935-6C37-2907-F27F-AE46F37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360F-90C3-AD14-2358-FDAA383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1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57D0-E028-0FEC-8108-C43C00030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22123-834D-B3B6-8655-4F727434A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483FF-5EC4-3A43-0CAD-1E9C63C28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F5EC1-48F3-74F5-A266-43E5E2B1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55FD67-83F7-52BD-E689-83B4411AC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1C7BE6-67AB-39DB-47FB-E76563134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08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E4AD1-9B1D-6A0E-B035-2A091F8F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C267C1-026F-6542-5C48-B04F16F3C2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53625-A727-A9FB-C543-6910AD686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DCE3EF-FE07-E44D-9BEE-561AE12BC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48578-8457-617E-26C8-83CBD42AA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716A0-6376-1E8B-ACC0-3E99A468A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55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1CB6B-B40F-CD9E-5050-E8332EEE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8861BA-32AA-F138-FF9C-253448691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C3F75-3492-7080-C63D-3983901FB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1E4EE-94A7-4D60-6219-FE9FAEED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9FFF6-B663-682E-609B-32623E2A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08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BE4FA9-B5B0-671D-FF03-B5210A3B11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E3531C-997D-F3F0-03A8-0A36E3B8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AC5E-DA02-76B9-65D8-7F5388545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02A9-7AB1-C1FB-9260-FEB9B49CA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2E534-F0BB-DE3C-8762-F36B2DE82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196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299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9211454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27BB2C-76DC-90AF-74E8-5CA2C51AF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2E614-5C6F-DC4C-07CD-F948CDE4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B5F60-52FA-13B8-32F6-4BFCF5859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BDF0-920C-8B79-6328-4F4CFFA1E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0653-7ED0-A2A9-6425-DC06C7BEE1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18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148840"/>
            <a:ext cx="960120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 i="0">
                <a:solidFill>
                  <a:srgbClr val="222222"/>
                </a:solidFill>
                <a:latin typeface="Arial"/>
              </a:rPr>
              <a:t>Lifted electrodes on a SiO₂ buffer:</a:t>
            </a:r>
          </a:p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222222"/>
                </a:solidFill>
                <a:latin typeface="Arial"/>
              </a:rPr>
              <a:t>removing the lift-position standing wave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femwell / scikit-fem eigenmode study at λ = 1575 nm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Lifting the gold: same Vπ·L, but IL oscillates with x_lift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Cordoba (gold flat on the LN slab) vs Lisbon (gold lifted onto SiO₂ at x_lift), both with a 4.2 µm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36192"/>
            <a:ext cx="594360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Cordoba (legacy)</a:t>
            </a:r>
          </a:p>
        </p:txBody>
      </p:sp>
      <p:pic>
        <p:nvPicPr>
          <p:cNvPr id="5" name="Picture 4" descr="geomd_leg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10512"/>
            <a:ext cx="5943600" cy="984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852928"/>
            <a:ext cx="594360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Lisbon (lifted)</a:t>
            </a:r>
          </a:p>
        </p:txBody>
      </p:sp>
      <p:pic>
        <p:nvPicPr>
          <p:cNvPr id="7" name="Picture 6" descr="geomd_lif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108960"/>
            <a:ext cx="5943600" cy="1996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5285232"/>
            <a:ext cx="28803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321808"/>
            <a:ext cx="2880360" cy="570585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Arial"/>
              </a:rPr>
              <a:t>2.260 | 2.265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5877763"/>
            <a:ext cx="2734056" cy="48280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[V·cm], Cordoba | Lisbon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identical (Δ 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5285232"/>
            <a:ext cx="28803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5321808"/>
            <a:ext cx="2880360" cy="570585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C0262D"/>
                </a:solidFill>
                <a:latin typeface="Arial"/>
              </a:rPr>
              <a:t>+80 %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877763"/>
            <a:ext cx="2734056" cy="48280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IL for a 100 nm shift of x_lift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(7.1 → 7.2 µm: 0.33 → 0.60 dB/cm)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537960" y="1481328"/>
          <a:ext cx="5303520" cy="3063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537960" y="4617720"/>
            <a:ext cx="5303520" cy="1810512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F4E79"/>
                </a:solidFill>
                <a:latin typeface="Arial"/>
              </a:rPr>
              <a:t>Lateral Fabry–Pérot cavity </a:t>
            </a:r>
            <a:r>
              <a:rPr sz="1100" b="0" i="0">
                <a:solidFill>
                  <a:srgbClr val="222222"/>
                </a:solidFill>
                <a:latin typeface="Arial"/>
              </a:rPr>
              <a:t>(gap edge ↔ gold/oxide step), L = x_lift − gap/2: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2222"/>
                </a:solidFill>
                <a:latin typeface="Arial"/>
              </a:rPr>
              <a:t>IL = IL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∞</a:t>
            </a:r>
            <a:r>
              <a:rPr sz="1100" b="0" i="0">
                <a:solidFill>
                  <a:srgbClr val="222222"/>
                </a:solidFill>
                <a:latin typeface="Arial"/>
              </a:rPr>
              <a:t> (1 − ρ²) / (1 − 2ρ cos(2k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100" b="0" i="0">
                <a:solidFill>
                  <a:srgbClr val="222222"/>
                </a:solidFill>
                <a:latin typeface="Arial"/>
              </a:rPr>
              <a:t>L + φ) + ρ²),   ρ = ρ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0</a:t>
            </a:r>
            <a:r>
              <a:rPr sz="1100" b="0" i="0">
                <a:solidFill>
                  <a:srgbClr val="222222"/>
                </a:solidFill>
                <a:latin typeface="Arial"/>
              </a:rPr>
              <a:t> e^(−2α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100" b="0" i="0">
                <a:solidFill>
                  <a:srgbClr val="222222"/>
                </a:solidFill>
                <a:latin typeface="Arial"/>
              </a:rPr>
              <a:t>L)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2222"/>
                </a:solidFill>
                <a:latin typeface="Arial"/>
              </a:rPr>
              <a:t>k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100" b="0" i="0">
                <a:solidFill>
                  <a:srgbClr val="222222"/>
                </a:solidFill>
                <a:latin typeface="Arial"/>
              </a:rPr>
              <a:t>, α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100" b="0" i="0">
                <a:solidFill>
                  <a:srgbClr val="222222"/>
                </a:solidFill>
                <a:latin typeface="Arial"/>
              </a:rPr>
              <a:t>: lateral wavenumber and gold absorption of the wave under the gold. Envelopes IL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∞</a:t>
            </a:r>
            <a:r>
              <a:rPr sz="1100" b="0" i="0">
                <a:solidFill>
                  <a:srgbClr val="222222"/>
                </a:solidFill>
                <a:latin typeface="Arial"/>
              </a:rPr>
              <a:t>(1 ± ρ)/(1 ∓ ρ) converge to IL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∞</a:t>
            </a:r>
            <a:r>
              <a:rPr sz="1100" b="0" i="0">
                <a:solidFill>
                  <a:srgbClr val="222222"/>
                </a:solidFill>
                <a:latin typeface="Arial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F4E79"/>
                </a:solidFill>
                <a:latin typeface="Arial"/>
              </a:rPr>
              <a:t>Fit (rms 0.002 dB/cm): </a:t>
            </a:r>
            <a:r>
              <a:rPr sz="1100" b="0" i="0">
                <a:solidFill>
                  <a:srgbClr val="222222"/>
                </a:solidFill>
                <a:latin typeface="Arial"/>
              </a:rPr>
              <a:t>IL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∞</a:t>
            </a:r>
            <a:r>
              <a:rPr sz="1100" b="0" i="0">
                <a:solidFill>
                  <a:srgbClr val="222222"/>
                </a:solidFill>
                <a:latin typeface="Arial"/>
              </a:rPr>
              <a:t> = 0.41 dB/cm (Cordoba 0.42); 2α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100" b="0" i="0">
                <a:solidFill>
                  <a:srgbClr val="222222"/>
                </a:solidFill>
                <a:latin typeface="Arial"/>
              </a:rPr>
              <a:t> = 0.175 µm⁻¹, π/k</a:t>
            </a:r>
            <a:r>
              <a:rPr sz="11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100" b="0" i="0">
                <a:solidFill>
                  <a:srgbClr val="222222"/>
                </a:solidFill>
                <a:latin typeface="Arial"/>
              </a:rPr>
              <a:t> = 0.895 µm, vs 0.181 µm⁻¹ and 0.91 µm predicted by its 1D index.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Origin: a standing wave in a lateral cavity under the gold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Only the gold-covered slab carries a lateral wave faster than the rib mode; the lift closes the cavity</a:t>
            </a:r>
          </a:p>
        </p:txBody>
      </p:sp>
      <p:pic>
        <p:nvPicPr>
          <p:cNvPr id="4" name="Picture 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5486400" cy="2231699"/>
          </a:xfrm>
          <a:prstGeom prst="rect">
            <a:avLst/>
          </a:prstGeom>
        </p:spPr>
      </p:pic>
      <p:pic>
        <p:nvPicPr>
          <p:cNvPr id="5" name="Picture 4" descr="index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49039"/>
            <a:ext cx="585216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44768"/>
            <a:ext cx="5897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  <a:latin typeface="Arial"/>
              </a:rPr>
              <a:t>Index of each vertical stack (1D mode solve) vs the 2D rib mode: n &gt; n</a:t>
            </a:r>
            <a:r>
              <a:rPr sz="1000" b="0" i="0" baseline="-25000">
                <a:solidFill>
                  <a:srgbClr val="595959"/>
                </a:solidFill>
                <a:latin typeface="Arial"/>
              </a:rPr>
              <a:t>rib</a:t>
            </a:r>
            <a:r>
              <a:rPr sz="1000" b="0" i="0">
                <a:solidFill>
                  <a:srgbClr val="595959"/>
                </a:solidFill>
                <a:latin typeface="Arial"/>
              </a:rPr>
              <a:t> → k</a:t>
            </a:r>
            <a:r>
              <a:rPr sz="1000" b="0" i="0" baseline="-25000">
                <a:solidFill>
                  <a:srgbClr val="595959"/>
                </a:solidFill>
                <a:latin typeface="Arial"/>
              </a:rPr>
              <a:t>x</a:t>
            </a:r>
            <a:r>
              <a:rPr sz="1000" b="0" i="0">
                <a:solidFill>
                  <a:srgbClr val="595959"/>
                </a:solidFill>
                <a:latin typeface="Arial"/>
              </a:rPr>
              <a:t> = k</a:t>
            </a:r>
            <a:r>
              <a:rPr sz="1000" b="0" i="0" baseline="-25000">
                <a:solidFill>
                  <a:srgbClr val="595959"/>
                </a:solidFill>
                <a:latin typeface="Arial"/>
              </a:rPr>
              <a:t>0</a:t>
            </a:r>
            <a:r>
              <a:rPr sz="1000" b="0" i="0">
                <a:solidFill>
                  <a:srgbClr val="595959"/>
                </a:solidFill>
                <a:latin typeface="Arial"/>
              </a:rPr>
              <a:t>√(n² − n</a:t>
            </a:r>
            <a:r>
              <a:rPr sz="1000" b="0" i="0" baseline="-25000">
                <a:solidFill>
                  <a:srgbClr val="595959"/>
                </a:solidFill>
                <a:latin typeface="Arial"/>
              </a:rPr>
              <a:t>rib</a:t>
            </a:r>
            <a:r>
              <a:rPr sz="1000" b="0" i="0">
                <a:solidFill>
                  <a:srgbClr val="595959"/>
                </a:solidFill>
                <a:latin typeface="Arial"/>
              </a:rPr>
              <a:t>²) real, the wave propagates sideways; n &lt; n</a:t>
            </a:r>
            <a:r>
              <a:rPr sz="1000" b="0" i="0" baseline="-25000">
                <a:solidFill>
                  <a:srgbClr val="595959"/>
                </a:solidFill>
                <a:latin typeface="Arial"/>
              </a:rPr>
              <a:t>rib</a:t>
            </a:r>
            <a:r>
              <a:rPr sz="1000" b="0" i="0">
                <a:solidFill>
                  <a:srgbClr val="595959"/>
                </a:solidFill>
                <a:latin typeface="Arial"/>
              </a:rPr>
              <a:t> → cut off, the wave is reflected.</a:t>
            </a:r>
          </a:p>
        </p:txBody>
      </p:sp>
      <p:pic>
        <p:nvPicPr>
          <p:cNvPr id="7" name="Picture 6" descr="fieldmap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63040"/>
            <a:ext cx="5486400" cy="367057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5230368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 0.9 µm?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Λ = λ / (2√(n</a:t>
            </a:r>
            <a:r>
              <a:rPr sz="1200" b="0" i="0" baseline="-25000">
                <a:solidFill>
                  <a:srgbClr val="222222"/>
                </a:solidFill>
                <a:latin typeface="Arial"/>
              </a:rPr>
              <a:t>Au</a:t>
            </a:r>
            <a:r>
              <a:rPr sz="1200" b="0" i="0">
                <a:solidFill>
                  <a:srgbClr val="222222"/>
                </a:solidFill>
                <a:latin typeface="Arial"/>
              </a:rPr>
              <a:t>² − n</a:t>
            </a:r>
            <a:r>
              <a:rPr sz="1200" b="0" i="0" baseline="-25000">
                <a:solidFill>
                  <a:srgbClr val="222222"/>
                </a:solidFill>
                <a:latin typeface="Arial"/>
              </a:rPr>
              <a:t>rib</a:t>
            </a:r>
            <a:r>
              <a:rPr sz="1200" b="0" i="0">
                <a:solidFill>
                  <a:srgbClr val="222222"/>
                </a:solidFill>
                <a:latin typeface="Arial"/>
              </a:rPr>
              <a:t>²)) = 1.575 / (2 × 0.863) = 0.91 µm (simulated 0.90): half the lateral wavelength, set by the indices only.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Cavity length: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sets how many half-waves fit (≈ 5 at 7 µm). Resonance 2k</a:t>
            </a:r>
            <a:r>
              <a:rPr sz="1200" b="0" i="0" baseline="-25000">
                <a:solidFill>
                  <a:srgbClr val="222222"/>
                </a:solidFill>
                <a:latin typeface="Arial"/>
              </a:rPr>
              <a:t>x</a:t>
            </a:r>
            <a:r>
              <a:rPr sz="1200" b="0" i="0">
                <a:solidFill>
                  <a:srgbClr val="222222"/>
                </a:solidFill>
                <a:latin typeface="Arial"/>
              </a:rPr>
              <a:t>L + φ = 2πm recurs every ΔL = Λ: one more half-wave per 0.9 µm of x_lift.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SiO₂ buffer: the standing wave can no longer 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200 nm SiO₂ under the whole electrode and across the gap; bottom gap 4.2 → 3.2 µm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66751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Lisbon on a SiO₂ buffer</a:t>
            </a:r>
          </a:p>
        </p:txBody>
      </p:sp>
      <p:pic>
        <p:nvPicPr>
          <p:cNvPr id="5" name="Picture 4" descr="geom_bu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6675120" cy="2145574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52360" y="1508760"/>
          <a:ext cx="43891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4069080"/>
          <a:ext cx="6858000" cy="2514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52360" y="4389120"/>
            <a:ext cx="4389120" cy="196596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Above 38 nm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the wave under the gold falls below the rib index: it is cut off.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At 200 nm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it decays by 29 dB/µm: nothing reaches the step, nothing is reflected.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Result: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IL = 0.048 dB/cm, flat (±0.1 %) for x_lift 3.8–30 µm.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Check: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the 1D cutoff model reproduces the 2D ripple periods and decay rates within about 5 %.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The price: higher Vπ·L, recovered with a narrower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The DC field must cross the low-ε oxide (ε 3.75 vs 28 in LN); narrowing the gap compensates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554480"/>
          <a:ext cx="370332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206240" y="1554480"/>
          <a:ext cx="3703320" cy="2697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046720" y="1554480"/>
          <a:ext cx="3703320" cy="2697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480560"/>
            <a:ext cx="5669280" cy="178308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Trade-off: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at a fixed gap the buffer raises Vπ·L by 30 % (1.65 → 2.15 V·cm at 3.2 µm).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Buffer 200 nm: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5× the 38 nm cutoff, safe against thickness errors. 150 nm would cut Vπ·L by only 3 % and raise IL by 41 %.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Gap 3.4 µm: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Vπ·L 2.27 V·cm, the same as the original 4.2 µm design (2.26), with IL 0.026 dB/cm and no x_lift dependence.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434840"/>
            <a:ext cx="53949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Final design: buffer 200 nm, gap 3.4 µm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48006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4837176"/>
            <a:ext cx="1737360" cy="49926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2.27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5319064"/>
            <a:ext cx="1591056" cy="4224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[V·cm]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48006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837176"/>
            <a:ext cx="1737360" cy="49926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0.026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5319064"/>
            <a:ext cx="1591056" cy="4224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IL [dB/cm], flat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12680" y="48006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12680" y="4837176"/>
            <a:ext cx="1737360" cy="49926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C0262D"/>
                </a:solidFill>
                <a:latin typeface="Arial"/>
              </a:rPr>
              <a:t>1.65 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5832" y="5319064"/>
            <a:ext cx="1591056" cy="4224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 on the line (&lt; 1.7 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5852160"/>
            <a:ext cx="539496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22222"/>
                </a:solidFill>
                <a:latin typeface="Arial"/>
              </a:rPr>
              <a:t>Vπ = Vπ·L / (L × duty) = 2.27 / (1.484 cm × 0.925) = 1.65 V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line L = 14.84 mm, duty cycle 0.925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794</Words>
  <Application>Microsoft Office PowerPoint</Application>
  <PresentationFormat>Widescreen</PresentationFormat>
  <Paragraphs>37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40</cp:revision>
  <dcterms:created xsi:type="dcterms:W3CDTF">2025-12-01T09:32:09Z</dcterms:created>
  <dcterms:modified xsi:type="dcterms:W3CDTF">2026-10-01T07:24:56Z</dcterms:modified>
</cp:coreProperties>
</file>