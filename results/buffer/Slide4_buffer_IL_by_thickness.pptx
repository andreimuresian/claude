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>
                <a:solidFill>
                  <a:srgbClr val="222222"/>
                </a:solidFill>
                <a:latin typeface="Arial"/>
              </a:rPr>
              <a:t>Index of the wave under the gold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wave under the gold</c:v>
                </c:pt>
              </c:strCache>
            </c:strRef>
          </c:tx>
          <c:spPr>
            <a:ln w="31750">
              <a:solidFill>
                <a:srgbClr val="1F4E79"/>
              </a:solidFill>
            </a:ln>
          </c:spPr>
          <c:marker>
            <c:symbol val="none"/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0.0</c:v>
                </c:pt>
                <c:pt idx="1">
                  <c:v>5.0</c:v>
                </c:pt>
                <c:pt idx="2">
                  <c:v>10.0</c:v>
                </c:pt>
                <c:pt idx="3">
                  <c:v>15.0</c:v>
                </c:pt>
                <c:pt idx="4">
                  <c:v>20.0</c:v>
                </c:pt>
                <c:pt idx="5">
                  <c:v>25.0</c:v>
                </c:pt>
                <c:pt idx="6">
                  <c:v>30.0</c:v>
                </c:pt>
                <c:pt idx="7">
                  <c:v>35.0</c:v>
                </c:pt>
                <c:pt idx="8">
                  <c:v>40.0</c:v>
                </c:pt>
                <c:pt idx="9">
                  <c:v>45.0</c:v>
                </c:pt>
                <c:pt idx="10">
                  <c:v>50.0</c:v>
                </c:pt>
                <c:pt idx="11">
                  <c:v>75.0</c:v>
                </c:pt>
                <c:pt idx="12">
                  <c:v>100.0</c:v>
                </c:pt>
                <c:pt idx="13">
                  <c:v>125.0</c:v>
                </c:pt>
                <c:pt idx="14">
                  <c:v>150.0</c:v>
                </c:pt>
                <c:pt idx="15">
                  <c:v>175.0</c:v>
                </c:pt>
                <c:pt idx="16">
                  <c:v>200.0</c:v>
                </c:pt>
                <c:pt idx="17">
                  <c:v>225.0</c:v>
                </c:pt>
                <c:pt idx="18">
                  <c:v>250.0</c:v>
                </c:pt>
                <c:pt idx="19">
                  <c:v>275.0</c:v>
                </c:pt>
                <c:pt idx="20">
                  <c:v>300.0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2.072245</c:v>
                </c:pt>
                <c:pt idx="1">
                  <c:v>2.033595</c:v>
                </c:pt>
                <c:pt idx="2">
                  <c:v>2.001285</c:v>
                </c:pt>
                <c:pt idx="3">
                  <c:v>1.97369</c:v>
                </c:pt>
                <c:pt idx="4">
                  <c:v>1.9497499999999999</c:v>
                </c:pt>
                <c:pt idx="5">
                  <c:v>1.9286949999999998</c:v>
                </c:pt>
                <c:pt idx="6">
                  <c:v>1.91</c:v>
                </c:pt>
                <c:pt idx="7">
                  <c:v>1.89323</c:v>
                </c:pt>
                <c:pt idx="8">
                  <c:v>1.878085</c:v>
                </c:pt>
                <c:pt idx="9">
                  <c:v>1.864325</c:v>
                </c:pt>
                <c:pt idx="10">
                  <c:v>1.8517450000000002</c:v>
                </c:pt>
                <c:pt idx="11">
                  <c:v>1.80192</c:v>
                </c:pt>
                <c:pt idx="12">
                  <c:v>1.7664900000000001</c:v>
                </c:pt>
                <c:pt idx="13">
                  <c:v>1.73982</c:v>
                </c:pt>
                <c:pt idx="14">
                  <c:v>1.718955</c:v>
                </c:pt>
                <c:pt idx="15">
                  <c:v>1.7021799999999998</c:v>
                </c:pt>
                <c:pt idx="16">
                  <c:v>1.68841</c:v>
                </c:pt>
                <c:pt idx="17">
                  <c:v>1.676935</c:v>
                </c:pt>
                <c:pt idx="18">
                  <c:v>1.6672449999999999</c:v>
                </c:pt>
                <c:pt idx="19">
                  <c:v>1.65899</c:v>
                </c:pt>
                <c:pt idx="20">
                  <c:v>1.6518950000000001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Sheet1!$B$24</c:f>
              <c:strCache>
                <c:ptCount val="1"/>
                <c:pt idx="0">
                  <c:v>rib mode</c:v>
                </c:pt>
              </c:strCache>
            </c:strRef>
          </c:tx>
          <c:spPr>
            <a:ln w="22225">
              <a:solidFill>
                <a:srgbClr val="8A8A8A"/>
              </a:solidFill>
              <a:prstDash val="dash"/>
            </a:ln>
          </c:spPr>
          <c:marker>
            <c:symbol val="none"/>
          </c:marker>
          <c:xVal>
            <c:numRef>
              <c:f>Sheet1!$A$25:$A$26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Sheet1!$B$25:$B$26</c:f>
              <c:numCache>
                <c:formatCode>General</c:formatCode>
                <c:ptCount val="2"/>
                <c:pt idx="0">
                  <c:v>1.883806</c:v>
                </c:pt>
                <c:pt idx="1">
                  <c:v>1.883806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Sheet1!$B$28</c:f>
              <c:strCache>
                <c:ptCount val="1"/>
                <c:pt idx="0">
                  <c:v>cutoff ≈ 38 nm</c:v>
                </c:pt>
              </c:strCache>
            </c:strRef>
          </c:tx>
          <c:spPr>
            <a:ln w="22225">
              <a:solidFill>
                <a:srgbClr val="C0262D"/>
              </a:solidFill>
              <a:prstDash val="dash"/>
            </a:ln>
          </c:spPr>
          <c:marker>
            <c:symbol val="none"/>
          </c:marker>
          <c:xVal>
            <c:numRef>
              <c:f>Sheet1!$A$29:$A$30</c:f>
              <c:numCache>
                <c:formatCode>General</c:formatCode>
                <c:ptCount val="2"/>
                <c:pt idx="0">
                  <c:v>38</c:v>
                </c:pt>
                <c:pt idx="1">
                  <c:v>38</c:v>
                </c:pt>
              </c:numCache>
            </c:numRef>
          </c:xVal>
          <c:yVal>
            <c:numRef>
              <c:f>Sheet1!$B$29:$B$30</c:f>
              <c:numCache>
                <c:formatCode>General</c:formatCode>
                <c:ptCount val="2"/>
                <c:pt idx="0">
                  <c:v>1.62</c:v>
                </c:pt>
                <c:pt idx="1">
                  <c:v>2.1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Sheet1!$B$32</c:f>
              <c:strCache>
                <c:ptCount val="1"/>
                <c:pt idx="0">
                  <c:v>design</c:v>
                </c:pt>
              </c:strCache>
            </c:strRef>
          </c:tx>
          <c:spPr>
            <a:ln w="12700">
              <a:solidFill>
                <a:srgbClr val="EB6834"/>
              </a:solidFill>
            </a:ln>
          </c:spPr>
          <c:marker>
            <c:symbol val="circle"/>
            <c:size val="9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Sheet1!$A$33:$A$33</c:f>
              <c:numCache>
                <c:formatCode>General</c:formatCode>
                <c:ptCount val="1"/>
                <c:pt idx="0">
                  <c:v>200</c:v>
                </c:pt>
              </c:numCache>
            </c:numRef>
          </c:xVal>
          <c:yVal>
            <c:numRef>
              <c:f>Sheet1!$B$33:$B$33</c:f>
              <c:numCache>
                <c:formatCode>General</c:formatCode>
                <c:ptCount val="1"/>
                <c:pt idx="0">
                  <c:v>1.68841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buffer thickness [nm]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50.0"/>
      </c:valAx>
      <c:valAx>
        <c:axId val="-2129643912"/>
        <c:scaling>
          <c:orientation val="minMax"/>
          <c:max val="2.1"/>
          <c:min val="1.6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effective index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1"/>
      </c:valAx>
    </c:plotArea>
    <c:legend>
      <c:legendPos val="t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>
                <a:solidFill>
                  <a:srgbClr val="222222"/>
                </a:solidFill>
                <a:latin typeface="Arial"/>
              </a:rPr>
              <a:t>Insertion loss vs lift position (gap 3.2 µm), by buffer thickness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 nm</c:v>
                </c:pt>
              </c:strCache>
            </c:strRef>
          </c:tx>
          <c:spPr>
            <a:ln w="22225">
              <a:solidFill>
                <a:srgbClr val="7B4FB0"/>
              </a:solidFill>
            </a:ln>
          </c:spPr>
          <c:marker>
            <c:symbol val="circle"/>
            <c:size val="4"/>
            <c:spPr>
              <a:solidFill>
                <a:srgbClr val="7B4FB0"/>
              </a:solidFill>
              <a:ln>
                <a:solidFill>
                  <a:srgbClr val="7B4FB0"/>
                </a:solidFill>
              </a:ln>
            </c:spPr>
          </c:marker>
          <c:xVal>
            <c:numRef>
              <c:f>Sheet1!$A$2:$A$47</c:f>
              <c:numCache>
                <c:formatCode>General</c:formatCode>
                <c:ptCount val="46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</c:numCache>
            </c:numRef>
          </c:xVal>
          <c:yVal>
            <c:numRef>
              <c:f>Sheet1!$B$2:$B$47</c:f>
              <c:numCache>
                <c:formatCode>General</c:formatCode>
                <c:ptCount val="46"/>
                <c:pt idx="0">
                  <c:v>4.3232</c:v>
                </c:pt>
                <c:pt idx="1">
                  <c:v>4.3916</c:v>
                </c:pt>
                <c:pt idx="2">
                  <c:v>4.6759</c:v>
                </c:pt>
                <c:pt idx="3">
                  <c:v>5.1868</c:v>
                </c:pt>
                <c:pt idx="4">
                  <c:v>5.9655</c:v>
                </c:pt>
                <c:pt idx="5">
                  <c:v>7.0758</c:v>
                </c:pt>
                <c:pt idx="6">
                  <c:v>8.6053</c:v>
                </c:pt>
                <c:pt idx="7">
                  <c:v>10.3539</c:v>
                </c:pt>
                <c:pt idx="8">
                  <c:v>12.215</c:v>
                </c:pt>
                <c:pt idx="9">
                  <c:v>13.4322</c:v>
                </c:pt>
                <c:pt idx="10">
                  <c:v>13.36</c:v>
                </c:pt>
                <c:pt idx="11">
                  <c:v>12.1382</c:v>
                </c:pt>
                <c:pt idx="12">
                  <c:v>10.4442</c:v>
                </c:pt>
                <c:pt idx="13">
                  <c:v>8.7712</c:v>
                </c:pt>
                <c:pt idx="14">
                  <c:v>7.4863</c:v>
                </c:pt>
                <c:pt idx="15">
                  <c:v>6.4944</c:v>
                </c:pt>
                <c:pt idx="16">
                  <c:v>5.8918</c:v>
                </c:pt>
                <c:pt idx="17">
                  <c:v>5.5013</c:v>
                </c:pt>
                <c:pt idx="18">
                  <c:v>5.3462</c:v>
                </c:pt>
                <c:pt idx="19">
                  <c:v>5.3787</c:v>
                </c:pt>
                <c:pt idx="20">
                  <c:v>5.5962</c:v>
                </c:pt>
                <c:pt idx="21">
                  <c:v>6.0241</c:v>
                </c:pt>
                <c:pt idx="22">
                  <c:v>6.6395</c:v>
                </c:pt>
                <c:pt idx="23">
                  <c:v>7.5089</c:v>
                </c:pt>
                <c:pt idx="24">
                  <c:v>8.5755</c:v>
                </c:pt>
                <c:pt idx="25">
                  <c:v>9.7266</c:v>
                </c:pt>
                <c:pt idx="26">
                  <c:v>10.7793</c:v>
                </c:pt>
                <c:pt idx="27">
                  <c:v>11.3476</c:v>
                </c:pt>
                <c:pt idx="28">
                  <c:v>11.4574</c:v>
                </c:pt>
                <c:pt idx="29">
                  <c:v>10.8808</c:v>
                </c:pt>
                <c:pt idx="30">
                  <c:v>9.9165</c:v>
                </c:pt>
                <c:pt idx="31">
                  <c:v>8.7939</c:v>
                </c:pt>
                <c:pt idx="32">
                  <c:v>7.8774</c:v>
                </c:pt>
                <c:pt idx="33">
                  <c:v>7.1728</c:v>
                </c:pt>
                <c:pt idx="34">
                  <c:v>6.6613</c:v>
                </c:pt>
                <c:pt idx="35">
                  <c:v>6.3145</c:v>
                </c:pt>
                <c:pt idx="36">
                  <c:v>6.127</c:v>
                </c:pt>
                <c:pt idx="37">
                  <c:v>6.177</c:v>
                </c:pt>
                <c:pt idx="38">
                  <c:v>6.2652</c:v>
                </c:pt>
                <c:pt idx="39">
                  <c:v>6.6879</c:v>
                </c:pt>
                <c:pt idx="40">
                  <c:v>7.1669</c:v>
                </c:pt>
                <c:pt idx="41">
                  <c:v>7.7914</c:v>
                </c:pt>
                <c:pt idx="42">
                  <c:v>8.628</c:v>
                </c:pt>
                <c:pt idx="43">
                  <c:v>9.2819</c:v>
                </c:pt>
                <c:pt idx="44">
                  <c:v>9.9047</c:v>
                </c:pt>
                <c:pt idx="45">
                  <c:v>10.268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Sheet1!$B$49</c:f>
              <c:strCache>
                <c:ptCount val="1"/>
                <c:pt idx="0">
                  <c:v>38 nm (cutoff)</c:v>
                </c:pt>
              </c:strCache>
            </c:strRef>
          </c:tx>
          <c:spPr>
            <a:ln w="22225">
              <a:solidFill>
                <a:srgbClr val="C0262D"/>
              </a:solidFill>
            </a:ln>
          </c:spPr>
          <c:marker>
            <c:symbol val="circle"/>
            <c:size val="4"/>
            <c:spPr>
              <a:solidFill>
                <a:srgbClr val="C0262D"/>
              </a:solidFill>
              <a:ln>
                <a:solidFill>
                  <a:srgbClr val="C0262D"/>
                </a:solidFill>
              </a:ln>
            </c:spPr>
          </c:marker>
          <c:xVal>
            <c:numRef>
              <c:f>Sheet1!$A$50:$A$95</c:f>
              <c:numCache>
                <c:formatCode>General</c:formatCode>
                <c:ptCount val="46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</c:numCache>
            </c:numRef>
          </c:xVal>
          <c:yVal>
            <c:numRef>
              <c:f>Sheet1!$B$50:$B$95</c:f>
              <c:numCache>
                <c:formatCode>General</c:formatCode>
                <c:ptCount val="46"/>
                <c:pt idx="0">
                  <c:v>2.6606</c:v>
                </c:pt>
                <c:pt idx="1">
                  <c:v>2.6438</c:v>
                </c:pt>
                <c:pt idx="2">
                  <c:v>2.6258</c:v>
                </c:pt>
                <c:pt idx="3">
                  <c:v>2.6153</c:v>
                </c:pt>
                <c:pt idx="4">
                  <c:v>2.6109</c:v>
                </c:pt>
                <c:pt idx="5">
                  <c:v>2.5895</c:v>
                </c:pt>
                <c:pt idx="6">
                  <c:v>2.5855</c:v>
                </c:pt>
                <c:pt idx="7">
                  <c:v>2.587</c:v>
                </c:pt>
                <c:pt idx="8">
                  <c:v>2.5835</c:v>
                </c:pt>
                <c:pt idx="9">
                  <c:v>2.5769</c:v>
                </c:pt>
                <c:pt idx="10">
                  <c:v>2.5826</c:v>
                </c:pt>
                <c:pt idx="11">
                  <c:v>2.5836</c:v>
                </c:pt>
                <c:pt idx="12">
                  <c:v>2.5901</c:v>
                </c:pt>
                <c:pt idx="13">
                  <c:v>2.5993</c:v>
                </c:pt>
                <c:pt idx="14">
                  <c:v>2.597</c:v>
                </c:pt>
                <c:pt idx="15">
                  <c:v>2.609</c:v>
                </c:pt>
                <c:pt idx="16">
                  <c:v>2.6132</c:v>
                </c:pt>
                <c:pt idx="17">
                  <c:v>2.6249</c:v>
                </c:pt>
                <c:pt idx="18">
                  <c:v>2.6361</c:v>
                </c:pt>
                <c:pt idx="19">
                  <c:v>2.6413</c:v>
                </c:pt>
                <c:pt idx="20">
                  <c:v>2.6434</c:v>
                </c:pt>
                <c:pt idx="21">
                  <c:v>2.6439</c:v>
                </c:pt>
                <c:pt idx="22">
                  <c:v>2.6519</c:v>
                </c:pt>
                <c:pt idx="23">
                  <c:v>2.6621</c:v>
                </c:pt>
                <c:pt idx="24">
                  <c:v>2.674</c:v>
                </c:pt>
                <c:pt idx="25">
                  <c:v>2.684</c:v>
                </c:pt>
                <c:pt idx="26">
                  <c:v>2.6742</c:v>
                </c:pt>
                <c:pt idx="27">
                  <c:v>2.6866</c:v>
                </c:pt>
                <c:pt idx="28">
                  <c:v>2.696</c:v>
                </c:pt>
                <c:pt idx="29">
                  <c:v>2.6984</c:v>
                </c:pt>
                <c:pt idx="30">
                  <c:v>2.7074</c:v>
                </c:pt>
                <c:pt idx="31">
                  <c:v>2.7009</c:v>
                </c:pt>
                <c:pt idx="32">
                  <c:v>2.7086</c:v>
                </c:pt>
                <c:pt idx="33">
                  <c:v>2.7176</c:v>
                </c:pt>
                <c:pt idx="34">
                  <c:v>2.7063</c:v>
                </c:pt>
                <c:pt idx="35">
                  <c:v>2.7046</c:v>
                </c:pt>
                <c:pt idx="36">
                  <c:v>2.718</c:v>
                </c:pt>
                <c:pt idx="37">
                  <c:v>2.709</c:v>
                </c:pt>
                <c:pt idx="38">
                  <c:v>2.6947</c:v>
                </c:pt>
                <c:pt idx="39">
                  <c:v>2.7168</c:v>
                </c:pt>
                <c:pt idx="40">
                  <c:v>2.717</c:v>
                </c:pt>
                <c:pt idx="41">
                  <c:v>2.6945</c:v>
                </c:pt>
                <c:pt idx="42">
                  <c:v>2.7119</c:v>
                </c:pt>
                <c:pt idx="43">
                  <c:v>2.7112</c:v>
                </c:pt>
                <c:pt idx="44">
                  <c:v>2.7129</c:v>
                </c:pt>
                <c:pt idx="45">
                  <c:v>2.7098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Sheet1!$B$97</c:f>
              <c:strCache>
                <c:ptCount val="1"/>
                <c:pt idx="0">
                  <c:v>50 nm</c:v>
                </c:pt>
              </c:strCache>
            </c:strRef>
          </c:tx>
          <c:spPr>
            <a:ln w="22225">
              <a:solidFill>
                <a:srgbClr val="1BAF7A"/>
              </a:solidFill>
            </a:ln>
          </c:spPr>
          <c:marker>
            <c:symbol val="circle"/>
            <c:size val="4"/>
            <c:spPr>
              <a:solidFill>
                <a:srgbClr val="1BAF7A"/>
              </a:solidFill>
              <a:ln>
                <a:solidFill>
                  <a:srgbClr val="1BAF7A"/>
                </a:solidFill>
              </a:ln>
            </c:spPr>
          </c:marker>
          <c:xVal>
            <c:numRef>
              <c:f>Sheet1!$A$98:$A$143</c:f>
              <c:numCache>
                <c:formatCode>General</c:formatCode>
                <c:ptCount val="46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</c:numCache>
            </c:numRef>
          </c:xVal>
          <c:yVal>
            <c:numRef>
              <c:f>Sheet1!$B$98:$B$143</c:f>
              <c:numCache>
                <c:formatCode>General</c:formatCode>
                <c:ptCount val="46"/>
                <c:pt idx="0">
                  <c:v>0.3257</c:v>
                </c:pt>
                <c:pt idx="1">
                  <c:v>0.3259</c:v>
                </c:pt>
                <c:pt idx="2">
                  <c:v>0.3259</c:v>
                </c:pt>
                <c:pt idx="3">
                  <c:v>0.3259</c:v>
                </c:pt>
                <c:pt idx="4">
                  <c:v>0.3259</c:v>
                </c:pt>
                <c:pt idx="5">
                  <c:v>0.3258</c:v>
                </c:pt>
                <c:pt idx="6">
                  <c:v>0.3259</c:v>
                </c:pt>
                <c:pt idx="7">
                  <c:v>0.3259</c:v>
                </c:pt>
                <c:pt idx="8">
                  <c:v>0.3259</c:v>
                </c:pt>
                <c:pt idx="9">
                  <c:v>0.3259</c:v>
                </c:pt>
                <c:pt idx="10">
                  <c:v>0.3258</c:v>
                </c:pt>
                <c:pt idx="11">
                  <c:v>0.3258</c:v>
                </c:pt>
                <c:pt idx="12">
                  <c:v>0.3259</c:v>
                </c:pt>
                <c:pt idx="13">
                  <c:v>0.3259</c:v>
                </c:pt>
                <c:pt idx="14">
                  <c:v>0.3259</c:v>
                </c:pt>
                <c:pt idx="15">
                  <c:v>0.3259</c:v>
                </c:pt>
                <c:pt idx="16">
                  <c:v>0.3258</c:v>
                </c:pt>
                <c:pt idx="17">
                  <c:v>0.3258</c:v>
                </c:pt>
                <c:pt idx="18">
                  <c:v>0.3259</c:v>
                </c:pt>
                <c:pt idx="19">
                  <c:v>0.3259</c:v>
                </c:pt>
                <c:pt idx="20">
                  <c:v>0.3259</c:v>
                </c:pt>
                <c:pt idx="21">
                  <c:v>0.3259</c:v>
                </c:pt>
                <c:pt idx="22">
                  <c:v>0.3257</c:v>
                </c:pt>
                <c:pt idx="23">
                  <c:v>0.3257</c:v>
                </c:pt>
                <c:pt idx="24">
                  <c:v>0.3259</c:v>
                </c:pt>
                <c:pt idx="25">
                  <c:v>0.3259</c:v>
                </c:pt>
                <c:pt idx="26">
                  <c:v>0.3259</c:v>
                </c:pt>
                <c:pt idx="27">
                  <c:v>0.3259</c:v>
                </c:pt>
                <c:pt idx="28">
                  <c:v>0.3258</c:v>
                </c:pt>
                <c:pt idx="29">
                  <c:v>0.3258</c:v>
                </c:pt>
                <c:pt idx="30">
                  <c:v>0.326</c:v>
                </c:pt>
                <c:pt idx="31">
                  <c:v>0.3259</c:v>
                </c:pt>
                <c:pt idx="32">
                  <c:v>0.3259</c:v>
                </c:pt>
                <c:pt idx="33">
                  <c:v>0.3259</c:v>
                </c:pt>
                <c:pt idx="34">
                  <c:v>0.3258</c:v>
                </c:pt>
                <c:pt idx="35">
                  <c:v>0.3257</c:v>
                </c:pt>
                <c:pt idx="36">
                  <c:v>0.326</c:v>
                </c:pt>
                <c:pt idx="37">
                  <c:v>0.3259</c:v>
                </c:pt>
                <c:pt idx="38">
                  <c:v>0.3259</c:v>
                </c:pt>
                <c:pt idx="39">
                  <c:v>0.326</c:v>
                </c:pt>
                <c:pt idx="40">
                  <c:v>0.3259</c:v>
                </c:pt>
                <c:pt idx="41">
                  <c:v>0.3257</c:v>
                </c:pt>
                <c:pt idx="42">
                  <c:v>0.3259</c:v>
                </c:pt>
                <c:pt idx="43">
                  <c:v>0.326</c:v>
                </c:pt>
                <c:pt idx="44">
                  <c:v>0.326</c:v>
                </c:pt>
                <c:pt idx="45">
                  <c:v>0.3259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Sheet1!$B$145</c:f>
              <c:strCache>
                <c:ptCount val="1"/>
                <c:pt idx="0">
                  <c:v>200 nm (design)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4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Sheet1!$A$146:$A$191</c:f>
              <c:numCache>
                <c:formatCode>General</c:formatCode>
                <c:ptCount val="46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</c:numCache>
            </c:numRef>
          </c:xVal>
          <c:yVal>
            <c:numRef>
              <c:f>Sheet1!$B$146:$B$191</c:f>
              <c:numCache>
                <c:formatCode>General</c:formatCode>
                <c:ptCount val="46"/>
                <c:pt idx="0">
                  <c:v>0.0481</c:v>
                </c:pt>
                <c:pt idx="1">
                  <c:v>0.0481</c:v>
                </c:pt>
                <c:pt idx="2">
                  <c:v>0.0481</c:v>
                </c:pt>
                <c:pt idx="3">
                  <c:v>0.0481</c:v>
                </c:pt>
                <c:pt idx="4">
                  <c:v>0.0481</c:v>
                </c:pt>
                <c:pt idx="5">
                  <c:v>0.0481</c:v>
                </c:pt>
                <c:pt idx="6">
                  <c:v>0.0481</c:v>
                </c:pt>
                <c:pt idx="7">
                  <c:v>0.0481</c:v>
                </c:pt>
                <c:pt idx="8">
                  <c:v>0.0481</c:v>
                </c:pt>
                <c:pt idx="9">
                  <c:v>0.0481</c:v>
                </c:pt>
                <c:pt idx="10">
                  <c:v>0.0481</c:v>
                </c:pt>
                <c:pt idx="11">
                  <c:v>0.0481</c:v>
                </c:pt>
                <c:pt idx="12">
                  <c:v>0.0481</c:v>
                </c:pt>
                <c:pt idx="13">
                  <c:v>0.0481</c:v>
                </c:pt>
                <c:pt idx="14">
                  <c:v>0.048</c:v>
                </c:pt>
                <c:pt idx="15">
                  <c:v>0.0481</c:v>
                </c:pt>
                <c:pt idx="16">
                  <c:v>0.0481</c:v>
                </c:pt>
                <c:pt idx="17">
                  <c:v>0.0481</c:v>
                </c:pt>
                <c:pt idx="18">
                  <c:v>0.0481</c:v>
                </c:pt>
                <c:pt idx="19">
                  <c:v>0.0481</c:v>
                </c:pt>
                <c:pt idx="20">
                  <c:v>0.0481</c:v>
                </c:pt>
                <c:pt idx="21">
                  <c:v>0.0481</c:v>
                </c:pt>
                <c:pt idx="22">
                  <c:v>0.0481</c:v>
                </c:pt>
                <c:pt idx="23">
                  <c:v>0.0481</c:v>
                </c:pt>
                <c:pt idx="24">
                  <c:v>0.0481</c:v>
                </c:pt>
                <c:pt idx="25">
                  <c:v>0.0481</c:v>
                </c:pt>
                <c:pt idx="26">
                  <c:v>0.0481</c:v>
                </c:pt>
                <c:pt idx="27">
                  <c:v>0.0481</c:v>
                </c:pt>
                <c:pt idx="28">
                  <c:v>0.0481</c:v>
                </c:pt>
                <c:pt idx="29">
                  <c:v>0.048</c:v>
                </c:pt>
                <c:pt idx="30">
                  <c:v>0.0481</c:v>
                </c:pt>
                <c:pt idx="31">
                  <c:v>0.0481</c:v>
                </c:pt>
                <c:pt idx="32">
                  <c:v>0.0481</c:v>
                </c:pt>
                <c:pt idx="33">
                  <c:v>0.0481</c:v>
                </c:pt>
                <c:pt idx="34">
                  <c:v>0.0481</c:v>
                </c:pt>
                <c:pt idx="35">
                  <c:v>0.0481</c:v>
                </c:pt>
                <c:pt idx="36">
                  <c:v>0.0481</c:v>
                </c:pt>
                <c:pt idx="37">
                  <c:v>0.0481</c:v>
                </c:pt>
                <c:pt idx="38">
                  <c:v>0.0481</c:v>
                </c:pt>
                <c:pt idx="39">
                  <c:v>0.0481</c:v>
                </c:pt>
                <c:pt idx="40">
                  <c:v>0.0481</c:v>
                </c:pt>
                <c:pt idx="41">
                  <c:v>0.0481</c:v>
                </c:pt>
                <c:pt idx="42">
                  <c:v>0.0481</c:v>
                </c:pt>
                <c:pt idx="43">
                  <c:v>0.0481</c:v>
                </c:pt>
                <c:pt idx="44">
                  <c:v>0.0481</c:v>
                </c:pt>
                <c:pt idx="45">
                  <c:v>0.0481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1.0"/>
          <c:min val="6.5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x_lift [µm]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0.5"/>
      </c:valAx>
      <c:valAx>
        <c:axId val="-2129643912"/>
        <c:scaling>
          <c:logBase val="10"/>
          <c:orientation val="minMax"/>
          <c:max val="100.0"/>
          <c:min val="0.01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[dB/cm], log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4B894-4718-4C4D-B942-55BEF7CC3F9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BACFE-D1E4-4E9E-9D2A-07301B51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top right: 1D effective index of the wave guided under the gold vs buffer thickness (mean of the two in-plane LN permittivities; cutoff 37-39 nm). Bottom: IL vs x_lift at gap 3.2 um, 0.1 um steps, for four buffer thicknesses. 25 nm: wave still propagating (n 1.93 &gt; 1.88), standing wave with period 1.8 um, IL 4-17 dB/cm. 38 nm: at cutoff, the lateral wavelength diverges (period 6-11 um from 1D) and the gold absorbs the wave before it returns (round trip 0.5-6 %), so no visible ripple. 50 nm and 200 nm: cut off, evanescent (12 and 29 dB/um), flat IL (0.326 and 0.048 dB/cm).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2A20-D9C5-BEC1-A331-516D50C93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55FB-8776-2600-FB0D-D37C26A9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4982-190C-6C07-7215-C2698E3A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267E-3FDA-B66E-4AD8-C6CE92D5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F8C8B-ACEA-A9A3-B4F0-BCD03B8F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482B-292E-DBE7-F2D3-E10B4F58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1C4E-1EAF-9AB5-5CC4-FC701A97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5CCB-9B55-2936-B303-10802E38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C055-00ED-86ED-9C00-23DE18E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0205-9236-F40A-0142-178DCCE8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F1D0-DAB1-67E8-1B2F-73E26B78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1E0F4-EFC3-E680-F6BE-0E77EFE3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891C-D277-DFAA-497C-2B8823A5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FF4E-20C2-F541-1DAB-613C759B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AB07-57B8-0995-EE56-BB900832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6F8-85E3-4B22-2629-A5CD88B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7E19-2A08-183A-315B-2C68CBD4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4FEB9-11F8-683F-4BCD-D299C05A4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671DF-0476-B756-5E54-A09AD8F8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C4BB-5CDA-73D0-C1DA-C42A6DE9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1ABC2-6DE1-3D69-6A5D-C3CA3F61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1152-8B57-3EF5-D4C6-0E68766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3013-0656-B7EA-B887-6A7B2A85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63B16-884B-1811-7BAE-21CA8A6B7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55C07-A3DB-F6DA-0F4A-E9B970AC6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7223D-1F4E-936C-E584-1AAB09D0A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43326-229D-65B9-2C15-C2124F2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5B61B-ED00-86A7-6ACD-C43B67AC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9906-6F6F-6917-EF5E-B774E691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6A1B-B2AF-E050-ECF5-ACC5B7AF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89E8-F0D6-0E88-9769-D89E6292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829C5-1B60-2268-F333-5B76066F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F9A2B-0D7A-2052-FFC8-8CBE90A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24D48-6995-0099-CD08-7A3FDDC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EC935-6C37-2907-F27F-AE46F37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E360F-90C3-AD14-2358-FDAA383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57D0-E028-0FEC-8108-C43C0003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2123-834D-B3B6-8655-4F727434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483FF-5EC4-3A43-0CAD-1E9C63C2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F5EC1-48F3-74F5-A266-43E5E2B1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5FD67-83F7-52BD-E689-83B4411A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C7BE6-67AB-39DB-47FB-E7656313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4AD1-9B1D-6A0E-B035-2A091F8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267C1-026F-6542-5C48-B04F16F3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53625-A727-A9FB-C543-6910AD68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E3EF-FE07-E44D-9BEE-561AE12B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8578-8457-617E-26C8-83CBD42A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16A0-6376-1E8B-ACC0-3E99A468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CB6B-B40F-CD9E-5050-E8332EEE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861BA-32AA-F138-FF9C-253448691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3F75-3492-7080-C63D-3983901F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1E4EE-94A7-4D60-6219-FE9FAEED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FFF6-B663-682E-609B-32623E2A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0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E4FA9-B5B0-671D-FF03-B5210A3B1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3531C-997D-F3F0-03A8-0A36E3B8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AC5E-DA02-76B9-65D8-7F538854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02A9-7AB1-C1FB-9260-FEB9B49C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E534-F0BB-DE3C-8762-F36B2DE8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29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211454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7BB2C-76DC-90AF-74E8-5CA2C51A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E614-5C6F-DC4C-07CD-F948CDE4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5F60-52FA-13B8-32F6-4BFCF5859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BDF0-920C-8B79-6328-4F4CFFA1E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0653-7ED0-A2A9-6425-DC06C7BEE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1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Possible solution: SiO₂ buffer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200 nm SiO₂ under the whole electrode and across the gap; bottom gap 4.2 → 3.2 µm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72768"/>
            <a:ext cx="66751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Lisbon on a SiO₂ buffer</a:t>
            </a:r>
          </a:p>
        </p:txBody>
      </p:sp>
      <p:pic>
        <p:nvPicPr>
          <p:cNvPr id="5" name="Picture 4" descr="geom_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19"/>
            <a:ext cx="6675120" cy="2145574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52360" y="1508760"/>
          <a:ext cx="43891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4069080"/>
          <a:ext cx="685800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794</Words>
  <Application>Microsoft Office PowerPoint</Application>
  <PresentationFormat>Widescreen</PresentationFormat>
  <Paragraphs>37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40</cp:revision>
  <dcterms:created xsi:type="dcterms:W3CDTF">2025-12-01T09:32:09Z</dcterms:created>
  <dcterms:modified xsi:type="dcterms:W3CDTF">2026-10-01T07:24:56Z</dcterms:modified>
</cp:coreProperties>
</file>