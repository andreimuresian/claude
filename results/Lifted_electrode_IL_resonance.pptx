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7"/>
    <p:sldId id="257" r:id="rId8"/>
    <p:sldId id="258" r:id="rId9"/>
    <p:sldId id="259" r:id="rId10"/>
    <p:sldId id="260" r:id="rId11"/>
    <p:sldId id="261" r:id="rId12"/>
    <p:sldId id="262" r:id="rId13"/>
    <p:sldId id="263" r:id="rId14"/>
    <p:sldId id="264" r:id="rId15"/>
    <p:sldId id="265" r:id="rId6"/>
    <p:sldId id="266" r:id="rId5"/>
    <p:sldId id="267" r:id="rId4"/>
    <p:sldId id="268" r:id="rId3"/>
    <p:sldId id="269" r:id="rId2"/>
    <p:sldId id="270" r:id="rId21"/>
    <p:sldId id="27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4.xml"/><Relationship Id="rId3" Type="http://schemas.openxmlformats.org/officeDocument/2006/relationships/slide" Target="slides/slide13.xml"/><Relationship Id="rId4" Type="http://schemas.openxmlformats.org/officeDocument/2006/relationships/slide" Target="slides/slide12.xml"/><Relationship Id="rId5" Type="http://schemas.openxmlformats.org/officeDocument/2006/relationships/slide" Target="slides/slide11.xml"/><Relationship Id="rId6" Type="http://schemas.openxmlformats.org/officeDocument/2006/relationships/slide" Target="slides/slide1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Lifted design (femwell)</c:v>
                </c:pt>
              </c:strCache>
            </c:strRef>
          </c:tx>
          <c:spPr>
            <a:ln w="25400">
              <a:solidFill>
                <a:srgbClr val="2A78D6"/>
              </a:solidFill>
            </a:ln>
          </c:spPr>
          <c:marker>
            <c:symbol val="circle"/>
            <c:size val="5"/>
            <c:spPr>
              <a:solidFill>
                <a:srgbClr val="2A78D6"/>
              </a:solidFill>
              <a:ln>
                <a:solidFill>
                  <a:srgbClr val="2A78D6"/>
                </a:solidFill>
              </a:ln>
            </c:spPr>
          </c:marker>
          <c:xVal>
            <c:numRef>
              <c:f>Sheet1!$A$2:$A$53</c:f>
              <c:numCache>
                <c:formatCode>General</c:formatCode>
                <c:ptCount val="52"/>
                <c:pt idx="0">
                  <c:v>6.5</c:v>
                </c:pt>
                <c:pt idx="1">
                  <c:v>6.6</c:v>
                </c:pt>
                <c:pt idx="2">
                  <c:v>6.7</c:v>
                </c:pt>
                <c:pt idx="3">
                  <c:v>6.8</c:v>
                </c:pt>
                <c:pt idx="4">
                  <c:v>6.9</c:v>
                </c:pt>
                <c:pt idx="5">
                  <c:v>7.0</c:v>
                </c:pt>
                <c:pt idx="6">
                  <c:v>7.1</c:v>
                </c:pt>
                <c:pt idx="7">
                  <c:v>7.2</c:v>
                </c:pt>
                <c:pt idx="8">
                  <c:v>7.3</c:v>
                </c:pt>
                <c:pt idx="9">
                  <c:v>7.4</c:v>
                </c:pt>
                <c:pt idx="10">
                  <c:v>7.5</c:v>
                </c:pt>
                <c:pt idx="11">
                  <c:v>7.6</c:v>
                </c:pt>
                <c:pt idx="12">
                  <c:v>7.7</c:v>
                </c:pt>
                <c:pt idx="13">
                  <c:v>7.8</c:v>
                </c:pt>
                <c:pt idx="14">
                  <c:v>7.9</c:v>
                </c:pt>
                <c:pt idx="15">
                  <c:v>8.0</c:v>
                </c:pt>
                <c:pt idx="16">
                  <c:v>8.1</c:v>
                </c:pt>
                <c:pt idx="17">
                  <c:v>8.2</c:v>
                </c:pt>
                <c:pt idx="18">
                  <c:v>8.3</c:v>
                </c:pt>
                <c:pt idx="19">
                  <c:v>8.4</c:v>
                </c:pt>
                <c:pt idx="20">
                  <c:v>8.5</c:v>
                </c:pt>
                <c:pt idx="21">
                  <c:v>8.6</c:v>
                </c:pt>
                <c:pt idx="22">
                  <c:v>8.7</c:v>
                </c:pt>
                <c:pt idx="23">
                  <c:v>8.8</c:v>
                </c:pt>
                <c:pt idx="24">
                  <c:v>8.9</c:v>
                </c:pt>
                <c:pt idx="25">
                  <c:v>9.0</c:v>
                </c:pt>
                <c:pt idx="26">
                  <c:v>9.1</c:v>
                </c:pt>
                <c:pt idx="27">
                  <c:v>9.2</c:v>
                </c:pt>
                <c:pt idx="28">
                  <c:v>9.3</c:v>
                </c:pt>
                <c:pt idx="29">
                  <c:v>9.4</c:v>
                </c:pt>
                <c:pt idx="30">
                  <c:v>9.5</c:v>
                </c:pt>
                <c:pt idx="31">
                  <c:v>9.6</c:v>
                </c:pt>
                <c:pt idx="32">
                  <c:v>9.7</c:v>
                </c:pt>
                <c:pt idx="33">
                  <c:v>9.8</c:v>
                </c:pt>
                <c:pt idx="34">
                  <c:v>9.9</c:v>
                </c:pt>
                <c:pt idx="35">
                  <c:v>10.0</c:v>
                </c:pt>
                <c:pt idx="36">
                  <c:v>10.1</c:v>
                </c:pt>
                <c:pt idx="37">
                  <c:v>10.2</c:v>
                </c:pt>
                <c:pt idx="38">
                  <c:v>10.3</c:v>
                </c:pt>
                <c:pt idx="39">
                  <c:v>10.4</c:v>
                </c:pt>
                <c:pt idx="40">
                  <c:v>10.5</c:v>
                </c:pt>
                <c:pt idx="41">
                  <c:v>10.6</c:v>
                </c:pt>
                <c:pt idx="42">
                  <c:v>10.7</c:v>
                </c:pt>
                <c:pt idx="43">
                  <c:v>10.8</c:v>
                </c:pt>
                <c:pt idx="44">
                  <c:v>10.9</c:v>
                </c:pt>
                <c:pt idx="45">
                  <c:v>11.0</c:v>
                </c:pt>
                <c:pt idx="46">
                  <c:v>12.1</c:v>
                </c:pt>
                <c:pt idx="47">
                  <c:v>16.1</c:v>
                </c:pt>
                <c:pt idx="48">
                  <c:v>20.1</c:v>
                </c:pt>
                <c:pt idx="49">
                  <c:v>24.1</c:v>
                </c:pt>
                <c:pt idx="50">
                  <c:v>28.1</c:v>
                </c:pt>
                <c:pt idx="51">
                  <c:v>30.1</c:v>
                </c:pt>
              </c:numCache>
            </c:numRef>
          </c:xVal>
          <c:yVal>
            <c:numRef>
              <c:f>Sheet1!$B$2:$B$53</c:f>
              <c:numCache>
                <c:formatCode>General</c:formatCode>
                <c:ptCount val="52"/>
                <c:pt idx="0">
                  <c:v>0.6815</c:v>
                </c:pt>
                <c:pt idx="1">
                  <c:v>0.3521</c:v>
                </c:pt>
                <c:pt idx="2">
                  <c:v>0.2271</c:v>
                </c:pt>
                <c:pt idx="3">
                  <c:v>0.1826</c:v>
                </c:pt>
                <c:pt idx="4">
                  <c:v>0.1807</c:v>
                </c:pt>
                <c:pt idx="5">
                  <c:v>0.2216</c:v>
                </c:pt>
                <c:pt idx="6">
                  <c:v>0.3345</c:v>
                </c:pt>
                <c:pt idx="7">
                  <c:v>0.6016</c:v>
                </c:pt>
                <c:pt idx="8">
                  <c:v>0.8827</c:v>
                </c:pt>
                <c:pt idx="9">
                  <c:v>0.6382</c:v>
                </c:pt>
                <c:pt idx="10">
                  <c:v>0.3731</c:v>
                </c:pt>
                <c:pt idx="11">
                  <c:v>0.2513</c:v>
                </c:pt>
                <c:pt idx="12">
                  <c:v>0.2077</c:v>
                </c:pt>
                <c:pt idx="13">
                  <c:v>0.2073</c:v>
                </c:pt>
                <c:pt idx="14">
                  <c:v>0.2509</c:v>
                </c:pt>
                <c:pt idx="15">
                  <c:v>0.3633</c:v>
                </c:pt>
                <c:pt idx="16">
                  <c:v>0.5965</c:v>
                </c:pt>
                <c:pt idx="17">
                  <c:v>0.7824</c:v>
                </c:pt>
                <c:pt idx="18">
                  <c:v>0.6002</c:v>
                </c:pt>
                <c:pt idx="19">
                  <c:v>0.3825</c:v>
                </c:pt>
                <c:pt idx="20">
                  <c:v>0.2751</c:v>
                </c:pt>
                <c:pt idx="21">
                  <c:v>0.231</c:v>
                </c:pt>
                <c:pt idx="22">
                  <c:v>0.2329</c:v>
                </c:pt>
                <c:pt idx="23">
                  <c:v>0.2782</c:v>
                </c:pt>
                <c:pt idx="24">
                  <c:v>0.391</c:v>
                </c:pt>
                <c:pt idx="25">
                  <c:v>0.585</c:v>
                </c:pt>
                <c:pt idx="26">
                  <c:v>0.7076</c:v>
                </c:pt>
                <c:pt idx="27">
                  <c:v>0.566</c:v>
                </c:pt>
                <c:pt idx="28">
                  <c:v>0.3916</c:v>
                </c:pt>
                <c:pt idx="29">
                  <c:v>0.2914</c:v>
                </c:pt>
                <c:pt idx="30">
                  <c:v>0.2525</c:v>
                </c:pt>
                <c:pt idx="31">
                  <c:v>0.2549</c:v>
                </c:pt>
                <c:pt idx="32">
                  <c:v>0.3051</c:v>
                </c:pt>
                <c:pt idx="33">
                  <c:v>0.4036</c:v>
                </c:pt>
                <c:pt idx="34">
                  <c:v>0.5742</c:v>
                </c:pt>
                <c:pt idx="35">
                  <c:v>0.6495</c:v>
                </c:pt>
                <c:pt idx="36">
                  <c:v>0.5403</c:v>
                </c:pt>
                <c:pt idx="37">
                  <c:v>0.3937</c:v>
                </c:pt>
                <c:pt idx="38">
                  <c:v>0.3071</c:v>
                </c:pt>
                <c:pt idx="39">
                  <c:v>0.2723</c:v>
                </c:pt>
                <c:pt idx="40">
                  <c:v>0.276</c:v>
                </c:pt>
                <c:pt idx="41">
                  <c:v>0.3228</c:v>
                </c:pt>
                <c:pt idx="42">
                  <c:v>0.4169</c:v>
                </c:pt>
                <c:pt idx="43">
                  <c:v>0.5605</c:v>
                </c:pt>
                <c:pt idx="44">
                  <c:v>0.6071</c:v>
                </c:pt>
                <c:pt idx="45">
                  <c:v>0.5169</c:v>
                </c:pt>
                <c:pt idx="46">
                  <c:v>0.3284</c:v>
                </c:pt>
                <c:pt idx="47">
                  <c:v>0.4453</c:v>
                </c:pt>
                <c:pt idx="48">
                  <c:v>0.3972</c:v>
                </c:pt>
                <c:pt idx="49">
                  <c:v>0.418</c:v>
                </c:pt>
                <c:pt idx="50">
                  <c:v>0.4157</c:v>
                </c:pt>
                <c:pt idx="51">
                  <c:v>0.4086</c:v>
                </c:pt>
              </c:numCache>
            </c:numRef>
          </c:yVal>
          <c:smooth val="0"/>
        </c:ser>
        <c:ser>
          <c:idx val="1"/>
          <c:order val="1"/>
          <c:tx>
            <c:strRef>
              <c:f>Sheet1!$B$55</c:f>
              <c:strCache>
                <c:ptCount val="1"/>
                <c:pt idx="0">
                  <c:v>Legacy, no lift (0.420 dB/cm)</c:v>
                </c:pt>
              </c:strCache>
            </c:strRef>
          </c:tx>
          <c:spPr>
            <a:ln w="19050">
              <a:solidFill>
                <a:srgbClr val="1BAF7A"/>
              </a:solidFill>
              <a:prstDash val="dash"/>
            </a:ln>
          </c:spPr>
          <c:marker>
            <c:symbol val="none"/>
          </c:marker>
          <c:xVal>
            <c:numRef>
              <c:f>Sheet1!$A$56:$A$57</c:f>
              <c:numCache>
                <c:formatCode>General</c:formatCode>
                <c:ptCount val="2"/>
                <c:pt idx="0">
                  <c:v>6.5</c:v>
                </c:pt>
                <c:pt idx="1">
                  <c:v>31.0</c:v>
                </c:pt>
              </c:numCache>
            </c:numRef>
          </c:xVal>
          <c:yVal>
            <c:numRef>
              <c:f>Sheet1!$B$56:$B$57</c:f>
              <c:numCache>
                <c:formatCode>General</c:formatCode>
                <c:ptCount val="2"/>
                <c:pt idx="0">
                  <c:v>0.4202</c:v>
                </c:pt>
                <c:pt idx="1">
                  <c:v>0.4202</c:v>
                </c:pt>
              </c:numCache>
            </c:numRef>
          </c:yVal>
          <c:smooth val="0"/>
        </c:ser>
        <c:axId val="-2128940872"/>
        <c:axId val="-2129643912"/>
      </c:scatterChart>
      <c:valAx>
        <c:axId val="-2128940872"/>
        <c:scaling>
          <c:orientation val="minMax"/>
          <c:max val="31.0"/>
          <c:min val="6.0"/>
        </c:scaling>
        <c:delete val="0"/>
        <c:axPos val="b"/>
        <c:title>
          <c:tx>
            <c:rich>
              <a:bodyPr/>
              <a:lstStyle/>
              <a:p>
                <a:r>
                  <a:rPr sz="1200" b="0">
                    <a:latin typeface="Arial"/>
                  </a:rPr>
                  <a:t>x_lift [µm]</a:t>
                </a:r>
              </a:p>
            </c:rich>
          </c:tx>
          <c:layout/>
          <c:overlay val="0"/>
        </c:title>
        <c:numFmt formatCode="General" sourceLinked="1"/>
        <c:majorTickMark val="out"/>
        <c:minorTickMark val="none"/>
        <c:tickLblPos val="nextTo"/>
        <c:txPr>
          <a:bodyPr/>
          <a:lstStyle/>
          <a:p>
            <a:pPr>
              <a:defRPr sz="1000">
                <a:latin typeface="Arial"/>
              </a:defRPr>
            </a:pPr>
          </a:p>
        </c:txPr>
        <c:crossAx val="-2129643912"/>
        <c:crosses val="autoZero"/>
        <c:crossBetween val="midCat"/>
        <c:majorUnit val="1.0"/>
      </c:valAx>
      <c:valAx>
        <c:axId val="-2129643912"/>
        <c:scaling>
          <c:orientation val="minMax"/>
          <c:max val="1.0"/>
          <c:min val="0.0"/>
        </c:scaling>
        <c:delete val="0"/>
        <c:axPos val="l"/>
        <c:majorGridlines>
          <c:spPr>
            <a:ln>
              <a:solidFill>
                <a:srgbClr val="E3E3E3"/>
              </a:solidFill>
            </a:ln>
          </c:spPr>
        </c:majorGridlines>
        <c:title>
          <c:tx>
            <c:rich>
              <a:bodyPr/>
              <a:lstStyle/>
              <a:p>
                <a:r>
                  <a:rPr sz="1200" b="0">
                    <a:latin typeface="Arial"/>
                  </a:rPr>
                  <a:t>IL [dB/cm]</a:t>
                </a:r>
              </a:p>
            </c:rich>
          </c:tx>
          <c:layout/>
          <c:overlay val="0"/>
        </c:title>
        <c:numFmt formatCode="General" sourceLinked="1"/>
        <c:majorTickMark val="out"/>
        <c:minorTickMark val="none"/>
        <c:tickLblPos val="nextTo"/>
        <c:txPr>
          <a:bodyPr/>
          <a:lstStyle/>
          <a:p>
            <a:pPr>
              <a:defRPr sz="1000">
                <a:latin typeface="Arial"/>
              </a:defRPr>
            </a:pPr>
          </a:p>
        </c:txPr>
        <c:crossAx val="-2128940872"/>
        <c:crosses val="autoZero"/>
        <c:crossBetween val="midCat"/>
        <c:majorUnit val="0.1"/>
      </c:valAx>
    </c:plotArea>
    <c:legend>
      <c:legendPos val="t"/>
      <c:layout/>
      <c:overlay val="0"/>
      <c:txPr>
        <a:bodyPr/>
        <a:lstStyle/>
        <a:p>
          <a:pPr>
            <a:defRPr sz="110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34B894-4718-4C4D-B942-55BEF7CC3F90}"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6BACFE-D1E4-4E9E-9D2A-07301B51FADE}" type="slidenum">
              <a:rPr lang="en-US" smtClean="0"/>
              <a:t>‹#›</a:t>
            </a:fld>
            <a:endParaRPr lang="en-US"/>
          </a:p>
        </p:txBody>
      </p:sp>
    </p:spTree>
    <p:extLst>
      <p:ext uri="{BB962C8B-B14F-4D97-AF65-F5344CB8AC3E}">
        <p14:creationId xmlns:p14="http://schemas.microsoft.com/office/powerpoint/2010/main" val="2653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deck of the femwell simulations of the lifted-electrode geometry: set-up, mesh convergence, comparison with the legacy flat-electrode design, the discovery that IL oscillates with the lift position, the physical mechanism behind it, and design implications.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from femwell N1xP1 vector FEM, 8-10 modes around n=1.8755, mesh converged to about +/-3 % on IL and 0.1 % on Vpi*L.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Geometry built with shapely, meshed with gmsh through femwell mesh_from_OrderedDict. All regions tile the domain exactly (assertions on validity, overlap, tiling, resolution/polygon parity).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uses exp(+j w t) convention, Im(eps_Au) &lt; 0 is the physical loss. Quadrature for the P0 permittivity basis set to intorder=4 so the N1xP1 forms are fully integrated.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Median element sizes measured per region from the actual gmsh output, femwell as-is vs patched.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residual skin sensitivity is consistent with the resonance: the skin mesh sets the surface-wave phase, i.e. slides the resonance slightly.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gold/LN surface wave has an index (about 2.26 on bulk LN, about 2.08 on the 275 nm slab) above the rib index 1.883, so the rib mode can leak into it laterally.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results/lift_sweep.csv on branch VPI-CODE. Points 12.1-30.1 are sparse and do not resolve the oscillation; they show the convergence of the mean value.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Ripples in |E|^2 come from the superposition of the outgoing surface wave and the wave reflected at the lift step. Their spacing is pi/k_x.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Strip modes are listed from the 10-mode search at each x_lift; the two quasi-degenerate entries are the signal and ground electrode strips.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ripple amplitude is not fixed: it is set by the resonant build-up. What the lift changes is the round-trip phase (strip length), not the ripple period.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case is the reference notebook geometry (flat 2 um electrodes, EL_W = 30 um) at gap 4.2 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Bins: 0.1 um for the lifted cases, 0.4 um for the legacy case (coarser gold mesh far from the gap).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Half-period pairs isolate the interference term: lifted 29.65/30.1 um differ by 2.3 % (peak-to-peak), legacy 35/35.45 um by 0.26 %. The 30.1 um vs legacy gap (0.409 vs 0.420) is mostly this residual interference; the rest is within the +/-3 % IL uncertainty (different mesh set-up, column/buffer at the end of the lifted electrode).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Period average: mean of the nine points 6.8-7.6 um = 0.407 dB/cm.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simulations are 2D cross-sections; the lift is assumed perfectly straight and uniform along the propagation direction.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2A20-D9C5-BEC1-A331-516D50C93A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B255FB-8776-2600-FB0D-D37C26A924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FB4982-190C-6C07-7215-C2698E3AA75F}"/>
              </a:ext>
            </a:extLst>
          </p:cNvPr>
          <p:cNvSpPr>
            <a:spLocks noGrp="1"/>
          </p:cNvSpPr>
          <p:nvPr>
            <p:ph type="dt" sz="half" idx="10"/>
          </p:nvPr>
        </p:nvSpPr>
        <p:spPr/>
        <p:txBody>
          <a:bodyPr/>
          <a:lstStyle/>
          <a:p>
            <a:fld id="{AE7E38A5-0897-4509-B474-CA7BACA3876E}" type="datetimeFigureOut">
              <a:rPr lang="en-US" smtClean="0"/>
              <a:t>8/19/2026</a:t>
            </a:fld>
            <a:endParaRPr lang="en-US"/>
          </a:p>
        </p:txBody>
      </p:sp>
      <p:sp>
        <p:nvSpPr>
          <p:cNvPr id="5" name="Footer Placeholder 4">
            <a:extLst>
              <a:ext uri="{FF2B5EF4-FFF2-40B4-BE49-F238E27FC236}">
                <a16:creationId xmlns:a16="http://schemas.microsoft.com/office/drawing/2014/main" id="{2987267E-3FDA-B66E-4AD8-C6CE92D5E9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1F8C8B-ACEA-A9A3-B4F0-BCD03B8FF702}"/>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3177144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8482B-292E-DBE7-F2D3-E10B4F58EF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E01C4E-1EAF-9AB5-5CC4-FC701A9785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E75CCB-9B55-2936-B303-10802E385EAB}"/>
              </a:ext>
            </a:extLst>
          </p:cNvPr>
          <p:cNvSpPr>
            <a:spLocks noGrp="1"/>
          </p:cNvSpPr>
          <p:nvPr>
            <p:ph type="dt" sz="half" idx="10"/>
          </p:nvPr>
        </p:nvSpPr>
        <p:spPr/>
        <p:txBody>
          <a:bodyPr/>
          <a:lstStyle/>
          <a:p>
            <a:fld id="{AE7E38A5-0897-4509-B474-CA7BACA3876E}" type="datetimeFigureOut">
              <a:rPr lang="en-US" smtClean="0"/>
              <a:t>8/19/2026</a:t>
            </a:fld>
            <a:endParaRPr lang="en-US"/>
          </a:p>
        </p:txBody>
      </p:sp>
      <p:sp>
        <p:nvSpPr>
          <p:cNvPr id="5" name="Footer Placeholder 4">
            <a:extLst>
              <a:ext uri="{FF2B5EF4-FFF2-40B4-BE49-F238E27FC236}">
                <a16:creationId xmlns:a16="http://schemas.microsoft.com/office/drawing/2014/main" id="{90AFC055-00ED-86ED-9C00-23DE18ECAB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8B0205-9236-F40A-0142-178DCCE8C33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535083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4F1D0-DAB1-67E8-1B2F-73E26B789E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51E0F4-EFC3-E680-F6BE-0E77EFE3E5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3D891C-D277-DFAA-497C-2B8823A52BCA}"/>
              </a:ext>
            </a:extLst>
          </p:cNvPr>
          <p:cNvSpPr>
            <a:spLocks noGrp="1"/>
          </p:cNvSpPr>
          <p:nvPr>
            <p:ph type="dt" sz="half" idx="10"/>
          </p:nvPr>
        </p:nvSpPr>
        <p:spPr/>
        <p:txBody>
          <a:bodyPr/>
          <a:lstStyle/>
          <a:p>
            <a:fld id="{AE7E38A5-0897-4509-B474-CA7BACA3876E}" type="datetimeFigureOut">
              <a:rPr lang="en-US" smtClean="0"/>
              <a:t>8/19/2026</a:t>
            </a:fld>
            <a:endParaRPr lang="en-US"/>
          </a:p>
        </p:txBody>
      </p:sp>
      <p:sp>
        <p:nvSpPr>
          <p:cNvPr id="5" name="Footer Placeholder 4">
            <a:extLst>
              <a:ext uri="{FF2B5EF4-FFF2-40B4-BE49-F238E27FC236}">
                <a16:creationId xmlns:a16="http://schemas.microsoft.com/office/drawing/2014/main" id="{6F63FF4E-20C2-F541-1DAB-613C759BAF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CAB07-57B8-0995-EE56-BB900832FFB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2088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9A6F8-85E3-4B22-2629-A5CD88BCA0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467E19-2A08-183A-315B-2C68CBD483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04FEB9-11F8-683F-4BCD-D299C05A43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7671DF-0476-B756-5E54-A09AD8F8BAE7}"/>
              </a:ext>
            </a:extLst>
          </p:cNvPr>
          <p:cNvSpPr>
            <a:spLocks noGrp="1"/>
          </p:cNvSpPr>
          <p:nvPr>
            <p:ph type="dt" sz="half" idx="10"/>
          </p:nvPr>
        </p:nvSpPr>
        <p:spPr/>
        <p:txBody>
          <a:bodyPr/>
          <a:lstStyle/>
          <a:p>
            <a:fld id="{AE7E38A5-0897-4509-B474-CA7BACA3876E}" type="datetimeFigureOut">
              <a:rPr lang="en-US" smtClean="0"/>
              <a:t>8/19/2026</a:t>
            </a:fld>
            <a:endParaRPr lang="en-US"/>
          </a:p>
        </p:txBody>
      </p:sp>
      <p:sp>
        <p:nvSpPr>
          <p:cNvPr id="6" name="Footer Placeholder 5">
            <a:extLst>
              <a:ext uri="{FF2B5EF4-FFF2-40B4-BE49-F238E27FC236}">
                <a16:creationId xmlns:a16="http://schemas.microsoft.com/office/drawing/2014/main" id="{4AC4C4BB-5CDA-73D0-C1DA-C42A6DE9F4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A1ABC2-6DE1-3D69-6A5D-C3CA3F61EB88}"/>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1466857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F1152-8B57-3EF5-D4C6-0E68766625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EA3013-0656-B7EA-B887-6A7B2A8570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D63B16-884B-1811-7BAE-21CA8A6B70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255C07-A3DB-F6DA-0F4A-E9B970AC63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87223D-1F4E-936C-E584-1AAB09D0A3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643326-229D-65B9-2C15-C2124F231C78}"/>
              </a:ext>
            </a:extLst>
          </p:cNvPr>
          <p:cNvSpPr>
            <a:spLocks noGrp="1"/>
          </p:cNvSpPr>
          <p:nvPr>
            <p:ph type="dt" sz="half" idx="10"/>
          </p:nvPr>
        </p:nvSpPr>
        <p:spPr/>
        <p:txBody>
          <a:bodyPr/>
          <a:lstStyle/>
          <a:p>
            <a:fld id="{AE7E38A5-0897-4509-B474-CA7BACA3876E}" type="datetimeFigureOut">
              <a:rPr lang="en-US" smtClean="0"/>
              <a:t>8/19/2026</a:t>
            </a:fld>
            <a:endParaRPr lang="en-US"/>
          </a:p>
        </p:txBody>
      </p:sp>
      <p:sp>
        <p:nvSpPr>
          <p:cNvPr id="8" name="Footer Placeholder 7">
            <a:extLst>
              <a:ext uri="{FF2B5EF4-FFF2-40B4-BE49-F238E27FC236}">
                <a16:creationId xmlns:a16="http://schemas.microsoft.com/office/drawing/2014/main" id="{E5F5B61B-ED00-86A7-6ACD-C43B67ACF9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119906-6F6F-6917-EF5E-B774E6919AA8}"/>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4036652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C6A1B-B2AF-E050-ECF5-ACC5B7AF4F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6D89E8-F0D6-0E88-9769-D89E6292FE8A}"/>
              </a:ext>
            </a:extLst>
          </p:cNvPr>
          <p:cNvSpPr>
            <a:spLocks noGrp="1"/>
          </p:cNvSpPr>
          <p:nvPr>
            <p:ph type="dt" sz="half" idx="10"/>
          </p:nvPr>
        </p:nvSpPr>
        <p:spPr/>
        <p:txBody>
          <a:bodyPr/>
          <a:lstStyle/>
          <a:p>
            <a:fld id="{AE7E38A5-0897-4509-B474-CA7BACA3876E}" type="datetimeFigureOut">
              <a:rPr lang="en-US" smtClean="0"/>
              <a:t>8/19/2026</a:t>
            </a:fld>
            <a:endParaRPr lang="en-US"/>
          </a:p>
        </p:txBody>
      </p:sp>
      <p:sp>
        <p:nvSpPr>
          <p:cNvPr id="4" name="Footer Placeholder 3">
            <a:extLst>
              <a:ext uri="{FF2B5EF4-FFF2-40B4-BE49-F238E27FC236}">
                <a16:creationId xmlns:a16="http://schemas.microsoft.com/office/drawing/2014/main" id="{892829C5-1B60-2268-F333-5B76066F89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AF9A2B-0D7A-2052-FFC8-8CBE90A14DEA}"/>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4266989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624D48-6995-0099-CD08-7A3FDDC78293}"/>
              </a:ext>
            </a:extLst>
          </p:cNvPr>
          <p:cNvSpPr>
            <a:spLocks noGrp="1"/>
          </p:cNvSpPr>
          <p:nvPr>
            <p:ph type="dt" sz="half" idx="10"/>
          </p:nvPr>
        </p:nvSpPr>
        <p:spPr/>
        <p:txBody>
          <a:bodyPr/>
          <a:lstStyle/>
          <a:p>
            <a:fld id="{AE7E38A5-0897-4509-B474-CA7BACA3876E}" type="datetimeFigureOut">
              <a:rPr lang="en-US" smtClean="0"/>
              <a:t>8/19/2026</a:t>
            </a:fld>
            <a:endParaRPr lang="en-US"/>
          </a:p>
        </p:txBody>
      </p:sp>
      <p:sp>
        <p:nvSpPr>
          <p:cNvPr id="3" name="Footer Placeholder 2">
            <a:extLst>
              <a:ext uri="{FF2B5EF4-FFF2-40B4-BE49-F238E27FC236}">
                <a16:creationId xmlns:a16="http://schemas.microsoft.com/office/drawing/2014/main" id="{C8EEC935-6C37-2907-F27F-AE46F371B8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2E360F-90C3-AD14-2358-FDAA383A91E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523614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657D0-E028-0FEC-8108-C43C000302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222123-834D-B3B6-8655-4F727434AC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6483FF-5EC4-3A43-0CAD-1E9C63C280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6F5EC1-48F3-74F5-A266-43E5E2B174E4}"/>
              </a:ext>
            </a:extLst>
          </p:cNvPr>
          <p:cNvSpPr>
            <a:spLocks noGrp="1"/>
          </p:cNvSpPr>
          <p:nvPr>
            <p:ph type="dt" sz="half" idx="10"/>
          </p:nvPr>
        </p:nvSpPr>
        <p:spPr/>
        <p:txBody>
          <a:bodyPr/>
          <a:lstStyle/>
          <a:p>
            <a:fld id="{AE7E38A5-0897-4509-B474-CA7BACA3876E}" type="datetimeFigureOut">
              <a:rPr lang="en-US" smtClean="0"/>
              <a:t>8/19/2026</a:t>
            </a:fld>
            <a:endParaRPr lang="en-US"/>
          </a:p>
        </p:txBody>
      </p:sp>
      <p:sp>
        <p:nvSpPr>
          <p:cNvPr id="6" name="Footer Placeholder 5">
            <a:extLst>
              <a:ext uri="{FF2B5EF4-FFF2-40B4-BE49-F238E27FC236}">
                <a16:creationId xmlns:a16="http://schemas.microsoft.com/office/drawing/2014/main" id="{F155FD67-83F7-52BD-E689-83B4411AC3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1C7BE6-67AB-39DB-47FB-E76563134D7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3913708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E4AD1-9B1D-6A0E-B035-2A091F8FBA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C267C1-026F-6542-5C48-B04F16F3C2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653625-A727-A9FB-C543-6910AD6867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DCE3EF-FE07-E44D-9BEE-561AE12BC6B1}"/>
              </a:ext>
            </a:extLst>
          </p:cNvPr>
          <p:cNvSpPr>
            <a:spLocks noGrp="1"/>
          </p:cNvSpPr>
          <p:nvPr>
            <p:ph type="dt" sz="half" idx="10"/>
          </p:nvPr>
        </p:nvSpPr>
        <p:spPr/>
        <p:txBody>
          <a:bodyPr/>
          <a:lstStyle/>
          <a:p>
            <a:fld id="{AE7E38A5-0897-4509-B474-CA7BACA3876E}" type="datetimeFigureOut">
              <a:rPr lang="en-US" smtClean="0"/>
              <a:t>8/19/2026</a:t>
            </a:fld>
            <a:endParaRPr lang="en-US"/>
          </a:p>
        </p:txBody>
      </p:sp>
      <p:sp>
        <p:nvSpPr>
          <p:cNvPr id="6" name="Footer Placeholder 5">
            <a:extLst>
              <a:ext uri="{FF2B5EF4-FFF2-40B4-BE49-F238E27FC236}">
                <a16:creationId xmlns:a16="http://schemas.microsoft.com/office/drawing/2014/main" id="{09148578-8457-617E-26C8-83CBD42AAD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0716A0-6376-1E8B-ACC0-3E99A468AADB}"/>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847855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1CB6B-B40F-CD9E-5050-E8332EEE06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8861BA-32AA-F138-FF9C-2534486911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BC3F75-3492-7080-C63D-3983901FBA19}"/>
              </a:ext>
            </a:extLst>
          </p:cNvPr>
          <p:cNvSpPr>
            <a:spLocks noGrp="1"/>
          </p:cNvSpPr>
          <p:nvPr>
            <p:ph type="dt" sz="half" idx="10"/>
          </p:nvPr>
        </p:nvSpPr>
        <p:spPr/>
        <p:txBody>
          <a:bodyPr/>
          <a:lstStyle/>
          <a:p>
            <a:fld id="{AE7E38A5-0897-4509-B474-CA7BACA3876E}" type="datetimeFigureOut">
              <a:rPr lang="en-US" smtClean="0"/>
              <a:t>8/19/2026</a:t>
            </a:fld>
            <a:endParaRPr lang="en-US"/>
          </a:p>
        </p:txBody>
      </p:sp>
      <p:sp>
        <p:nvSpPr>
          <p:cNvPr id="5" name="Footer Placeholder 4">
            <a:extLst>
              <a:ext uri="{FF2B5EF4-FFF2-40B4-BE49-F238E27FC236}">
                <a16:creationId xmlns:a16="http://schemas.microsoft.com/office/drawing/2014/main" id="{A161E4EE-94A7-4D60-6219-FE9FAEED38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F9FFF6-B663-682E-609B-32623E2A883E}"/>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2723808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BE4FA9-B5B0-671D-FF03-B5210A3B11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E3531C-997D-F3F0-03A8-0A36E3B8A4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8CAC5E-DA02-76B9-65D8-7F5388545F99}"/>
              </a:ext>
            </a:extLst>
          </p:cNvPr>
          <p:cNvSpPr>
            <a:spLocks noGrp="1"/>
          </p:cNvSpPr>
          <p:nvPr>
            <p:ph type="dt" sz="half" idx="10"/>
          </p:nvPr>
        </p:nvSpPr>
        <p:spPr/>
        <p:txBody>
          <a:bodyPr/>
          <a:lstStyle/>
          <a:p>
            <a:fld id="{AE7E38A5-0897-4509-B474-CA7BACA3876E}" type="datetimeFigureOut">
              <a:rPr lang="en-US" smtClean="0"/>
              <a:t>8/19/2026</a:t>
            </a:fld>
            <a:endParaRPr lang="en-US"/>
          </a:p>
        </p:txBody>
      </p:sp>
      <p:sp>
        <p:nvSpPr>
          <p:cNvPr id="5" name="Footer Placeholder 4">
            <a:extLst>
              <a:ext uri="{FF2B5EF4-FFF2-40B4-BE49-F238E27FC236}">
                <a16:creationId xmlns:a16="http://schemas.microsoft.com/office/drawing/2014/main" id="{85B902A9-7AB1-C1FB-9260-FEB9B49CA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22E534-F0BB-DE3C-8762-F36B2DE8270B}"/>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4201919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71040" y="0"/>
            <a:ext cx="2467880" cy="2057147"/>
          </a:xfrm>
          <a:prstGeom prst="rect">
            <a:avLst/>
          </a:prstGeom>
          <a:noFill/>
        </p:spPr>
      </p:pic>
      <p:grpSp>
        <p:nvGrpSpPr>
          <p:cNvPr id="8" name="组合 7"/>
          <p:cNvGrpSpPr/>
          <p:nvPr userDrawn="1"/>
        </p:nvGrpSpPr>
        <p:grpSpPr>
          <a:xfrm>
            <a:off x="0" y="6485001"/>
            <a:ext cx="12192000" cy="383243"/>
            <a:chOff x="0" y="4833033"/>
            <a:chExt cx="9144000" cy="287432"/>
          </a:xfrm>
        </p:grpSpPr>
        <p:sp>
          <p:nvSpPr>
            <p:cNvPr id="9" name="Text Box 2"/>
            <p:cNvSpPr txBox="1">
              <a:spLocks noChangeArrowheads="1"/>
            </p:cNvSpPr>
            <p:nvPr/>
          </p:nvSpPr>
          <p:spPr bwMode="auto">
            <a:xfrm>
              <a:off x="0" y="4835723"/>
              <a:ext cx="1763688" cy="284742"/>
            </a:xfrm>
            <a:prstGeom prst="rect">
              <a:avLst/>
            </a:prstGeom>
            <a:solidFill>
              <a:srgbClr val="DC0000"/>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0" name="Text Box 2"/>
            <p:cNvSpPr txBox="1">
              <a:spLocks noChangeArrowheads="1"/>
            </p:cNvSpPr>
            <p:nvPr/>
          </p:nvSpPr>
          <p:spPr bwMode="auto">
            <a:xfrm>
              <a:off x="1763688" y="4835723"/>
              <a:ext cx="7380312" cy="284742"/>
            </a:xfrm>
            <a:prstGeom prst="rect">
              <a:avLst/>
            </a:prstGeom>
            <a:solidFill>
              <a:srgbClr val="00288C"/>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1" name="矩形 10"/>
            <p:cNvSpPr/>
            <p:nvPr/>
          </p:nvSpPr>
          <p:spPr>
            <a:xfrm>
              <a:off x="0" y="4833033"/>
              <a:ext cx="9143999" cy="276999"/>
            </a:xfrm>
            <a:prstGeom prst="rect">
              <a:avLst/>
            </a:prstGeom>
          </p:spPr>
          <p:txBody>
            <a:bodyPr wrap="square">
              <a:spAutoFit/>
            </a:bodyPr>
            <a:lstStyle/>
            <a:p>
              <a:pPr algn="ctr"/>
              <a:r>
                <a:rPr kumimoji="1" lang="en-US" altLang="zh-TW" sz="1800" dirty="0">
                  <a:solidFill>
                    <a:schemeClr val="bg1"/>
                  </a:solidFill>
                  <a:latin typeface="Arial" panose="020B0604020202020204" pitchFamily="34" charset="0"/>
                  <a:ea typeface="PMingLiU" pitchFamily="18" charset="-120"/>
                  <a:cs typeface="Arial" panose="020B0604020202020204" pitchFamily="34" charset="0"/>
                </a:rPr>
                <a:t>www.afrmilan.com</a:t>
              </a:r>
            </a:p>
          </p:txBody>
        </p:sp>
      </p:grpSp>
    </p:spTree>
    <p:extLst>
      <p:ext uri="{BB962C8B-B14F-4D97-AF65-F5344CB8AC3E}">
        <p14:creationId xmlns:p14="http://schemas.microsoft.com/office/powerpoint/2010/main" val="1290299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grpSp>
        <p:nvGrpSpPr>
          <p:cNvPr id="9" name="组合 61"/>
          <p:cNvGrpSpPr/>
          <p:nvPr userDrawn="1"/>
        </p:nvGrpSpPr>
        <p:grpSpPr>
          <a:xfrm>
            <a:off x="631357" y="453550"/>
            <a:ext cx="996088" cy="0"/>
            <a:chOff x="707557" y="548800"/>
            <a:chExt cx="996088" cy="0"/>
          </a:xfrm>
        </p:grpSpPr>
        <p:cxnSp>
          <p:nvCxnSpPr>
            <p:cNvPr id="10" name="直接连接符 9"/>
            <p:cNvCxnSpPr/>
            <p:nvPr/>
          </p:nvCxnSpPr>
          <p:spPr bwMode="auto">
            <a:xfrm>
              <a:off x="707557" y="548800"/>
              <a:ext cx="299539" cy="0"/>
            </a:xfrm>
            <a:prstGeom prst="line">
              <a:avLst/>
            </a:prstGeom>
            <a:solidFill>
              <a:schemeClr val="accent1"/>
            </a:solidFill>
            <a:ln w="25400" cap="flat" cmpd="sng" algn="ctr">
              <a:solidFill>
                <a:srgbClr val="F20013"/>
              </a:solidFill>
              <a:prstDash val="solid"/>
              <a:round/>
              <a:headEnd type="none" w="med" len="med"/>
              <a:tailEnd type="none" w="med" len="med"/>
            </a:ln>
            <a:effectLst/>
          </p:spPr>
        </p:cxnSp>
        <p:cxnSp>
          <p:nvCxnSpPr>
            <p:cNvPr id="12" name="直接连接符 11"/>
            <p:cNvCxnSpPr/>
            <p:nvPr/>
          </p:nvCxnSpPr>
          <p:spPr bwMode="auto">
            <a:xfrm>
              <a:off x="983645" y="548800"/>
              <a:ext cx="720000" cy="0"/>
            </a:xfrm>
            <a:prstGeom prst="line">
              <a:avLst/>
            </a:prstGeom>
            <a:solidFill>
              <a:schemeClr val="accent1"/>
            </a:solidFill>
            <a:ln w="25400" cap="flat" cmpd="sng" algn="ctr">
              <a:solidFill>
                <a:srgbClr val="0E2268"/>
              </a:solidFill>
              <a:prstDash val="solid"/>
              <a:round/>
              <a:headEnd type="none" w="med" len="med"/>
              <a:tailEnd type="none" w="med" len="med"/>
            </a:ln>
            <a:effectLst/>
          </p:spPr>
        </p:cxnSp>
      </p:grpSp>
      <p:grpSp>
        <p:nvGrpSpPr>
          <p:cNvPr id="13" name="组合 12"/>
          <p:cNvGrpSpPr/>
          <p:nvPr userDrawn="1"/>
        </p:nvGrpSpPr>
        <p:grpSpPr>
          <a:xfrm>
            <a:off x="10607281" y="233681"/>
            <a:ext cx="1177119" cy="900000"/>
            <a:chOff x="7955458" y="175261"/>
            <a:chExt cx="882839" cy="675000"/>
          </a:xfrm>
        </p:grpSpPr>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32060" t="23787" r="27970" b="32989"/>
            <a:stretch>
              <a:fillRect/>
            </a:stretch>
          </p:blipFill>
          <p:spPr>
            <a:xfrm>
              <a:off x="7955458" y="175261"/>
              <a:ext cx="882839" cy="675000"/>
            </a:xfrm>
            <a:prstGeom prst="rect">
              <a:avLst/>
            </a:prstGeom>
          </p:spPr>
        </p:pic>
        <p:sp>
          <p:nvSpPr>
            <p:cNvPr id="15" name="椭圆 14"/>
            <p:cNvSpPr/>
            <p:nvPr userDrawn="1"/>
          </p:nvSpPr>
          <p:spPr>
            <a:xfrm>
              <a:off x="8676456" y="195486"/>
              <a:ext cx="144016" cy="1440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Tree>
    <p:extLst>
      <p:ext uri="{BB962C8B-B14F-4D97-AF65-F5344CB8AC3E}">
        <p14:creationId xmlns:p14="http://schemas.microsoft.com/office/powerpoint/2010/main" val="392114549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27BB2C-76DC-90AF-74E8-5CA2C51AF7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12E614-5C6F-DC4C-07CD-F948CDE441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8B5F60-52FA-13B8-32F6-4BFCF5859E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7E38A5-0897-4509-B474-CA7BACA3876E}" type="datetimeFigureOut">
              <a:rPr lang="en-US" smtClean="0"/>
              <a:t>8/19/2026</a:t>
            </a:fld>
            <a:endParaRPr lang="en-US"/>
          </a:p>
        </p:txBody>
      </p:sp>
      <p:sp>
        <p:nvSpPr>
          <p:cNvPr id="5" name="Footer Placeholder 4">
            <a:extLst>
              <a:ext uri="{FF2B5EF4-FFF2-40B4-BE49-F238E27FC236}">
                <a16:creationId xmlns:a16="http://schemas.microsoft.com/office/drawing/2014/main" id="{4F57BDF0-920C-8B79-6328-4F4CFFA1E3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A440653-7ED0-A2A9-6425-DC06C7BEE1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FC66D7-084B-4B9E-8AAC-516FE602CE91}" type="slidenum">
              <a:rPr lang="en-US" smtClean="0"/>
              <a:t>‹#›</a:t>
            </a:fld>
            <a:endParaRPr lang="en-US"/>
          </a:p>
        </p:txBody>
      </p:sp>
    </p:spTree>
    <p:extLst>
      <p:ext uri="{BB962C8B-B14F-4D97-AF65-F5344CB8AC3E}">
        <p14:creationId xmlns:p14="http://schemas.microsoft.com/office/powerpoint/2010/main" val="718418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80160" y="2148840"/>
            <a:ext cx="9601200" cy="2194560"/>
          </a:xfrm>
          <a:prstGeom prst="rect">
            <a:avLst/>
          </a:prstGeom>
          <a:noFill/>
        </p:spPr>
        <p:txBody>
          <a:bodyPr wrap="square" lIns="45720" rIns="45720" tIns="27432" bIns="27432" anchor="t">
            <a:spAutoFit/>
          </a:bodyPr>
          <a:lstStyle/>
          <a:p>
            <a:pPr algn="ctr">
              <a:spcAft>
                <a:spcPts val="600"/>
              </a:spcAft>
            </a:pPr>
            <a:r>
              <a:rPr sz="3200" b="1" i="0">
                <a:solidFill>
                  <a:srgbClr val="222222"/>
                </a:solidFill>
                <a:latin typeface="Arial"/>
              </a:rPr>
              <a:t>Lifted-electrode TFLN modulator:</a:t>
            </a:r>
          </a:p>
          <a:p>
            <a:pPr algn="ctr">
              <a:spcAft>
                <a:spcPts val="600"/>
              </a:spcAft>
            </a:pPr>
            <a:r>
              <a:rPr sz="2800" b="1" i="0">
                <a:solidFill>
                  <a:srgbClr val="222222"/>
                </a:solidFill>
                <a:latin typeface="Arial"/>
              </a:rPr>
              <a:t>optical loss, Vπ·L and the lift-position resonance</a:t>
            </a:r>
          </a:p>
          <a:p>
            <a:pPr algn="ctr">
              <a:spcAft>
                <a:spcPts val="600"/>
              </a:spcAft>
            </a:pPr>
            <a:r>
              <a:rPr sz="2000" b="0" i="0">
                <a:solidFill>
                  <a:srgbClr val="595959"/>
                </a:solidFill>
                <a:latin typeface="Arial"/>
              </a:rPr>
              <a:t>femwell / scikit-fem eigenmode study at λ = 1575 nm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Summary</a:t>
            </a:r>
          </a:p>
        </p:txBody>
      </p:sp>
      <p:sp>
        <p:nvSpPr>
          <p:cNvPr id="3" name="TextBox 2"/>
          <p:cNvSpPr txBox="1"/>
          <p:nvPr/>
        </p:nvSpPr>
        <p:spPr>
          <a:xfrm>
            <a:off x="502920" y="1325880"/>
            <a:ext cx="6949440" cy="4937760"/>
          </a:xfrm>
          <a:prstGeom prst="rect">
            <a:avLst/>
          </a:prstGeom>
          <a:noFill/>
        </p:spPr>
        <p:txBody>
          <a:bodyPr wrap="square" lIns="45720" rIns="45720" tIns="27432" bIns="27432" anchor="t">
            <a:spAutoFit/>
          </a:bodyPr>
          <a:lstStyle/>
          <a:p>
            <a:pPr algn="l" marL="256032" indent="-201168">
              <a:spcAft>
                <a:spcPts val="600"/>
              </a:spcAft>
              <a:buFont typeface="Arial"/>
              <a:buChar char="•"/>
            </a:pPr>
            <a:r>
              <a:rPr sz="1500" b="0" i="0">
                <a:solidFill>
                  <a:srgbClr val="222222"/>
                </a:solidFill>
                <a:latin typeface="Arial"/>
              </a:rPr>
              <a:t>Vπ·L of the lifted design is 2.265 V·cm, identical to the legacy flat design at the same 4.2 µm gap (2.260 V·cm): lifting does not affect the electro-optic efficiency.</a:t>
            </a:r>
          </a:p>
          <a:p>
            <a:pPr algn="l" marL="256032" indent="-201168">
              <a:spcAft>
                <a:spcPts val="600"/>
              </a:spcAft>
              <a:buFont typeface="Arial"/>
              <a:buChar char="•"/>
            </a:pPr>
            <a:r>
              <a:rPr sz="1500" b="0" i="0">
                <a:solidFill>
                  <a:srgbClr val="222222"/>
                </a:solidFill>
                <a:latin typeface="Arial"/>
              </a:rPr>
              <a:t>Optical IL is NOT a single number: it oscillates with the position where the gold leaves the LN slab (x_lift), with a period of 0.90 µm, between 0.18 and 0.88 dB/cm around the nominal design.</a:t>
            </a:r>
          </a:p>
          <a:p>
            <a:pPr algn="l" marL="256032" indent="-201168">
              <a:spcAft>
                <a:spcPts val="600"/>
              </a:spcAft>
              <a:buFont typeface="Arial"/>
              <a:buChar char="•"/>
            </a:pPr>
            <a:r>
              <a:rPr sz="1500" b="0" i="0">
                <a:solidFill>
                  <a:srgbClr val="222222"/>
                </a:solidFill>
                <a:latin typeface="Arial"/>
              </a:rPr>
              <a:t>Mechanism: with bare gold on the slab the rib mode is leaky. It feeds a surface wave under the gold; the lift step reflects it, turning the gold-on-slab strip into a lossy resonator side-coupled to the rib.</a:t>
            </a:r>
          </a:p>
          <a:p>
            <a:pPr algn="l" marL="256032" indent="-201168">
              <a:spcAft>
                <a:spcPts val="600"/>
              </a:spcAft>
              <a:buFont typeface="Arial"/>
              <a:buChar char="•"/>
            </a:pPr>
            <a:r>
              <a:rPr sz="1500" b="0" i="0">
                <a:solidFill>
                  <a:srgbClr val="222222"/>
                </a:solidFill>
                <a:latin typeface="Arial"/>
              </a:rPr>
              <a:t>Proven three independent ways: standing wave in the field (period 0.89 µm), strip eigenmode crossing the rib index at every IL peak, and 1.7× mesh refinement changing peak and dip by &lt; 1 %.</a:t>
            </a:r>
          </a:p>
          <a:p>
            <a:pPr algn="l" marL="256032" indent="-201168">
              <a:spcAft>
                <a:spcPts val="600"/>
              </a:spcAft>
              <a:buFont typeface="Arial"/>
              <a:buChar char="•"/>
            </a:pPr>
            <a:r>
              <a:rPr sz="1500" b="0" i="0">
                <a:solidFill>
                  <a:srgbClr val="222222"/>
                </a:solidFill>
                <a:latin typeface="Arial"/>
              </a:rPr>
              <a:t>The nominal design (x_lift = 7.0 µm) sits 0.1 µm from a dip and 0.3 µm from a peak: ±0.2 µm of lithography error spans 0.18–0.60 dB/cm. Averaged over one period IL = 0.41 dB/cm, i.e. the legacy value.</a:t>
            </a:r>
          </a:p>
          <a:p>
            <a:pPr algn="l" marL="256032" indent="-201168">
              <a:spcAft>
                <a:spcPts val="600"/>
              </a:spcAft>
              <a:buFont typeface="Arial"/>
              <a:buChar char="•"/>
            </a:pPr>
            <a:r>
              <a:rPr sz="1500" b="0" i="0">
                <a:solidFill>
                  <a:srgbClr val="222222"/>
                </a:solidFill>
                <a:latin typeface="Arial"/>
              </a:rPr>
              <a:t>Far from the rib (x_lift ≥ 24 µm) IL converges to 0.41–0.42 dB/cm, the legacy no-lift result.</a:t>
            </a:r>
          </a:p>
        </p:txBody>
      </p:sp>
      <p:sp>
        <p:nvSpPr>
          <p:cNvPr id="4" name="Rounded Rectangle 3"/>
          <p:cNvSpPr/>
          <p:nvPr/>
        </p:nvSpPr>
        <p:spPr>
          <a:xfrm>
            <a:off x="7772400" y="1417320"/>
            <a:ext cx="3931920" cy="1874519"/>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500" b="1" i="0">
                <a:solidFill>
                  <a:srgbClr val="1F4E79"/>
                </a:solidFill>
                <a:latin typeface="Arial"/>
              </a:rPr>
              <a:t>Key numbers (gap 4.2 µm)</a:t>
            </a:r>
          </a:p>
          <a:p>
            <a:pPr algn="l">
              <a:spcAft>
                <a:spcPts val="500"/>
              </a:spcAft>
            </a:pPr>
            <a:r>
              <a:rPr sz="1300" b="0" i="0">
                <a:solidFill>
                  <a:srgbClr val="222222"/>
                </a:solidFill>
                <a:latin typeface="Arial"/>
              </a:rPr>
              <a:t>Vπ·L                           2.265 V·cm</a:t>
            </a:r>
          </a:p>
          <a:p>
            <a:pPr algn="l">
              <a:spcAft>
                <a:spcPts val="500"/>
              </a:spcAft>
            </a:pPr>
            <a:r>
              <a:rPr sz="1300" b="0" i="0">
                <a:solidFill>
                  <a:srgbClr val="222222"/>
                </a:solidFill>
                <a:latin typeface="Arial"/>
              </a:rPr>
              <a:t>IL, nominal x_lift = 7.0    0.22 dB/cm</a:t>
            </a:r>
          </a:p>
          <a:p>
            <a:pPr algn="l">
              <a:spcAft>
                <a:spcPts val="500"/>
              </a:spcAft>
            </a:pPr>
            <a:r>
              <a:rPr sz="1300" b="0" i="0">
                <a:solidFill>
                  <a:srgbClr val="222222"/>
                </a:solidFill>
                <a:latin typeface="Arial"/>
              </a:rPr>
              <a:t>IL range 6.5–11 µm        0.18 – 0.88</a:t>
            </a:r>
          </a:p>
          <a:p>
            <a:pPr algn="l">
              <a:spcAft>
                <a:spcPts val="500"/>
              </a:spcAft>
            </a:pPr>
            <a:r>
              <a:rPr sz="1300" b="0" i="0">
                <a:solidFill>
                  <a:srgbClr val="222222"/>
                </a:solidFill>
                <a:latin typeface="Arial"/>
              </a:rPr>
              <a:t>IL, legacy (no lift)          0.42 dB/cm</a:t>
            </a:r>
          </a:p>
          <a:p>
            <a:pPr algn="l">
              <a:spcAft>
                <a:spcPts val="500"/>
              </a:spcAft>
            </a:pPr>
            <a:r>
              <a:rPr sz="1300" b="0" i="0">
                <a:solidFill>
                  <a:srgbClr val="222222"/>
                </a:solidFill>
                <a:latin typeface="Arial"/>
              </a:rPr>
              <a:t>Ripple / IL period           0.90 µm</a:t>
            </a:r>
          </a:p>
        </p:txBody>
      </p:sp>
      <p:sp>
        <p:nvSpPr>
          <p:cNvPr id="5" name="Rounded Rectangle 4"/>
          <p:cNvSpPr/>
          <p:nvPr/>
        </p:nvSpPr>
        <p:spPr>
          <a:xfrm>
            <a:off x="7772400" y="3520440"/>
            <a:ext cx="3931920" cy="160020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500" b="1" i="0">
                <a:solidFill>
                  <a:srgbClr val="1F4E79"/>
                </a:solidFill>
                <a:latin typeface="Arial"/>
              </a:rPr>
              <a:t>Bottom line</a:t>
            </a:r>
          </a:p>
          <a:p>
            <a:pPr algn="l">
              <a:spcAft>
                <a:spcPts val="500"/>
              </a:spcAft>
            </a:pPr>
            <a:r>
              <a:rPr sz="1300" b="0" i="0">
                <a:solidFill>
                  <a:srgbClr val="222222"/>
                </a:solidFill>
                <a:latin typeface="Arial"/>
              </a:rPr>
              <a:t>The lift does not reduce the loss on average; it makes the loss resonant and extremely sensitive to the lift position. A 0.22 dB/cm design value is not a robust prediction.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Lifted-electrode geometry</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Each electrode is one fused gold body: lower block on the slab, 2 µm column, pad lifted on 3.6 µm SiO₂</a:t>
            </a:r>
          </a:p>
        </p:txBody>
      </p:sp>
      <p:pic>
        <p:nvPicPr>
          <p:cNvPr id="4" name="Picture 3" descr="geometry.png"/>
          <p:cNvPicPr>
            <a:picLocks noChangeAspect="1"/>
          </p:cNvPicPr>
          <p:nvPr/>
        </p:nvPicPr>
        <p:blipFill>
          <a:blip r:embed="rId2"/>
          <a:stretch>
            <a:fillRect/>
          </a:stretch>
        </p:blipFill>
        <p:spPr>
          <a:xfrm>
            <a:off x="502920" y="1600200"/>
            <a:ext cx="7863840" cy="2458971"/>
          </a:xfrm>
          <a:prstGeom prst="rect">
            <a:avLst/>
          </a:prstGeom>
        </p:spPr>
      </p:pic>
      <p:sp>
        <p:nvSpPr>
          <p:cNvPr id="5" name="TextBox 4"/>
          <p:cNvSpPr txBox="1"/>
          <p:nvPr/>
        </p:nvSpPr>
        <p:spPr>
          <a:xfrm>
            <a:off x="8641080" y="1645920"/>
            <a:ext cx="3200400" cy="4572000"/>
          </a:xfrm>
          <a:prstGeom prst="rect">
            <a:avLst/>
          </a:prstGeom>
          <a:noFill/>
        </p:spPr>
        <p:txBody>
          <a:bodyPr wrap="square" lIns="45720" rIns="45720" tIns="27432" bIns="27432" anchor="t">
            <a:spAutoFit/>
          </a:bodyPr>
          <a:lstStyle/>
          <a:p>
            <a:pPr algn="l">
              <a:spcAft>
                <a:spcPts val="600"/>
              </a:spcAft>
            </a:pPr>
            <a:r>
              <a:rPr sz="1500" b="1" i="0">
                <a:solidFill>
                  <a:srgbClr val="1F4E79"/>
                </a:solidFill>
                <a:latin typeface="Arial"/>
              </a:rPr>
              <a:t>Parameters</a:t>
            </a:r>
          </a:p>
          <a:p>
            <a:pPr algn="l" marL="256032" indent="-201168">
              <a:spcAft>
                <a:spcPts val="600"/>
              </a:spcAft>
              <a:buFont typeface="Arial"/>
              <a:buChar char="•"/>
            </a:pPr>
            <a:r>
              <a:rPr sz="1200" b="0" i="0">
                <a:solidFill>
                  <a:srgbClr val="222222"/>
                </a:solidFill>
                <a:latin typeface="Arial"/>
              </a:rPr>
              <a:t>λ = 1575 nm, TE fundamental mode</a:t>
            </a:r>
          </a:p>
          <a:p>
            <a:pPr algn="l" marL="256032" indent="-201168">
              <a:spcAft>
                <a:spcPts val="600"/>
              </a:spcAft>
              <a:buFont typeface="Arial"/>
              <a:buChar char="•"/>
            </a:pPr>
            <a:r>
              <a:rPr sz="1200" b="0" i="0">
                <a:solidFill>
                  <a:srgbClr val="222222"/>
                </a:solidFill>
                <a:latin typeface="Arial"/>
              </a:rPr>
              <a:t>LN: 550 nm total, 275 nm etch, 60° sidewall, rib top 1.0 µm</a:t>
            </a:r>
          </a:p>
          <a:p>
            <a:pPr algn="l" marL="256032" indent="-201168">
              <a:spcAft>
                <a:spcPts val="600"/>
              </a:spcAft>
              <a:buFont typeface="Arial"/>
              <a:buChar char="•"/>
            </a:pPr>
            <a:r>
              <a:rPr sz="1200" b="0" i="0">
                <a:solidFill>
                  <a:srgbClr val="222222"/>
                </a:solidFill>
                <a:latin typeface="Arial"/>
              </a:rPr>
              <a:t>SiO₂ cap 2.0 × 1.4 µm on the rib</a:t>
            </a:r>
          </a:p>
          <a:p>
            <a:pPr algn="l" marL="256032" indent="-201168">
              <a:spcAft>
                <a:spcPts val="600"/>
              </a:spcAft>
              <a:buFont typeface="Arial"/>
              <a:buChar char="•"/>
            </a:pPr>
            <a:r>
              <a:rPr sz="1200" b="0" i="0">
                <a:solidFill>
                  <a:srgbClr val="222222"/>
                </a:solidFill>
                <a:latin typeface="Arial"/>
              </a:rPr>
              <a:t>Bottom gap 4.2 µm (lower blocks directly on the LN slab)</a:t>
            </a:r>
          </a:p>
          <a:p>
            <a:pPr algn="l" marL="256032" indent="-201168">
              <a:spcAft>
                <a:spcPts val="600"/>
              </a:spcAft>
              <a:buFont typeface="Arial"/>
              <a:buChar char="•"/>
            </a:pPr>
            <a:r>
              <a:rPr sz="1200" b="0" i="0">
                <a:solidFill>
                  <a:srgbClr val="222222"/>
                </a:solidFill>
                <a:latin typeface="Arial"/>
              </a:rPr>
              <a:t>Top gap 10 µm, column 2.0 µm → overhang 2.9 µm</a:t>
            </a:r>
          </a:p>
          <a:p>
            <a:pPr algn="l" marL="256032" indent="-201168">
              <a:spcAft>
                <a:spcPts val="600"/>
              </a:spcAft>
              <a:buFont typeface="Arial"/>
              <a:buChar char="•"/>
            </a:pPr>
            <a:r>
              <a:rPr sz="1200" b="0" i="0">
                <a:solidFill>
                  <a:srgbClr val="222222"/>
                </a:solidFill>
                <a:latin typeface="Arial"/>
              </a:rPr>
              <a:t>Au 2.0 µm thick; pad on 3.6 µm SiO₂ buffer</a:t>
            </a:r>
          </a:p>
          <a:p>
            <a:pPr algn="l" marL="256032" indent="-201168">
              <a:spcAft>
                <a:spcPts val="600"/>
              </a:spcAft>
              <a:buFont typeface="Arial"/>
              <a:buChar char="•"/>
            </a:pPr>
            <a:r>
              <a:rPr sz="1200" b="0" i="0">
                <a:solidFill>
                  <a:srgbClr val="222222"/>
                </a:solidFill>
                <a:latin typeface="Arial"/>
              </a:rPr>
              <a:t>Electrode width 30 µm (gap edge to pad end); BOX 4.7 µm</a:t>
            </a:r>
          </a:p>
          <a:p>
            <a:pPr algn="l" marL="256032" indent="-201168">
              <a:spcAft>
                <a:spcPts val="600"/>
              </a:spcAft>
              <a:buFont typeface="Arial"/>
              <a:buChar char="•"/>
            </a:pPr>
            <a:r>
              <a:rPr sz="1200" b="0" i="0">
                <a:solidFill>
                  <a:srgbClr val="222222"/>
                </a:solidFill>
                <a:latin typeface="Arial"/>
              </a:rPr>
              <a:t>x_lift = GAP_TOP/2 + COL_W: where the gold leaves the slab (7.0 µm nominal)</a:t>
            </a:r>
          </a:p>
        </p:txBody>
      </p:sp>
      <p:sp>
        <p:nvSpPr>
          <p:cNvPr id="6" name="Rounded Rectangle 5"/>
          <p:cNvSpPr/>
          <p:nvPr/>
        </p:nvSpPr>
        <p:spPr>
          <a:xfrm>
            <a:off x="502920" y="4892040"/>
            <a:ext cx="7863840" cy="73152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200" b="1" i="0">
                <a:solidFill>
                  <a:srgbClr val="222222"/>
                </a:solidFill>
                <a:latin typeface="Arial"/>
              </a:rPr>
              <a:t>How to move the lift in cell 0:  </a:t>
            </a:r>
            <a:r>
              <a:rPr sz="1200" b="0" i="0">
                <a:solidFill>
                  <a:srgbClr val="222222"/>
                </a:solidFill>
                <a:latin typeface="Arial"/>
              </a:rPr>
              <a:t>GAP_TOP = 2·(x_lift − COL_W).  </a:t>
            </a:r>
            <a:r>
              <a:rPr sz="1200" b="0" i="0">
                <a:solidFill>
                  <a:srgbClr val="222222"/>
                </a:solidFill>
                <a:latin typeface="Arial"/>
              </a:rPr>
              <a:t>Everything else (lower block, column, pad, buffer, skins, corners) follows automatically. Maximum x_lift ≈ 30 µm (the 30 µm electrode needs some pad).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Simulation method and figures of merit</a:t>
            </a:r>
          </a:p>
        </p:txBody>
      </p:sp>
      <p:sp>
        <p:nvSpPr>
          <p:cNvPr id="3" name="TextBox 2"/>
          <p:cNvSpPr txBox="1"/>
          <p:nvPr/>
        </p:nvSpPr>
        <p:spPr>
          <a:xfrm>
            <a:off x="502920" y="1325880"/>
            <a:ext cx="5669280" cy="4846320"/>
          </a:xfrm>
          <a:prstGeom prst="rect">
            <a:avLst/>
          </a:prstGeom>
          <a:noFill/>
        </p:spPr>
        <p:txBody>
          <a:bodyPr wrap="square" lIns="45720" rIns="45720" tIns="27432" bIns="27432" anchor="t">
            <a:spAutoFit/>
          </a:bodyPr>
          <a:lstStyle/>
          <a:p>
            <a:pPr algn="l">
              <a:spcAft>
                <a:spcPts val="600"/>
              </a:spcAft>
            </a:pPr>
            <a:r>
              <a:rPr sz="1500" b="1" i="0">
                <a:solidFill>
                  <a:srgbClr val="1F4E79"/>
                </a:solidFill>
                <a:latin typeface="Arial"/>
              </a:rPr>
              <a:t>Optical eigenproblem</a:t>
            </a:r>
          </a:p>
          <a:p>
            <a:pPr algn="l" marL="256032" indent="-201168">
              <a:spcAft>
                <a:spcPts val="600"/>
              </a:spcAft>
              <a:buFont typeface="Arial"/>
              <a:buChar char="•"/>
            </a:pPr>
            <a:r>
              <a:rPr sz="1300" b="0" i="0">
                <a:solidFill>
                  <a:srgbClr val="222222"/>
                </a:solidFill>
                <a:latin typeface="Arial"/>
              </a:rPr>
              <a:t>Full-vector FEM, Nédélec N1 × Lagrange P1 elements (femwell / scikit-fem), anisotropic LN (nₑ, nₒ) and lossy gold</a:t>
            </a:r>
          </a:p>
          <a:p>
            <a:pPr algn="l" marL="256032" indent="-201168">
              <a:spcAft>
                <a:spcPts val="600"/>
              </a:spcAft>
              <a:buFont typeface="Arial"/>
              <a:buChar char="•"/>
            </a:pPr>
            <a:r>
              <a:rPr sz="1300" b="0" i="0">
                <a:solidFill>
                  <a:srgbClr val="222222"/>
                </a:solidFill>
                <a:latin typeface="Arial"/>
              </a:rPr>
              <a:t>ARPACK shift-invert around n = 1.8755; fundamental TE mode picked by TE fraction, core power and unipolarity</a:t>
            </a:r>
          </a:p>
          <a:p>
            <a:pPr algn="l" marL="256032" indent="-201168">
              <a:spcAft>
                <a:spcPts val="600"/>
              </a:spcAft>
              <a:buFont typeface="Arial"/>
              <a:buChar char="•"/>
            </a:pPr>
            <a:r>
              <a:rPr sz="1300" b="0" i="0">
                <a:solidFill>
                  <a:srgbClr val="222222"/>
                </a:solidFill>
                <a:latin typeface="Arial"/>
              </a:rPr>
              <a:t>Gold: ε = −120.7 − 11.9 j; nₑ = 2.1368, nₒ = 2.2103, n(SiO₂) = 1.4387</a:t>
            </a:r>
          </a:p>
          <a:p>
            <a:pPr algn="l">
              <a:spcAft>
                <a:spcPts val="600"/>
              </a:spcAft>
            </a:pPr>
            <a:r>
              <a:rPr sz="1500" b="1" i="0">
                <a:solidFill>
                  <a:srgbClr val="1F4E79"/>
                </a:solidFill>
                <a:latin typeface="Arial"/>
              </a:rPr>
              <a:t>Electrostatics</a:t>
            </a:r>
          </a:p>
          <a:p>
            <a:pPr algn="l" marL="256032" indent="-201168">
              <a:spcAft>
                <a:spcPts val="600"/>
              </a:spcAft>
              <a:buFont typeface="Arial"/>
              <a:buChar char="•"/>
            </a:pPr>
            <a:r>
              <a:rPr sz="1300" b="0" i="0">
                <a:solidFill>
                  <a:srgbClr val="222222"/>
                </a:solidFill>
                <a:latin typeface="Arial"/>
              </a:rPr>
              <a:t>Anisotropic Laplace (ε_DC LN = 28 / 44), whole electrode body pinned (volumetric Dirichlet), 1 V bias</a:t>
            </a:r>
          </a:p>
          <a:p>
            <a:pPr algn="l">
              <a:spcAft>
                <a:spcPts val="600"/>
              </a:spcAft>
            </a:pPr>
            <a:r>
              <a:rPr sz="1500" b="1" i="0">
                <a:solidFill>
                  <a:srgbClr val="1F4E79"/>
                </a:solidFill>
                <a:latin typeface="Arial"/>
              </a:rPr>
              <a:t>Figures of merit</a:t>
            </a:r>
          </a:p>
          <a:p>
            <a:pPr algn="l" marL="256032" indent="-201168">
              <a:spcAft>
                <a:spcPts val="600"/>
              </a:spcAft>
              <a:buFont typeface="Arial"/>
              <a:buChar char="•"/>
            </a:pPr>
            <a:r>
              <a:rPr sz="1300" b="0" i="0">
                <a:solidFill>
                  <a:srgbClr val="222222"/>
                </a:solidFill>
                <a:latin typeface="Arial"/>
              </a:rPr>
              <a:t>Γ = (g/V) ∫ E_x,DC |E_x,opt|² dA / ∫ |E_x,opt|² dA  (over LN)</a:t>
            </a:r>
          </a:p>
          <a:p>
            <a:pPr algn="l" marL="256032" indent="-201168">
              <a:spcAft>
                <a:spcPts val="600"/>
              </a:spcAft>
              <a:buFont typeface="Arial"/>
              <a:buChar char="•"/>
            </a:pPr>
            <a:r>
              <a:rPr sz="1300" b="0" i="0">
                <a:solidFill>
                  <a:srgbClr val="222222"/>
                </a:solidFill>
                <a:latin typeface="Arial"/>
              </a:rPr>
              <a:t>Vπ·L = g λ₀ / (2 nₑ³ r₃₃ Γ),  r₃₃ = 30.8 pm/V</a:t>
            </a:r>
          </a:p>
          <a:p>
            <a:pPr algn="l" marL="256032" indent="-201168">
              <a:spcAft>
                <a:spcPts val="600"/>
              </a:spcAft>
              <a:buFont typeface="Arial"/>
              <a:buChar char="•"/>
            </a:pPr>
            <a:r>
              <a:rPr sz="1300" b="0" i="0">
                <a:solidFill>
                  <a:srgbClr val="222222"/>
                </a:solidFill>
                <a:latin typeface="Arial"/>
              </a:rPr>
              <a:t>IL [dB/cm] = 20 log₁₀(e) · k₀ · |Im(n_eff)| / 100</a:t>
            </a:r>
          </a:p>
        </p:txBody>
      </p:sp>
      <p:sp>
        <p:nvSpPr>
          <p:cNvPr id="4" name="Rounded Rectangle 3"/>
          <p:cNvSpPr/>
          <p:nvPr/>
        </p:nvSpPr>
        <p:spPr>
          <a:xfrm>
            <a:off x="6492240" y="1417320"/>
            <a:ext cx="5212080" cy="160020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1F4E79"/>
                </a:solidFill>
                <a:latin typeface="Arial"/>
              </a:rPr>
              <a:t>Loss bookkeeping check</a:t>
            </a:r>
          </a:p>
          <a:p>
            <a:pPr algn="l">
              <a:spcAft>
                <a:spcPts val="500"/>
              </a:spcAft>
            </a:pPr>
            <a:r>
              <a:rPr sz="1200" b="0" i="0">
                <a:solidFill>
                  <a:srgbClr val="222222"/>
                </a:solidFill>
                <a:latin typeface="Arial"/>
              </a:rPr>
              <a:t>The ohmic absorption ∫ Im(ε)|E|² dA over the gold, divided by |Im(n_eff)|, is the same constant (7.54–7.55 × 10⁸) in every run: IL is entirely gold absorption, and the absorbed-power maps shown later are quantitatively consistent with IL.</a:t>
            </a:r>
          </a:p>
        </p:txBody>
      </p:sp>
      <p:sp>
        <p:nvSpPr>
          <p:cNvPr id="5" name="Rounded Rectangle 4"/>
          <p:cNvSpPr/>
          <p:nvPr/>
        </p:nvSpPr>
        <p:spPr>
          <a:xfrm>
            <a:off x="6492240" y="3246120"/>
            <a:ext cx="5212080" cy="137160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1F4E79"/>
                </a:solidFill>
                <a:latin typeface="Arial"/>
              </a:rPr>
              <a:t>Runtime</a:t>
            </a:r>
          </a:p>
          <a:p>
            <a:pPr algn="l">
              <a:spcAft>
                <a:spcPts val="500"/>
              </a:spcAft>
            </a:pPr>
            <a:r>
              <a:rPr sz="1200" b="0" i="0">
                <a:solidFill>
                  <a:srgbClr val="222222"/>
                </a:solidFill>
                <a:latin typeface="Arial"/>
              </a:rPr>
              <a:t>Production mesh: 74 k triangles, ≈ 80 s for a 10-mode search on the full notebook (cells 0–5).</a:t>
            </a:r>
          </a:p>
          <a:p>
            <a:pPr algn="l">
              <a:spcAft>
                <a:spcPts val="500"/>
              </a:spcAft>
            </a:pPr>
            <a:r>
              <a:rPr sz="1200" b="0" i="0">
                <a:solidFill>
                  <a:srgbClr val="222222"/>
                </a:solidFill>
                <a:latin typeface="Arial"/>
              </a:rPr>
              <a:t>Timing on the cloud machine reproduces the reference notebook to within 2 % (46 s vs 47 s), so timings transfer to the workstation.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Meshing: a femwell bug and its fix</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The resolution dictionary did not describe the mesh that was actually built</a:t>
            </a:r>
          </a:p>
        </p:txBody>
      </p:sp>
      <p:sp>
        <p:nvSpPr>
          <p:cNvPr id="4" name="TextBox 3"/>
          <p:cNvSpPr txBox="1"/>
          <p:nvPr/>
        </p:nvSpPr>
        <p:spPr>
          <a:xfrm>
            <a:off x="502920" y="1600200"/>
            <a:ext cx="5486400" cy="4480560"/>
          </a:xfrm>
          <a:prstGeom prst="rect">
            <a:avLst/>
          </a:prstGeom>
          <a:noFill/>
        </p:spPr>
        <p:txBody>
          <a:bodyPr wrap="square" lIns="45720" rIns="45720" tIns="27432" bIns="27432" anchor="t">
            <a:spAutoFit/>
          </a:bodyPr>
          <a:lstStyle/>
          <a:p>
            <a:pPr algn="l">
              <a:spcAft>
                <a:spcPts val="600"/>
              </a:spcAft>
            </a:pPr>
            <a:r>
              <a:rPr sz="1300" b="0" i="0">
                <a:solidFill>
                  <a:srgbClr val="222222"/>
                </a:solidFill>
                <a:latin typeface="Arial"/>
              </a:rPr>
              <a:t>mesh_from_OrderedDict() intends to switch off gmsh's “extend mesh size from boundary”, but writes</a:t>
            </a:r>
          </a:p>
          <a:p>
            <a:pPr algn="l">
              <a:spcAft>
                <a:spcPts val="600"/>
              </a:spcAft>
            </a:pPr>
            <a:r>
              <a:rPr sz="1200" b="0" i="0">
                <a:solidFill>
                  <a:srgbClr val="1F4E79"/>
                </a:solidFill>
                <a:latin typeface="Arial"/>
              </a:rPr>
              <a:t>gmsh.model.mesh.MeshSizeExtendFromBoundary = 0</a:t>
            </a:r>
          </a:p>
          <a:p>
            <a:pPr algn="l">
              <a:spcAft>
                <a:spcPts val="600"/>
              </a:spcAft>
            </a:pPr>
            <a:r>
              <a:rPr sz="1300" b="0" i="0">
                <a:solidFill>
                  <a:srgbClr val="222222"/>
                </a:solidFill>
                <a:latin typeface="Arial"/>
              </a:rPr>
              <a:t>which only sets a Python attribute: the gmsh option is never changed.</a:t>
            </a:r>
          </a:p>
          <a:p>
            <a:pPr algn="l" marL="256032" indent="-201168">
              <a:spcAft>
                <a:spcPts val="600"/>
              </a:spcAft>
              <a:buFont typeface="Arial"/>
              <a:buChar char="•"/>
            </a:pPr>
            <a:r>
              <a:rPr sz="1300" b="0" i="0">
                <a:solidFill>
                  <a:srgbClr val="222222"/>
                </a:solidFill>
                <a:latin typeface="Arial"/>
              </a:rPr>
              <a:t>Consequence: every fine region leaks its size deep into its neighbours.</a:t>
            </a:r>
          </a:p>
          <a:p>
            <a:pPr algn="l" marL="256032" indent="-201168">
              <a:spcAft>
                <a:spcPts val="600"/>
              </a:spcAft>
              <a:buFont typeface="Arial"/>
              <a:buChar char="•"/>
            </a:pPr>
            <a:r>
              <a:rPr sz="1300" b="0" i="0">
                <a:solidFill>
                  <a:srgbClr val="222222"/>
                </a:solidFill>
                <a:latin typeface="Arial"/>
              </a:rPr>
              <a:t>Past notebooks were still converged, but on a much finer mesh than the dictionary says.</a:t>
            </a:r>
          </a:p>
          <a:p>
            <a:pPr algn="l" marL="256032" indent="-201168">
              <a:spcAft>
                <a:spcPts val="600"/>
              </a:spcAft>
              <a:buFont typeface="Arial"/>
              <a:buChar char="•"/>
            </a:pPr>
            <a:r>
              <a:rPr sz="1300" b="0" i="0">
                <a:solidFill>
                  <a:srgbClr val="222222"/>
                </a:solidFill>
                <a:latin typeface="Arial"/>
              </a:rPr>
              <a:t>Fix (now at the top of cell 0): wrap setAsBackgroundMesh and apply gmsh.option.setNumber("Mesh.MeshSizeExtendFromBoundary", 0) (plus FromPoints / FromCurvature).</a:t>
            </a:r>
          </a:p>
          <a:p>
            <a:pPr algn="l" marL="256032" indent="-201168">
              <a:spcAft>
                <a:spcPts val="600"/>
              </a:spcAft>
              <a:buFont typeface="Arial"/>
              <a:buChar char="•"/>
            </a:pPr>
            <a:r>
              <a:rPr sz="1300" b="0" i="0">
                <a:solidFill>
                  <a:srgbClr val="222222"/>
                </a:solidFill>
                <a:latin typeface="Arial"/>
              </a:rPr>
              <a:t>All resolutions re-converged with the fix in place. Do not paste the fix into older notebooks without re-converging them.</a:t>
            </a:r>
          </a:p>
        </p:txBody>
      </p:sp>
      <p:graphicFrame>
        <p:nvGraphicFramePr>
          <p:cNvPr id="5" name="Table 4"/>
          <p:cNvGraphicFramePr>
            <a:graphicFrameLocks noGrp="1"/>
          </p:cNvGraphicFramePr>
          <p:nvPr/>
        </p:nvGraphicFramePr>
        <p:xfrm>
          <a:off x="6309360" y="1691640"/>
          <a:ext cx="5394960" cy="1828800"/>
        </p:xfrm>
        <a:graphic>
          <a:graphicData uri="http://schemas.openxmlformats.org/drawingml/2006/table">
            <a:tbl>
              <a:tblPr firstRow="1" bandRow="1"/>
              <a:tblGrid>
                <a:gridCol w="2194560"/>
                <a:gridCol w="1005840"/>
                <a:gridCol w="1097280"/>
                <a:gridCol w="1097280"/>
              </a:tblGrid>
              <a:tr h="365760">
                <a:tc>
                  <a:txBody>
                    <a:bodyPr wrap="square"/>
                    <a:lstStyle/>
                    <a:p>
                      <a:pPr algn="l"/>
                      <a:r>
                        <a:rPr sz="1200" b="1" i="0">
                          <a:solidFill>
                            <a:srgbClr val="FFFFFF"/>
                          </a:solidFill>
                          <a:latin typeface="Arial"/>
                        </a:rPr>
                        <a:t>Region</a:t>
                      </a:r>
                    </a:p>
                  </a:txBody>
                  <a:tcPr marL="54864" marR="54864" marT="18288" marB="18288" anchor="ctr">
                    <a:solidFill>
                      <a:srgbClr val="1F4E79"/>
                    </a:solidFill>
                  </a:tcPr>
                </a:tc>
                <a:tc>
                  <a:txBody>
                    <a:bodyPr wrap="square"/>
                    <a:lstStyle/>
                    <a:p>
                      <a:pPr algn="ctr"/>
                      <a:r>
                        <a:rPr sz="1200" b="1" i="0">
                          <a:solidFill>
                            <a:srgbClr val="FFFFFF"/>
                          </a:solidFill>
                          <a:latin typeface="Arial"/>
                        </a:rPr>
                        <a:t>Nominal</a:t>
                      </a:r>
                    </a:p>
                  </a:txBody>
                  <a:tcPr marL="54864" marR="54864" marT="18288" marB="18288" anchor="ctr">
                    <a:solidFill>
                      <a:srgbClr val="1F4E79"/>
                    </a:solidFill>
                  </a:tcPr>
                </a:tc>
                <a:tc>
                  <a:txBody>
                    <a:bodyPr wrap="square"/>
                    <a:lstStyle/>
                    <a:p>
                      <a:pPr algn="ctr"/>
                      <a:r>
                        <a:rPr sz="1200" b="1" i="0">
                          <a:solidFill>
                            <a:srgbClr val="FFFFFF"/>
                          </a:solidFill>
                          <a:latin typeface="Arial"/>
                        </a:rPr>
                        <a:t>Actual (bug)</a:t>
                      </a:r>
                    </a:p>
                  </a:txBody>
                  <a:tcPr marL="54864" marR="54864" marT="18288" marB="18288" anchor="ctr">
                    <a:solidFill>
                      <a:srgbClr val="1F4E79"/>
                    </a:solidFill>
                  </a:tcPr>
                </a:tc>
                <a:tc>
                  <a:txBody>
                    <a:bodyPr wrap="square"/>
                    <a:lstStyle/>
                    <a:p>
                      <a:pPr algn="ctr"/>
                      <a:r>
                        <a:rPr sz="1200" b="1" i="0">
                          <a:solidFill>
                            <a:srgbClr val="FFFFFF"/>
                          </a:solidFill>
                          <a:latin typeface="Arial"/>
                        </a:rPr>
                        <a:t>Actual (fixed)</a:t>
                      </a:r>
                    </a:p>
                  </a:txBody>
                  <a:tcPr marL="54864" marR="54864" marT="18288" marB="18288" anchor="ctr">
                    <a:solidFill>
                      <a:srgbClr val="1F4E79"/>
                    </a:solidFill>
                  </a:tcPr>
                </a:tc>
              </a:tr>
              <a:tr h="365760">
                <a:tc>
                  <a:txBody>
                    <a:bodyPr wrap="square"/>
                    <a:lstStyle/>
                    <a:p>
                      <a:pPr algn="l"/>
                      <a:r>
                        <a:rPr sz="1200" b="0" i="0">
                          <a:solidFill>
                            <a:srgbClr val="222222"/>
                          </a:solidFill>
                          <a:latin typeface="Arial"/>
                        </a:rPr>
                        <a:t>LN slab near gap</a:t>
                      </a:r>
                    </a:p>
                  </a:txBody>
                  <a:tcPr marL="54864" marR="54864" marT="18288" marB="18288" anchor="ctr">
                    <a:solidFill>
                      <a:srgbClr val="F4F6F9"/>
                    </a:solidFill>
                  </a:tcPr>
                </a:tc>
                <a:tc>
                  <a:txBody>
                    <a:bodyPr wrap="square"/>
                    <a:lstStyle/>
                    <a:p>
                      <a:pPr algn="ctr"/>
                      <a:r>
                        <a:rPr sz="1200" b="0" i="0">
                          <a:solidFill>
                            <a:srgbClr val="222222"/>
                          </a:solidFill>
                          <a:latin typeface="Arial"/>
                        </a:rPr>
                        <a:t>50 nm</a:t>
                      </a:r>
                    </a:p>
                  </a:txBody>
                  <a:tcPr marL="54864" marR="54864" marT="18288" marB="18288" anchor="ctr">
                    <a:solidFill>
                      <a:srgbClr val="F4F6F9"/>
                    </a:solidFill>
                  </a:tcPr>
                </a:tc>
                <a:tc>
                  <a:txBody>
                    <a:bodyPr wrap="square"/>
                    <a:lstStyle/>
                    <a:p>
                      <a:pPr algn="ctr"/>
                      <a:r>
                        <a:rPr sz="1200" b="0" i="0">
                          <a:solidFill>
                            <a:srgbClr val="222222"/>
                          </a:solidFill>
                          <a:latin typeface="Arial"/>
                        </a:rPr>
                        <a:t>17 nm</a:t>
                      </a:r>
                    </a:p>
                  </a:txBody>
                  <a:tcPr marL="54864" marR="54864" marT="18288" marB="18288" anchor="ctr">
                    <a:solidFill>
                      <a:srgbClr val="F4F6F9"/>
                    </a:solidFill>
                  </a:tcPr>
                </a:tc>
                <a:tc>
                  <a:txBody>
                    <a:bodyPr wrap="square"/>
                    <a:lstStyle/>
                    <a:p>
                      <a:pPr algn="ctr"/>
                      <a:r>
                        <a:rPr sz="1200" b="0" i="0">
                          <a:solidFill>
                            <a:srgbClr val="222222"/>
                          </a:solidFill>
                          <a:latin typeface="Arial"/>
                        </a:rPr>
                        <a:t>43 nm</a:t>
                      </a:r>
                    </a:p>
                  </a:txBody>
                  <a:tcPr marL="54864" marR="54864" marT="18288" marB="18288" anchor="ctr">
                    <a:solidFill>
                      <a:srgbClr val="F4F6F9"/>
                    </a:solidFill>
                  </a:tcPr>
                </a:tc>
              </a:tr>
              <a:tr h="365760">
                <a:tc>
                  <a:txBody>
                    <a:bodyPr wrap="square"/>
                    <a:lstStyle/>
                    <a:p>
                      <a:pPr algn="l"/>
                      <a:r>
                        <a:rPr sz="1200" b="0" i="0">
                          <a:solidFill>
                            <a:srgbClr val="222222"/>
                          </a:solidFill>
                          <a:latin typeface="Arial"/>
                        </a:rPr>
                        <a:t>Air in the gap</a:t>
                      </a:r>
                    </a:p>
                  </a:txBody>
                  <a:tcPr marL="54864" marR="54864" marT="18288" marB="18288" anchor="ctr">
                    <a:solidFill>
                      <a:srgbClr val="DDE3EA"/>
                    </a:solidFill>
                  </a:tcPr>
                </a:tc>
                <a:tc>
                  <a:txBody>
                    <a:bodyPr wrap="square"/>
                    <a:lstStyle/>
                    <a:p>
                      <a:pPr algn="ctr"/>
                      <a:r>
                        <a:rPr sz="1200" b="0" i="0">
                          <a:solidFill>
                            <a:srgbClr val="222222"/>
                          </a:solidFill>
                          <a:latin typeface="Arial"/>
                        </a:rPr>
                        <a:t>80 nm</a:t>
                      </a:r>
                    </a:p>
                  </a:txBody>
                  <a:tcPr marL="54864" marR="54864" marT="18288" marB="18288" anchor="ctr">
                    <a:solidFill>
                      <a:srgbClr val="DDE3EA"/>
                    </a:solidFill>
                  </a:tcPr>
                </a:tc>
                <a:tc>
                  <a:txBody>
                    <a:bodyPr wrap="square"/>
                    <a:lstStyle/>
                    <a:p>
                      <a:pPr algn="ctr"/>
                      <a:r>
                        <a:rPr sz="1200" b="0" i="0">
                          <a:solidFill>
                            <a:srgbClr val="222222"/>
                          </a:solidFill>
                          <a:latin typeface="Arial"/>
                        </a:rPr>
                        <a:t>20 nm</a:t>
                      </a:r>
                    </a:p>
                  </a:txBody>
                  <a:tcPr marL="54864" marR="54864" marT="18288" marB="18288" anchor="ctr">
                    <a:solidFill>
                      <a:srgbClr val="DDE3EA"/>
                    </a:solidFill>
                  </a:tcPr>
                </a:tc>
                <a:tc>
                  <a:txBody>
                    <a:bodyPr wrap="square"/>
                    <a:lstStyle/>
                    <a:p>
                      <a:pPr algn="ctr"/>
                      <a:r>
                        <a:rPr sz="1200" b="0" i="0">
                          <a:solidFill>
                            <a:srgbClr val="222222"/>
                          </a:solidFill>
                          <a:latin typeface="Arial"/>
                        </a:rPr>
                        <a:t>67 nm</a:t>
                      </a:r>
                    </a:p>
                  </a:txBody>
                  <a:tcPr marL="54864" marR="54864" marT="18288" marB="18288" anchor="ctr">
                    <a:solidFill>
                      <a:srgbClr val="DDE3EA"/>
                    </a:solidFill>
                  </a:tcPr>
                </a:tc>
              </a:tr>
              <a:tr h="365760">
                <a:tc>
                  <a:txBody>
                    <a:bodyPr wrap="square"/>
                    <a:lstStyle/>
                    <a:p>
                      <a:pPr algn="l"/>
                      <a:r>
                        <a:rPr sz="1200" b="0" i="0">
                          <a:solidFill>
                            <a:srgbClr val="222222"/>
                          </a:solidFill>
                          <a:latin typeface="Arial"/>
                        </a:rPr>
                        <a:t>Electrode bulk</a:t>
                      </a:r>
                    </a:p>
                  </a:txBody>
                  <a:tcPr marL="54864" marR="54864" marT="18288" marB="18288" anchor="ctr">
                    <a:solidFill>
                      <a:srgbClr val="F4F6F9"/>
                    </a:solidFill>
                  </a:tcPr>
                </a:tc>
                <a:tc>
                  <a:txBody>
                    <a:bodyPr wrap="square"/>
                    <a:lstStyle/>
                    <a:p>
                      <a:pPr algn="ctr"/>
                      <a:r>
                        <a:rPr sz="1200" b="0" i="0">
                          <a:solidFill>
                            <a:srgbClr val="222222"/>
                          </a:solidFill>
                          <a:latin typeface="Arial"/>
                        </a:rPr>
                        <a:t>800 nm</a:t>
                      </a:r>
                    </a:p>
                  </a:txBody>
                  <a:tcPr marL="54864" marR="54864" marT="18288" marB="18288" anchor="ctr">
                    <a:solidFill>
                      <a:srgbClr val="F4F6F9"/>
                    </a:solidFill>
                  </a:tcPr>
                </a:tc>
                <a:tc>
                  <a:txBody>
                    <a:bodyPr wrap="square"/>
                    <a:lstStyle/>
                    <a:p>
                      <a:pPr algn="ctr"/>
                      <a:r>
                        <a:rPr sz="1200" b="0" i="0">
                          <a:solidFill>
                            <a:srgbClr val="222222"/>
                          </a:solidFill>
                          <a:latin typeface="Arial"/>
                        </a:rPr>
                        <a:t>18 nm</a:t>
                      </a:r>
                    </a:p>
                  </a:txBody>
                  <a:tcPr marL="54864" marR="54864" marT="18288" marB="18288" anchor="ctr">
                    <a:solidFill>
                      <a:srgbClr val="F4F6F9"/>
                    </a:solidFill>
                  </a:tcPr>
                </a:tc>
                <a:tc>
                  <a:txBody>
                    <a:bodyPr wrap="square"/>
                    <a:lstStyle/>
                    <a:p>
                      <a:pPr algn="ctr"/>
                      <a:r>
                        <a:rPr sz="1200" b="0" i="0">
                          <a:solidFill>
                            <a:srgbClr val="222222"/>
                          </a:solidFill>
                          <a:latin typeface="Arial"/>
                        </a:rPr>
                        <a:t>59 nm</a:t>
                      </a:r>
                    </a:p>
                  </a:txBody>
                  <a:tcPr marL="54864" marR="54864" marT="18288" marB="18288" anchor="ctr">
                    <a:solidFill>
                      <a:srgbClr val="F4F6F9"/>
                    </a:solidFill>
                  </a:tcPr>
                </a:tc>
              </a:tr>
              <a:tr h="365760">
                <a:tc>
                  <a:txBody>
                    <a:bodyPr wrap="square"/>
                    <a:lstStyle/>
                    <a:p>
                      <a:pPr algn="l"/>
                      <a:r>
                        <a:rPr sz="1200" b="0" i="0">
                          <a:solidFill>
                            <a:srgbClr val="222222"/>
                          </a:solidFill>
                          <a:latin typeface="Arial"/>
                        </a:rPr>
                        <a:t>12 nm gold skin: total mesh</a:t>
                      </a:r>
                    </a:p>
                  </a:txBody>
                  <a:tcPr marL="54864" marR="54864" marT="18288" marB="18288" anchor="ctr">
                    <a:solidFill>
                      <a:srgbClr val="DDE3EA"/>
                    </a:solidFill>
                  </a:tcPr>
                </a:tc>
                <a:tc>
                  <a:txBody>
                    <a:bodyPr wrap="square"/>
                    <a:lstStyle/>
                    <a:p>
                      <a:pPr algn="ctr"/>
                      <a:r>
                        <a:rPr sz="1200" b="0" i="0">
                          <a:solidFill>
                            <a:srgbClr val="222222"/>
                          </a:solidFill>
                          <a:latin typeface="Arial"/>
                        </a:rPr>
                        <a:t>—</a:t>
                      </a:r>
                    </a:p>
                  </a:txBody>
                  <a:tcPr marL="54864" marR="54864" marT="18288" marB="18288" anchor="ctr">
                    <a:solidFill>
                      <a:srgbClr val="DDE3EA"/>
                    </a:solidFill>
                  </a:tcPr>
                </a:tc>
                <a:tc>
                  <a:txBody>
                    <a:bodyPr wrap="square"/>
                    <a:lstStyle/>
                    <a:p>
                      <a:pPr algn="ctr"/>
                      <a:r>
                        <a:rPr sz="1200" b="0" i="0">
                          <a:solidFill>
                            <a:srgbClr val="222222"/>
                          </a:solidFill>
                          <a:latin typeface="Arial"/>
                        </a:rPr>
                        <a:t>122 k tri</a:t>
                      </a:r>
                    </a:p>
                  </a:txBody>
                  <a:tcPr marL="54864" marR="54864" marT="18288" marB="18288" anchor="ctr">
                    <a:solidFill>
                      <a:srgbClr val="DDE3EA"/>
                    </a:solidFill>
                  </a:tcPr>
                </a:tc>
                <a:tc>
                  <a:txBody>
                    <a:bodyPr wrap="square"/>
                    <a:lstStyle/>
                    <a:p>
                      <a:pPr algn="ctr"/>
                      <a:r>
                        <a:rPr sz="1200" b="0" i="0">
                          <a:solidFill>
                            <a:srgbClr val="222222"/>
                          </a:solidFill>
                          <a:latin typeface="Arial"/>
                        </a:rPr>
                        <a:t>62 k tri</a:t>
                      </a:r>
                    </a:p>
                  </a:txBody>
                  <a:tcPr marL="54864" marR="54864" marT="18288" marB="18288" anchor="ctr">
                    <a:solidFill>
                      <a:srgbClr val="DDE3EA"/>
                    </a:solidFill>
                  </a:tcPr>
                </a:tc>
              </a:tr>
            </a:tbl>
          </a:graphicData>
        </a:graphic>
      </p:graphicFrame>
      <p:sp>
        <p:nvSpPr>
          <p:cNvPr id="6" name="Rounded Rectangle 5"/>
          <p:cNvSpPr/>
          <p:nvPr/>
        </p:nvSpPr>
        <p:spPr>
          <a:xfrm>
            <a:off x="6309360" y="3840480"/>
            <a:ext cx="5394960" cy="141732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1F4E79"/>
                </a:solidFill>
                <a:latin typeface="Arial"/>
              </a:rPr>
              <a:t>Why it matters here</a:t>
            </a:r>
          </a:p>
          <a:p>
            <a:pPr algn="l">
              <a:spcAft>
                <a:spcPts val="500"/>
              </a:spcAft>
            </a:pPr>
            <a:r>
              <a:rPr sz="1200" b="0" i="0">
                <a:solidFill>
                  <a:srgbClr val="222222"/>
                </a:solidFill>
                <a:latin typeface="Arial"/>
              </a:rPr>
              <a:t>With the gold directly on LN, the surface wave decays into the gold over ≈ 22 nm and the gold skin needs 12 nm elements along the whole lower block. Without the fix this alone doubles the mesh; with it the full model fits the 90 s budget.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Mesh convergence</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Every refinement test against a 265 k-triangle reference; production mesh 74 k triangles</a:t>
            </a:r>
          </a:p>
        </p:txBody>
      </p:sp>
      <p:graphicFrame>
        <p:nvGraphicFramePr>
          <p:cNvPr id="4" name="Table 3"/>
          <p:cNvGraphicFramePr>
            <a:graphicFrameLocks noGrp="1"/>
          </p:cNvGraphicFramePr>
          <p:nvPr/>
        </p:nvGraphicFramePr>
        <p:xfrm>
          <a:off x="502920" y="1645920"/>
          <a:ext cx="7315200" cy="3291840"/>
        </p:xfrm>
        <a:graphic>
          <a:graphicData uri="http://schemas.openxmlformats.org/drawingml/2006/table">
            <a:tbl>
              <a:tblPr firstRow="1" bandRow="1"/>
              <a:tblGrid>
                <a:gridCol w="4206240"/>
                <a:gridCol w="1188720"/>
                <a:gridCol w="822960"/>
                <a:gridCol w="1097280"/>
              </a:tblGrid>
              <a:tr h="329184">
                <a:tc>
                  <a:txBody>
                    <a:bodyPr wrap="square"/>
                    <a:lstStyle/>
                    <a:p>
                      <a:pPr algn="l"/>
                      <a:r>
                        <a:rPr sz="1100" b="1" i="0">
                          <a:solidFill>
                            <a:srgbClr val="FFFFFF"/>
                          </a:solidFill>
                          <a:latin typeface="Arial"/>
                        </a:rPr>
                        <a:t>Test (production mesh unless stated)</a:t>
                      </a:r>
                    </a:p>
                  </a:txBody>
                  <a:tcPr marL="54864" marR="54864" marT="18288" marB="18288" anchor="ctr">
                    <a:solidFill>
                      <a:srgbClr val="1F4E79"/>
                    </a:solidFill>
                  </a:tcPr>
                </a:tc>
                <a:tc>
                  <a:txBody>
                    <a:bodyPr wrap="square"/>
                    <a:lstStyle/>
                    <a:p>
                      <a:pPr algn="ctr"/>
                      <a:r>
                        <a:rPr sz="1100" b="1" i="0">
                          <a:solidFill>
                            <a:srgbClr val="FFFFFF"/>
                          </a:solidFill>
                          <a:latin typeface="Arial"/>
                        </a:rPr>
                        <a:t>IL [dB/cm]</a:t>
                      </a:r>
                    </a:p>
                  </a:txBody>
                  <a:tcPr marL="54864" marR="54864" marT="18288" marB="18288" anchor="ctr">
                    <a:solidFill>
                      <a:srgbClr val="1F4E79"/>
                    </a:solidFill>
                  </a:tcPr>
                </a:tc>
                <a:tc>
                  <a:txBody>
                    <a:bodyPr wrap="square"/>
                    <a:lstStyle/>
                    <a:p>
                      <a:pPr algn="ctr"/>
                      <a:r>
                        <a:rPr sz="1100" b="1" i="0">
                          <a:solidFill>
                            <a:srgbClr val="FFFFFF"/>
                          </a:solidFill>
                          <a:latin typeface="Arial"/>
                        </a:rPr>
                        <a:t>Change</a:t>
                      </a:r>
                    </a:p>
                  </a:txBody>
                  <a:tcPr marL="54864" marR="54864" marT="18288" marB="18288" anchor="ctr">
                    <a:solidFill>
                      <a:srgbClr val="1F4E79"/>
                    </a:solidFill>
                  </a:tcPr>
                </a:tc>
                <a:tc>
                  <a:txBody>
                    <a:bodyPr wrap="square"/>
                    <a:lstStyle/>
                    <a:p>
                      <a:pPr algn="ctr"/>
                      <a:r>
                        <a:rPr sz="1100" b="1" i="0">
                          <a:solidFill>
                            <a:srgbClr val="FFFFFF"/>
                          </a:solidFill>
                          <a:latin typeface="Arial"/>
                        </a:rPr>
                        <a:t>Vπ·L [V·cm]</a:t>
                      </a:r>
                    </a:p>
                  </a:txBody>
                  <a:tcPr marL="54864" marR="54864" marT="18288" marB="18288" anchor="ctr">
                    <a:solidFill>
                      <a:srgbClr val="1F4E79"/>
                    </a:solidFill>
                  </a:tcPr>
                </a:tc>
              </a:tr>
              <a:tr h="329184">
                <a:tc>
                  <a:txBody>
                    <a:bodyPr wrap="square"/>
                    <a:lstStyle/>
                    <a:p>
                      <a:pPr algn="l"/>
                      <a:r>
                        <a:rPr sz="1100" b="0" i="0">
                          <a:solidFill>
                            <a:srgbClr val="222222"/>
                          </a:solidFill>
                          <a:latin typeface="Arial"/>
                        </a:rPr>
                        <a:t>Reference: all regions near the mode ×1.5–2 finer (265 k)</a:t>
                      </a:r>
                    </a:p>
                  </a:txBody>
                  <a:tcPr marL="54864" marR="54864" marT="18288" marB="18288" anchor="ctr">
                    <a:solidFill>
                      <a:srgbClr val="F4F6F9"/>
                    </a:solidFill>
                  </a:tcPr>
                </a:tc>
                <a:tc>
                  <a:txBody>
                    <a:bodyPr wrap="square"/>
                    <a:lstStyle/>
                    <a:p>
                      <a:pPr algn="ctr"/>
                      <a:r>
                        <a:rPr sz="1100" b="0" i="0">
                          <a:solidFill>
                            <a:srgbClr val="222222"/>
                          </a:solidFill>
                          <a:latin typeface="Arial"/>
                        </a:rPr>
                        <a:t>0.2218</a:t>
                      </a:r>
                    </a:p>
                  </a:txBody>
                  <a:tcPr marL="54864" marR="54864" marT="18288" marB="18288" anchor="ctr">
                    <a:solidFill>
                      <a:srgbClr val="F4F6F9"/>
                    </a:solidFill>
                  </a:tcPr>
                </a:tc>
                <a:tc>
                  <a:txBody>
                    <a:bodyPr wrap="square"/>
                    <a:lstStyle/>
                    <a:p>
                      <a:pPr algn="ctr"/>
                      <a:r>
                        <a:rPr sz="1100" b="0" i="0">
                          <a:solidFill>
                            <a:srgbClr val="222222"/>
                          </a:solidFill>
                          <a:latin typeface="Arial"/>
                        </a:rPr>
                        <a:t>—</a:t>
                      </a:r>
                    </a:p>
                  </a:txBody>
                  <a:tcPr marL="54864" marR="54864" marT="18288" marB="18288" anchor="ctr">
                    <a:solidFill>
                      <a:srgbClr val="F4F6F9"/>
                    </a:solidFill>
                  </a:tcPr>
                </a:tc>
                <a:tc>
                  <a:txBody>
                    <a:bodyPr wrap="square"/>
                    <a:lstStyle/>
                    <a:p>
                      <a:pPr algn="ctr"/>
                      <a:r>
                        <a:rPr sz="1100" b="0" i="0">
                          <a:solidFill>
                            <a:srgbClr val="222222"/>
                          </a:solidFill>
                          <a:latin typeface="Arial"/>
                        </a:rPr>
                        <a:t>2.2659</a:t>
                      </a:r>
                    </a:p>
                  </a:txBody>
                  <a:tcPr marL="54864" marR="54864" marT="18288" marB="18288" anchor="ctr">
                    <a:solidFill>
                      <a:srgbClr val="F4F6F9"/>
                    </a:solidFill>
                  </a:tcPr>
                </a:tc>
              </a:tr>
              <a:tr h="329184">
                <a:tc>
                  <a:txBody>
                    <a:bodyPr wrap="square"/>
                    <a:lstStyle/>
                    <a:p>
                      <a:pPr algn="l"/>
                      <a:r>
                        <a:rPr sz="1100" b="0" i="0">
                          <a:solidFill>
                            <a:srgbClr val="222222"/>
                          </a:solidFill>
                          <a:latin typeface="Arial"/>
                        </a:rPr>
                        <a:t>Production mesh (74 k, ≈ 80 s / 10 modes)</a:t>
                      </a:r>
                    </a:p>
                  </a:txBody>
                  <a:tcPr marL="54864" marR="54864" marT="18288" marB="18288" anchor="ctr">
                    <a:solidFill>
                      <a:srgbClr val="FDE9D9"/>
                    </a:solidFill>
                  </a:tcPr>
                </a:tc>
                <a:tc>
                  <a:txBody>
                    <a:bodyPr wrap="square"/>
                    <a:lstStyle/>
                    <a:p>
                      <a:pPr algn="ctr"/>
                      <a:r>
                        <a:rPr sz="1100" b="0" i="0">
                          <a:solidFill>
                            <a:srgbClr val="222222"/>
                          </a:solidFill>
                          <a:latin typeface="Arial"/>
                        </a:rPr>
                        <a:t>0.2216</a:t>
                      </a:r>
                    </a:p>
                  </a:txBody>
                  <a:tcPr marL="54864" marR="54864" marT="18288" marB="18288" anchor="ctr">
                    <a:solidFill>
                      <a:srgbClr val="FDE9D9"/>
                    </a:solidFill>
                  </a:tcPr>
                </a:tc>
                <a:tc>
                  <a:txBody>
                    <a:bodyPr wrap="square"/>
                    <a:lstStyle/>
                    <a:p>
                      <a:pPr algn="ctr"/>
                      <a:r>
                        <a:rPr sz="1100" b="0" i="0">
                          <a:solidFill>
                            <a:srgbClr val="222222"/>
                          </a:solidFill>
                          <a:latin typeface="Arial"/>
                        </a:rPr>
                        <a:t>−0.1 %</a:t>
                      </a:r>
                    </a:p>
                  </a:txBody>
                  <a:tcPr marL="54864" marR="54864" marT="18288" marB="18288" anchor="ctr">
                    <a:solidFill>
                      <a:srgbClr val="FDE9D9"/>
                    </a:solidFill>
                  </a:tcPr>
                </a:tc>
                <a:tc>
                  <a:txBody>
                    <a:bodyPr wrap="square"/>
                    <a:lstStyle/>
                    <a:p>
                      <a:pPr algn="ctr"/>
                      <a:r>
                        <a:rPr sz="1100" b="0" i="0">
                          <a:solidFill>
                            <a:srgbClr val="222222"/>
                          </a:solidFill>
                          <a:latin typeface="Arial"/>
                        </a:rPr>
                        <a:t>2.2647</a:t>
                      </a:r>
                    </a:p>
                  </a:txBody>
                  <a:tcPr marL="54864" marR="54864" marT="18288" marB="18288" anchor="ctr">
                    <a:solidFill>
                      <a:srgbClr val="FDE9D9"/>
                    </a:solidFill>
                  </a:tcPr>
                </a:tc>
              </a:tr>
              <a:tr h="329184">
                <a:tc>
                  <a:txBody>
                    <a:bodyPr wrap="square"/>
                    <a:lstStyle/>
                    <a:p>
                      <a:pPr algn="l"/>
                      <a:r>
                        <a:rPr sz="1100" b="0" i="0">
                          <a:solidFill>
                            <a:srgbClr val="222222"/>
                          </a:solidFill>
                          <a:latin typeface="Arial"/>
                        </a:rPr>
                        <a:t>Gold skin 12 → 10 nm</a:t>
                      </a:r>
                    </a:p>
                  </a:txBody>
                  <a:tcPr marL="54864" marR="54864" marT="18288" marB="18288" anchor="ctr">
                    <a:solidFill>
                      <a:srgbClr val="F4F6F9"/>
                    </a:solidFill>
                  </a:tcPr>
                </a:tc>
                <a:tc>
                  <a:txBody>
                    <a:bodyPr wrap="square"/>
                    <a:lstStyle/>
                    <a:p>
                      <a:pPr algn="ctr"/>
                      <a:r>
                        <a:rPr sz="1100" b="0" i="0">
                          <a:solidFill>
                            <a:srgbClr val="222222"/>
                          </a:solidFill>
                          <a:latin typeface="Arial"/>
                        </a:rPr>
                        <a:t>0.2270</a:t>
                      </a:r>
                    </a:p>
                  </a:txBody>
                  <a:tcPr marL="54864" marR="54864" marT="18288" marB="18288" anchor="ctr">
                    <a:solidFill>
                      <a:srgbClr val="F4F6F9"/>
                    </a:solidFill>
                  </a:tcPr>
                </a:tc>
                <a:tc>
                  <a:txBody>
                    <a:bodyPr wrap="square"/>
                    <a:lstStyle/>
                    <a:p>
                      <a:pPr algn="ctr"/>
                      <a:r>
                        <a:rPr sz="1100" b="0" i="0">
                          <a:solidFill>
                            <a:srgbClr val="222222"/>
                          </a:solidFill>
                          <a:latin typeface="Arial"/>
                        </a:rPr>
                        <a:t>+2.4 %</a:t>
                      </a:r>
                    </a:p>
                  </a:txBody>
                  <a:tcPr marL="54864" marR="54864" marT="18288" marB="18288" anchor="ctr">
                    <a:solidFill>
                      <a:srgbClr val="F4F6F9"/>
                    </a:solidFill>
                  </a:tcPr>
                </a:tc>
                <a:tc>
                  <a:txBody>
                    <a:bodyPr wrap="square"/>
                    <a:lstStyle/>
                    <a:p>
                      <a:pPr algn="ctr"/>
                      <a:r>
                        <a:rPr sz="1100" b="0" i="0">
                          <a:solidFill>
                            <a:srgbClr val="222222"/>
                          </a:solidFill>
                          <a:latin typeface="Arial"/>
                        </a:rPr>
                        <a:t>2.2647</a:t>
                      </a:r>
                    </a:p>
                  </a:txBody>
                  <a:tcPr marL="54864" marR="54864" marT="18288" marB="18288" anchor="ctr">
                    <a:solidFill>
                      <a:srgbClr val="F4F6F9"/>
                    </a:solidFill>
                  </a:tcPr>
                </a:tc>
              </a:tr>
              <a:tr h="329184">
                <a:tc>
                  <a:txBody>
                    <a:bodyPr wrap="square"/>
                    <a:lstStyle/>
                    <a:p>
                      <a:pPr algn="l"/>
                      <a:r>
                        <a:rPr sz="1100" b="0" i="0">
                          <a:solidFill>
                            <a:srgbClr val="222222"/>
                          </a:solidFill>
                          <a:latin typeface="Arial"/>
                        </a:rPr>
                        <a:t>Corner patches 50 → 100 nm</a:t>
                      </a:r>
                    </a:p>
                  </a:txBody>
                  <a:tcPr marL="54864" marR="54864" marT="18288" marB="18288" anchor="ctr">
                    <a:solidFill>
                      <a:srgbClr val="DDE3EA"/>
                    </a:solidFill>
                  </a:tcPr>
                </a:tc>
                <a:tc>
                  <a:txBody>
                    <a:bodyPr wrap="square"/>
                    <a:lstStyle/>
                    <a:p>
                      <a:pPr algn="ctr"/>
                      <a:r>
                        <a:rPr sz="1100" b="0" i="0">
                          <a:solidFill>
                            <a:srgbClr val="222222"/>
                          </a:solidFill>
                          <a:latin typeface="Arial"/>
                        </a:rPr>
                        <a:t>0.2205</a:t>
                      </a:r>
                    </a:p>
                  </a:txBody>
                  <a:tcPr marL="54864" marR="54864" marT="18288" marB="18288" anchor="ctr">
                    <a:solidFill>
                      <a:srgbClr val="DDE3EA"/>
                    </a:solidFill>
                  </a:tcPr>
                </a:tc>
                <a:tc>
                  <a:txBody>
                    <a:bodyPr wrap="square"/>
                    <a:lstStyle/>
                    <a:p>
                      <a:pPr algn="ctr"/>
                      <a:r>
                        <a:rPr sz="1100" b="0" i="0">
                          <a:solidFill>
                            <a:srgbClr val="222222"/>
                          </a:solidFill>
                          <a:latin typeface="Arial"/>
                        </a:rPr>
                        <a:t>−0.5 %</a:t>
                      </a:r>
                    </a:p>
                  </a:txBody>
                  <a:tcPr marL="54864" marR="54864" marT="18288" marB="18288" anchor="ctr">
                    <a:solidFill>
                      <a:srgbClr val="DDE3EA"/>
                    </a:solidFill>
                  </a:tcPr>
                </a:tc>
                <a:tc>
                  <a:txBody>
                    <a:bodyPr wrap="square"/>
                    <a:lstStyle/>
                    <a:p>
                      <a:pPr algn="ctr"/>
                      <a:r>
                        <a:rPr sz="1100" b="0" i="0">
                          <a:solidFill>
                            <a:srgbClr val="222222"/>
                          </a:solidFill>
                          <a:latin typeface="Arial"/>
                        </a:rPr>
                        <a:t>2.2650</a:t>
                      </a:r>
                    </a:p>
                  </a:txBody>
                  <a:tcPr marL="54864" marR="54864" marT="18288" marB="18288" anchor="ctr">
                    <a:solidFill>
                      <a:srgbClr val="DDE3EA"/>
                    </a:solidFill>
                  </a:tcPr>
                </a:tc>
              </a:tr>
              <a:tr h="329184">
                <a:tc>
                  <a:txBody>
                    <a:bodyPr wrap="square"/>
                    <a:lstStyle/>
                    <a:p>
                      <a:pPr algn="l"/>
                      <a:r>
                        <a:rPr sz="1100" b="0" i="0">
                          <a:solidFill>
                            <a:srgbClr val="222222"/>
                          </a:solidFill>
                          <a:latin typeface="Arial"/>
                        </a:rPr>
                        <a:t>Fine slab extended 8 → 10 µm</a:t>
                      </a:r>
                    </a:p>
                  </a:txBody>
                  <a:tcPr marL="54864" marR="54864" marT="18288" marB="18288" anchor="ctr">
                    <a:solidFill>
                      <a:srgbClr val="F4F6F9"/>
                    </a:solidFill>
                  </a:tcPr>
                </a:tc>
                <a:tc>
                  <a:txBody>
                    <a:bodyPr wrap="square"/>
                    <a:lstStyle/>
                    <a:p>
                      <a:pPr algn="ctr"/>
                      <a:r>
                        <a:rPr sz="1100" b="0" i="0">
                          <a:solidFill>
                            <a:srgbClr val="222222"/>
                          </a:solidFill>
                          <a:latin typeface="Arial"/>
                        </a:rPr>
                        <a:t>0.2206</a:t>
                      </a:r>
                    </a:p>
                  </a:txBody>
                  <a:tcPr marL="54864" marR="54864" marT="18288" marB="18288" anchor="ctr">
                    <a:solidFill>
                      <a:srgbClr val="F4F6F9"/>
                    </a:solidFill>
                  </a:tcPr>
                </a:tc>
                <a:tc>
                  <a:txBody>
                    <a:bodyPr wrap="square"/>
                    <a:lstStyle/>
                    <a:p>
                      <a:pPr algn="ctr"/>
                      <a:r>
                        <a:rPr sz="1100" b="0" i="0">
                          <a:solidFill>
                            <a:srgbClr val="222222"/>
                          </a:solidFill>
                          <a:latin typeface="Arial"/>
                        </a:rPr>
                        <a:t>−0.5 %</a:t>
                      </a:r>
                    </a:p>
                  </a:txBody>
                  <a:tcPr marL="54864" marR="54864" marT="18288" marB="18288" anchor="ctr">
                    <a:solidFill>
                      <a:srgbClr val="F4F6F9"/>
                    </a:solidFill>
                  </a:tcPr>
                </a:tc>
                <a:tc>
                  <a:txBody>
                    <a:bodyPr wrap="square"/>
                    <a:lstStyle/>
                    <a:p>
                      <a:pPr algn="ctr"/>
                      <a:r>
                        <a:rPr sz="1100" b="0" i="0">
                          <a:solidFill>
                            <a:srgbClr val="222222"/>
                          </a:solidFill>
                          <a:latin typeface="Arial"/>
                        </a:rPr>
                        <a:t>2.2647</a:t>
                      </a:r>
                    </a:p>
                  </a:txBody>
                  <a:tcPr marL="54864" marR="54864" marT="18288" marB="18288" anchor="ctr">
                    <a:solidFill>
                      <a:srgbClr val="F4F6F9"/>
                    </a:solidFill>
                  </a:tcPr>
                </a:tc>
              </a:tr>
              <a:tr h="329184">
                <a:tc>
                  <a:txBody>
                    <a:bodyPr wrap="square"/>
                    <a:lstStyle/>
                    <a:p>
                      <a:pPr algn="l"/>
                      <a:r>
                        <a:rPr sz="1100" b="0" i="0">
                          <a:solidFill>
                            <a:srgbClr val="222222"/>
                          </a:solidFill>
                          <a:latin typeface="Arial"/>
                        </a:rPr>
                        <a:t>Slab beyond it 110 → 50 nm</a:t>
                      </a:r>
                    </a:p>
                  </a:txBody>
                  <a:tcPr marL="54864" marR="54864" marT="18288" marB="18288" anchor="ctr">
                    <a:solidFill>
                      <a:srgbClr val="DDE3EA"/>
                    </a:solidFill>
                  </a:tcPr>
                </a:tc>
                <a:tc>
                  <a:txBody>
                    <a:bodyPr wrap="square"/>
                    <a:lstStyle/>
                    <a:p>
                      <a:pPr algn="ctr"/>
                      <a:r>
                        <a:rPr sz="1100" b="0" i="0">
                          <a:solidFill>
                            <a:srgbClr val="222222"/>
                          </a:solidFill>
                          <a:latin typeface="Arial"/>
                        </a:rPr>
                        <a:t>0.2217</a:t>
                      </a:r>
                    </a:p>
                  </a:txBody>
                  <a:tcPr marL="54864" marR="54864" marT="18288" marB="18288" anchor="ctr">
                    <a:solidFill>
                      <a:srgbClr val="DDE3EA"/>
                    </a:solidFill>
                  </a:tcPr>
                </a:tc>
                <a:tc>
                  <a:txBody>
                    <a:bodyPr wrap="square"/>
                    <a:lstStyle/>
                    <a:p>
                      <a:pPr algn="ctr"/>
                      <a:r>
                        <a:rPr sz="1100" b="0" i="0">
                          <a:solidFill>
                            <a:srgbClr val="222222"/>
                          </a:solidFill>
                          <a:latin typeface="Arial"/>
                        </a:rPr>
                        <a:t>+0.05 %</a:t>
                      </a:r>
                    </a:p>
                  </a:txBody>
                  <a:tcPr marL="54864" marR="54864" marT="18288" marB="18288" anchor="ctr">
                    <a:solidFill>
                      <a:srgbClr val="DDE3EA"/>
                    </a:solidFill>
                  </a:tcPr>
                </a:tc>
                <a:tc>
                  <a:txBody>
                    <a:bodyPr wrap="square"/>
                    <a:lstStyle/>
                    <a:p>
                      <a:pPr algn="ctr"/>
                      <a:r>
                        <a:rPr sz="1100" b="0" i="0">
                          <a:solidFill>
                            <a:srgbClr val="222222"/>
                          </a:solidFill>
                          <a:latin typeface="Arial"/>
                        </a:rPr>
                        <a:t>2.2647</a:t>
                      </a:r>
                    </a:p>
                  </a:txBody>
                  <a:tcPr marL="54864" marR="54864" marT="18288" marB="18288" anchor="ctr">
                    <a:solidFill>
                      <a:srgbClr val="DDE3EA"/>
                    </a:solidFill>
                  </a:tcPr>
                </a:tc>
              </a:tr>
              <a:tr h="329184">
                <a:tc>
                  <a:txBody>
                    <a:bodyPr wrap="square"/>
                    <a:lstStyle/>
                    <a:p>
                      <a:pPr algn="l"/>
                      <a:r>
                        <a:rPr sz="1100" b="0" i="0">
                          <a:solidFill>
                            <a:srgbClr val="222222"/>
                          </a:solidFill>
                          <a:latin typeface="Arial"/>
                        </a:rPr>
                        <a:t>Dip (x_lift 6.9), 1.7× finer mesh</a:t>
                      </a:r>
                    </a:p>
                  </a:txBody>
                  <a:tcPr marL="54864" marR="54864" marT="18288" marB="18288" anchor="ctr">
                    <a:solidFill>
                      <a:srgbClr val="F4F6F9"/>
                    </a:solidFill>
                  </a:tcPr>
                </a:tc>
                <a:tc>
                  <a:txBody>
                    <a:bodyPr wrap="square"/>
                    <a:lstStyle/>
                    <a:p>
                      <a:pPr algn="ctr"/>
                      <a:r>
                        <a:rPr sz="1100" b="0" i="0">
                          <a:solidFill>
                            <a:srgbClr val="222222"/>
                          </a:solidFill>
                          <a:latin typeface="Arial"/>
                        </a:rPr>
                        <a:t>0.1807 → 0.1801</a:t>
                      </a:r>
                    </a:p>
                  </a:txBody>
                  <a:tcPr marL="54864" marR="54864" marT="18288" marB="18288" anchor="ctr">
                    <a:solidFill>
                      <a:srgbClr val="F4F6F9"/>
                    </a:solidFill>
                  </a:tcPr>
                </a:tc>
                <a:tc>
                  <a:txBody>
                    <a:bodyPr wrap="square"/>
                    <a:lstStyle/>
                    <a:p>
                      <a:pPr algn="ctr"/>
                      <a:r>
                        <a:rPr sz="1100" b="0" i="0">
                          <a:solidFill>
                            <a:srgbClr val="222222"/>
                          </a:solidFill>
                          <a:latin typeface="Arial"/>
                        </a:rPr>
                        <a:t>−0.3 %</a:t>
                      </a:r>
                    </a:p>
                  </a:txBody>
                  <a:tcPr marL="54864" marR="54864" marT="18288" marB="18288" anchor="ctr">
                    <a:solidFill>
                      <a:srgbClr val="F4F6F9"/>
                    </a:solidFill>
                  </a:tcPr>
                </a:tc>
                <a:tc>
                  <a:txBody>
                    <a:bodyPr wrap="square"/>
                    <a:lstStyle/>
                    <a:p>
                      <a:pPr algn="ctr"/>
                      <a:r>
                        <a:rPr sz="1100" b="0" i="0">
                          <a:solidFill>
                            <a:srgbClr val="222222"/>
                          </a:solidFill>
                          <a:latin typeface="Arial"/>
                        </a:rPr>
                        <a:t>—</a:t>
                      </a:r>
                    </a:p>
                  </a:txBody>
                  <a:tcPr marL="54864" marR="54864" marT="18288" marB="18288" anchor="ctr">
                    <a:solidFill>
                      <a:srgbClr val="F4F6F9"/>
                    </a:solidFill>
                  </a:tcPr>
                </a:tc>
              </a:tr>
              <a:tr h="329184">
                <a:tc>
                  <a:txBody>
                    <a:bodyPr wrap="square"/>
                    <a:lstStyle/>
                    <a:p>
                      <a:pPr algn="l"/>
                      <a:r>
                        <a:rPr sz="1100" b="0" i="0">
                          <a:solidFill>
                            <a:srgbClr val="222222"/>
                          </a:solidFill>
                          <a:latin typeface="Arial"/>
                        </a:rPr>
                        <a:t>Peak (x_lift 7.3), 1.7× finer mesh</a:t>
                      </a:r>
                    </a:p>
                  </a:txBody>
                  <a:tcPr marL="54864" marR="54864" marT="18288" marB="18288" anchor="ctr">
                    <a:solidFill>
                      <a:srgbClr val="DDE3EA"/>
                    </a:solidFill>
                  </a:tcPr>
                </a:tc>
                <a:tc>
                  <a:txBody>
                    <a:bodyPr wrap="square"/>
                    <a:lstStyle/>
                    <a:p>
                      <a:pPr algn="ctr"/>
                      <a:r>
                        <a:rPr sz="1100" b="0" i="0">
                          <a:solidFill>
                            <a:srgbClr val="222222"/>
                          </a:solidFill>
                          <a:latin typeface="Arial"/>
                        </a:rPr>
                        <a:t>0.8827 → 0.8892</a:t>
                      </a:r>
                    </a:p>
                  </a:txBody>
                  <a:tcPr marL="54864" marR="54864" marT="18288" marB="18288" anchor="ctr">
                    <a:solidFill>
                      <a:srgbClr val="DDE3EA"/>
                    </a:solidFill>
                  </a:tcPr>
                </a:tc>
                <a:tc>
                  <a:txBody>
                    <a:bodyPr wrap="square"/>
                    <a:lstStyle/>
                    <a:p>
                      <a:pPr algn="ctr"/>
                      <a:r>
                        <a:rPr sz="1100" b="0" i="0">
                          <a:solidFill>
                            <a:srgbClr val="222222"/>
                          </a:solidFill>
                          <a:latin typeface="Arial"/>
                        </a:rPr>
                        <a:t>+0.7 %</a:t>
                      </a:r>
                    </a:p>
                  </a:txBody>
                  <a:tcPr marL="54864" marR="54864" marT="18288" marB="18288" anchor="ctr">
                    <a:solidFill>
                      <a:srgbClr val="DDE3EA"/>
                    </a:solidFill>
                  </a:tcPr>
                </a:tc>
                <a:tc>
                  <a:txBody>
                    <a:bodyPr wrap="square"/>
                    <a:lstStyle/>
                    <a:p>
                      <a:pPr algn="ctr"/>
                      <a:r>
                        <a:rPr sz="1100" b="0" i="0">
                          <a:solidFill>
                            <a:srgbClr val="222222"/>
                          </a:solidFill>
                          <a:latin typeface="Arial"/>
                        </a:rPr>
                        <a:t>—</a:t>
                      </a:r>
                    </a:p>
                  </a:txBody>
                  <a:tcPr marL="54864" marR="54864" marT="18288" marB="18288" anchor="ctr">
                    <a:solidFill>
                      <a:srgbClr val="DDE3EA"/>
                    </a:solidFill>
                  </a:tcPr>
                </a:tc>
              </a:tr>
              <a:tr h="329184">
                <a:tc>
                  <a:txBody>
                    <a:bodyPr wrap="square"/>
                    <a:lstStyle/>
                    <a:p>
                      <a:pPr algn="l"/>
                      <a:r>
                        <a:rPr sz="1100" b="0" i="0">
                          <a:solidFill>
                            <a:srgbClr val="222222"/>
                          </a:solidFill>
                          <a:latin typeface="Arial"/>
                        </a:rPr>
                        <a:t>Old settings, femwell bug, 25 nm skin (66 k)</a:t>
                      </a:r>
                    </a:p>
                  </a:txBody>
                  <a:tcPr marL="54864" marR="54864" marT="18288" marB="18288" anchor="ctr">
                    <a:solidFill>
                      <a:srgbClr val="F4F6F9"/>
                    </a:solidFill>
                  </a:tcPr>
                </a:tc>
                <a:tc>
                  <a:txBody>
                    <a:bodyPr wrap="square"/>
                    <a:lstStyle/>
                    <a:p>
                      <a:pPr algn="ctr"/>
                      <a:r>
                        <a:rPr sz="1100" b="0" i="0">
                          <a:solidFill>
                            <a:srgbClr val="222222"/>
                          </a:solidFill>
                          <a:latin typeface="Arial"/>
                        </a:rPr>
                        <a:t>0.1984</a:t>
                      </a:r>
                    </a:p>
                  </a:txBody>
                  <a:tcPr marL="54864" marR="54864" marT="18288" marB="18288" anchor="ctr">
                    <a:solidFill>
                      <a:srgbClr val="F4F6F9"/>
                    </a:solidFill>
                  </a:tcPr>
                </a:tc>
                <a:tc>
                  <a:txBody>
                    <a:bodyPr wrap="square"/>
                    <a:lstStyle/>
                    <a:p>
                      <a:pPr algn="ctr"/>
                      <a:r>
                        <a:rPr sz="1100" b="0" i="0">
                          <a:solidFill>
                            <a:srgbClr val="222222"/>
                          </a:solidFill>
                          <a:latin typeface="Arial"/>
                        </a:rPr>
                        <a:t>−10.6 %</a:t>
                      </a:r>
                    </a:p>
                  </a:txBody>
                  <a:tcPr marL="54864" marR="54864" marT="18288" marB="18288" anchor="ctr">
                    <a:solidFill>
                      <a:srgbClr val="F4F6F9"/>
                    </a:solidFill>
                  </a:tcPr>
                </a:tc>
                <a:tc>
                  <a:txBody>
                    <a:bodyPr wrap="square"/>
                    <a:lstStyle/>
                    <a:p>
                      <a:pPr algn="ctr"/>
                      <a:r>
                        <a:rPr sz="1100" b="0" i="0">
                          <a:solidFill>
                            <a:srgbClr val="222222"/>
                          </a:solidFill>
                          <a:latin typeface="Arial"/>
                        </a:rPr>
                        <a:t>2.2598</a:t>
                      </a:r>
                    </a:p>
                  </a:txBody>
                  <a:tcPr marL="54864" marR="54864" marT="18288" marB="18288" anchor="ctr">
                    <a:solidFill>
                      <a:srgbClr val="F4F6F9"/>
                    </a:solidFill>
                  </a:tcPr>
                </a:tc>
              </a:tr>
            </a:tbl>
          </a:graphicData>
        </a:graphic>
      </p:graphicFrame>
      <p:sp>
        <p:nvSpPr>
          <p:cNvPr id="5" name="TextBox 4"/>
          <p:cNvSpPr txBox="1"/>
          <p:nvPr/>
        </p:nvSpPr>
        <p:spPr>
          <a:xfrm>
            <a:off x="8138160" y="1645920"/>
            <a:ext cx="3611880" cy="4572000"/>
          </a:xfrm>
          <a:prstGeom prst="rect">
            <a:avLst/>
          </a:prstGeom>
          <a:noFill/>
        </p:spPr>
        <p:txBody>
          <a:bodyPr wrap="square" lIns="45720" rIns="45720" tIns="27432" bIns="27432" anchor="t">
            <a:spAutoFit/>
          </a:bodyPr>
          <a:lstStyle/>
          <a:p>
            <a:pPr algn="l">
              <a:spcAft>
                <a:spcPts val="600"/>
              </a:spcAft>
            </a:pPr>
            <a:r>
              <a:rPr sz="1500" b="1" i="0">
                <a:solidFill>
                  <a:srgbClr val="1F4E79"/>
                </a:solidFill>
                <a:latin typeface="Arial"/>
              </a:rPr>
              <a:t>Converged settings</a:t>
            </a:r>
          </a:p>
          <a:p>
            <a:pPr algn="l" marL="256032" indent="-201168">
              <a:spcAft>
                <a:spcPts val="600"/>
              </a:spcAft>
              <a:buFont typeface="Arial"/>
              <a:buChar char="•"/>
            </a:pPr>
            <a:r>
              <a:rPr sz="1200" b="0" i="0">
                <a:solidFill>
                  <a:srgbClr val="222222"/>
                </a:solidFill>
                <a:latin typeface="Arial"/>
              </a:rPr>
              <a:t>Gold skin 12 nm, uniform along the whole lower block (70 nm shell)</a:t>
            </a:r>
          </a:p>
          <a:p>
            <a:pPr algn="l" marL="256032" indent="-201168">
              <a:spcAft>
                <a:spcPts val="600"/>
              </a:spcAft>
              <a:buFont typeface="Arial"/>
              <a:buChar char="•"/>
            </a:pPr>
            <a:r>
              <a:rPr sz="1200" b="0" i="0">
                <a:solidFill>
                  <a:srgbClr val="222222"/>
                </a:solidFill>
                <a:latin typeface="Arial"/>
              </a:rPr>
              <a:t>6 nm patches at the two slab-contact corners of each block (field singularity)</a:t>
            </a:r>
          </a:p>
          <a:p>
            <a:pPr algn="l" marL="256032" indent="-201168">
              <a:spcAft>
                <a:spcPts val="600"/>
              </a:spcAft>
              <a:buFont typeface="Arial"/>
              <a:buChar char="•"/>
            </a:pPr>
            <a:r>
              <a:rPr sz="1200" b="0" i="0">
                <a:solidFill>
                  <a:srgbClr val="222222"/>
                </a:solidFill>
                <a:latin typeface="Arial"/>
              </a:rPr>
              <a:t>LN slab 25 nm up to 1 µm past the lift; BOX 40 nm in the top 0.5 µm</a:t>
            </a:r>
          </a:p>
          <a:p>
            <a:pPr algn="l">
              <a:spcAft>
                <a:spcPts val="600"/>
              </a:spcAft>
            </a:pPr>
            <a:r>
              <a:rPr sz="1500" b="1" i="0">
                <a:solidFill>
                  <a:srgbClr val="1F4E79"/>
                </a:solidFill>
                <a:latin typeface="Arial"/>
              </a:rPr>
              <a:t>Accuracy</a:t>
            </a:r>
          </a:p>
          <a:p>
            <a:pPr algn="l" marL="256032" indent="-201168">
              <a:spcAft>
                <a:spcPts val="600"/>
              </a:spcAft>
              <a:buFont typeface="Arial"/>
              <a:buChar char="•"/>
            </a:pPr>
            <a:r>
              <a:rPr sz="1200" b="0" i="0">
                <a:solidFill>
                  <a:srgbClr val="222222"/>
                </a:solidFill>
                <a:latin typeface="Arial"/>
              </a:rPr>
              <a:t>Vπ·L: ≈ 0.1 %</a:t>
            </a:r>
          </a:p>
          <a:p>
            <a:pPr algn="l" marL="256032" indent="-201168">
              <a:spcAft>
                <a:spcPts val="600"/>
              </a:spcAft>
              <a:buFont typeface="Arial"/>
              <a:buChar char="•"/>
            </a:pPr>
            <a:r>
              <a:rPr sz="1200" b="0" i="0">
                <a:solidFill>
                  <a:srgbClr val="222222"/>
                </a:solidFill>
                <a:latin typeface="Arial"/>
              </a:rPr>
              <a:t>IL: ≈ ±3 %; the gold skin is the last parameter still moving</a:t>
            </a:r>
          </a:p>
          <a:p>
            <a:pPr algn="l" marL="256032" indent="-201168">
              <a:spcAft>
                <a:spcPts val="600"/>
              </a:spcAft>
              <a:buFont typeface="Arial"/>
              <a:buChar char="•"/>
            </a:pPr>
            <a:r>
              <a:rPr sz="1200" b="0" i="0">
                <a:solidFill>
                  <a:srgbClr val="222222"/>
                </a:solidFill>
                <a:latin typeface="Arial"/>
              </a:rPr>
              <a:t>The resonance shape (peak/dip values) is mesh-independent to &lt; 1 %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First result: lifted vs legacy flat electrodes</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Same cross-section near the rib; the only difference is where the gold leaves the slab</a:t>
            </a:r>
          </a:p>
        </p:txBody>
      </p:sp>
      <p:graphicFrame>
        <p:nvGraphicFramePr>
          <p:cNvPr id="4" name="Table 3"/>
          <p:cNvGraphicFramePr>
            <a:graphicFrameLocks noGrp="1"/>
          </p:cNvGraphicFramePr>
          <p:nvPr/>
        </p:nvGraphicFramePr>
        <p:xfrm>
          <a:off x="502920" y="1645920"/>
          <a:ext cx="7132320" cy="1920240"/>
        </p:xfrm>
        <a:graphic>
          <a:graphicData uri="http://schemas.openxmlformats.org/drawingml/2006/table">
            <a:tbl>
              <a:tblPr firstRow="1" bandRow="1"/>
              <a:tblGrid>
                <a:gridCol w="3931920"/>
                <a:gridCol w="914400"/>
                <a:gridCol w="1097280"/>
                <a:gridCol w="1188720"/>
              </a:tblGrid>
              <a:tr h="384048">
                <a:tc>
                  <a:txBody>
                    <a:bodyPr wrap="square"/>
                    <a:lstStyle/>
                    <a:p>
                      <a:pPr algn="l"/>
                      <a:r>
                        <a:rPr sz="1200" b="1" i="0">
                          <a:solidFill>
                            <a:srgbClr val="FFFFFF"/>
                          </a:solidFill>
                          <a:latin typeface="Arial"/>
                        </a:rPr>
                        <a:t>Configuration</a:t>
                      </a:r>
                    </a:p>
                  </a:txBody>
                  <a:tcPr marL="54864" marR="54864" marT="18288" marB="18288" anchor="ctr">
                    <a:solidFill>
                      <a:srgbClr val="1F4E79"/>
                    </a:solidFill>
                  </a:tcPr>
                </a:tc>
                <a:tc>
                  <a:txBody>
                    <a:bodyPr wrap="square"/>
                    <a:lstStyle/>
                    <a:p>
                      <a:pPr algn="ctr"/>
                      <a:r>
                        <a:rPr sz="1200" b="1" i="0">
                          <a:solidFill>
                            <a:srgbClr val="FFFFFF"/>
                          </a:solidFill>
                          <a:latin typeface="Arial"/>
                        </a:rPr>
                        <a:t>Gap</a:t>
                      </a:r>
                    </a:p>
                  </a:txBody>
                  <a:tcPr marL="54864" marR="54864" marT="18288" marB="18288" anchor="ctr">
                    <a:solidFill>
                      <a:srgbClr val="1F4E79"/>
                    </a:solidFill>
                  </a:tcPr>
                </a:tc>
                <a:tc>
                  <a:txBody>
                    <a:bodyPr wrap="square"/>
                    <a:lstStyle/>
                    <a:p>
                      <a:pPr algn="ctr"/>
                      <a:r>
                        <a:rPr sz="1200" b="1" i="0">
                          <a:solidFill>
                            <a:srgbClr val="FFFFFF"/>
                          </a:solidFill>
                          <a:latin typeface="Arial"/>
                        </a:rPr>
                        <a:t>IL [dB/cm]</a:t>
                      </a:r>
                    </a:p>
                  </a:txBody>
                  <a:tcPr marL="54864" marR="54864" marT="18288" marB="18288" anchor="ctr">
                    <a:solidFill>
                      <a:srgbClr val="1F4E79"/>
                    </a:solidFill>
                  </a:tcPr>
                </a:tc>
                <a:tc>
                  <a:txBody>
                    <a:bodyPr wrap="square"/>
                    <a:lstStyle/>
                    <a:p>
                      <a:pPr algn="ctr"/>
                      <a:r>
                        <a:rPr sz="1200" b="1" i="0">
                          <a:solidFill>
                            <a:srgbClr val="FFFFFF"/>
                          </a:solidFill>
                          <a:latin typeface="Arial"/>
                        </a:rPr>
                        <a:t>Vπ·L [V·cm]</a:t>
                      </a:r>
                    </a:p>
                  </a:txBody>
                  <a:tcPr marL="54864" marR="54864" marT="18288" marB="18288" anchor="ctr">
                    <a:solidFill>
                      <a:srgbClr val="1F4E79"/>
                    </a:solidFill>
                  </a:tcPr>
                </a:tc>
              </a:tr>
              <a:tr h="384048">
                <a:tc>
                  <a:txBody>
                    <a:bodyPr wrap="square"/>
                    <a:lstStyle/>
                    <a:p>
                      <a:pPr algn="l"/>
                      <a:r>
                        <a:rPr sz="1200" b="0" i="0">
                          <a:solidFill>
                            <a:srgbClr val="222222"/>
                          </a:solidFill>
                          <a:latin typeface="Arial"/>
                        </a:rPr>
                        <a:t>Legacy flat, cap 2.0 µm (reference notebook)</a:t>
                      </a:r>
                    </a:p>
                  </a:txBody>
                  <a:tcPr marL="54864" marR="54864" marT="18288" marB="18288" anchor="ctr">
                    <a:solidFill>
                      <a:srgbClr val="F4F6F9"/>
                    </a:solidFill>
                  </a:tcPr>
                </a:tc>
                <a:tc>
                  <a:txBody>
                    <a:bodyPr wrap="square"/>
                    <a:lstStyle/>
                    <a:p>
                      <a:pPr algn="ctr"/>
                      <a:r>
                        <a:rPr sz="1200" b="0" i="0">
                          <a:solidFill>
                            <a:srgbClr val="222222"/>
                          </a:solidFill>
                          <a:latin typeface="Arial"/>
                        </a:rPr>
                        <a:t>4.15 µm</a:t>
                      </a:r>
                    </a:p>
                  </a:txBody>
                  <a:tcPr marL="54864" marR="54864" marT="18288" marB="18288" anchor="ctr">
                    <a:solidFill>
                      <a:srgbClr val="F4F6F9"/>
                    </a:solidFill>
                  </a:tcPr>
                </a:tc>
                <a:tc>
                  <a:txBody>
                    <a:bodyPr wrap="square"/>
                    <a:lstStyle/>
                    <a:p>
                      <a:pPr algn="ctr"/>
                      <a:r>
                        <a:rPr sz="1200" b="0" i="0">
                          <a:solidFill>
                            <a:srgbClr val="222222"/>
                          </a:solidFill>
                          <a:latin typeface="Arial"/>
                        </a:rPr>
                        <a:t>0.4945</a:t>
                      </a:r>
                    </a:p>
                  </a:txBody>
                  <a:tcPr marL="54864" marR="54864" marT="18288" marB="18288" anchor="ctr">
                    <a:solidFill>
                      <a:srgbClr val="F4F6F9"/>
                    </a:solidFill>
                  </a:tcPr>
                </a:tc>
                <a:tc>
                  <a:txBody>
                    <a:bodyPr wrap="square"/>
                    <a:lstStyle/>
                    <a:p>
                      <a:pPr algn="ctr"/>
                      <a:r>
                        <a:rPr sz="1200" b="0" i="0">
                          <a:solidFill>
                            <a:srgbClr val="222222"/>
                          </a:solidFill>
                          <a:latin typeface="Arial"/>
                        </a:rPr>
                        <a:t>2.2296</a:t>
                      </a:r>
                    </a:p>
                  </a:txBody>
                  <a:tcPr marL="54864" marR="54864" marT="18288" marB="18288" anchor="ctr">
                    <a:solidFill>
                      <a:srgbClr val="F4F6F9"/>
                    </a:solidFill>
                  </a:tcPr>
                </a:tc>
              </a:tr>
              <a:tr h="384048">
                <a:tc>
                  <a:txBody>
                    <a:bodyPr wrap="square"/>
                    <a:lstStyle/>
                    <a:p>
                      <a:pPr algn="l"/>
                      <a:r>
                        <a:rPr sz="1200" b="0" i="0">
                          <a:solidFill>
                            <a:srgbClr val="222222"/>
                          </a:solidFill>
                          <a:latin typeface="Arial"/>
                        </a:rPr>
                        <a:t>Legacy flat, same notebook, gap changed</a:t>
                      </a:r>
                    </a:p>
                  </a:txBody>
                  <a:tcPr marL="54864" marR="54864" marT="18288" marB="18288" anchor="ctr">
                    <a:solidFill>
                      <a:srgbClr val="DDE3EA"/>
                    </a:solidFill>
                  </a:tcPr>
                </a:tc>
                <a:tc>
                  <a:txBody>
                    <a:bodyPr wrap="square"/>
                    <a:lstStyle/>
                    <a:p>
                      <a:pPr algn="ctr"/>
                      <a:r>
                        <a:rPr sz="1200" b="0" i="0">
                          <a:solidFill>
                            <a:srgbClr val="222222"/>
                          </a:solidFill>
                          <a:latin typeface="Arial"/>
                        </a:rPr>
                        <a:t>4.20 µm</a:t>
                      </a:r>
                    </a:p>
                  </a:txBody>
                  <a:tcPr marL="54864" marR="54864" marT="18288" marB="18288" anchor="ctr">
                    <a:solidFill>
                      <a:srgbClr val="DDE3EA"/>
                    </a:solidFill>
                  </a:tcPr>
                </a:tc>
                <a:tc>
                  <a:txBody>
                    <a:bodyPr wrap="square"/>
                    <a:lstStyle/>
                    <a:p>
                      <a:pPr algn="ctr"/>
                      <a:r>
                        <a:rPr sz="1200" b="0" i="0">
                          <a:solidFill>
                            <a:srgbClr val="222222"/>
                          </a:solidFill>
                          <a:latin typeface="Arial"/>
                        </a:rPr>
                        <a:t>0.4202</a:t>
                      </a:r>
                    </a:p>
                  </a:txBody>
                  <a:tcPr marL="54864" marR="54864" marT="18288" marB="18288" anchor="ctr">
                    <a:solidFill>
                      <a:srgbClr val="DDE3EA"/>
                    </a:solidFill>
                  </a:tcPr>
                </a:tc>
                <a:tc>
                  <a:txBody>
                    <a:bodyPr wrap="square"/>
                    <a:lstStyle/>
                    <a:p>
                      <a:pPr algn="ctr"/>
                      <a:r>
                        <a:rPr sz="1200" b="0" i="0">
                          <a:solidFill>
                            <a:srgbClr val="222222"/>
                          </a:solidFill>
                          <a:latin typeface="Arial"/>
                        </a:rPr>
                        <a:t>2.2604</a:t>
                      </a:r>
                    </a:p>
                  </a:txBody>
                  <a:tcPr marL="54864" marR="54864" marT="18288" marB="18288" anchor="ctr">
                    <a:solidFill>
                      <a:srgbClr val="DDE3EA"/>
                    </a:solidFill>
                  </a:tcPr>
                </a:tc>
              </a:tr>
              <a:tr h="384048">
                <a:tc>
                  <a:txBody>
                    <a:bodyPr wrap="square"/>
                    <a:lstStyle/>
                    <a:p>
                      <a:pPr algn="l"/>
                      <a:r>
                        <a:rPr sz="1200" b="0" i="0">
                          <a:solidFill>
                            <a:srgbClr val="222222"/>
                          </a:solidFill>
                          <a:latin typeface="Arial"/>
                        </a:rPr>
                        <a:t>Legacy flat, gold skin 25 → 12 nm</a:t>
                      </a:r>
                    </a:p>
                  </a:txBody>
                  <a:tcPr marL="54864" marR="54864" marT="18288" marB="18288" anchor="ctr">
                    <a:solidFill>
                      <a:srgbClr val="F4F6F9"/>
                    </a:solidFill>
                  </a:tcPr>
                </a:tc>
                <a:tc>
                  <a:txBody>
                    <a:bodyPr wrap="square"/>
                    <a:lstStyle/>
                    <a:p>
                      <a:pPr algn="ctr"/>
                      <a:r>
                        <a:rPr sz="1200" b="0" i="0">
                          <a:solidFill>
                            <a:srgbClr val="222222"/>
                          </a:solidFill>
                          <a:latin typeface="Arial"/>
                        </a:rPr>
                        <a:t>4.15 µm</a:t>
                      </a:r>
                    </a:p>
                  </a:txBody>
                  <a:tcPr marL="54864" marR="54864" marT="18288" marB="18288" anchor="ctr">
                    <a:solidFill>
                      <a:srgbClr val="F4F6F9"/>
                    </a:solidFill>
                  </a:tcPr>
                </a:tc>
                <a:tc>
                  <a:txBody>
                    <a:bodyPr wrap="square"/>
                    <a:lstStyle/>
                    <a:p>
                      <a:pPr algn="ctr"/>
                      <a:r>
                        <a:rPr sz="1200" b="0" i="0">
                          <a:solidFill>
                            <a:srgbClr val="222222"/>
                          </a:solidFill>
                          <a:latin typeface="Arial"/>
                        </a:rPr>
                        <a:t>0.4911</a:t>
                      </a:r>
                    </a:p>
                  </a:txBody>
                  <a:tcPr marL="54864" marR="54864" marT="18288" marB="18288" anchor="ctr">
                    <a:solidFill>
                      <a:srgbClr val="F4F6F9"/>
                    </a:solidFill>
                  </a:tcPr>
                </a:tc>
                <a:tc>
                  <a:txBody>
                    <a:bodyPr wrap="square"/>
                    <a:lstStyle/>
                    <a:p>
                      <a:pPr algn="ctr"/>
                      <a:r>
                        <a:rPr sz="1200" b="0" i="0">
                          <a:solidFill>
                            <a:srgbClr val="222222"/>
                          </a:solidFill>
                          <a:latin typeface="Arial"/>
                        </a:rPr>
                        <a:t>2.2316</a:t>
                      </a:r>
                    </a:p>
                  </a:txBody>
                  <a:tcPr marL="54864" marR="54864" marT="18288" marB="18288" anchor="ctr">
                    <a:solidFill>
                      <a:srgbClr val="F4F6F9"/>
                    </a:solidFill>
                  </a:tcPr>
                </a:tc>
              </a:tr>
              <a:tr h="384048">
                <a:tc>
                  <a:txBody>
                    <a:bodyPr wrap="square"/>
                    <a:lstStyle/>
                    <a:p>
                      <a:pPr algn="l"/>
                      <a:r>
                        <a:rPr sz="1200" b="0" i="0">
                          <a:solidFill>
                            <a:srgbClr val="222222"/>
                          </a:solidFill>
                          <a:latin typeface="Arial"/>
                        </a:rPr>
                        <a:t>Lifted, x_lift = 7.0 µm (nominal)</a:t>
                      </a:r>
                    </a:p>
                  </a:txBody>
                  <a:tcPr marL="54864" marR="54864" marT="18288" marB="18288" anchor="ctr">
                    <a:solidFill>
                      <a:srgbClr val="FDE9D9"/>
                    </a:solidFill>
                  </a:tcPr>
                </a:tc>
                <a:tc>
                  <a:txBody>
                    <a:bodyPr wrap="square"/>
                    <a:lstStyle/>
                    <a:p>
                      <a:pPr algn="ctr"/>
                      <a:r>
                        <a:rPr sz="1200" b="0" i="0">
                          <a:solidFill>
                            <a:srgbClr val="222222"/>
                          </a:solidFill>
                          <a:latin typeface="Arial"/>
                        </a:rPr>
                        <a:t>4.20 µm</a:t>
                      </a:r>
                    </a:p>
                  </a:txBody>
                  <a:tcPr marL="54864" marR="54864" marT="18288" marB="18288" anchor="ctr">
                    <a:solidFill>
                      <a:srgbClr val="FDE9D9"/>
                    </a:solidFill>
                  </a:tcPr>
                </a:tc>
                <a:tc>
                  <a:txBody>
                    <a:bodyPr wrap="square"/>
                    <a:lstStyle/>
                    <a:p>
                      <a:pPr algn="ctr"/>
                      <a:r>
                        <a:rPr sz="1200" b="0" i="0">
                          <a:solidFill>
                            <a:srgbClr val="222222"/>
                          </a:solidFill>
                          <a:latin typeface="Arial"/>
                        </a:rPr>
                        <a:t>0.2216</a:t>
                      </a:r>
                    </a:p>
                  </a:txBody>
                  <a:tcPr marL="54864" marR="54864" marT="18288" marB="18288" anchor="ctr">
                    <a:solidFill>
                      <a:srgbClr val="FDE9D9"/>
                    </a:solidFill>
                  </a:tcPr>
                </a:tc>
                <a:tc>
                  <a:txBody>
                    <a:bodyPr wrap="square"/>
                    <a:lstStyle/>
                    <a:p>
                      <a:pPr algn="ctr"/>
                      <a:r>
                        <a:rPr sz="1200" b="0" i="0">
                          <a:solidFill>
                            <a:srgbClr val="222222"/>
                          </a:solidFill>
                          <a:latin typeface="Arial"/>
                        </a:rPr>
                        <a:t>2.2647</a:t>
                      </a:r>
                    </a:p>
                  </a:txBody>
                  <a:tcPr marL="54864" marR="54864" marT="18288" marB="18288" anchor="ctr">
                    <a:solidFill>
                      <a:srgbClr val="FDE9D9"/>
                    </a:solidFill>
                  </a:tcPr>
                </a:tc>
              </a:tr>
            </a:tbl>
          </a:graphicData>
        </a:graphic>
      </p:graphicFrame>
      <p:sp>
        <p:nvSpPr>
          <p:cNvPr id="5" name="TextBox 4"/>
          <p:cNvSpPr txBox="1"/>
          <p:nvPr/>
        </p:nvSpPr>
        <p:spPr>
          <a:xfrm>
            <a:off x="502920" y="3794760"/>
            <a:ext cx="7132320" cy="2377440"/>
          </a:xfrm>
          <a:prstGeom prst="rect">
            <a:avLst/>
          </a:prstGeom>
          <a:noFill/>
        </p:spPr>
        <p:txBody>
          <a:bodyPr wrap="square" lIns="45720" rIns="45720" tIns="27432" bIns="27432" anchor="t">
            <a:spAutoFit/>
          </a:bodyPr>
          <a:lstStyle/>
          <a:p>
            <a:pPr algn="l" marL="256032" indent="-201168">
              <a:spcAft>
                <a:spcPts val="600"/>
              </a:spcAft>
              <a:buFont typeface="Arial"/>
              <a:buChar char="•"/>
            </a:pPr>
            <a:r>
              <a:rPr sz="1300" b="0" i="0">
                <a:solidFill>
                  <a:srgbClr val="222222"/>
                </a:solidFill>
                <a:latin typeface="Arial"/>
              </a:rPr>
              <a:t>50 nm of gap is worth 15 % of IL: the rib couples to the gold by tunnelling, exponentially in distance. The fair comparison is 0.42 vs 0.22 dB/cm, both at 4.2 µm.</a:t>
            </a:r>
          </a:p>
          <a:p>
            <a:pPr algn="l" marL="256032" indent="-201168">
              <a:spcAft>
                <a:spcPts val="600"/>
              </a:spcAft>
              <a:buFont typeface="Arial"/>
              <a:buChar char="•"/>
            </a:pPr>
            <a:r>
              <a:rPr sz="1300" b="0" i="0">
                <a:solidFill>
                  <a:srgbClr val="222222"/>
                </a:solidFill>
                <a:latin typeface="Arial"/>
              </a:rPr>
              <a:t>Vπ·L agrees to 0.2 %: the lift is electrically irrelevant.</a:t>
            </a:r>
          </a:p>
          <a:p>
            <a:pPr algn="l" marL="256032" indent="-201168">
              <a:spcAft>
                <a:spcPts val="600"/>
              </a:spcAft>
              <a:buFont typeface="Arial"/>
              <a:buChar char="•"/>
            </a:pPr>
            <a:r>
              <a:rPr sz="1300" b="0" i="0">
                <a:solidFill>
                  <a:srgbClr val="222222"/>
                </a:solidFill>
                <a:latin typeface="Arial"/>
              </a:rPr>
              <a:t>The legacy result is itself mesh-converged (−0.7 % at 12 nm skin).</a:t>
            </a:r>
          </a:p>
          <a:p>
            <a:pPr algn="l" marL="256032" indent="-201168">
              <a:spcAft>
                <a:spcPts val="600"/>
              </a:spcAft>
              <a:buFont typeface="Arial"/>
              <a:buChar char="•"/>
            </a:pPr>
            <a:r>
              <a:rPr sz="1300" b="0" i="0">
                <a:solidFill>
                  <a:srgbClr val="222222"/>
                </a:solidFill>
                <a:latin typeface="Arial"/>
              </a:rPr>
              <a:t>The lifted IL is about half of the legacy value. Physical, or a mesh artefact? The next slides answer.</a:t>
            </a:r>
          </a:p>
        </p:txBody>
      </p:sp>
      <p:sp>
        <p:nvSpPr>
          <p:cNvPr id="6" name="Rounded Rectangle 5"/>
          <p:cNvSpPr/>
          <p:nvPr/>
        </p:nvSpPr>
        <p:spPr>
          <a:xfrm>
            <a:off x="7955279" y="1645920"/>
            <a:ext cx="3749039" cy="324612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1F4E79"/>
                </a:solidFill>
                <a:latin typeface="Arial"/>
              </a:rPr>
              <a:t>Where does the legacy loss go?</a:t>
            </a:r>
          </a:p>
          <a:p>
            <a:pPr algn="l">
              <a:spcAft>
                <a:spcPts val="500"/>
              </a:spcAft>
            </a:pPr>
            <a:r>
              <a:rPr sz="1200" b="0" i="0">
                <a:solidFill>
                  <a:srgbClr val="222222"/>
                </a:solidFill>
                <a:latin typeface="Arial"/>
              </a:rPr>
              <a:t>Absorbed power in the gold, binned by distance from the gap edge (legacy, gap 4.15):</a:t>
            </a:r>
          </a:p>
          <a:p>
            <a:pPr algn="l">
              <a:spcAft>
                <a:spcPts val="500"/>
              </a:spcAft>
            </a:pPr>
            <a:r>
              <a:rPr sz="1200" b="1" i="0">
                <a:solidFill>
                  <a:srgbClr val="222222"/>
                </a:solidFill>
                <a:latin typeface="Arial"/>
              </a:rPr>
              <a:t>0 – 5 µm        </a:t>
            </a:r>
            <a:r>
              <a:rPr sz="1200" b="0" i="0">
                <a:solidFill>
                  <a:srgbClr val="222222"/>
                </a:solidFill>
                <a:latin typeface="Arial"/>
              </a:rPr>
              <a:t>61.6 %</a:t>
            </a:r>
          </a:p>
          <a:p>
            <a:pPr algn="l">
              <a:spcAft>
                <a:spcPts val="500"/>
              </a:spcAft>
            </a:pPr>
            <a:r>
              <a:rPr sz="1200" b="1" i="0">
                <a:solidFill>
                  <a:srgbClr val="222222"/>
                </a:solidFill>
                <a:latin typeface="Arial"/>
              </a:rPr>
              <a:t>5 – 10 µm      </a:t>
            </a:r>
            <a:r>
              <a:rPr sz="1200" b="0" i="0">
                <a:solidFill>
                  <a:srgbClr val="222222"/>
                </a:solidFill>
                <a:latin typeface="Arial"/>
              </a:rPr>
              <a:t>23.8 %</a:t>
            </a:r>
          </a:p>
          <a:p>
            <a:pPr algn="l">
              <a:spcAft>
                <a:spcPts val="500"/>
              </a:spcAft>
            </a:pPr>
            <a:r>
              <a:rPr sz="1200" b="1" i="0">
                <a:solidFill>
                  <a:srgbClr val="222222"/>
                </a:solidFill>
                <a:latin typeface="Arial"/>
              </a:rPr>
              <a:t>10 – 20 µm    </a:t>
            </a:r>
            <a:r>
              <a:rPr sz="1200" b="0" i="0">
                <a:solidFill>
                  <a:srgbClr val="222222"/>
                </a:solidFill>
                <a:latin typeface="Arial"/>
              </a:rPr>
              <a:t>12.6 %</a:t>
            </a:r>
          </a:p>
          <a:p>
            <a:pPr algn="l">
              <a:spcAft>
                <a:spcPts val="500"/>
              </a:spcAft>
            </a:pPr>
            <a:r>
              <a:rPr sz="1200" b="1" i="0">
                <a:solidFill>
                  <a:srgbClr val="222222"/>
                </a:solidFill>
                <a:latin typeface="Arial"/>
              </a:rPr>
              <a:t>&gt; 20 µm, bulk  </a:t>
            </a:r>
            <a:r>
              <a:rPr sz="1200" b="0" i="0">
                <a:solidFill>
                  <a:srgbClr val="222222"/>
                </a:solidFill>
                <a:latin typeface="Arial"/>
              </a:rPr>
              <a:t>2.3 %</a:t>
            </a:r>
          </a:p>
          <a:p>
            <a:pPr algn="l">
              <a:spcAft>
                <a:spcPts val="500"/>
              </a:spcAft>
            </a:pPr>
            <a:r>
              <a:rPr sz="1200" b="0" i="0">
                <a:solidFill>
                  <a:srgbClr val="222222"/>
                </a:solidFill>
                <a:latin typeface="Arial"/>
              </a:rPr>
              <a:t>38 % of the loss is deposited more than 5 µm out. An evanescent tail cannot do that: the mode is leaky and the loss is carried outward by a wave under the gold.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IL vs lift position</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0.1 µm steps from 6.5 to 11.0 µm plus far points; legacy no-lift value for reference</a:t>
            </a:r>
          </a:p>
        </p:txBody>
      </p:sp>
      <p:graphicFrame>
        <p:nvGraphicFramePr>
          <p:cNvPr id="4" name="Chart 3"/>
          <p:cNvGraphicFramePr>
            <a:graphicFrameLocks noGrp="1"/>
          </p:cNvGraphicFramePr>
          <p:nvPr/>
        </p:nvGraphicFramePr>
        <p:xfrm>
          <a:off x="411480" y="1554480"/>
          <a:ext cx="7863840" cy="4846320"/>
        </p:xfrm>
        <a:graphic>
          <a:graphicData uri="http://schemas.openxmlformats.org/drawingml/2006/chart">
            <c:chart xmlns:c="http://schemas.openxmlformats.org/drawingml/2006/chart" r:id="rId2"/>
          </a:graphicData>
        </a:graphic>
      </p:graphicFrame>
      <p:sp>
        <p:nvSpPr>
          <p:cNvPr id="5" name="TextBox 4"/>
          <p:cNvSpPr txBox="1"/>
          <p:nvPr/>
        </p:nvSpPr>
        <p:spPr>
          <a:xfrm>
            <a:off x="8549640" y="1600200"/>
            <a:ext cx="3246120" cy="4663440"/>
          </a:xfrm>
          <a:prstGeom prst="rect">
            <a:avLst/>
          </a:prstGeom>
          <a:noFill/>
        </p:spPr>
        <p:txBody>
          <a:bodyPr wrap="square" lIns="45720" rIns="45720" tIns="27432" bIns="27432" anchor="t">
            <a:spAutoFit/>
          </a:bodyPr>
          <a:lstStyle/>
          <a:p>
            <a:pPr algn="l">
              <a:spcAft>
                <a:spcPts val="600"/>
              </a:spcAft>
            </a:pPr>
            <a:r>
              <a:rPr sz="1500" b="1" i="0">
                <a:solidFill>
                  <a:srgbClr val="1F4E79"/>
                </a:solidFill>
                <a:latin typeface="Arial"/>
              </a:rPr>
              <a:t>What the sweep shows</a:t>
            </a:r>
          </a:p>
          <a:p>
            <a:pPr algn="l" marL="256032" indent="-201168">
              <a:spcAft>
                <a:spcPts val="600"/>
              </a:spcAft>
              <a:buFont typeface="Arial"/>
              <a:buChar char="•"/>
            </a:pPr>
            <a:r>
              <a:rPr sz="1200" b="0" i="0">
                <a:solidFill>
                  <a:srgbClr val="222222"/>
                </a:solidFill>
                <a:latin typeface="Arial"/>
              </a:rPr>
              <a:t>Regular oscillation, period 0.90 µm</a:t>
            </a:r>
          </a:p>
          <a:p>
            <a:pPr algn="l" marL="256032" indent="-201168">
              <a:spcAft>
                <a:spcPts val="600"/>
              </a:spcAft>
              <a:buFont typeface="Arial"/>
              <a:buChar char="•"/>
            </a:pPr>
            <a:r>
              <a:rPr sz="1200" b="0" i="0">
                <a:solidFill>
                  <a:srgbClr val="222222"/>
                </a:solidFill>
                <a:latin typeface="Arial"/>
              </a:rPr>
              <a:t>Peaks: 0.883 → 0.782 → 0.708 → 0.650 → 0.607 (7.3, 8.2, 9.1, 10.0, 10.9 µm)</a:t>
            </a:r>
          </a:p>
          <a:p>
            <a:pPr algn="l" marL="256032" indent="-201168">
              <a:spcAft>
                <a:spcPts val="600"/>
              </a:spcAft>
              <a:buFont typeface="Arial"/>
              <a:buChar char="•"/>
            </a:pPr>
            <a:r>
              <a:rPr sz="1200" b="0" i="0">
                <a:solidFill>
                  <a:srgbClr val="222222"/>
                </a:solidFill>
                <a:latin typeface="Arial"/>
              </a:rPr>
              <a:t>Dips: 0.181 → 0.207 → 0.231 → 0.253 → 0.272 (6.9, 7.8, 8.6, 9.5, 10.4 µm)</a:t>
            </a:r>
          </a:p>
          <a:p>
            <a:pPr algn="l" marL="256032" indent="-201168">
              <a:spcAft>
                <a:spcPts val="600"/>
              </a:spcAft>
              <a:buFont typeface="Arial"/>
              <a:buChar char="•"/>
            </a:pPr>
            <a:r>
              <a:rPr sz="1200" b="0" i="0">
                <a:solidFill>
                  <a:srgbClr val="222222"/>
                </a:solidFill>
                <a:latin typeface="Arial"/>
              </a:rPr>
              <a:t>Damped: the swing shrinks as the strip gets longer; from 24 µm on IL is 0.41–0.42</a:t>
            </a:r>
          </a:p>
          <a:p>
            <a:pPr algn="l" marL="256032" indent="-201168">
              <a:spcAft>
                <a:spcPts val="600"/>
              </a:spcAft>
              <a:buFont typeface="Arial"/>
              <a:buChar char="•"/>
            </a:pPr>
            <a:r>
              <a:rPr sz="1200" b="0" i="0">
                <a:solidFill>
                  <a:srgbClr val="222222"/>
                </a:solidFill>
                <a:latin typeface="Arial"/>
              </a:rPr>
              <a:t>Vπ·L 2.2647–2.2649 V·cm at every point</a:t>
            </a:r>
          </a:p>
          <a:p>
            <a:pPr algn="l" marL="256032" indent="-201168">
              <a:spcAft>
                <a:spcPts val="600"/>
              </a:spcAft>
              <a:buFont typeface="Arial"/>
              <a:buChar char="•"/>
            </a:pPr>
            <a:r>
              <a:rPr sz="1200" b="0" i="0">
                <a:solidFill>
                  <a:srgbClr val="222222"/>
                </a:solidFill>
                <a:latin typeface="Arial"/>
              </a:rPr>
              <a:t>Nominal 7.0 µm sits on the rising edge just past the first dip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Evidence 1: a standing wave under the gold</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|E|² along the LN slab at mid-height, same dB reference for all three cases</a:t>
            </a:r>
          </a:p>
        </p:txBody>
      </p:sp>
      <p:pic>
        <p:nvPicPr>
          <p:cNvPr id="4" name="Picture 3" descr="cut.png"/>
          <p:cNvPicPr>
            <a:picLocks noChangeAspect="1"/>
          </p:cNvPicPr>
          <p:nvPr/>
        </p:nvPicPr>
        <p:blipFill>
          <a:blip r:embed="rId2"/>
          <a:stretch>
            <a:fillRect/>
          </a:stretch>
        </p:blipFill>
        <p:spPr>
          <a:xfrm>
            <a:off x="502920" y="1554480"/>
            <a:ext cx="7589520" cy="3087183"/>
          </a:xfrm>
          <a:prstGeom prst="rect">
            <a:avLst/>
          </a:prstGeom>
        </p:spPr>
      </p:pic>
      <p:sp>
        <p:nvSpPr>
          <p:cNvPr id="5" name="TextBox 4"/>
          <p:cNvSpPr txBox="1"/>
          <p:nvPr/>
        </p:nvSpPr>
        <p:spPr>
          <a:xfrm>
            <a:off x="8321040" y="1600200"/>
            <a:ext cx="3474720" cy="4572000"/>
          </a:xfrm>
          <a:prstGeom prst="rect">
            <a:avLst/>
          </a:prstGeom>
          <a:noFill/>
        </p:spPr>
        <p:txBody>
          <a:bodyPr wrap="square" lIns="45720" rIns="45720" tIns="27432" bIns="27432" anchor="t">
            <a:spAutoFit/>
          </a:bodyPr>
          <a:lstStyle/>
          <a:p>
            <a:pPr algn="l">
              <a:spcAft>
                <a:spcPts val="600"/>
              </a:spcAft>
            </a:pPr>
            <a:r>
              <a:rPr sz="1500" b="1" i="0">
                <a:solidFill>
                  <a:srgbClr val="1F4E79"/>
                </a:solidFill>
                <a:latin typeface="Arial"/>
              </a:rPr>
              <a:t>Reading the plot</a:t>
            </a:r>
          </a:p>
          <a:p>
            <a:pPr algn="l" marL="256032" indent="-201168">
              <a:spcAft>
                <a:spcPts val="600"/>
              </a:spcAft>
              <a:buFont typeface="Arial"/>
              <a:buChar char="•"/>
            </a:pPr>
            <a:r>
              <a:rPr sz="1200" b="0" i="0">
                <a:solidFill>
                  <a:srgbClr val="222222"/>
                </a:solidFill>
                <a:latin typeface="Arial"/>
              </a:rPr>
              <a:t>0–2 µm: evanescent tail of the rib mode, identical in all cases</a:t>
            </a:r>
          </a:p>
          <a:p>
            <a:pPr algn="l" marL="256032" indent="-201168">
              <a:spcAft>
                <a:spcPts val="600"/>
              </a:spcAft>
              <a:buFont typeface="Arial"/>
              <a:buChar char="•"/>
            </a:pPr>
            <a:r>
              <a:rPr sz="1200" b="0" i="0">
                <a:solidFill>
                  <a:srgbClr val="222222"/>
                </a:solidFill>
                <a:latin typeface="Arial"/>
              </a:rPr>
              <a:t>Legacy (green): smooth, slowly decaying curve: a pure travelling wave carried outward and absorbed</a:t>
            </a:r>
          </a:p>
          <a:p>
            <a:pPr algn="l" marL="256032" indent="-201168">
              <a:spcAft>
                <a:spcPts val="600"/>
              </a:spcAft>
              <a:buFont typeface="Arial"/>
              <a:buChar char="•"/>
            </a:pPr>
            <a:r>
              <a:rPr sz="1200" b="0" i="0">
                <a:solidFill>
                  <a:srgbClr val="222222"/>
                </a:solidFill>
                <a:latin typeface="Arial"/>
              </a:rPr>
              <a:t>Lifted (blue, orange): regular ripples all along the gold, then clean decay under the oxide past the lift</a:t>
            </a:r>
          </a:p>
          <a:p>
            <a:pPr algn="l" marL="256032" indent="-201168">
              <a:spcAft>
                <a:spcPts val="600"/>
              </a:spcAft>
              <a:buFont typeface="Arial"/>
              <a:buChar char="•"/>
            </a:pPr>
            <a:r>
              <a:rPr sz="1200" b="0" i="0">
                <a:solidFill>
                  <a:srgbClr val="222222"/>
                </a:solidFill>
                <a:latin typeface="Arial"/>
              </a:rPr>
              <a:t>Ripple period 0.888–0.901 µm at every x_lift (6.9–9.1 µm) and on the finer mesh: equal to the IL period</a:t>
            </a:r>
          </a:p>
          <a:p>
            <a:pPr algn="l" marL="256032" indent="-201168">
              <a:spcAft>
                <a:spcPts val="600"/>
              </a:spcAft>
              <a:buFont typeface="Arial"/>
              <a:buChar char="•"/>
            </a:pPr>
            <a:r>
              <a:rPr sz="1200" b="0" i="0">
                <a:solidFill>
                  <a:srgbClr val="222222"/>
                </a:solidFill>
                <a:latin typeface="Arial"/>
              </a:rPr>
              <a:t>Peak case plateau ≈ 7 dB above the dip case: ≈ 5× intensity ⇔ 0.88 / 0.18 = 4.9× 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Evidence 2: strip modes cross the rib index at every peak</a:t>
            </a:r>
          </a:p>
        </p:txBody>
      </p:sp>
      <p:graphicFrame>
        <p:nvGraphicFramePr>
          <p:cNvPr id="3" name="Table 2"/>
          <p:cNvGraphicFramePr>
            <a:graphicFrameLocks noGrp="1"/>
          </p:cNvGraphicFramePr>
          <p:nvPr/>
        </p:nvGraphicFramePr>
        <p:xfrm>
          <a:off x="502920" y="1463040"/>
          <a:ext cx="7315200" cy="2688336"/>
        </p:xfrm>
        <a:graphic>
          <a:graphicData uri="http://schemas.openxmlformats.org/drawingml/2006/table">
            <a:tbl>
              <a:tblPr firstRow="1" bandRow="1"/>
              <a:tblGrid>
                <a:gridCol w="1463040"/>
                <a:gridCol w="1280160"/>
                <a:gridCol w="2286000"/>
                <a:gridCol w="2286000"/>
              </a:tblGrid>
              <a:tr h="384048">
                <a:tc>
                  <a:txBody>
                    <a:bodyPr wrap="square"/>
                    <a:lstStyle/>
                    <a:p>
                      <a:pPr algn="l"/>
                      <a:r>
                        <a:rPr sz="1200" b="1" i="0">
                          <a:solidFill>
                            <a:srgbClr val="FFFFFF"/>
                          </a:solidFill>
                          <a:latin typeface="Arial"/>
                        </a:rPr>
                        <a:t>x_lift [µm]</a:t>
                      </a:r>
                    </a:p>
                  </a:txBody>
                  <a:tcPr marL="54864" marR="54864" marT="18288" marB="18288" anchor="ctr">
                    <a:solidFill>
                      <a:srgbClr val="1F4E79"/>
                    </a:solidFill>
                  </a:tcPr>
                </a:tc>
                <a:tc>
                  <a:txBody>
                    <a:bodyPr wrap="square"/>
                    <a:lstStyle/>
                    <a:p>
                      <a:pPr algn="ctr"/>
                      <a:r>
                        <a:rPr sz="1200" b="1" i="0">
                          <a:solidFill>
                            <a:srgbClr val="FFFFFF"/>
                          </a:solidFill>
                          <a:latin typeface="Arial"/>
                        </a:rPr>
                        <a:t>IL [dB/cm]</a:t>
                      </a:r>
                    </a:p>
                  </a:txBody>
                  <a:tcPr marL="54864" marR="54864" marT="18288" marB="18288" anchor="ctr">
                    <a:solidFill>
                      <a:srgbClr val="1F4E79"/>
                    </a:solidFill>
                  </a:tcPr>
                </a:tc>
                <a:tc>
                  <a:txBody>
                    <a:bodyPr wrap="square"/>
                    <a:lstStyle/>
                    <a:p>
                      <a:pPr algn="ctr"/>
                      <a:r>
                        <a:rPr sz="1200" b="1" i="0">
                          <a:solidFill>
                            <a:srgbClr val="FFFFFF"/>
                          </a:solidFill>
                          <a:latin typeface="Arial"/>
                        </a:rPr>
                        <a:t>Nearest strip-mode index</a:t>
                      </a:r>
                    </a:p>
                  </a:txBody>
                  <a:tcPr marL="54864" marR="54864" marT="18288" marB="18288" anchor="ctr">
                    <a:solidFill>
                      <a:srgbClr val="1F4E79"/>
                    </a:solidFill>
                  </a:tcPr>
                </a:tc>
                <a:tc>
                  <a:txBody>
                    <a:bodyPr wrap="square"/>
                    <a:lstStyle/>
                    <a:p>
                      <a:pPr algn="ctr"/>
                      <a:r>
                        <a:rPr sz="1200" b="1" i="0">
                          <a:solidFill>
                            <a:srgbClr val="FFFFFF"/>
                          </a:solidFill>
                          <a:latin typeface="Arial"/>
                        </a:rPr>
                        <a:t>Distance from rib (1.8834)</a:t>
                      </a:r>
                    </a:p>
                  </a:txBody>
                  <a:tcPr marL="54864" marR="54864" marT="18288" marB="18288" anchor="ctr">
                    <a:solidFill>
                      <a:srgbClr val="1F4E79"/>
                    </a:solidFill>
                  </a:tcPr>
                </a:tc>
              </a:tr>
              <a:tr h="384048">
                <a:tc>
                  <a:txBody>
                    <a:bodyPr wrap="square"/>
                    <a:lstStyle/>
                    <a:p>
                      <a:pPr algn="l"/>
                      <a:r>
                        <a:rPr sz="1200" b="0" i="0">
                          <a:solidFill>
                            <a:srgbClr val="222222"/>
                          </a:solidFill>
                          <a:latin typeface="Arial"/>
                        </a:rPr>
                        <a:t>6.9 (dip)</a:t>
                      </a:r>
                    </a:p>
                  </a:txBody>
                  <a:tcPr marL="54864" marR="54864" marT="18288" marB="18288" anchor="ctr">
                    <a:solidFill>
                      <a:srgbClr val="F4F6F9"/>
                    </a:solidFill>
                  </a:tcPr>
                </a:tc>
                <a:tc>
                  <a:txBody>
                    <a:bodyPr wrap="square"/>
                    <a:lstStyle/>
                    <a:p>
                      <a:pPr algn="ctr"/>
                      <a:r>
                        <a:rPr sz="1200" b="0" i="0">
                          <a:solidFill>
                            <a:srgbClr val="222222"/>
                          </a:solidFill>
                          <a:latin typeface="Arial"/>
                        </a:rPr>
                        <a:t>0.181</a:t>
                      </a:r>
                    </a:p>
                  </a:txBody>
                  <a:tcPr marL="54864" marR="54864" marT="18288" marB="18288" anchor="ctr">
                    <a:solidFill>
                      <a:srgbClr val="F4F6F9"/>
                    </a:solidFill>
                  </a:tcPr>
                </a:tc>
                <a:tc>
                  <a:txBody>
                    <a:bodyPr wrap="square"/>
                    <a:lstStyle/>
                    <a:p>
                      <a:pPr algn="ctr"/>
                      <a:r>
                        <a:rPr sz="1200" b="0" i="0">
                          <a:solidFill>
                            <a:srgbClr val="222222"/>
                          </a:solidFill>
                          <a:latin typeface="Arial"/>
                        </a:rPr>
                        <a:t>1.8502 / 1.9200</a:t>
                      </a:r>
                    </a:p>
                  </a:txBody>
                  <a:tcPr marL="54864" marR="54864" marT="18288" marB="18288" anchor="ctr">
                    <a:solidFill>
                      <a:srgbClr val="F4F6F9"/>
                    </a:solidFill>
                  </a:tcPr>
                </a:tc>
                <a:tc>
                  <a:txBody>
                    <a:bodyPr wrap="square"/>
                    <a:lstStyle/>
                    <a:p>
                      <a:pPr algn="ctr"/>
                      <a:r>
                        <a:rPr sz="1200" b="0" i="0">
                          <a:solidFill>
                            <a:srgbClr val="222222"/>
                          </a:solidFill>
                          <a:latin typeface="Arial"/>
                        </a:rPr>
                        <a:t>−0.033 / +0.037</a:t>
                      </a:r>
                    </a:p>
                  </a:txBody>
                  <a:tcPr marL="54864" marR="54864" marT="18288" marB="18288" anchor="ctr">
                    <a:solidFill>
                      <a:srgbClr val="F4F6F9"/>
                    </a:solidFill>
                  </a:tcPr>
                </a:tc>
              </a:tr>
              <a:tr h="384048">
                <a:tc>
                  <a:txBody>
                    <a:bodyPr wrap="square"/>
                    <a:lstStyle/>
                    <a:p>
                      <a:pPr algn="l"/>
                      <a:r>
                        <a:rPr sz="1200" b="0" i="0">
                          <a:solidFill>
                            <a:srgbClr val="222222"/>
                          </a:solidFill>
                          <a:latin typeface="Arial"/>
                        </a:rPr>
                        <a:t>7.3 (peak)</a:t>
                      </a:r>
                    </a:p>
                  </a:txBody>
                  <a:tcPr marL="54864" marR="54864" marT="18288" marB="18288" anchor="ctr">
                    <a:solidFill>
                      <a:srgbClr val="FDE9D9"/>
                    </a:solidFill>
                  </a:tcPr>
                </a:tc>
                <a:tc>
                  <a:txBody>
                    <a:bodyPr wrap="square"/>
                    <a:lstStyle/>
                    <a:p>
                      <a:pPr algn="ctr"/>
                      <a:r>
                        <a:rPr sz="1200" b="0" i="0">
                          <a:solidFill>
                            <a:srgbClr val="222222"/>
                          </a:solidFill>
                          <a:latin typeface="Arial"/>
                        </a:rPr>
                        <a:t>0.883</a:t>
                      </a:r>
                    </a:p>
                  </a:txBody>
                  <a:tcPr marL="54864" marR="54864" marT="18288" marB="18288" anchor="ctr">
                    <a:solidFill>
                      <a:srgbClr val="FDE9D9"/>
                    </a:solidFill>
                  </a:tcPr>
                </a:tc>
                <a:tc>
                  <a:txBody>
                    <a:bodyPr wrap="square"/>
                    <a:lstStyle/>
                    <a:p>
                      <a:pPr algn="ctr"/>
                      <a:r>
                        <a:rPr sz="1200" b="0" i="0">
                          <a:solidFill>
                            <a:srgbClr val="222222"/>
                          </a:solidFill>
                          <a:latin typeface="Arial"/>
                        </a:rPr>
                        <a:t>1.8831</a:t>
                      </a:r>
                    </a:p>
                  </a:txBody>
                  <a:tcPr marL="54864" marR="54864" marT="18288" marB="18288" anchor="ctr">
                    <a:solidFill>
                      <a:srgbClr val="FDE9D9"/>
                    </a:solidFill>
                  </a:tcPr>
                </a:tc>
                <a:tc>
                  <a:txBody>
                    <a:bodyPr wrap="square"/>
                    <a:lstStyle/>
                    <a:p>
                      <a:pPr algn="ctr"/>
                      <a:r>
                        <a:rPr sz="1200" b="0" i="0">
                          <a:solidFill>
                            <a:srgbClr val="222222"/>
                          </a:solidFill>
                          <a:latin typeface="Arial"/>
                        </a:rPr>
                        <a:t>−0.0003</a:t>
                      </a:r>
                    </a:p>
                  </a:txBody>
                  <a:tcPr marL="54864" marR="54864" marT="18288" marB="18288" anchor="ctr">
                    <a:solidFill>
                      <a:srgbClr val="FDE9D9"/>
                    </a:solidFill>
                  </a:tcPr>
                </a:tc>
              </a:tr>
              <a:tr h="384048">
                <a:tc>
                  <a:txBody>
                    <a:bodyPr wrap="square"/>
                    <a:lstStyle/>
                    <a:p>
                      <a:pPr algn="l"/>
                      <a:r>
                        <a:rPr sz="1200" b="0" i="0">
                          <a:solidFill>
                            <a:srgbClr val="222222"/>
                          </a:solidFill>
                          <a:latin typeface="Arial"/>
                        </a:rPr>
                        <a:t>7.7 (dip)</a:t>
                      </a:r>
                    </a:p>
                  </a:txBody>
                  <a:tcPr marL="54864" marR="54864" marT="18288" marB="18288" anchor="ctr">
                    <a:solidFill>
                      <a:srgbClr val="F4F6F9"/>
                    </a:solidFill>
                  </a:tcPr>
                </a:tc>
                <a:tc>
                  <a:txBody>
                    <a:bodyPr wrap="square"/>
                    <a:lstStyle/>
                    <a:p>
                      <a:pPr algn="ctr"/>
                      <a:r>
                        <a:rPr sz="1200" b="0" i="0">
                          <a:solidFill>
                            <a:srgbClr val="222222"/>
                          </a:solidFill>
                          <a:latin typeface="Arial"/>
                        </a:rPr>
                        <a:t>0.208</a:t>
                      </a:r>
                    </a:p>
                  </a:txBody>
                  <a:tcPr marL="54864" marR="54864" marT="18288" marB="18288" anchor="ctr">
                    <a:solidFill>
                      <a:srgbClr val="F4F6F9"/>
                    </a:solidFill>
                  </a:tcPr>
                </a:tc>
                <a:tc>
                  <a:txBody>
                    <a:bodyPr wrap="square"/>
                    <a:lstStyle/>
                    <a:p>
                      <a:pPr algn="ctr"/>
                      <a:r>
                        <a:rPr sz="1200" b="0" i="0">
                          <a:solidFill>
                            <a:srgbClr val="222222"/>
                          </a:solidFill>
                          <a:latin typeface="Arial"/>
                        </a:rPr>
                        <a:t>1.8475 / 1.9094</a:t>
                      </a:r>
                    </a:p>
                  </a:txBody>
                  <a:tcPr marL="54864" marR="54864" marT="18288" marB="18288" anchor="ctr">
                    <a:solidFill>
                      <a:srgbClr val="F4F6F9"/>
                    </a:solidFill>
                  </a:tcPr>
                </a:tc>
                <a:tc>
                  <a:txBody>
                    <a:bodyPr wrap="square"/>
                    <a:lstStyle/>
                    <a:p>
                      <a:pPr algn="ctr"/>
                      <a:r>
                        <a:rPr sz="1200" b="0" i="0">
                          <a:solidFill>
                            <a:srgbClr val="222222"/>
                          </a:solidFill>
                          <a:latin typeface="Arial"/>
                        </a:rPr>
                        <a:t>−0.036 / +0.026</a:t>
                      </a:r>
                    </a:p>
                  </a:txBody>
                  <a:tcPr marL="54864" marR="54864" marT="18288" marB="18288" anchor="ctr">
                    <a:solidFill>
                      <a:srgbClr val="F4F6F9"/>
                    </a:solidFill>
                  </a:tcPr>
                </a:tc>
              </a:tr>
              <a:tr h="384048">
                <a:tc>
                  <a:txBody>
                    <a:bodyPr wrap="square"/>
                    <a:lstStyle/>
                    <a:p>
                      <a:pPr algn="l"/>
                      <a:r>
                        <a:rPr sz="1200" b="0" i="0">
                          <a:solidFill>
                            <a:srgbClr val="222222"/>
                          </a:solidFill>
                          <a:latin typeface="Arial"/>
                        </a:rPr>
                        <a:t>8.1</a:t>
                      </a:r>
                    </a:p>
                  </a:txBody>
                  <a:tcPr marL="54864" marR="54864" marT="18288" marB="18288" anchor="ctr">
                    <a:solidFill>
                      <a:srgbClr val="DDE3EA"/>
                    </a:solidFill>
                  </a:tcPr>
                </a:tc>
                <a:tc>
                  <a:txBody>
                    <a:bodyPr wrap="square"/>
                    <a:lstStyle/>
                    <a:p>
                      <a:pPr algn="ctr"/>
                      <a:r>
                        <a:rPr sz="1200" b="0" i="0">
                          <a:solidFill>
                            <a:srgbClr val="222222"/>
                          </a:solidFill>
                          <a:latin typeface="Arial"/>
                        </a:rPr>
                        <a:t>0.596</a:t>
                      </a:r>
                    </a:p>
                  </a:txBody>
                  <a:tcPr marL="54864" marR="54864" marT="18288" marB="18288" anchor="ctr">
                    <a:solidFill>
                      <a:srgbClr val="DDE3EA"/>
                    </a:solidFill>
                  </a:tcPr>
                </a:tc>
                <a:tc>
                  <a:txBody>
                    <a:bodyPr wrap="square"/>
                    <a:lstStyle/>
                    <a:p>
                      <a:pPr algn="ctr"/>
                      <a:r>
                        <a:rPr sz="1200" b="0" i="0">
                          <a:solidFill>
                            <a:srgbClr val="222222"/>
                          </a:solidFill>
                          <a:latin typeface="Arial"/>
                        </a:rPr>
                        <a:t>1.8768</a:t>
                      </a:r>
                    </a:p>
                  </a:txBody>
                  <a:tcPr marL="54864" marR="54864" marT="18288" marB="18288" anchor="ctr">
                    <a:solidFill>
                      <a:srgbClr val="DDE3EA"/>
                    </a:solidFill>
                  </a:tcPr>
                </a:tc>
                <a:tc>
                  <a:txBody>
                    <a:bodyPr wrap="square"/>
                    <a:lstStyle/>
                    <a:p>
                      <a:pPr algn="ctr"/>
                      <a:r>
                        <a:rPr sz="1200" b="0" i="0">
                          <a:solidFill>
                            <a:srgbClr val="222222"/>
                          </a:solidFill>
                          <a:latin typeface="Arial"/>
                        </a:rPr>
                        <a:t>−0.0066</a:t>
                      </a:r>
                    </a:p>
                  </a:txBody>
                  <a:tcPr marL="54864" marR="54864" marT="18288" marB="18288" anchor="ctr">
                    <a:solidFill>
                      <a:srgbClr val="DDE3EA"/>
                    </a:solidFill>
                  </a:tcPr>
                </a:tc>
              </a:tr>
              <a:tr h="384048">
                <a:tc>
                  <a:txBody>
                    <a:bodyPr wrap="square"/>
                    <a:lstStyle/>
                    <a:p>
                      <a:pPr algn="l"/>
                      <a:r>
                        <a:rPr sz="1200" b="0" i="0">
                          <a:solidFill>
                            <a:srgbClr val="222222"/>
                          </a:solidFill>
                          <a:latin typeface="Arial"/>
                        </a:rPr>
                        <a:t>9.0</a:t>
                      </a:r>
                    </a:p>
                  </a:txBody>
                  <a:tcPr marL="54864" marR="54864" marT="18288" marB="18288" anchor="ctr">
                    <a:solidFill>
                      <a:srgbClr val="F4F6F9"/>
                    </a:solidFill>
                  </a:tcPr>
                </a:tc>
                <a:tc>
                  <a:txBody>
                    <a:bodyPr wrap="square"/>
                    <a:lstStyle/>
                    <a:p>
                      <a:pPr algn="ctr"/>
                      <a:r>
                        <a:rPr sz="1200" b="0" i="0">
                          <a:solidFill>
                            <a:srgbClr val="222222"/>
                          </a:solidFill>
                          <a:latin typeface="Arial"/>
                        </a:rPr>
                        <a:t>0.585</a:t>
                      </a:r>
                    </a:p>
                  </a:txBody>
                  <a:tcPr marL="54864" marR="54864" marT="18288" marB="18288" anchor="ctr">
                    <a:solidFill>
                      <a:srgbClr val="F4F6F9"/>
                    </a:solidFill>
                  </a:tcPr>
                </a:tc>
                <a:tc>
                  <a:txBody>
                    <a:bodyPr wrap="square"/>
                    <a:lstStyle/>
                    <a:p>
                      <a:pPr algn="ctr"/>
                      <a:r>
                        <a:rPr sz="1200" b="0" i="0">
                          <a:solidFill>
                            <a:srgbClr val="222222"/>
                          </a:solidFill>
                          <a:latin typeface="Arial"/>
                        </a:rPr>
                        <a:t>1.8780</a:t>
                      </a:r>
                    </a:p>
                  </a:txBody>
                  <a:tcPr marL="54864" marR="54864" marT="18288" marB="18288" anchor="ctr">
                    <a:solidFill>
                      <a:srgbClr val="F4F6F9"/>
                    </a:solidFill>
                  </a:tcPr>
                </a:tc>
                <a:tc>
                  <a:txBody>
                    <a:bodyPr wrap="square"/>
                    <a:lstStyle/>
                    <a:p>
                      <a:pPr algn="ctr"/>
                      <a:r>
                        <a:rPr sz="1200" b="0" i="0">
                          <a:solidFill>
                            <a:srgbClr val="222222"/>
                          </a:solidFill>
                          <a:latin typeface="Arial"/>
                        </a:rPr>
                        <a:t>−0.0054</a:t>
                      </a:r>
                    </a:p>
                  </a:txBody>
                  <a:tcPr marL="54864" marR="54864" marT="18288" marB="18288" anchor="ctr">
                    <a:solidFill>
                      <a:srgbClr val="F4F6F9"/>
                    </a:solidFill>
                  </a:tcPr>
                </a:tc>
              </a:tr>
              <a:tr h="384048">
                <a:tc>
                  <a:txBody>
                    <a:bodyPr wrap="square"/>
                    <a:lstStyle/>
                    <a:p>
                      <a:pPr algn="l"/>
                      <a:r>
                        <a:rPr sz="1200" b="0" i="0">
                          <a:solidFill>
                            <a:srgbClr val="222222"/>
                          </a:solidFill>
                          <a:latin typeface="Arial"/>
                        </a:rPr>
                        <a:t>9.1 (peak)</a:t>
                      </a:r>
                    </a:p>
                  </a:txBody>
                  <a:tcPr marL="54864" marR="54864" marT="18288" marB="18288" anchor="ctr">
                    <a:solidFill>
                      <a:srgbClr val="FDE9D9"/>
                    </a:solidFill>
                  </a:tcPr>
                </a:tc>
                <a:tc>
                  <a:txBody>
                    <a:bodyPr wrap="square"/>
                    <a:lstStyle/>
                    <a:p>
                      <a:pPr algn="ctr"/>
                      <a:r>
                        <a:rPr sz="1200" b="0" i="0">
                          <a:solidFill>
                            <a:srgbClr val="222222"/>
                          </a:solidFill>
                          <a:latin typeface="Arial"/>
                        </a:rPr>
                        <a:t>0.708</a:t>
                      </a:r>
                    </a:p>
                  </a:txBody>
                  <a:tcPr marL="54864" marR="54864" marT="18288" marB="18288" anchor="ctr">
                    <a:solidFill>
                      <a:srgbClr val="FDE9D9"/>
                    </a:solidFill>
                  </a:tcPr>
                </a:tc>
                <a:tc>
                  <a:txBody>
                    <a:bodyPr wrap="square"/>
                    <a:lstStyle/>
                    <a:p>
                      <a:pPr algn="ctr"/>
                      <a:r>
                        <a:rPr sz="1200" b="0" i="0">
                          <a:solidFill>
                            <a:srgbClr val="222222"/>
                          </a:solidFill>
                          <a:latin typeface="Arial"/>
                        </a:rPr>
                        <a:t>1.8836</a:t>
                      </a:r>
                    </a:p>
                  </a:txBody>
                  <a:tcPr marL="54864" marR="54864" marT="18288" marB="18288" anchor="ctr">
                    <a:solidFill>
                      <a:srgbClr val="FDE9D9"/>
                    </a:solidFill>
                  </a:tcPr>
                </a:tc>
                <a:tc>
                  <a:txBody>
                    <a:bodyPr wrap="square"/>
                    <a:lstStyle/>
                    <a:p>
                      <a:pPr algn="ctr"/>
                      <a:r>
                        <a:rPr sz="1200" b="0" i="0">
                          <a:solidFill>
                            <a:srgbClr val="222222"/>
                          </a:solidFill>
                          <a:latin typeface="Arial"/>
                        </a:rPr>
                        <a:t>+0.0002</a:t>
                      </a:r>
                    </a:p>
                  </a:txBody>
                  <a:tcPr marL="54864" marR="54864" marT="18288" marB="18288" anchor="ctr">
                    <a:solidFill>
                      <a:srgbClr val="FDE9D9"/>
                    </a:solidFill>
                  </a:tcPr>
                </a:tc>
              </a:tr>
            </a:tbl>
          </a:graphicData>
        </a:graphic>
      </p:graphicFrame>
      <p:sp>
        <p:nvSpPr>
          <p:cNvPr id="4" name="TextBox 3"/>
          <p:cNvSpPr txBox="1"/>
          <p:nvPr/>
        </p:nvSpPr>
        <p:spPr>
          <a:xfrm>
            <a:off x="502920" y="4343400"/>
            <a:ext cx="7315200" cy="1920240"/>
          </a:xfrm>
          <a:prstGeom prst="rect">
            <a:avLst/>
          </a:prstGeom>
          <a:noFill/>
        </p:spPr>
        <p:txBody>
          <a:bodyPr wrap="square" lIns="45720" rIns="45720" tIns="27432" bIns="27432" anchor="t">
            <a:spAutoFit/>
          </a:bodyPr>
          <a:lstStyle/>
          <a:p>
            <a:pPr algn="l" marL="256032" indent="-201168">
              <a:spcAft>
                <a:spcPts val="600"/>
              </a:spcAft>
              <a:buFont typeface="Arial"/>
              <a:buChar char="•"/>
            </a:pPr>
            <a:r>
              <a:rPr sz="1200" b="0" i="0">
                <a:solidFill>
                  <a:srgbClr val="222222"/>
                </a:solidFill>
                <a:latin typeface="Arial"/>
              </a:rPr>
              <a:t>The solver also returns the lossy eigenmodes of the gold-on-slab strip itself (TE fraction ≈ 10 %, core power ≈ 0, Im(n) ≈ −0.01).</a:t>
            </a:r>
          </a:p>
          <a:p>
            <a:pPr algn="l" marL="256032" indent="-201168">
              <a:spcAft>
                <a:spcPts val="600"/>
              </a:spcAft>
              <a:buFont typeface="Arial"/>
              <a:buChar char="•"/>
            </a:pPr>
            <a:r>
              <a:rPr sz="1200" b="0" i="0">
                <a:solidFill>
                  <a:srgbClr val="222222"/>
                </a:solidFill>
                <a:latin typeface="Arial"/>
              </a:rPr>
              <a:t>IL peaks exactly where one strip mode lands on the rib index: the two hybridise and the rib borrows the strip's loss. At the dips the strip modes sit on either side.</a:t>
            </a:r>
          </a:p>
          <a:p>
            <a:pPr algn="l" marL="256032" indent="-201168">
              <a:spcAft>
                <a:spcPts val="600"/>
              </a:spcAft>
              <a:buFont typeface="Arial"/>
              <a:buChar char="•"/>
            </a:pPr>
            <a:r>
              <a:rPr sz="1200" b="0" i="0">
                <a:solidFill>
                  <a:srgbClr val="222222"/>
                </a:solidFill>
                <a:latin typeface="Arial"/>
              </a:rPr>
              <a:t>100 nm of lift moves the strip mode by ≈ 0.006 in index; this is why 9.0 µm (0.585) and 9.1 µm (0.708) differ.</a:t>
            </a:r>
          </a:p>
        </p:txBody>
      </p:sp>
      <p:sp>
        <p:nvSpPr>
          <p:cNvPr id="5" name="Rounded Rectangle 4"/>
          <p:cNvSpPr/>
          <p:nvPr/>
        </p:nvSpPr>
        <p:spPr>
          <a:xfrm>
            <a:off x="8138160" y="1463040"/>
            <a:ext cx="3611880" cy="301752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1F4E79"/>
                </a:solidFill>
                <a:latin typeface="Arial"/>
              </a:rPr>
              <a:t>Mesh artefact excluded</a:t>
            </a:r>
          </a:p>
          <a:p>
            <a:pPr algn="l">
              <a:spcAft>
                <a:spcPts val="500"/>
              </a:spcAft>
            </a:pPr>
            <a:r>
              <a:rPr sz="1200" b="0" i="0">
                <a:solidFill>
                  <a:srgbClr val="222222"/>
                </a:solidFill>
                <a:latin typeface="Arial"/>
              </a:rPr>
              <a:t>Dip and peak recomputed with a 1.7× finer mesh (skin 8 nm, corners 4 nm, slab 18 nm, core 30 nm):</a:t>
            </a:r>
          </a:p>
          <a:p>
            <a:pPr algn="l">
              <a:spcAft>
                <a:spcPts val="500"/>
              </a:spcAft>
            </a:pPr>
            <a:r>
              <a:rPr sz="1200" b="1" i="0">
                <a:solidFill>
                  <a:srgbClr val="222222"/>
                </a:solidFill>
                <a:latin typeface="Arial"/>
              </a:rPr>
              <a:t>6.9 µm:  </a:t>
            </a:r>
            <a:r>
              <a:rPr sz="1200" b="0" i="0">
                <a:solidFill>
                  <a:srgbClr val="222222"/>
                </a:solidFill>
                <a:latin typeface="Arial"/>
              </a:rPr>
              <a:t>0.1807 → 0.1801</a:t>
            </a:r>
          </a:p>
          <a:p>
            <a:pPr algn="l">
              <a:spcAft>
                <a:spcPts val="500"/>
              </a:spcAft>
            </a:pPr>
            <a:r>
              <a:rPr sz="1200" b="1" i="0">
                <a:solidFill>
                  <a:srgbClr val="222222"/>
                </a:solidFill>
                <a:latin typeface="Arial"/>
              </a:rPr>
              <a:t>7.3 µm:  </a:t>
            </a:r>
            <a:r>
              <a:rPr sz="1200" b="0" i="0">
                <a:solidFill>
                  <a:srgbClr val="222222"/>
                </a:solidFill>
                <a:latin typeface="Arial"/>
              </a:rPr>
              <a:t>0.8827 → 0.8892</a:t>
            </a:r>
          </a:p>
          <a:p>
            <a:pPr algn="l">
              <a:spcAft>
                <a:spcPts val="500"/>
              </a:spcAft>
            </a:pPr>
            <a:r>
              <a:rPr sz="1200" b="0" i="0">
                <a:solidFill>
                  <a:srgbClr val="222222"/>
                </a:solidFill>
                <a:latin typeface="Arial"/>
              </a:rPr>
              <a:t>Ripple period unchanged (0.888 / 0.891 µm). An artefact would move with the mesh; the resonance does not.</a:t>
            </a:r>
          </a:p>
          <a:p>
            <a:pPr algn="l">
              <a:spcAft>
                <a:spcPts val="500"/>
              </a:spcAft>
            </a:pPr>
            <a:r>
              <a:rPr sz="1200" b="0" i="0">
                <a:solidFill>
                  <a:srgbClr val="222222"/>
                </a:solidFill>
                <a:latin typeface="Arial"/>
              </a:rPr>
              <a:t>Rib mode itself unchanged everywhere: Re(n_eff) = 1.88339, core power 36.7 %.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Mechanism: a leaky resonator beside the rib</a:t>
            </a:r>
          </a:p>
        </p:txBody>
      </p:sp>
      <p:sp>
        <p:nvSpPr>
          <p:cNvPr id="3" name="Rectangle 2"/>
          <p:cNvSpPr/>
          <p:nvPr/>
        </p:nvSpPr>
        <p:spPr>
          <a:xfrm>
            <a:off x="640080" y="3246120"/>
            <a:ext cx="6583680" cy="256032"/>
          </a:xfrm>
          <a:prstGeom prst="rect">
            <a:avLst/>
          </a:prstGeom>
          <a:solidFill>
            <a:srgbClr val="8B9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2926080"/>
            <a:ext cx="822960" cy="320040"/>
          </a:xfrm>
          <a:prstGeom prst="rect">
            <a:avLst/>
          </a:prstGeom>
          <a:solidFill>
            <a:srgbClr val="8B9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2331720"/>
            <a:ext cx="1188720" cy="914400"/>
          </a:xfrm>
          <a:prstGeom prst="rect">
            <a:avLst/>
          </a:prstGeom>
          <a:solidFill>
            <a:srgbClr val="9CC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926080"/>
            <a:ext cx="822960" cy="320040"/>
          </a:xfrm>
          <a:prstGeom prst="rect">
            <a:avLst/>
          </a:prstGeom>
          <a:solidFill>
            <a:srgbClr val="8B9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77439" y="2514600"/>
            <a:ext cx="3291840" cy="73152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0" y="2697480"/>
            <a:ext cx="1554480" cy="548640"/>
          </a:xfrm>
          <a:prstGeom prst="rect">
            <a:avLst/>
          </a:prstGeom>
          <a:solidFill>
            <a:srgbClr val="9CC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0" y="2148840"/>
            <a:ext cx="1554480" cy="54864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40" y="2148840"/>
            <a:ext cx="548640" cy="36576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828800" y="3611880"/>
            <a:ext cx="822960" cy="0"/>
          </a:xfrm>
          <a:prstGeom prst="line">
            <a:avLst/>
          </a:prstGeom>
          <a:ln w="28575">
            <a:solidFill>
              <a:srgbClr val="EB6834"/>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834639" y="3611880"/>
            <a:ext cx="2697481" cy="0"/>
          </a:xfrm>
          <a:prstGeom prst="line">
            <a:avLst/>
          </a:prstGeom>
          <a:ln w="28575">
            <a:solidFill>
              <a:srgbClr val="EB6834"/>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834639" y="3886200"/>
            <a:ext cx="2697481" cy="0"/>
          </a:xfrm>
          <a:prstGeom prst="line">
            <a:avLst/>
          </a:prstGeom>
          <a:ln w="28575">
            <a:solidFill>
              <a:srgbClr val="2A78D6"/>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0080" y="4069080"/>
            <a:ext cx="6675120" cy="548640"/>
          </a:xfrm>
          <a:prstGeom prst="rect">
            <a:avLst/>
          </a:prstGeom>
          <a:noFill/>
        </p:spPr>
        <p:txBody>
          <a:bodyPr wrap="square" lIns="45720" rIns="45720" tIns="27432" bIns="27432" anchor="t">
            <a:spAutoFit/>
          </a:bodyPr>
          <a:lstStyle/>
          <a:p>
            <a:pPr algn="l">
              <a:spcAft>
                <a:spcPts val="600"/>
              </a:spcAft>
            </a:pPr>
            <a:r>
              <a:rPr sz="1100" b="1" i="0">
                <a:solidFill>
                  <a:srgbClr val="EB6834"/>
                </a:solidFill>
                <a:latin typeface="Arial"/>
              </a:rPr>
              <a:t>① </a:t>
            </a:r>
            <a:r>
              <a:rPr sz="1100" b="0" i="0">
                <a:solidFill>
                  <a:srgbClr val="222222"/>
                </a:solidFill>
                <a:latin typeface="Arial"/>
              </a:rPr>
              <a:t>leak: rib → surface wave under the gold (tunnelling across the gap)   </a:t>
            </a:r>
            <a:r>
              <a:rPr sz="1100" b="1" i="0">
                <a:solidFill>
                  <a:srgbClr val="EB6834"/>
                </a:solidFill>
                <a:latin typeface="Arial"/>
              </a:rPr>
              <a:t>② </a:t>
            </a:r>
            <a:r>
              <a:rPr sz="1100" b="0" i="0">
                <a:solidFill>
                  <a:srgbClr val="222222"/>
                </a:solidFill>
                <a:latin typeface="Arial"/>
              </a:rPr>
              <a:t>wave travels out, absorbed in the gold   </a:t>
            </a:r>
            <a:r>
              <a:rPr sz="1100" b="1" i="0">
                <a:solidFill>
                  <a:srgbClr val="2A78D6"/>
                </a:solidFill>
                <a:latin typeface="Arial"/>
              </a:rPr>
              <a:t>③ </a:t>
            </a:r>
            <a:r>
              <a:rPr sz="1100" b="0" i="0">
                <a:solidFill>
                  <a:srgbClr val="222222"/>
                </a:solidFill>
                <a:latin typeface="Arial"/>
              </a:rPr>
              <a:t>partial reflection at the lift step</a:t>
            </a:r>
          </a:p>
        </p:txBody>
      </p:sp>
      <p:sp>
        <p:nvSpPr>
          <p:cNvPr id="15" name="TextBox 14"/>
          <p:cNvSpPr txBox="1"/>
          <p:nvPr/>
        </p:nvSpPr>
        <p:spPr>
          <a:xfrm>
            <a:off x="5623560" y="1783080"/>
            <a:ext cx="1828800" cy="320040"/>
          </a:xfrm>
          <a:prstGeom prst="rect">
            <a:avLst/>
          </a:prstGeom>
          <a:noFill/>
        </p:spPr>
        <p:txBody>
          <a:bodyPr wrap="square" lIns="45720" rIns="45720" tIns="27432" bIns="27432" anchor="t">
            <a:spAutoFit/>
          </a:bodyPr>
          <a:lstStyle/>
          <a:p>
            <a:pPr algn="l">
              <a:spcAft>
                <a:spcPts val="600"/>
              </a:spcAft>
            </a:pPr>
            <a:r>
              <a:rPr sz="1000" b="0" i="0">
                <a:solidFill>
                  <a:srgbClr val="595959"/>
                </a:solidFill>
                <a:latin typeface="Arial"/>
              </a:rPr>
              <a:t>lift step (x_lift)</a:t>
            </a:r>
          </a:p>
        </p:txBody>
      </p:sp>
      <p:sp>
        <p:nvSpPr>
          <p:cNvPr id="16" name="TextBox 15"/>
          <p:cNvSpPr txBox="1"/>
          <p:nvPr/>
        </p:nvSpPr>
        <p:spPr>
          <a:xfrm>
            <a:off x="731519" y="2011680"/>
            <a:ext cx="1371600" cy="320040"/>
          </a:xfrm>
          <a:prstGeom prst="rect">
            <a:avLst/>
          </a:prstGeom>
          <a:noFill/>
        </p:spPr>
        <p:txBody>
          <a:bodyPr wrap="square" lIns="45720" rIns="45720" tIns="27432" bIns="27432" anchor="t">
            <a:spAutoFit/>
          </a:bodyPr>
          <a:lstStyle/>
          <a:p>
            <a:pPr algn="l">
              <a:spcAft>
                <a:spcPts val="600"/>
              </a:spcAft>
            </a:pPr>
            <a:r>
              <a:rPr sz="1000" b="0" i="0">
                <a:solidFill>
                  <a:srgbClr val="595959"/>
                </a:solidFill>
                <a:latin typeface="Arial"/>
              </a:rPr>
              <a:t>rib + cap</a:t>
            </a:r>
          </a:p>
        </p:txBody>
      </p:sp>
      <p:sp>
        <p:nvSpPr>
          <p:cNvPr id="17" name="TextBox 16"/>
          <p:cNvSpPr txBox="1"/>
          <p:nvPr/>
        </p:nvSpPr>
        <p:spPr>
          <a:xfrm>
            <a:off x="502920" y="4617720"/>
            <a:ext cx="6949440" cy="1828800"/>
          </a:xfrm>
          <a:prstGeom prst="rect">
            <a:avLst/>
          </a:prstGeom>
          <a:noFill/>
        </p:spPr>
        <p:txBody>
          <a:bodyPr wrap="square" lIns="45720" rIns="45720" tIns="27432" bIns="27432" anchor="t">
            <a:spAutoFit/>
          </a:bodyPr>
          <a:lstStyle/>
          <a:p>
            <a:pPr algn="l">
              <a:spcAft>
                <a:spcPts val="600"/>
              </a:spcAft>
            </a:pPr>
            <a:r>
              <a:rPr sz="1400" b="1" i="0">
                <a:solidFill>
                  <a:srgbClr val="1F4E79"/>
                </a:solidFill>
                <a:latin typeface="Arial"/>
              </a:rPr>
              <a:t>Phase condition</a:t>
            </a:r>
          </a:p>
          <a:p>
            <a:pPr algn="l" marL="256032" indent="-201168">
              <a:spcAft>
                <a:spcPts val="600"/>
              </a:spcAft>
              <a:buFont typeface="Arial"/>
              <a:buChar char="•"/>
            </a:pPr>
            <a:r>
              <a:rPr sz="1100" b="0" i="0">
                <a:solidFill>
                  <a:srgbClr val="222222"/>
                </a:solidFill>
                <a:latin typeface="Arial"/>
              </a:rPr>
              <a:t>Along z the surface wave must match the rib: β = k₀·1.8834. Its lateral wavenumber is k_x = k₀·√(n_strip² − 1.8834²).</a:t>
            </a:r>
          </a:p>
          <a:p>
            <a:pPr algn="l" marL="256032" indent="-201168">
              <a:spcAft>
                <a:spcPts val="600"/>
              </a:spcAft>
              <a:buFont typeface="Arial"/>
              <a:buChar char="•"/>
            </a:pPr>
            <a:r>
              <a:rPr sz="1100" b="0" i="0">
                <a:solidFill>
                  <a:srgbClr val="222222"/>
                </a:solidFill>
                <a:latin typeface="Arial"/>
              </a:rPr>
              <a:t>Outgoing + reflected waves give |E|² ripples with period π/k_x; each extra π/k_x of strip adds one ripple and restores the round-trip phase: IL period = ripple period.</a:t>
            </a:r>
          </a:p>
          <a:p>
            <a:pPr algn="l" marL="256032" indent="-201168">
              <a:spcAft>
                <a:spcPts val="600"/>
              </a:spcAft>
              <a:buFont typeface="Arial"/>
              <a:buChar char="•"/>
            </a:pPr>
            <a:r>
              <a:rPr sz="1100" b="0" i="0">
                <a:solidFill>
                  <a:srgbClr val="222222"/>
                </a:solidFill>
                <a:latin typeface="Arial"/>
              </a:rPr>
              <a:t>0.90 µm ⇒ n_strip ≈ 2.08 (below 2.26 for gold on bulk LN, as expected for a 275 nm slab). Set by materials and thicknesses, independent of x_lift.</a:t>
            </a:r>
          </a:p>
        </p:txBody>
      </p:sp>
      <p:sp>
        <p:nvSpPr>
          <p:cNvPr id="18" name="Rounded Rectangle 17"/>
          <p:cNvSpPr/>
          <p:nvPr/>
        </p:nvSpPr>
        <p:spPr>
          <a:xfrm>
            <a:off x="7772400" y="1463040"/>
            <a:ext cx="3977639" cy="402336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1F4E79"/>
                </a:solidFill>
                <a:latin typeface="Arial"/>
              </a:rPr>
              <a:t>Why a short strip can absorb more than a long one</a:t>
            </a:r>
          </a:p>
          <a:p>
            <a:pPr algn="l">
              <a:spcAft>
                <a:spcPts val="500"/>
              </a:spcAft>
            </a:pPr>
            <a:r>
              <a:rPr sz="1200" b="1" i="0">
                <a:solidFill>
                  <a:srgbClr val="222222"/>
                </a:solidFill>
                <a:latin typeface="Arial"/>
              </a:rPr>
              <a:t>No lift: </a:t>
            </a:r>
            <a:r>
              <a:rPr sz="1200" b="0" i="0">
                <a:solidFill>
                  <a:srgbClr val="222222"/>
                </a:solidFill>
                <a:latin typeface="Arial"/>
              </a:rPr>
              <a:t>leaked power travels outward once and is absorbed on the way. No reflection, no build-up: a single-pass loss (0.42 dB/cm).</a:t>
            </a:r>
          </a:p>
          <a:p>
            <a:pPr algn="l">
              <a:spcAft>
                <a:spcPts val="500"/>
              </a:spcAft>
            </a:pPr>
            <a:r>
              <a:rPr sz="1200" b="1" i="0">
                <a:solidFill>
                  <a:srgbClr val="222222"/>
                </a:solidFill>
                <a:latin typeface="Arial"/>
              </a:rPr>
              <a:t>In phase (peak): </a:t>
            </a:r>
            <a:r>
              <a:rPr sz="1200" b="0" i="0">
                <a:solidFill>
                  <a:srgbClr val="222222"/>
                </a:solidFill>
                <a:latin typeface="Arial"/>
              </a:rPr>
              <a:t>each round trip adds to the field already in the strip. The strip fills up and pulls power out of the rib much faster than a single pass.</a:t>
            </a:r>
          </a:p>
          <a:p>
            <a:pPr algn="l">
              <a:spcAft>
                <a:spcPts val="500"/>
              </a:spcAft>
            </a:pPr>
            <a:r>
              <a:rPr sz="1200" b="1" i="0">
                <a:solidFill>
                  <a:srgbClr val="222222"/>
                </a:solidFill>
                <a:latin typeface="Arial"/>
              </a:rPr>
              <a:t>Out of phase (dip): </a:t>
            </a:r>
            <a:r>
              <a:rPr sz="1200" b="0" i="0">
                <a:solidFill>
                  <a:srgbClr val="222222"/>
                </a:solidFill>
                <a:latin typeface="Arial"/>
              </a:rPr>
              <a:t>the returning wave opposes the newly leaking light; the strip resists being filled and less power leaves the rib than with no lift at all.</a:t>
            </a:r>
          </a:p>
          <a:p>
            <a:pPr algn="l">
              <a:spcAft>
                <a:spcPts val="500"/>
              </a:spcAft>
            </a:pPr>
            <a:r>
              <a:rPr sz="1200" b="0" i="0">
                <a:solidFill>
                  <a:srgbClr val="222222"/>
                </a:solidFill>
                <a:latin typeface="Arial"/>
              </a:rPr>
              <a:t>Same physics as a ring resonator on a bus waveguide: on resonance a short lossy ring extracts far more than a straight lossy section of the same length.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Field maps: dip, peak and legacy (no lift)</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|E|², common dB reference for the three cases</a:t>
            </a:r>
          </a:p>
        </p:txBody>
      </p:sp>
      <p:pic>
        <p:nvPicPr>
          <p:cNvPr id="4" name="Picture 3" descr="fieldmaps.png"/>
          <p:cNvPicPr>
            <a:picLocks noChangeAspect="1"/>
          </p:cNvPicPr>
          <p:nvPr/>
        </p:nvPicPr>
        <p:blipFill>
          <a:blip r:embed="rId2"/>
          <a:stretch>
            <a:fillRect/>
          </a:stretch>
        </p:blipFill>
        <p:spPr>
          <a:xfrm>
            <a:off x="502920" y="1508760"/>
            <a:ext cx="8026082" cy="4800600"/>
          </a:xfrm>
          <a:prstGeom prst="rect">
            <a:avLst/>
          </a:prstGeom>
        </p:spPr>
      </p:pic>
      <p:sp>
        <p:nvSpPr>
          <p:cNvPr id="5" name="TextBox 4"/>
          <p:cNvSpPr txBox="1"/>
          <p:nvPr/>
        </p:nvSpPr>
        <p:spPr>
          <a:xfrm>
            <a:off x="8641080" y="1600200"/>
            <a:ext cx="3154680" cy="4572000"/>
          </a:xfrm>
          <a:prstGeom prst="rect">
            <a:avLst/>
          </a:prstGeom>
          <a:noFill/>
        </p:spPr>
        <p:txBody>
          <a:bodyPr wrap="square" lIns="45720" rIns="45720" tIns="27432" bIns="27432" anchor="t">
            <a:spAutoFit/>
          </a:bodyPr>
          <a:lstStyle/>
          <a:p>
            <a:pPr algn="l">
              <a:spcAft>
                <a:spcPts val="600"/>
              </a:spcAft>
            </a:pPr>
            <a:r>
              <a:rPr sz="1500" b="1" i="0">
                <a:solidFill>
                  <a:srgbClr val="1F4E79"/>
                </a:solidFill>
                <a:latin typeface="Arial"/>
              </a:rPr>
              <a:t>Observations</a:t>
            </a:r>
          </a:p>
          <a:p>
            <a:pPr algn="l" marL="256032" indent="-201168">
              <a:spcAft>
                <a:spcPts val="600"/>
              </a:spcAft>
              <a:buFont typeface="Arial"/>
              <a:buChar char="•"/>
            </a:pPr>
            <a:r>
              <a:rPr sz="1200" b="0" i="0">
                <a:solidFill>
                  <a:srgbClr val="222222"/>
                </a:solidFill>
                <a:latin typeface="Arial"/>
              </a:rPr>
              <a:t>Rib mode identical in all three (same colour scale near x = 0)</a:t>
            </a:r>
          </a:p>
          <a:p>
            <a:pPr algn="l" marL="256032" indent="-201168">
              <a:spcAft>
                <a:spcPts val="600"/>
              </a:spcAft>
              <a:buFont typeface="Arial"/>
              <a:buChar char="•"/>
            </a:pPr>
            <a:r>
              <a:rPr sz="1200" b="0" i="0">
                <a:solidFill>
                  <a:srgbClr val="222222"/>
                </a:solidFill>
                <a:latin typeface="Arial"/>
              </a:rPr>
              <a:t>Peak: band under the gold visibly brighter along the whole strip, brightest near the lift step</a:t>
            </a:r>
          </a:p>
          <a:p>
            <a:pPr algn="l" marL="256032" indent="-201168">
              <a:spcAft>
                <a:spcPts val="600"/>
              </a:spcAft>
              <a:buFont typeface="Arial"/>
              <a:buChar char="•"/>
            </a:pPr>
            <a:r>
              <a:rPr sz="1200" b="0" i="0">
                <a:solidFill>
                  <a:srgbClr val="222222"/>
                </a:solidFill>
                <a:latin typeface="Arial"/>
              </a:rPr>
              <a:t>Dip: same ripple pattern, markedly dimmer</a:t>
            </a:r>
          </a:p>
          <a:p>
            <a:pPr algn="l" marL="256032" indent="-201168">
              <a:spcAft>
                <a:spcPts val="600"/>
              </a:spcAft>
              <a:buFont typeface="Arial"/>
              <a:buChar char="•"/>
            </a:pPr>
            <a:r>
              <a:rPr sz="1200" b="0" i="0">
                <a:solidFill>
                  <a:srgbClr val="222222"/>
                </a:solidFill>
                <a:latin typeface="Arial"/>
              </a:rPr>
              <a:t>Legacy: uniform band slowly fading with x, no ripples: travelling wave</a:t>
            </a:r>
          </a:p>
          <a:p>
            <a:pPr algn="l" marL="256032" indent="-201168">
              <a:spcAft>
                <a:spcPts val="600"/>
              </a:spcAft>
              <a:buFont typeface="Arial"/>
              <a:buChar char="•"/>
            </a:pPr>
            <a:r>
              <a:rPr sz="1200" b="0" i="0">
                <a:solidFill>
                  <a:srgbClr val="222222"/>
                </a:solidFill>
                <a:latin typeface="Arial"/>
              </a:rPr>
              <a:t>Past the lift the field decays quickly under the SiO₂: no power escapes laterally in the slab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Where the loss is deposited</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Absorbed power Im(ε)|E|² in the gold, binned along x and scaled to dB/cm (both electrodes)</a:t>
            </a:r>
          </a:p>
        </p:txBody>
      </p:sp>
      <p:pic>
        <p:nvPicPr>
          <p:cNvPr id="4" name="Picture 3" descr="absorption.png"/>
          <p:cNvPicPr>
            <a:picLocks noChangeAspect="1"/>
          </p:cNvPicPr>
          <p:nvPr/>
        </p:nvPicPr>
        <p:blipFill>
          <a:blip r:embed="rId2"/>
          <a:stretch>
            <a:fillRect/>
          </a:stretch>
        </p:blipFill>
        <p:spPr>
          <a:xfrm>
            <a:off x="502920" y="1508760"/>
            <a:ext cx="7955279" cy="3143975"/>
          </a:xfrm>
          <a:prstGeom prst="rect">
            <a:avLst/>
          </a:prstGeom>
        </p:spPr>
      </p:pic>
      <p:graphicFrame>
        <p:nvGraphicFramePr>
          <p:cNvPr id="5" name="Table 4"/>
          <p:cNvGraphicFramePr>
            <a:graphicFrameLocks noGrp="1"/>
          </p:cNvGraphicFramePr>
          <p:nvPr/>
        </p:nvGraphicFramePr>
        <p:xfrm>
          <a:off x="8869680" y="1645920"/>
          <a:ext cx="2926080" cy="1463040"/>
        </p:xfrm>
        <a:graphic>
          <a:graphicData uri="http://schemas.openxmlformats.org/drawingml/2006/table">
            <a:tbl>
              <a:tblPr firstRow="1" bandRow="1"/>
              <a:tblGrid>
                <a:gridCol w="1143000"/>
                <a:gridCol w="640080"/>
                <a:gridCol w="1143000"/>
              </a:tblGrid>
              <a:tr h="365760">
                <a:tc>
                  <a:txBody>
                    <a:bodyPr wrap="square"/>
                    <a:lstStyle/>
                    <a:p>
                      <a:pPr algn="l"/>
                      <a:r>
                        <a:rPr sz="1100" b="1" i="0">
                          <a:solidFill>
                            <a:srgbClr val="FFFFFF"/>
                          </a:solidFill>
                          <a:latin typeface="Arial"/>
                        </a:rPr>
                        <a:t>Case</a:t>
                      </a:r>
                    </a:p>
                  </a:txBody>
                  <a:tcPr marL="54864" marR="54864" marT="18288" marB="18288" anchor="ctr">
                    <a:solidFill>
                      <a:srgbClr val="1F4E79"/>
                    </a:solidFill>
                  </a:tcPr>
                </a:tc>
                <a:tc>
                  <a:txBody>
                    <a:bodyPr wrap="square"/>
                    <a:lstStyle/>
                    <a:p>
                      <a:pPr algn="ctr"/>
                      <a:r>
                        <a:rPr sz="1100" b="1" i="0">
                          <a:solidFill>
                            <a:srgbClr val="FFFFFF"/>
                          </a:solidFill>
                          <a:latin typeface="Arial"/>
                        </a:rPr>
                        <a:t>IL</a:t>
                      </a:r>
                    </a:p>
                  </a:txBody>
                  <a:tcPr marL="54864" marR="54864" marT="18288" marB="18288" anchor="ctr">
                    <a:solidFill>
                      <a:srgbClr val="1F4E79"/>
                    </a:solidFill>
                  </a:tcPr>
                </a:tc>
                <a:tc>
                  <a:txBody>
                    <a:bodyPr wrap="square"/>
                    <a:lstStyle/>
                    <a:p>
                      <a:pPr algn="ctr"/>
                      <a:r>
                        <a:rPr sz="1100" b="1" i="0">
                          <a:solidFill>
                            <a:srgbClr val="FFFFFF"/>
                          </a:solidFill>
                          <a:latin typeface="Arial"/>
                        </a:rPr>
                        <a:t>within 7 µm of rib</a:t>
                      </a:r>
                    </a:p>
                  </a:txBody>
                  <a:tcPr marL="54864" marR="54864" marT="18288" marB="18288" anchor="ctr">
                    <a:solidFill>
                      <a:srgbClr val="1F4E79"/>
                    </a:solidFill>
                  </a:tcPr>
                </a:tc>
              </a:tr>
              <a:tr h="365760">
                <a:tc>
                  <a:txBody>
                    <a:bodyPr wrap="square"/>
                    <a:lstStyle/>
                    <a:p>
                      <a:pPr algn="l"/>
                      <a:r>
                        <a:rPr sz="1100" b="0" i="0">
                          <a:solidFill>
                            <a:srgbClr val="222222"/>
                          </a:solidFill>
                          <a:latin typeface="Arial"/>
                        </a:rPr>
                        <a:t>Dip 6.9 µm</a:t>
                      </a:r>
                    </a:p>
                  </a:txBody>
                  <a:tcPr marL="54864" marR="54864" marT="18288" marB="18288" anchor="ctr">
                    <a:solidFill>
                      <a:srgbClr val="F4F6F9"/>
                    </a:solidFill>
                  </a:tcPr>
                </a:tc>
                <a:tc>
                  <a:txBody>
                    <a:bodyPr wrap="square"/>
                    <a:lstStyle/>
                    <a:p>
                      <a:pPr algn="ctr"/>
                      <a:r>
                        <a:rPr sz="1100" b="0" i="0">
                          <a:solidFill>
                            <a:srgbClr val="222222"/>
                          </a:solidFill>
                          <a:latin typeface="Arial"/>
                        </a:rPr>
                        <a:t>0.181</a:t>
                      </a:r>
                    </a:p>
                  </a:txBody>
                  <a:tcPr marL="54864" marR="54864" marT="18288" marB="18288" anchor="ctr">
                    <a:solidFill>
                      <a:srgbClr val="F4F6F9"/>
                    </a:solidFill>
                  </a:tcPr>
                </a:tc>
                <a:tc>
                  <a:txBody>
                    <a:bodyPr wrap="square"/>
                    <a:lstStyle/>
                    <a:p>
                      <a:pPr algn="ctr"/>
                      <a:r>
                        <a:rPr sz="1100" b="0" i="0">
                          <a:solidFill>
                            <a:srgbClr val="222222"/>
                          </a:solidFill>
                          <a:latin typeface="Arial"/>
                        </a:rPr>
                        <a:t>0.181 (100 %)</a:t>
                      </a:r>
                    </a:p>
                  </a:txBody>
                  <a:tcPr marL="54864" marR="54864" marT="18288" marB="18288" anchor="ctr">
                    <a:solidFill>
                      <a:srgbClr val="F4F6F9"/>
                    </a:solidFill>
                  </a:tcPr>
                </a:tc>
              </a:tr>
              <a:tr h="365760">
                <a:tc>
                  <a:txBody>
                    <a:bodyPr wrap="square"/>
                    <a:lstStyle/>
                    <a:p>
                      <a:pPr algn="l"/>
                      <a:r>
                        <a:rPr sz="1100" b="0" i="0">
                          <a:solidFill>
                            <a:srgbClr val="222222"/>
                          </a:solidFill>
                          <a:latin typeface="Arial"/>
                        </a:rPr>
                        <a:t>Peak 7.3 µm</a:t>
                      </a:r>
                    </a:p>
                  </a:txBody>
                  <a:tcPr marL="54864" marR="54864" marT="18288" marB="18288" anchor="ctr">
                    <a:solidFill>
                      <a:srgbClr val="DDE3EA"/>
                    </a:solidFill>
                  </a:tcPr>
                </a:tc>
                <a:tc>
                  <a:txBody>
                    <a:bodyPr wrap="square"/>
                    <a:lstStyle/>
                    <a:p>
                      <a:pPr algn="ctr"/>
                      <a:r>
                        <a:rPr sz="1100" b="0" i="0">
                          <a:solidFill>
                            <a:srgbClr val="222222"/>
                          </a:solidFill>
                          <a:latin typeface="Arial"/>
                        </a:rPr>
                        <a:t>0.883</a:t>
                      </a:r>
                    </a:p>
                  </a:txBody>
                  <a:tcPr marL="54864" marR="54864" marT="18288" marB="18288" anchor="ctr">
                    <a:solidFill>
                      <a:srgbClr val="DDE3EA"/>
                    </a:solidFill>
                  </a:tcPr>
                </a:tc>
                <a:tc>
                  <a:txBody>
                    <a:bodyPr wrap="square"/>
                    <a:lstStyle/>
                    <a:p>
                      <a:pPr algn="ctr"/>
                      <a:r>
                        <a:rPr sz="1100" b="0" i="0">
                          <a:solidFill>
                            <a:srgbClr val="222222"/>
                          </a:solidFill>
                          <a:latin typeface="Arial"/>
                        </a:rPr>
                        <a:t>0.815 (92 %)</a:t>
                      </a:r>
                    </a:p>
                  </a:txBody>
                  <a:tcPr marL="54864" marR="54864" marT="18288" marB="18288" anchor="ctr">
                    <a:solidFill>
                      <a:srgbClr val="DDE3EA"/>
                    </a:solidFill>
                  </a:tcPr>
                </a:tc>
              </a:tr>
              <a:tr h="365760">
                <a:tc>
                  <a:txBody>
                    <a:bodyPr wrap="square"/>
                    <a:lstStyle/>
                    <a:p>
                      <a:pPr algn="l"/>
                      <a:r>
                        <a:rPr sz="1100" b="0" i="0">
                          <a:solidFill>
                            <a:srgbClr val="222222"/>
                          </a:solidFill>
                          <a:latin typeface="Arial"/>
                        </a:rPr>
                        <a:t>Legacy no lift</a:t>
                      </a:r>
                    </a:p>
                  </a:txBody>
                  <a:tcPr marL="54864" marR="54864" marT="18288" marB="18288" anchor="ctr">
                    <a:solidFill>
                      <a:srgbClr val="F4F6F9"/>
                    </a:solidFill>
                  </a:tcPr>
                </a:tc>
                <a:tc>
                  <a:txBody>
                    <a:bodyPr wrap="square"/>
                    <a:lstStyle/>
                    <a:p>
                      <a:pPr algn="ctr"/>
                      <a:r>
                        <a:rPr sz="1100" b="0" i="0">
                          <a:solidFill>
                            <a:srgbClr val="222222"/>
                          </a:solidFill>
                          <a:latin typeface="Arial"/>
                        </a:rPr>
                        <a:t>0.420</a:t>
                      </a:r>
                    </a:p>
                  </a:txBody>
                  <a:tcPr marL="54864" marR="54864" marT="18288" marB="18288" anchor="ctr">
                    <a:solidFill>
                      <a:srgbClr val="F4F6F9"/>
                    </a:solidFill>
                  </a:tcPr>
                </a:tc>
                <a:tc>
                  <a:txBody>
                    <a:bodyPr wrap="square"/>
                    <a:lstStyle/>
                    <a:p>
                      <a:pPr algn="ctr"/>
                      <a:r>
                        <a:rPr sz="1100" b="0" i="0">
                          <a:solidFill>
                            <a:srgbClr val="222222"/>
                          </a:solidFill>
                          <a:latin typeface="Arial"/>
                        </a:rPr>
                        <a:t>0.255 (61 %)</a:t>
                      </a:r>
                    </a:p>
                  </a:txBody>
                  <a:tcPr marL="54864" marR="54864" marT="18288" marB="18288" anchor="ctr">
                    <a:solidFill>
                      <a:srgbClr val="F4F6F9"/>
                    </a:solidFill>
                  </a:tcPr>
                </a:tc>
              </a:tr>
            </a:tbl>
          </a:graphicData>
        </a:graphic>
      </p:graphicFrame>
      <p:sp>
        <p:nvSpPr>
          <p:cNvPr id="6" name="TextBox 5"/>
          <p:cNvSpPr txBox="1"/>
          <p:nvPr/>
        </p:nvSpPr>
        <p:spPr>
          <a:xfrm>
            <a:off x="502920" y="4754880"/>
            <a:ext cx="11247120" cy="1554480"/>
          </a:xfrm>
          <a:prstGeom prst="rect">
            <a:avLst/>
          </a:prstGeom>
          <a:noFill/>
        </p:spPr>
        <p:txBody>
          <a:bodyPr wrap="square" lIns="45720" rIns="45720" tIns="27432" bIns="27432" anchor="t">
            <a:spAutoFit/>
          </a:bodyPr>
          <a:lstStyle/>
          <a:p>
            <a:pPr algn="l" marL="256032" indent="-201168">
              <a:spcAft>
                <a:spcPts val="600"/>
              </a:spcAft>
              <a:buFont typeface="Arial"/>
              <a:buChar char="•"/>
            </a:pPr>
            <a:r>
              <a:rPr sz="1200" b="0" i="0">
                <a:solidFill>
                  <a:srgbClr val="222222"/>
                </a:solidFill>
                <a:latin typeface="Arial"/>
              </a:rPr>
              <a:t>Over the same 2–7 µm of gold the peak case absorbs 3.2× more than the legacy line, and the dip case 30 % less: the difference is the intensity of the resonant field, not the length of gold.</a:t>
            </a:r>
          </a:p>
          <a:p>
            <a:pPr algn="l" marL="256032" indent="-201168">
              <a:spcAft>
                <a:spcPts val="600"/>
              </a:spcAft>
              <a:buFont typeface="Arial"/>
              <a:buChar char="•"/>
            </a:pPr>
            <a:r>
              <a:rPr sz="1200" b="0" i="0">
                <a:solidFill>
                  <a:srgbClr val="222222"/>
                </a:solidFill>
                <a:latin typeface="Arial"/>
              </a:rPr>
              <a:t>Legacy: exponential decay of the local absorption (straight line on the log scale), 0.85 dB/µm: a travelling wave absorbed as it goes; 39 % of the loss beyond 7 µm.</a:t>
            </a:r>
          </a:p>
          <a:p>
            <a:pPr algn="l" marL="256032" indent="-201168">
              <a:spcAft>
                <a:spcPts val="600"/>
              </a:spcAft>
              <a:buFont typeface="Arial"/>
              <a:buChar char="•"/>
            </a:pPr>
            <a:r>
              <a:rPr sz="1200" b="0" i="0">
                <a:solidFill>
                  <a:srgbClr val="222222"/>
                </a:solidFill>
                <a:latin typeface="Arial"/>
              </a:rPr>
              <a:t>The absorbed-power integral matches IL through the same constant in every case, so this map is a quantitative picture of the insertion loss.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Far lift vs no lift: the discontinuity never fully disappears</a:t>
            </a:r>
          </a:p>
        </p:txBody>
      </p:sp>
      <p:graphicFrame>
        <p:nvGraphicFramePr>
          <p:cNvPr id="3" name="Table 2"/>
          <p:cNvGraphicFramePr>
            <a:graphicFrameLocks noGrp="1"/>
          </p:cNvGraphicFramePr>
          <p:nvPr/>
        </p:nvGraphicFramePr>
        <p:xfrm>
          <a:off x="502920" y="1463040"/>
          <a:ext cx="3566160" cy="1828800"/>
        </p:xfrm>
        <a:graphic>
          <a:graphicData uri="http://schemas.openxmlformats.org/drawingml/2006/table">
            <a:tbl>
              <a:tblPr firstRow="1" bandRow="1"/>
              <a:tblGrid>
                <a:gridCol w="2286000"/>
                <a:gridCol w="1280160"/>
              </a:tblGrid>
              <a:tr h="365760">
                <a:tc>
                  <a:txBody>
                    <a:bodyPr wrap="square"/>
                    <a:lstStyle/>
                    <a:p>
                      <a:pPr algn="l"/>
                      <a:r>
                        <a:rPr sz="1200" b="1" i="0">
                          <a:solidFill>
                            <a:srgbClr val="FFFFFF"/>
                          </a:solidFill>
                          <a:latin typeface="Arial"/>
                        </a:rPr>
                        <a:t>Lifted design</a:t>
                      </a:r>
                    </a:p>
                  </a:txBody>
                  <a:tcPr marL="54864" marR="54864" marT="18288" marB="18288" anchor="ctr">
                    <a:solidFill>
                      <a:srgbClr val="1F4E79"/>
                    </a:solidFill>
                  </a:tcPr>
                </a:tc>
                <a:tc>
                  <a:txBody>
                    <a:bodyPr wrap="square"/>
                    <a:lstStyle/>
                    <a:p>
                      <a:pPr algn="ctr"/>
                      <a:r>
                        <a:rPr sz="1200" b="1" i="0">
                          <a:solidFill>
                            <a:srgbClr val="FFFFFF"/>
                          </a:solidFill>
                          <a:latin typeface="Arial"/>
                        </a:rPr>
                        <a:t>IL [dB/cm]</a:t>
                      </a:r>
                    </a:p>
                  </a:txBody>
                  <a:tcPr marL="54864" marR="54864" marT="18288" marB="18288" anchor="ctr">
                    <a:solidFill>
                      <a:srgbClr val="1F4E79"/>
                    </a:solidFill>
                  </a:tcPr>
                </a:tc>
              </a:tr>
              <a:tr h="365760">
                <a:tc>
                  <a:txBody>
                    <a:bodyPr wrap="square"/>
                    <a:lstStyle/>
                    <a:p>
                      <a:pPr algn="l"/>
                      <a:r>
                        <a:rPr sz="1200" b="0" i="0">
                          <a:solidFill>
                            <a:srgbClr val="222222"/>
                          </a:solidFill>
                          <a:latin typeface="Arial"/>
                        </a:rPr>
                        <a:t>x_lift = 24.1 µm</a:t>
                      </a:r>
                    </a:p>
                  </a:txBody>
                  <a:tcPr marL="54864" marR="54864" marT="18288" marB="18288" anchor="ctr">
                    <a:solidFill>
                      <a:srgbClr val="F4F6F9"/>
                    </a:solidFill>
                  </a:tcPr>
                </a:tc>
                <a:tc>
                  <a:txBody>
                    <a:bodyPr wrap="square"/>
                    <a:lstStyle/>
                    <a:p>
                      <a:pPr algn="ctr"/>
                      <a:r>
                        <a:rPr sz="1200" b="0" i="0">
                          <a:solidFill>
                            <a:srgbClr val="222222"/>
                          </a:solidFill>
                          <a:latin typeface="Arial"/>
                        </a:rPr>
                        <a:t>0.4180</a:t>
                      </a:r>
                    </a:p>
                  </a:txBody>
                  <a:tcPr marL="54864" marR="54864" marT="18288" marB="18288" anchor="ctr">
                    <a:solidFill>
                      <a:srgbClr val="F4F6F9"/>
                    </a:solidFill>
                  </a:tcPr>
                </a:tc>
              </a:tr>
              <a:tr h="365760">
                <a:tc>
                  <a:txBody>
                    <a:bodyPr wrap="square"/>
                    <a:lstStyle/>
                    <a:p>
                      <a:pPr algn="l"/>
                      <a:r>
                        <a:rPr sz="1200" b="0" i="0">
                          <a:solidFill>
                            <a:srgbClr val="222222"/>
                          </a:solidFill>
                          <a:latin typeface="Arial"/>
                        </a:rPr>
                        <a:t>x_lift = 28.1 µm</a:t>
                      </a:r>
                    </a:p>
                  </a:txBody>
                  <a:tcPr marL="54864" marR="54864" marT="18288" marB="18288" anchor="ctr">
                    <a:solidFill>
                      <a:srgbClr val="DDE3EA"/>
                    </a:solidFill>
                  </a:tcPr>
                </a:tc>
                <a:tc>
                  <a:txBody>
                    <a:bodyPr wrap="square"/>
                    <a:lstStyle/>
                    <a:p>
                      <a:pPr algn="ctr"/>
                      <a:r>
                        <a:rPr sz="1200" b="0" i="0">
                          <a:solidFill>
                            <a:srgbClr val="222222"/>
                          </a:solidFill>
                          <a:latin typeface="Arial"/>
                        </a:rPr>
                        <a:t>0.4157</a:t>
                      </a:r>
                    </a:p>
                  </a:txBody>
                  <a:tcPr marL="54864" marR="54864" marT="18288" marB="18288" anchor="ctr">
                    <a:solidFill>
                      <a:srgbClr val="DDE3EA"/>
                    </a:solidFill>
                  </a:tcPr>
                </a:tc>
              </a:tr>
              <a:tr h="365760">
                <a:tc>
                  <a:txBody>
                    <a:bodyPr wrap="square"/>
                    <a:lstStyle/>
                    <a:p>
                      <a:pPr algn="l"/>
                      <a:r>
                        <a:rPr sz="1200" b="0" i="0">
                          <a:solidFill>
                            <a:srgbClr val="222222"/>
                          </a:solidFill>
                          <a:latin typeface="Arial"/>
                        </a:rPr>
                        <a:t>x_lift = 29.65 µm</a:t>
                      </a:r>
                    </a:p>
                  </a:txBody>
                  <a:tcPr marL="54864" marR="54864" marT="18288" marB="18288" anchor="ctr">
                    <a:solidFill>
                      <a:srgbClr val="F4F6F9"/>
                    </a:solidFill>
                  </a:tcPr>
                </a:tc>
                <a:tc>
                  <a:txBody>
                    <a:bodyPr wrap="square"/>
                    <a:lstStyle/>
                    <a:p>
                      <a:pPr algn="ctr"/>
                      <a:r>
                        <a:rPr sz="1200" b="0" i="0">
                          <a:solidFill>
                            <a:srgbClr val="222222"/>
                          </a:solidFill>
                          <a:latin typeface="Arial"/>
                        </a:rPr>
                        <a:t>0.4179</a:t>
                      </a:r>
                    </a:p>
                  </a:txBody>
                  <a:tcPr marL="54864" marR="54864" marT="18288" marB="18288" anchor="ctr">
                    <a:solidFill>
                      <a:srgbClr val="F4F6F9"/>
                    </a:solidFill>
                  </a:tcPr>
                </a:tc>
              </a:tr>
              <a:tr h="365760">
                <a:tc>
                  <a:txBody>
                    <a:bodyPr wrap="square"/>
                    <a:lstStyle/>
                    <a:p>
                      <a:pPr algn="l"/>
                      <a:r>
                        <a:rPr sz="1200" b="0" i="0">
                          <a:solidFill>
                            <a:srgbClr val="222222"/>
                          </a:solidFill>
                          <a:latin typeface="Arial"/>
                        </a:rPr>
                        <a:t>x_lift = 30.1 µm</a:t>
                      </a:r>
                    </a:p>
                  </a:txBody>
                  <a:tcPr marL="54864" marR="54864" marT="18288" marB="18288" anchor="ctr">
                    <a:solidFill>
                      <a:srgbClr val="DDE3EA"/>
                    </a:solidFill>
                  </a:tcPr>
                </a:tc>
                <a:tc>
                  <a:txBody>
                    <a:bodyPr wrap="square"/>
                    <a:lstStyle/>
                    <a:p>
                      <a:pPr algn="ctr"/>
                      <a:r>
                        <a:rPr sz="1200" b="0" i="0">
                          <a:solidFill>
                            <a:srgbClr val="222222"/>
                          </a:solidFill>
                          <a:latin typeface="Arial"/>
                        </a:rPr>
                        <a:t>0.4086</a:t>
                      </a:r>
                    </a:p>
                  </a:txBody>
                  <a:tcPr marL="54864" marR="54864" marT="18288" marB="18288" anchor="ctr">
                    <a:solidFill>
                      <a:srgbClr val="DDE3EA"/>
                    </a:solidFill>
                  </a:tcPr>
                </a:tc>
              </a:tr>
            </a:tbl>
          </a:graphicData>
        </a:graphic>
      </p:graphicFrame>
      <p:graphicFrame>
        <p:nvGraphicFramePr>
          <p:cNvPr id="4" name="Table 3"/>
          <p:cNvGraphicFramePr>
            <a:graphicFrameLocks noGrp="1"/>
          </p:cNvGraphicFramePr>
          <p:nvPr/>
        </p:nvGraphicFramePr>
        <p:xfrm>
          <a:off x="4343400" y="1463040"/>
          <a:ext cx="3566160" cy="2194560"/>
        </p:xfrm>
        <a:graphic>
          <a:graphicData uri="http://schemas.openxmlformats.org/drawingml/2006/table">
            <a:tbl>
              <a:tblPr firstRow="1" bandRow="1"/>
              <a:tblGrid>
                <a:gridCol w="2286000"/>
                <a:gridCol w="1280160"/>
              </a:tblGrid>
              <a:tr h="365760">
                <a:tc>
                  <a:txBody>
                    <a:bodyPr wrap="square"/>
                    <a:lstStyle/>
                    <a:p>
                      <a:pPr algn="l"/>
                      <a:r>
                        <a:rPr sz="1200" b="1" i="0">
                          <a:solidFill>
                            <a:srgbClr val="FFFFFF"/>
                          </a:solidFill>
                          <a:latin typeface="Arial"/>
                        </a:rPr>
                        <a:t>Legacy flat (gap 4.2)</a:t>
                      </a:r>
                    </a:p>
                  </a:txBody>
                  <a:tcPr marL="54864" marR="54864" marT="18288" marB="18288" anchor="ctr">
                    <a:solidFill>
                      <a:srgbClr val="1F4E79"/>
                    </a:solidFill>
                  </a:tcPr>
                </a:tc>
                <a:tc>
                  <a:txBody>
                    <a:bodyPr wrap="square"/>
                    <a:lstStyle/>
                    <a:p>
                      <a:pPr algn="ctr"/>
                      <a:r>
                        <a:rPr sz="1200" b="1" i="0">
                          <a:solidFill>
                            <a:srgbClr val="FFFFFF"/>
                          </a:solidFill>
                          <a:latin typeface="Arial"/>
                        </a:rPr>
                        <a:t>IL [dB/cm]</a:t>
                      </a:r>
                    </a:p>
                  </a:txBody>
                  <a:tcPr marL="54864" marR="54864" marT="18288" marB="18288" anchor="ctr">
                    <a:solidFill>
                      <a:srgbClr val="1F4E79"/>
                    </a:solidFill>
                  </a:tcPr>
                </a:tc>
              </a:tr>
              <a:tr h="365760">
                <a:tc>
                  <a:txBody>
                    <a:bodyPr wrap="square"/>
                    <a:lstStyle/>
                    <a:p>
                      <a:pPr algn="l"/>
                      <a:r>
                        <a:rPr sz="1200" b="0" i="0">
                          <a:solidFill>
                            <a:srgbClr val="222222"/>
                          </a:solidFill>
                          <a:latin typeface="Arial"/>
                        </a:rPr>
                        <a:t>EL_W = 15 µm</a:t>
                      </a:r>
                    </a:p>
                  </a:txBody>
                  <a:tcPr marL="54864" marR="54864" marT="18288" marB="18288" anchor="ctr">
                    <a:solidFill>
                      <a:srgbClr val="F4F6F9"/>
                    </a:solidFill>
                  </a:tcPr>
                </a:tc>
                <a:tc>
                  <a:txBody>
                    <a:bodyPr wrap="square"/>
                    <a:lstStyle/>
                    <a:p>
                      <a:pPr algn="ctr"/>
                      <a:r>
                        <a:rPr sz="1200" b="0" i="0">
                          <a:solidFill>
                            <a:srgbClr val="222222"/>
                          </a:solidFill>
                          <a:latin typeface="Arial"/>
                        </a:rPr>
                        <a:t>0.4063</a:t>
                      </a:r>
                    </a:p>
                  </a:txBody>
                  <a:tcPr marL="54864" marR="54864" marT="18288" marB="18288" anchor="ctr">
                    <a:solidFill>
                      <a:srgbClr val="F4F6F9"/>
                    </a:solidFill>
                  </a:tcPr>
                </a:tc>
              </a:tr>
              <a:tr h="365760">
                <a:tc>
                  <a:txBody>
                    <a:bodyPr wrap="square"/>
                    <a:lstStyle/>
                    <a:p>
                      <a:pPr algn="l"/>
                      <a:r>
                        <a:rPr sz="1200" b="0" i="0">
                          <a:solidFill>
                            <a:srgbClr val="222222"/>
                          </a:solidFill>
                          <a:latin typeface="Arial"/>
                        </a:rPr>
                        <a:t>EL_W = 15.45 µm</a:t>
                      </a:r>
                    </a:p>
                  </a:txBody>
                  <a:tcPr marL="54864" marR="54864" marT="18288" marB="18288" anchor="ctr">
                    <a:solidFill>
                      <a:srgbClr val="DDE3EA"/>
                    </a:solidFill>
                  </a:tcPr>
                </a:tc>
                <a:tc>
                  <a:txBody>
                    <a:bodyPr wrap="square"/>
                    <a:lstStyle/>
                    <a:p>
                      <a:pPr algn="ctr"/>
                      <a:r>
                        <a:rPr sz="1200" b="0" i="0">
                          <a:solidFill>
                            <a:srgbClr val="222222"/>
                          </a:solidFill>
                          <a:latin typeface="Arial"/>
                        </a:rPr>
                        <a:t>0.4245</a:t>
                      </a:r>
                    </a:p>
                  </a:txBody>
                  <a:tcPr marL="54864" marR="54864" marT="18288" marB="18288" anchor="ctr">
                    <a:solidFill>
                      <a:srgbClr val="DDE3EA"/>
                    </a:solidFill>
                  </a:tcPr>
                </a:tc>
              </a:tr>
              <a:tr h="365760">
                <a:tc>
                  <a:txBody>
                    <a:bodyPr wrap="square"/>
                    <a:lstStyle/>
                    <a:p>
                      <a:pPr algn="l"/>
                      <a:r>
                        <a:rPr sz="1200" b="0" i="0">
                          <a:solidFill>
                            <a:srgbClr val="222222"/>
                          </a:solidFill>
                          <a:latin typeface="Arial"/>
                        </a:rPr>
                        <a:t>EL_W = 30 µm</a:t>
                      </a:r>
                    </a:p>
                  </a:txBody>
                  <a:tcPr marL="54864" marR="54864" marT="18288" marB="18288" anchor="ctr">
                    <a:solidFill>
                      <a:srgbClr val="F4F6F9"/>
                    </a:solidFill>
                  </a:tcPr>
                </a:tc>
                <a:tc>
                  <a:txBody>
                    <a:bodyPr wrap="square"/>
                    <a:lstStyle/>
                    <a:p>
                      <a:pPr algn="ctr"/>
                      <a:r>
                        <a:rPr sz="1200" b="0" i="0">
                          <a:solidFill>
                            <a:srgbClr val="222222"/>
                          </a:solidFill>
                          <a:latin typeface="Arial"/>
                        </a:rPr>
                        <a:t>0.4201</a:t>
                      </a:r>
                    </a:p>
                  </a:txBody>
                  <a:tcPr marL="54864" marR="54864" marT="18288" marB="18288" anchor="ctr">
                    <a:solidFill>
                      <a:srgbClr val="F4F6F9"/>
                    </a:solidFill>
                  </a:tcPr>
                </a:tc>
              </a:tr>
              <a:tr h="365760">
                <a:tc>
                  <a:txBody>
                    <a:bodyPr wrap="square"/>
                    <a:lstStyle/>
                    <a:p>
                      <a:pPr algn="l"/>
                      <a:r>
                        <a:rPr sz="1200" b="0" i="0">
                          <a:solidFill>
                            <a:srgbClr val="222222"/>
                          </a:solidFill>
                          <a:latin typeface="Arial"/>
                        </a:rPr>
                        <a:t>EL_W = 35 µm</a:t>
                      </a:r>
                    </a:p>
                  </a:txBody>
                  <a:tcPr marL="54864" marR="54864" marT="18288" marB="18288" anchor="ctr">
                    <a:solidFill>
                      <a:srgbClr val="DDE3EA"/>
                    </a:solidFill>
                  </a:tcPr>
                </a:tc>
                <a:tc>
                  <a:txBody>
                    <a:bodyPr wrap="square"/>
                    <a:lstStyle/>
                    <a:p>
                      <a:pPr algn="ctr"/>
                      <a:r>
                        <a:rPr sz="1200" b="0" i="0">
                          <a:solidFill>
                            <a:srgbClr val="222222"/>
                          </a:solidFill>
                          <a:latin typeface="Arial"/>
                        </a:rPr>
                        <a:t>0.4203</a:t>
                      </a:r>
                    </a:p>
                  </a:txBody>
                  <a:tcPr marL="54864" marR="54864" marT="18288" marB="18288" anchor="ctr">
                    <a:solidFill>
                      <a:srgbClr val="DDE3EA"/>
                    </a:solidFill>
                  </a:tcPr>
                </a:tc>
              </a:tr>
              <a:tr h="365760">
                <a:tc>
                  <a:txBody>
                    <a:bodyPr wrap="square"/>
                    <a:lstStyle/>
                    <a:p>
                      <a:pPr algn="l"/>
                      <a:r>
                        <a:rPr sz="1200" b="0" i="0">
                          <a:solidFill>
                            <a:srgbClr val="222222"/>
                          </a:solidFill>
                          <a:latin typeface="Arial"/>
                        </a:rPr>
                        <a:t>EL_W = 35.45 µm</a:t>
                      </a:r>
                    </a:p>
                  </a:txBody>
                  <a:tcPr marL="54864" marR="54864" marT="18288" marB="18288" anchor="ctr">
                    <a:solidFill>
                      <a:srgbClr val="F4F6F9"/>
                    </a:solidFill>
                  </a:tcPr>
                </a:tc>
                <a:tc>
                  <a:txBody>
                    <a:bodyPr wrap="square"/>
                    <a:lstStyle/>
                    <a:p>
                      <a:pPr algn="ctr"/>
                      <a:r>
                        <a:rPr sz="1200" b="0" i="0">
                          <a:solidFill>
                            <a:srgbClr val="222222"/>
                          </a:solidFill>
                          <a:latin typeface="Arial"/>
                        </a:rPr>
                        <a:t>0.4214</a:t>
                      </a:r>
                    </a:p>
                  </a:txBody>
                  <a:tcPr marL="54864" marR="54864" marT="18288" marB="18288" anchor="ctr">
                    <a:solidFill>
                      <a:srgbClr val="F4F6F9"/>
                    </a:solidFill>
                  </a:tcPr>
                </a:tc>
              </a:tr>
            </a:tbl>
          </a:graphicData>
        </a:graphic>
      </p:graphicFrame>
      <p:sp>
        <p:nvSpPr>
          <p:cNvPr id="5" name="TextBox 4"/>
          <p:cNvSpPr txBox="1"/>
          <p:nvPr/>
        </p:nvSpPr>
        <p:spPr>
          <a:xfrm>
            <a:off x="502920" y="3886200"/>
            <a:ext cx="7406640" cy="2377440"/>
          </a:xfrm>
          <a:prstGeom prst="rect">
            <a:avLst/>
          </a:prstGeom>
          <a:noFill/>
        </p:spPr>
        <p:txBody>
          <a:bodyPr wrap="square" lIns="45720" rIns="45720" tIns="27432" bIns="27432" anchor="t">
            <a:spAutoFit/>
          </a:bodyPr>
          <a:lstStyle/>
          <a:p>
            <a:pPr algn="l" marL="256032" indent="-201168">
              <a:spcAft>
                <a:spcPts val="600"/>
              </a:spcAft>
              <a:buFont typeface="Arial"/>
              <a:buChar char="•"/>
            </a:pPr>
            <a:r>
              <a:rPr sz="1200" b="0" i="0">
                <a:solidFill>
                  <a:srgbClr val="222222"/>
                </a:solidFill>
                <a:latin typeface="Arial"/>
              </a:rPr>
              <a:t>Any end of the gold-on-slab contact is a discontinuity that reflects the surface wave: the lift step, and also the outer end of a flat electrode.</a:t>
            </a:r>
          </a:p>
          <a:p>
            <a:pPr algn="l" marL="256032" indent="-201168">
              <a:spcAft>
                <a:spcPts val="600"/>
              </a:spcAft>
              <a:buFont typeface="Arial"/>
              <a:buChar char="•"/>
            </a:pPr>
            <a:r>
              <a:rPr sz="1200" b="0" i="0">
                <a:solidFill>
                  <a:srgbClr val="222222"/>
                </a:solidFill>
                <a:latin typeface="Arial"/>
              </a:rPr>
              <a:t>The reflected wave must travel back to the rib, and it is absorbed on the way: the interference term decays as exp(−2·α·L).</a:t>
            </a:r>
          </a:p>
          <a:p>
            <a:pPr algn="l" marL="256032" indent="-201168">
              <a:spcAft>
                <a:spcPts val="600"/>
              </a:spcAft>
              <a:buFont typeface="Arial"/>
              <a:buChar char="•"/>
            </a:pPr>
            <a:r>
              <a:rPr sz="1200" b="0" i="0">
                <a:solidFill>
                  <a:srgbClr val="222222"/>
                </a:solidFill>
                <a:latin typeface="Arial"/>
              </a:rPr>
              <a:t>Legacy: ±2 % swing at 15 µm (half a period apart), &lt; ±0.2 % at 30–35 µm. Electrode length no longer matters there.</a:t>
            </a:r>
          </a:p>
          <a:p>
            <a:pPr algn="l" marL="256032" indent="-201168">
              <a:spcAft>
                <a:spcPts val="600"/>
              </a:spcAft>
              <a:buFont typeface="Arial"/>
              <a:buChar char="•"/>
            </a:pPr>
            <a:r>
              <a:rPr sz="1200" b="0" i="0">
                <a:solidFill>
                  <a:srgbClr val="222222"/>
                </a:solidFill>
                <a:latin typeface="Arial"/>
              </a:rPr>
              <a:t>Lifted design: 29.65 vs 30.1 µm (half a period apart) still gives 0.418 vs 0.409 dB/cm, a ±1.1 % swing, ≈ 7× the legacy residual. The lift step is a stronger reflector than the end of a flat electrode: a lifted line is not equivalent to a no-lift line, even at 30 µm.</a:t>
            </a:r>
          </a:p>
        </p:txBody>
      </p:sp>
      <p:sp>
        <p:nvSpPr>
          <p:cNvPr id="6" name="Rounded Rectangle 5"/>
          <p:cNvSpPr/>
          <p:nvPr/>
        </p:nvSpPr>
        <p:spPr>
          <a:xfrm>
            <a:off x="8183879" y="1463040"/>
            <a:ext cx="3566160" cy="338328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1F4E79"/>
                </a:solidFill>
                <a:latin typeface="Arial"/>
              </a:rPr>
              <a:t>Why ripples only at the far end of a long strip</a:t>
            </a:r>
          </a:p>
          <a:p>
            <a:pPr algn="l">
              <a:spcAft>
                <a:spcPts val="500"/>
              </a:spcAft>
            </a:pPr>
            <a:r>
              <a:rPr sz="1200" b="0" i="0">
                <a:solidFill>
                  <a:srgbClr val="222222"/>
                </a:solidFill>
                <a:latin typeface="Arial"/>
              </a:rPr>
              <a:t>With the lift at 30.1 µm, the forward wave has decayed by the time it reaches the step. The reflected wave is a fixed fraction of that weak wave and decays again on the way back.</a:t>
            </a:r>
          </a:p>
          <a:p>
            <a:pPr algn="l">
              <a:spcAft>
                <a:spcPts val="500"/>
              </a:spcAft>
            </a:pPr>
            <a:r>
              <a:rPr sz="1200" b="0" i="0">
                <a:solidFill>
                  <a:srgbClr val="222222"/>
                </a:solidFill>
                <a:latin typeface="Arial"/>
              </a:rPr>
              <a:t>Near the step, forward and reflected waves are comparable: visible ripples. Closer to the rib the forward wave dominates: no visible ripples.</a:t>
            </a:r>
          </a:p>
          <a:p>
            <a:pPr algn="l">
              <a:spcAft>
                <a:spcPts val="500"/>
              </a:spcAft>
            </a:pPr>
            <a:r>
              <a:rPr sz="1200" b="0" i="0">
                <a:solidFill>
                  <a:srgbClr val="222222"/>
                </a:solidFill>
                <a:latin typeface="Arial"/>
              </a:rPr>
              <a:t>The legacy line (no lift) shows no ripples anywhere, so it is the correct travelling-wave reference used in the plots of this deck.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Design implications</a:t>
            </a:r>
          </a:p>
        </p:txBody>
      </p:sp>
      <p:sp>
        <p:nvSpPr>
          <p:cNvPr id="3" name="TextBox 2"/>
          <p:cNvSpPr txBox="1"/>
          <p:nvPr/>
        </p:nvSpPr>
        <p:spPr>
          <a:xfrm>
            <a:off x="502920" y="1371600"/>
            <a:ext cx="6949440" cy="4846320"/>
          </a:xfrm>
          <a:prstGeom prst="rect">
            <a:avLst/>
          </a:prstGeom>
          <a:noFill/>
        </p:spPr>
        <p:txBody>
          <a:bodyPr wrap="square" lIns="45720" rIns="45720" tIns="27432" bIns="27432" anchor="t">
            <a:spAutoFit/>
          </a:bodyPr>
          <a:lstStyle/>
          <a:p>
            <a:pPr algn="l">
              <a:spcAft>
                <a:spcPts val="600"/>
              </a:spcAft>
            </a:pPr>
            <a:r>
              <a:rPr sz="1500" b="1" i="0">
                <a:solidFill>
                  <a:srgbClr val="1F4E79"/>
                </a:solidFill>
                <a:latin typeface="Arial"/>
              </a:rPr>
              <a:t>Tolerance</a:t>
            </a:r>
          </a:p>
          <a:p>
            <a:pPr algn="l" marL="256032" indent="-201168">
              <a:spcAft>
                <a:spcPts val="600"/>
              </a:spcAft>
              <a:buFont typeface="Arial"/>
              <a:buChar char="•"/>
            </a:pPr>
            <a:r>
              <a:rPr sz="1200" b="0" i="0">
                <a:solidFill>
                  <a:srgbClr val="222222"/>
                </a:solidFill>
                <a:latin typeface="Arial"/>
              </a:rPr>
              <a:t>Around the nominal 7.0 µm, ±0.2 µm of lift position spans 0.18–0.60 dB/cm; ±0.3 µm reaches the 0.88 dB/cm peak.</a:t>
            </a:r>
          </a:p>
          <a:p>
            <a:pPr algn="l" marL="256032" indent="-201168">
              <a:spcAft>
                <a:spcPts val="600"/>
              </a:spcAft>
              <a:buFont typeface="Arial"/>
              <a:buChar char="•"/>
            </a:pPr>
            <a:r>
              <a:rPr sz="1200" b="0" i="0">
                <a:solidFill>
                  <a:srgbClr val="222222"/>
                </a:solidFill>
                <a:latin typeface="Arial"/>
              </a:rPr>
              <a:t>Anything that shifts the surface-wave phase moves the resonance: gold permittivity, slab thickness, sidewall angles, corner rounding, overhang.</a:t>
            </a:r>
          </a:p>
          <a:p>
            <a:pPr algn="l">
              <a:spcAft>
                <a:spcPts val="600"/>
              </a:spcAft>
            </a:pPr>
            <a:r>
              <a:rPr sz="1500" b="1" i="0">
                <a:solidFill>
                  <a:srgbClr val="1F4E79"/>
                </a:solidFill>
                <a:latin typeface="Arial"/>
              </a:rPr>
              <a:t>Averages</a:t>
            </a:r>
          </a:p>
          <a:p>
            <a:pPr algn="l" marL="256032" indent="-201168">
              <a:spcAft>
                <a:spcPts val="600"/>
              </a:spcAft>
              <a:buFont typeface="Arial"/>
              <a:buChar char="•"/>
            </a:pPr>
            <a:r>
              <a:rPr sz="1200" b="0" i="0">
                <a:solidFill>
                  <a:srgbClr val="222222"/>
                </a:solidFill>
                <a:latin typeface="Arial"/>
              </a:rPr>
              <a:t>Mean IL over one period around the design (6.8–7.6 µm): 0.41 dB/cm ≈ legacy 0.42 dB/cm. Lifting does not reduce the loss on average; it redistributes it.</a:t>
            </a:r>
          </a:p>
          <a:p>
            <a:pPr algn="l" marL="256032" indent="-201168">
              <a:spcAft>
                <a:spcPts val="600"/>
              </a:spcAft>
              <a:buFont typeface="Arial"/>
              <a:buChar char="•"/>
            </a:pPr>
            <a:r>
              <a:rPr sz="1200" b="0" i="0">
                <a:solidFill>
                  <a:srgbClr val="222222"/>
                </a:solidFill>
                <a:latin typeface="Arial"/>
              </a:rPr>
              <a:t>A real lift edge with a few hundred nm of roughness or drift along the device would tend to average toward this value (reasoning, not simulated: the model is 2D and z-invariant).</a:t>
            </a:r>
          </a:p>
          <a:p>
            <a:pPr algn="l">
              <a:spcAft>
                <a:spcPts val="600"/>
              </a:spcAft>
            </a:pPr>
            <a:r>
              <a:rPr sz="1500" b="1" i="0">
                <a:solidFill>
                  <a:srgbClr val="1F4E79"/>
                </a:solidFill>
                <a:latin typeface="Arial"/>
              </a:rPr>
              <a:t>Options</a:t>
            </a:r>
          </a:p>
          <a:p>
            <a:pPr algn="l" marL="256032" indent="-201168">
              <a:spcAft>
                <a:spcPts val="600"/>
              </a:spcAft>
              <a:buFont typeface="Arial"/>
              <a:buChar char="•"/>
            </a:pPr>
            <a:r>
              <a:rPr sz="1200" b="0" i="0">
                <a:solidFill>
                  <a:srgbClr val="222222"/>
                </a:solidFill>
                <a:latin typeface="Arial"/>
              </a:rPr>
              <a:t>Keep the lift and target a dip deliberately, only if the lift position can be controlled to ≪ 0.2 µm and the material data are trusted.</a:t>
            </a:r>
          </a:p>
          <a:p>
            <a:pPr algn="l" marL="256032" indent="-201168">
              <a:spcAft>
                <a:spcPts val="600"/>
              </a:spcAft>
              <a:buFont typeface="Arial"/>
              <a:buChar char="•"/>
            </a:pPr>
            <a:r>
              <a:rPr sz="1200" b="0" i="0">
                <a:solidFill>
                  <a:srgbClr val="222222"/>
                </a:solidFill>
                <a:latin typeface="Arial"/>
              </a:rPr>
              <a:t>Decouple the gold from the slab (SiO₂ buffer under the whole lower block): removes the leaky channel at its origin.</a:t>
            </a:r>
          </a:p>
          <a:p>
            <a:pPr algn="l" marL="256032" indent="-201168">
              <a:spcAft>
                <a:spcPts val="600"/>
              </a:spcAft>
              <a:buFont typeface="Arial"/>
              <a:buChar char="•"/>
            </a:pPr>
            <a:r>
              <a:rPr sz="1200" b="0" i="0">
                <a:solidFill>
                  <a:srgbClr val="222222"/>
                </a:solidFill>
                <a:latin typeface="Arial"/>
              </a:rPr>
              <a:t>Or place the lift far out (≥ 20 µm), where the interference swing is small.</a:t>
            </a:r>
          </a:p>
        </p:txBody>
      </p:sp>
      <p:sp>
        <p:nvSpPr>
          <p:cNvPr id="4" name="Rounded Rectangle 3"/>
          <p:cNvSpPr/>
          <p:nvPr/>
        </p:nvSpPr>
        <p:spPr>
          <a:xfrm>
            <a:off x="7772400" y="1463040"/>
            <a:ext cx="3977639" cy="141732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1F4E79"/>
                </a:solidFill>
                <a:latin typeface="Arial"/>
              </a:rPr>
              <a:t>Robust numbers</a:t>
            </a:r>
          </a:p>
          <a:p>
            <a:pPr algn="l">
              <a:spcAft>
                <a:spcPts val="500"/>
              </a:spcAft>
            </a:pPr>
            <a:r>
              <a:rPr sz="1300" b="0" i="0">
                <a:solidFill>
                  <a:srgbClr val="222222"/>
                </a:solidFill>
                <a:latin typeface="Arial"/>
              </a:rPr>
              <a:t>Vπ·L = 2.265 V·cm</a:t>
            </a:r>
          </a:p>
          <a:p>
            <a:pPr algn="l">
              <a:spcAft>
                <a:spcPts val="500"/>
              </a:spcAft>
            </a:pPr>
            <a:r>
              <a:rPr sz="1300" b="0" i="0">
                <a:solidFill>
                  <a:srgbClr val="222222"/>
                </a:solidFill>
                <a:latin typeface="Arial"/>
              </a:rPr>
              <a:t>IL oscillation period 0.90 µm</a:t>
            </a:r>
          </a:p>
          <a:p>
            <a:pPr algn="l">
              <a:spcAft>
                <a:spcPts val="500"/>
              </a:spcAft>
            </a:pPr>
            <a:r>
              <a:rPr sz="1300" b="0" i="0">
                <a:solidFill>
                  <a:srgbClr val="222222"/>
                </a:solidFill>
                <a:latin typeface="Arial"/>
              </a:rPr>
              <a:t>Period-average IL ≈ 0.41 dB/cm</a:t>
            </a:r>
          </a:p>
        </p:txBody>
      </p:sp>
      <p:sp>
        <p:nvSpPr>
          <p:cNvPr id="5" name="Rounded Rectangle 4"/>
          <p:cNvSpPr/>
          <p:nvPr/>
        </p:nvSpPr>
        <p:spPr>
          <a:xfrm>
            <a:off x="7772400" y="3108960"/>
            <a:ext cx="3977639" cy="164592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1F4E79"/>
                </a:solidFill>
                <a:latin typeface="Arial"/>
              </a:rPr>
              <a:t>Not robust</a:t>
            </a:r>
          </a:p>
          <a:p>
            <a:pPr algn="l">
              <a:spcAft>
                <a:spcPts val="500"/>
              </a:spcAft>
            </a:pPr>
            <a:r>
              <a:rPr sz="1300" b="0" i="0">
                <a:solidFill>
                  <a:srgbClr val="222222"/>
                </a:solidFill>
                <a:latin typeface="Arial"/>
              </a:rPr>
              <a:t>The exact position of peaks and dips (depends on material data and fabrication details at the 100 nm level).</a:t>
            </a:r>
          </a:p>
          <a:p>
            <a:pPr algn="l">
              <a:spcAft>
                <a:spcPts val="500"/>
              </a:spcAft>
            </a:pPr>
            <a:r>
              <a:rPr sz="1300" b="0" i="0">
                <a:solidFill>
                  <a:srgbClr val="222222"/>
                </a:solidFill>
                <a:latin typeface="Arial"/>
              </a:rPr>
              <a:t>Any single-x_lift IL value near the rib, including the nominal 0.22 dB/cm.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Conclusions and next steps</a:t>
            </a:r>
          </a:p>
        </p:txBody>
      </p:sp>
      <p:sp>
        <p:nvSpPr>
          <p:cNvPr id="3" name="TextBox 2"/>
          <p:cNvSpPr txBox="1"/>
          <p:nvPr/>
        </p:nvSpPr>
        <p:spPr>
          <a:xfrm>
            <a:off x="502920" y="1371600"/>
            <a:ext cx="7223760" cy="4846320"/>
          </a:xfrm>
          <a:prstGeom prst="rect">
            <a:avLst/>
          </a:prstGeom>
          <a:noFill/>
        </p:spPr>
        <p:txBody>
          <a:bodyPr wrap="square" lIns="45720" rIns="45720" tIns="27432" bIns="27432" anchor="t">
            <a:spAutoFit/>
          </a:bodyPr>
          <a:lstStyle/>
          <a:p>
            <a:pPr algn="l">
              <a:spcAft>
                <a:spcPts val="600"/>
              </a:spcAft>
            </a:pPr>
            <a:r>
              <a:rPr sz="1500" b="1" i="0">
                <a:solidFill>
                  <a:srgbClr val="1F4E79"/>
                </a:solidFill>
                <a:latin typeface="Arial"/>
              </a:rPr>
              <a:t>Conclusions</a:t>
            </a:r>
          </a:p>
          <a:p>
            <a:pPr algn="l" marL="256032" indent="-201168">
              <a:spcAft>
                <a:spcPts val="600"/>
              </a:spcAft>
              <a:buFont typeface="Arial"/>
              <a:buChar char="•"/>
            </a:pPr>
            <a:r>
              <a:rPr sz="1300" b="0" i="0">
                <a:solidFill>
                  <a:srgbClr val="222222"/>
                </a:solidFill>
                <a:latin typeface="Arial"/>
              </a:rPr>
              <a:t>The lifted-electrode geometry has the same Vπ·L as the legacy design (2.265 V·cm).</a:t>
            </a:r>
          </a:p>
          <a:p>
            <a:pPr algn="l" marL="256032" indent="-201168">
              <a:spcAft>
                <a:spcPts val="600"/>
              </a:spcAft>
              <a:buFont typeface="Arial"/>
              <a:buChar char="•"/>
            </a:pPr>
            <a:r>
              <a:rPr sz="1300" b="0" i="0">
                <a:solidFill>
                  <a:srgbClr val="222222"/>
                </a:solidFill>
                <a:latin typeface="Arial"/>
              </a:rPr>
              <a:t>Its optical loss oscillates with the lift position (period 0.90 µm, 0.18–0.88 dB/cm near the design) and converges to the legacy 0.42 dB/cm far out.</a:t>
            </a:r>
          </a:p>
          <a:p>
            <a:pPr algn="l" marL="256032" indent="-201168">
              <a:spcAft>
                <a:spcPts val="600"/>
              </a:spcAft>
              <a:buFont typeface="Arial"/>
              <a:buChar char="•"/>
            </a:pPr>
            <a:r>
              <a:rPr sz="1300" b="0" i="0">
                <a:solidFill>
                  <a:srgbClr val="222222"/>
                </a:solidFill>
                <a:latin typeface="Arial"/>
              </a:rPr>
              <a:t>Cause: leaky coupling of the rib mode into a surface wave under the gold, resonantly enhanced or suppressed by the reflection at the lift step. Confirmed by the field, the eigenmode spectrum and mesh refinement.</a:t>
            </a:r>
          </a:p>
          <a:p>
            <a:pPr algn="l" marL="256032" indent="-201168">
              <a:spcAft>
                <a:spcPts val="600"/>
              </a:spcAft>
              <a:buFont typeface="Arial"/>
              <a:buChar char="•"/>
            </a:pPr>
            <a:r>
              <a:rPr sz="1300" b="0" i="0">
                <a:solidFill>
                  <a:srgbClr val="222222"/>
                </a:solidFill>
                <a:latin typeface="Arial"/>
              </a:rPr>
              <a:t>The mesh set-up was re-converged after fixing a femwell size-field bug; IL ±3 %, Vπ·L 0.1 %.</a:t>
            </a:r>
          </a:p>
          <a:p>
            <a:pPr algn="l">
              <a:spcAft>
                <a:spcPts val="600"/>
              </a:spcAft>
            </a:pPr>
            <a:r>
              <a:rPr sz="1500" b="1" i="0">
                <a:solidFill>
                  <a:srgbClr val="1F4E79"/>
                </a:solidFill>
                <a:latin typeface="Arial"/>
              </a:rPr>
              <a:t>Next steps</a:t>
            </a:r>
          </a:p>
          <a:p>
            <a:pPr algn="l" marL="256032" indent="-201168">
              <a:spcAft>
                <a:spcPts val="600"/>
              </a:spcAft>
              <a:buFont typeface="Arial"/>
              <a:buChar char="•"/>
            </a:pPr>
            <a:r>
              <a:rPr sz="1300" b="0" i="0">
                <a:solidFill>
                  <a:srgbClr val="222222"/>
                </a:solidFill>
                <a:latin typeface="Arial"/>
              </a:rPr>
              <a:t>Independent check: COMSOL at x_lift = 6.9 and 7.3 µm (expected ≈ 0.18 and ≈ 0.88 dB/cm).</a:t>
            </a:r>
          </a:p>
          <a:p>
            <a:pPr algn="l" marL="256032" indent="-201168">
              <a:spcAft>
                <a:spcPts val="600"/>
              </a:spcAft>
              <a:buFont typeface="Arial"/>
              <a:buChar char="•"/>
            </a:pPr>
            <a:r>
              <a:rPr sz="1300" b="0" i="0">
                <a:solidFill>
                  <a:srgbClr val="222222"/>
                </a:solidFill>
                <a:latin typeface="Arial"/>
              </a:rPr>
              <a:t>Sensitivity of the resonance position to gold permittivity and slab thickness.</a:t>
            </a:r>
          </a:p>
          <a:p>
            <a:pPr algn="l" marL="256032" indent="-201168">
              <a:spcAft>
                <a:spcPts val="600"/>
              </a:spcAft>
              <a:buFont typeface="Arial"/>
              <a:buChar char="•"/>
            </a:pPr>
            <a:r>
              <a:rPr sz="1300" b="0" i="0">
                <a:solidFill>
                  <a:srgbClr val="222222"/>
                </a:solidFill>
                <a:latin typeface="Arial"/>
              </a:rPr>
              <a:t>Buffered lower block (SiO₂ under the whole electrode) as a robust low-loss alternative.</a:t>
            </a:r>
          </a:p>
          <a:p>
            <a:pPr algn="l" marL="256032" indent="-201168">
              <a:spcAft>
                <a:spcPts val="600"/>
              </a:spcAft>
              <a:buFont typeface="Arial"/>
              <a:buChar char="•"/>
            </a:pPr>
            <a:r>
              <a:rPr sz="1300" b="0" i="0">
                <a:solidFill>
                  <a:srgbClr val="222222"/>
                </a:solidFill>
                <a:latin typeface="Arial"/>
              </a:rPr>
              <a:t>Measurement: devices with lifts stepped by ≈ 0.2 µm around 7 µm would test the prediction directly.</a:t>
            </a:r>
          </a:p>
        </p:txBody>
      </p:sp>
      <p:sp>
        <p:nvSpPr>
          <p:cNvPr id="4" name="Rounded Rectangle 3"/>
          <p:cNvSpPr/>
          <p:nvPr/>
        </p:nvSpPr>
        <p:spPr>
          <a:xfrm>
            <a:off x="8046720" y="1463040"/>
            <a:ext cx="3703320" cy="219456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500"/>
              </a:spcAft>
            </a:pPr>
            <a:r>
              <a:rPr sz="1400" b="1" i="0">
                <a:solidFill>
                  <a:srgbClr val="1F4E79"/>
                </a:solidFill>
                <a:latin typeface="Arial"/>
              </a:rPr>
              <a:t>Files (branch VPI-CODE)</a:t>
            </a:r>
          </a:p>
          <a:p>
            <a:pPr algn="l">
              <a:spcAft>
                <a:spcPts val="500"/>
              </a:spcAft>
            </a:pPr>
            <a:r>
              <a:rPr sz="1200" b="0" i="0">
                <a:solidFill>
                  <a:srgbClr val="222222"/>
                </a:solidFill>
                <a:latin typeface="Arial"/>
              </a:rPr>
              <a:t>cells/cell0_lifted.py: geometry, mesh (with femwell fix)</a:t>
            </a:r>
          </a:p>
          <a:p>
            <a:pPr algn="l">
              <a:spcAft>
                <a:spcPts val="500"/>
              </a:spcAft>
            </a:pPr>
            <a:r>
              <a:rPr sz="1200" b="0" i="0">
                <a:solidFill>
                  <a:srgbClr val="222222"/>
                </a:solidFill>
                <a:latin typeface="Arial"/>
              </a:rPr>
              <a:t>cells/cell1_lifted.py, cell5_lifted.py: electrostatics plots, dB mode map</a:t>
            </a:r>
          </a:p>
          <a:p>
            <a:pPr algn="l">
              <a:spcAft>
                <a:spcPts val="500"/>
              </a:spcAft>
            </a:pPr>
            <a:r>
              <a:rPr sz="1200" b="0" i="0">
                <a:solidFill>
                  <a:srgbClr val="222222"/>
                </a:solidFill>
                <a:latin typeface="Arial"/>
              </a:rPr>
              <a:t>results/lift_sweep.csv: full IL / n_eff / Vπ·L sweep</a:t>
            </a:r>
          </a:p>
          <a:p>
            <a:pPr algn="l">
              <a:spcAft>
                <a:spcPts val="500"/>
              </a:spcAft>
            </a:pPr>
            <a:r>
              <a:rPr sz="1200" b="0" i="0">
                <a:solidFill>
                  <a:srgbClr val="222222"/>
                </a:solidFill>
                <a:latin typeface="Arial"/>
              </a:rPr>
              <a:t>results/*.png: field cuts, maps, absorption plots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732</TotalTime>
  <Words>1056</Words>
  <Application>Microsoft Office PowerPoint</Application>
  <PresentationFormat>Widescreen</PresentationFormat>
  <Paragraphs>139</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Andrei.Muresian</dc:creator>
  <cp:lastModifiedBy>Andrei.Muresian</cp:lastModifiedBy>
  <cp:revision>38</cp:revision>
  <dcterms:created xsi:type="dcterms:W3CDTF">2025-12-01T09:32:09Z</dcterms:created>
  <dcterms:modified xsi:type="dcterms:W3CDTF">2026-08-19T15:16:26Z</dcterms:modified>
</cp:coreProperties>
</file>