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0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1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2130" y="8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Lisbon, C band 1575 nm</c:v>
                </c:pt>
              </c:strCache>
            </c:strRef>
          </c:tx>
          <c:spPr>
            <a:ln w="22225">
              <a:solidFill>
                <a:srgbClr val="EB6834"/>
              </a:solidFill>
            </a:ln>
          </c:spPr>
          <c:marker>
            <c:symbol val="circle"/>
            <c:size val="5"/>
            <c:spPr>
              <a:solidFill>
                <a:srgbClr val="EB6834"/>
              </a:solidFill>
              <a:ln>
                <a:solidFill>
                  <a:srgbClr val="EB6834"/>
                </a:solidFill>
              </a:ln>
            </c:spPr>
          </c:marker>
          <c:xVal>
            <c:numRef>
              <c:f>Sheet1!$A$2:$A$16</c:f>
              <c:numCache>
                <c:formatCode>General</c:formatCode>
                <c:ptCount val="15"/>
                <c:pt idx="0">
                  <c:v>130.0</c:v>
                </c:pt>
                <c:pt idx="1">
                  <c:v>140.0</c:v>
                </c:pt>
                <c:pt idx="2">
                  <c:v>150.0</c:v>
                </c:pt>
                <c:pt idx="3">
                  <c:v>160.0</c:v>
                </c:pt>
                <c:pt idx="4">
                  <c:v>170.0</c:v>
                </c:pt>
                <c:pt idx="5">
                  <c:v>180.0</c:v>
                </c:pt>
                <c:pt idx="6">
                  <c:v>190.0</c:v>
                </c:pt>
                <c:pt idx="7">
                  <c:v>200.0</c:v>
                </c:pt>
                <c:pt idx="8">
                  <c:v>210.0</c:v>
                </c:pt>
                <c:pt idx="9">
                  <c:v>220.0</c:v>
                </c:pt>
                <c:pt idx="10">
                  <c:v>230.0</c:v>
                </c:pt>
                <c:pt idx="11">
                  <c:v>240.0</c:v>
                </c:pt>
                <c:pt idx="12">
                  <c:v>250.0</c:v>
                </c:pt>
                <c:pt idx="13">
                  <c:v>260.0</c:v>
                </c:pt>
                <c:pt idx="14">
                  <c:v>270.0</c:v>
                </c:pt>
              </c:numCache>
            </c:numRef>
          </c:xVal>
          <c:yVal>
            <c:numRef>
              <c:f>Sheet1!$B$2:$B$16</c:f>
              <c:numCache>
                <c:formatCode>General</c:formatCode>
                <c:ptCount val="15"/>
                <c:pt idx="0">
                  <c:v>2.1696</c:v>
                </c:pt>
                <c:pt idx="1">
                  <c:v>2.1859</c:v>
                </c:pt>
                <c:pt idx="2">
                  <c:v>2.2016</c:v>
                </c:pt>
                <c:pt idx="3">
                  <c:v>2.2167</c:v>
                </c:pt>
                <c:pt idx="4">
                  <c:v>2.2313</c:v>
                </c:pt>
                <c:pt idx="5">
                  <c:v>2.2455</c:v>
                </c:pt>
                <c:pt idx="6">
                  <c:v>2.2593</c:v>
                </c:pt>
                <c:pt idx="7">
                  <c:v>2.2727</c:v>
                </c:pt>
                <c:pt idx="8">
                  <c:v>2.2859</c:v>
                </c:pt>
                <c:pt idx="9">
                  <c:v>2.2987</c:v>
                </c:pt>
                <c:pt idx="10">
                  <c:v>2.3113</c:v>
                </c:pt>
                <c:pt idx="11">
                  <c:v>2.3235</c:v>
                </c:pt>
                <c:pt idx="12">
                  <c:v>2.3356</c:v>
                </c:pt>
                <c:pt idx="13">
                  <c:v>2.3474</c:v>
                </c:pt>
                <c:pt idx="14">
                  <c:v>2.359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Sheet1!$B$18</c:f>
              <c:strCache>
                <c:ptCount val="1"/>
                <c:pt idx="0">
                  <c:v>Jerez, O band 1360 nm</c:v>
                </c:pt>
              </c:strCache>
            </c:strRef>
          </c:tx>
          <c:spPr>
            <a:ln w="22225">
              <a:solidFill>
                <a:srgbClr val="2A78D6"/>
              </a:solidFill>
            </a:ln>
          </c:spPr>
          <c:marker>
            <c:symbol val="circle"/>
            <c:size val="5"/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xVal>
            <c:numRef>
              <c:f>Sheet1!$A$19:$A$33</c:f>
              <c:numCache>
                <c:formatCode>General</c:formatCode>
                <c:ptCount val="15"/>
                <c:pt idx="0">
                  <c:v>130.0</c:v>
                </c:pt>
                <c:pt idx="1">
                  <c:v>140.0</c:v>
                </c:pt>
                <c:pt idx="2">
                  <c:v>150.0</c:v>
                </c:pt>
                <c:pt idx="3">
                  <c:v>160.0</c:v>
                </c:pt>
                <c:pt idx="4">
                  <c:v>170.0</c:v>
                </c:pt>
                <c:pt idx="5">
                  <c:v>180.0</c:v>
                </c:pt>
                <c:pt idx="6">
                  <c:v>190.0</c:v>
                </c:pt>
                <c:pt idx="7">
                  <c:v>200.0</c:v>
                </c:pt>
                <c:pt idx="8">
                  <c:v>210.0</c:v>
                </c:pt>
                <c:pt idx="9">
                  <c:v>220.0</c:v>
                </c:pt>
                <c:pt idx="10">
                  <c:v>230.0</c:v>
                </c:pt>
                <c:pt idx="11">
                  <c:v>240.0</c:v>
                </c:pt>
                <c:pt idx="12">
                  <c:v>250.0</c:v>
                </c:pt>
                <c:pt idx="13">
                  <c:v>260.0</c:v>
                </c:pt>
                <c:pt idx="14">
                  <c:v>270.0</c:v>
                </c:pt>
              </c:numCache>
            </c:numRef>
          </c:xVal>
          <c:yVal>
            <c:numRef>
              <c:f>Sheet1!$B$19:$B$33</c:f>
              <c:numCache>
                <c:formatCode>General</c:formatCode>
                <c:ptCount val="15"/>
                <c:pt idx="0">
                  <c:v>1.804</c:v>
                </c:pt>
                <c:pt idx="1">
                  <c:v>1.8163</c:v>
                </c:pt>
                <c:pt idx="2">
                  <c:v>1.8282</c:v>
                </c:pt>
                <c:pt idx="3">
                  <c:v>1.8396</c:v>
                </c:pt>
                <c:pt idx="4">
                  <c:v>1.8507</c:v>
                </c:pt>
                <c:pt idx="5">
                  <c:v>1.8615</c:v>
                </c:pt>
                <c:pt idx="6">
                  <c:v>1.8719</c:v>
                </c:pt>
                <c:pt idx="7">
                  <c:v>1.8821</c:v>
                </c:pt>
                <c:pt idx="8">
                  <c:v>1.892</c:v>
                </c:pt>
                <c:pt idx="9">
                  <c:v>1.9017</c:v>
                </c:pt>
                <c:pt idx="10">
                  <c:v>1.9112</c:v>
                </c:pt>
                <c:pt idx="11">
                  <c:v>1.9205</c:v>
                </c:pt>
                <c:pt idx="12">
                  <c:v>1.9297</c:v>
                </c:pt>
                <c:pt idx="13">
                  <c:v>1.9387</c:v>
                </c:pt>
                <c:pt idx="14">
                  <c:v>1.9474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Sheet1!$B$35</c:f>
              <c:strCache>
                <c:ptCount val="1"/>
                <c:pt idx="0">
                  <c:v>_refL</c:v>
                </c:pt>
              </c:strCache>
            </c:strRef>
          </c:tx>
          <c:spPr>
            <a:ln w="12700">
              <a:solidFill>
                <a:srgbClr val="EB6834"/>
              </a:solidFill>
              <a:prstDash val="dash"/>
            </a:ln>
          </c:spPr>
          <c:marker>
            <c:symbol val="none"/>
          </c:marker>
          <c:xVal>
            <c:numRef>
              <c:f>Sheet1!$A$36:$A$37</c:f>
              <c:numCache>
                <c:formatCode>General</c:formatCode>
                <c:ptCount val="2"/>
                <c:pt idx="0">
                  <c:v>120</c:v>
                </c:pt>
                <c:pt idx="1">
                  <c:v>280</c:v>
                </c:pt>
              </c:numCache>
            </c:numRef>
          </c:xVal>
          <c:yVal>
            <c:numRef>
              <c:f>Sheet1!$B$36:$B$37</c:f>
              <c:numCache>
                <c:formatCode>General</c:formatCode>
                <c:ptCount val="2"/>
                <c:pt idx="0">
                  <c:v>2.2668</c:v>
                </c:pt>
                <c:pt idx="1">
                  <c:v>2.2668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Sheet1!$B$39</c:f>
              <c:strCache>
                <c:ptCount val="1"/>
                <c:pt idx="0">
                  <c:v>_refJ</c:v>
                </c:pt>
              </c:strCache>
            </c:strRef>
          </c:tx>
          <c:spPr>
            <a:ln w="12700">
              <a:solidFill>
                <a:srgbClr val="2A78D6"/>
              </a:solidFill>
              <a:prstDash val="dash"/>
            </a:ln>
          </c:spPr>
          <c:marker>
            <c:symbol val="none"/>
          </c:marker>
          <c:xVal>
            <c:numRef>
              <c:f>Sheet1!$A$40:$A$41</c:f>
              <c:numCache>
                <c:formatCode>General</c:formatCode>
                <c:ptCount val="2"/>
                <c:pt idx="0">
                  <c:v>120</c:v>
                </c:pt>
                <c:pt idx="1">
                  <c:v>280</c:v>
                </c:pt>
              </c:numCache>
            </c:numRef>
          </c:xVal>
          <c:yVal>
            <c:numRef>
              <c:f>Sheet1!$B$40:$B$41</c:f>
              <c:numCache>
                <c:formatCode>General</c:formatCode>
                <c:ptCount val="2"/>
                <c:pt idx="0">
                  <c:v>1.9154</c:v>
                </c:pt>
                <c:pt idx="1">
                  <c:v>1.9154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Sheet1!$B$43</c:f>
              <c:strCache>
                <c:ptCount val="1"/>
                <c:pt idx="0">
                  <c:v>_w160</c:v>
                </c:pt>
              </c:strCache>
            </c:strRef>
          </c:tx>
          <c:spPr>
            <a:ln w="9525">
              <a:solidFill>
                <a:srgbClr val="B0B0B0"/>
              </a:solidFill>
              <a:prstDash val="dash"/>
            </a:ln>
          </c:spPr>
          <c:marker>
            <c:symbol val="none"/>
          </c:marker>
          <c:xVal>
            <c:numRef>
              <c:f>Sheet1!$A$44:$A$45</c:f>
              <c:numCache>
                <c:formatCode>General</c:formatCode>
                <c:ptCount val="2"/>
                <c:pt idx="0">
                  <c:v>160</c:v>
                </c:pt>
                <c:pt idx="1">
                  <c:v>160</c:v>
                </c:pt>
              </c:numCache>
            </c:numRef>
          </c:xVal>
          <c:yVal>
            <c:numRef>
              <c:f>Sheet1!$B$44:$B$45</c:f>
              <c:numCache>
                <c:formatCode>General</c:formatCode>
                <c:ptCount val="2"/>
                <c:pt idx="0">
                  <c:v>1.65</c:v>
                </c:pt>
                <c:pt idx="1">
                  <c:v>2.45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Sheet1!$B$47</c:f>
              <c:strCache>
                <c:ptCount val="1"/>
                <c:pt idx="0">
                  <c:v>_w180</c:v>
                </c:pt>
              </c:strCache>
            </c:strRef>
          </c:tx>
          <c:spPr>
            <a:ln w="12700">
              <a:solidFill>
                <a:srgbClr val="B0B0B0"/>
              </a:solidFill>
            </a:ln>
          </c:spPr>
          <c:marker>
            <c:symbol val="none"/>
          </c:marker>
          <c:xVal>
            <c:numRef>
              <c:f>Sheet1!$A$48:$A$49</c:f>
              <c:numCache>
                <c:formatCode>General</c:formatCode>
                <c:ptCount val="2"/>
                <c:pt idx="0">
                  <c:v>180</c:v>
                </c:pt>
                <c:pt idx="1">
                  <c:v>180</c:v>
                </c:pt>
              </c:numCache>
            </c:numRef>
          </c:xVal>
          <c:yVal>
            <c:numRef>
              <c:f>Sheet1!$B$48:$B$49</c:f>
              <c:numCache>
                <c:formatCode>General</c:formatCode>
                <c:ptCount val="2"/>
                <c:pt idx="0">
                  <c:v>1.65</c:v>
                </c:pt>
                <c:pt idx="1">
                  <c:v>2.45</c:v>
                </c:pt>
              </c:numCache>
            </c:numRef>
          </c:yVal>
          <c:smooth val="0"/>
        </c:ser>
        <c:ser>
          <c:idx val="6"/>
          <c:order val="6"/>
          <c:tx>
            <c:strRef>
              <c:f>Sheet1!$B$51</c:f>
              <c:strCache>
                <c:ptCount val="1"/>
                <c:pt idx="0">
                  <c:v>_w220</c:v>
                </c:pt>
              </c:strCache>
            </c:strRef>
          </c:tx>
          <c:spPr>
            <a:ln w="12700">
              <a:solidFill>
                <a:srgbClr val="B0B0B0"/>
              </a:solidFill>
            </a:ln>
          </c:spPr>
          <c:marker>
            <c:symbol val="none"/>
          </c:marker>
          <c:xVal>
            <c:numRef>
              <c:f>Sheet1!$A$52:$A$53</c:f>
              <c:numCache>
                <c:formatCode>General</c:formatCode>
                <c:ptCount val="2"/>
                <c:pt idx="0">
                  <c:v>220</c:v>
                </c:pt>
                <c:pt idx="1">
                  <c:v>220</c:v>
                </c:pt>
              </c:numCache>
            </c:numRef>
          </c:xVal>
          <c:yVal>
            <c:numRef>
              <c:f>Sheet1!$B$52:$B$53</c:f>
              <c:numCache>
                <c:formatCode>General</c:formatCode>
                <c:ptCount val="2"/>
                <c:pt idx="0">
                  <c:v>1.65</c:v>
                </c:pt>
                <c:pt idx="1">
                  <c:v>2.45</c:v>
                </c:pt>
              </c:numCache>
            </c:numRef>
          </c:yVal>
          <c:smooth val="0"/>
        </c:ser>
        <c:ser>
          <c:idx val="7"/>
          <c:order val="7"/>
          <c:tx>
            <c:strRef>
              <c:f>Sheet1!$B$55</c:f>
              <c:strCache>
                <c:ptCount val="1"/>
                <c:pt idx="0">
                  <c:v>_w240</c:v>
                </c:pt>
              </c:strCache>
            </c:strRef>
          </c:tx>
          <c:spPr>
            <a:ln w="9525">
              <a:solidFill>
                <a:srgbClr val="B0B0B0"/>
              </a:solidFill>
              <a:prstDash val="dash"/>
            </a:ln>
          </c:spPr>
          <c:marker>
            <c:symbol val="none"/>
          </c:marker>
          <c:xVal>
            <c:numRef>
              <c:f>Sheet1!$A$56:$A$57</c:f>
              <c:numCache>
                <c:formatCode>General</c:formatCode>
                <c:ptCount val="2"/>
                <c:pt idx="0">
                  <c:v>240</c:v>
                </c:pt>
                <c:pt idx="1">
                  <c:v>240</c:v>
                </c:pt>
              </c:numCache>
            </c:numRef>
          </c:xVal>
          <c:yVal>
            <c:numRef>
              <c:f>Sheet1!$B$56:$B$57</c:f>
              <c:numCache>
                <c:formatCode>General</c:formatCode>
                <c:ptCount val="2"/>
                <c:pt idx="0">
                  <c:v>1.65</c:v>
                </c:pt>
                <c:pt idx="1">
                  <c:v>2.45</c:v>
                </c:pt>
              </c:numCache>
            </c:numRef>
          </c:yVal>
          <c:smooth val="0"/>
        </c:ser>
        <c:ser>
          <c:idx val="8"/>
          <c:order val="8"/>
          <c:tx>
            <c:strRef>
              <c:f>Sheet1!$B$59</c:f>
              <c:strCache>
                <c:ptCount val="1"/>
                <c:pt idx="0">
                  <c:v>_n200</c:v>
                </c:pt>
              </c:strCache>
            </c:strRef>
          </c:tx>
          <c:spPr>
            <a:ln w="9525">
              <a:solidFill>
                <a:srgbClr val="1F4E79"/>
              </a:solidFill>
              <a:prstDash val="dash"/>
            </a:ln>
          </c:spPr>
          <c:marker>
            <c:symbol val="none"/>
          </c:marker>
          <c:xVal>
            <c:numRef>
              <c:f>Sheet1!$A$60:$A$61</c:f>
              <c:numCache>
                <c:formatCode>General</c:formatCode>
                <c:ptCount val="2"/>
                <c:pt idx="0">
                  <c:v>200</c:v>
                </c:pt>
                <c:pt idx="1">
                  <c:v>200</c:v>
                </c:pt>
              </c:numCache>
            </c:numRef>
          </c:xVal>
          <c:yVal>
            <c:numRef>
              <c:f>Sheet1!$B$60:$B$61</c:f>
              <c:numCache>
                <c:formatCode>General</c:formatCode>
                <c:ptCount val="2"/>
                <c:pt idx="0">
                  <c:v>1.65</c:v>
                </c:pt>
                <c:pt idx="1">
                  <c:v>2.45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280.0"/>
          <c:min val="120.0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9643912"/>
        <c:crosses val="autoZero"/>
        <c:crossBetween val="midCat"/>
        <c:majorUnit val="20.0"/>
      </c:valAx>
      <c:valAx>
        <c:axId val="-2129643912"/>
        <c:scaling>
          <c:orientation val="minMax"/>
          <c:max val="2.45"/>
          <c:min val="1.65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Vπ·L (V·cm)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8940872"/>
        <c:crosses val="autoZero"/>
        <c:crossBetween val="midCat"/>
        <c:majorUnit val="0.2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Lisbon, C band 1575 nm</c:v>
                </c:pt>
              </c:strCache>
            </c:strRef>
          </c:tx>
          <c:spPr>
            <a:ln w="22225">
              <a:solidFill>
                <a:srgbClr val="EB6834"/>
              </a:solidFill>
            </a:ln>
          </c:spPr>
          <c:marker>
            <c:symbol val="circle"/>
            <c:size val="5"/>
            <c:spPr>
              <a:solidFill>
                <a:srgbClr val="EB6834"/>
              </a:solidFill>
              <a:ln>
                <a:solidFill>
                  <a:srgbClr val="EB6834"/>
                </a:solidFill>
              </a:ln>
            </c:spPr>
          </c:marker>
          <c:xVal>
            <c:numRef>
              <c:f>Sheet1!$A$2:$A$16</c:f>
              <c:numCache>
                <c:formatCode>General</c:formatCode>
                <c:ptCount val="15"/>
                <c:pt idx="0">
                  <c:v>130.0</c:v>
                </c:pt>
                <c:pt idx="1">
                  <c:v>140.0</c:v>
                </c:pt>
                <c:pt idx="2">
                  <c:v>150.0</c:v>
                </c:pt>
                <c:pt idx="3">
                  <c:v>160.0</c:v>
                </c:pt>
                <c:pt idx="4">
                  <c:v>170.0</c:v>
                </c:pt>
                <c:pt idx="5">
                  <c:v>180.0</c:v>
                </c:pt>
                <c:pt idx="6">
                  <c:v>190.0</c:v>
                </c:pt>
                <c:pt idx="7">
                  <c:v>200.0</c:v>
                </c:pt>
                <c:pt idx="8">
                  <c:v>210.0</c:v>
                </c:pt>
                <c:pt idx="9">
                  <c:v>220.0</c:v>
                </c:pt>
                <c:pt idx="10">
                  <c:v>230.0</c:v>
                </c:pt>
                <c:pt idx="11">
                  <c:v>240.0</c:v>
                </c:pt>
                <c:pt idx="12">
                  <c:v>250.0</c:v>
                </c:pt>
                <c:pt idx="13">
                  <c:v>260.0</c:v>
                </c:pt>
                <c:pt idx="14">
                  <c:v>270.0</c:v>
                </c:pt>
              </c:numCache>
            </c:numRef>
          </c:xVal>
          <c:yVal>
            <c:numRef>
              <c:f>Sheet1!$B$2:$B$16</c:f>
              <c:numCache>
                <c:formatCode>General</c:formatCode>
                <c:ptCount val="15"/>
                <c:pt idx="0">
                  <c:v>0.0435076</c:v>
                </c:pt>
                <c:pt idx="1">
                  <c:v>0.040441</c:v>
                </c:pt>
                <c:pt idx="2">
                  <c:v>0.0376862</c:v>
                </c:pt>
                <c:pt idx="3">
                  <c:v>0.0351879</c:v>
                </c:pt>
                <c:pt idx="4">
                  <c:v>0.0328764</c:v>
                </c:pt>
                <c:pt idx="5">
                  <c:v>0.0307467</c:v>
                </c:pt>
                <c:pt idx="6">
                  <c:v>0.0287446</c:v>
                </c:pt>
                <c:pt idx="7">
                  <c:v>0.0268776</c:v>
                </c:pt>
                <c:pt idx="8">
                  <c:v>0.0251201</c:v>
                </c:pt>
                <c:pt idx="9">
                  <c:v>0.0234933</c:v>
                </c:pt>
                <c:pt idx="10">
                  <c:v>0.0219548</c:v>
                </c:pt>
                <c:pt idx="11">
                  <c:v>0.0205116</c:v>
                </c:pt>
                <c:pt idx="12">
                  <c:v>0.0191439</c:v>
                </c:pt>
                <c:pt idx="13">
                  <c:v>0.0178552</c:v>
                </c:pt>
                <c:pt idx="14">
                  <c:v>0.0166483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Sheet1!$B$18</c:f>
              <c:strCache>
                <c:ptCount val="1"/>
                <c:pt idx="0">
                  <c:v>Jerez, O band 1360 nm</c:v>
                </c:pt>
              </c:strCache>
            </c:strRef>
          </c:tx>
          <c:spPr>
            <a:ln w="22225">
              <a:solidFill>
                <a:srgbClr val="2A78D6"/>
              </a:solidFill>
            </a:ln>
          </c:spPr>
          <c:marker>
            <c:symbol val="circle"/>
            <c:size val="5"/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xVal>
            <c:numRef>
              <c:f>Sheet1!$A$19:$A$33</c:f>
              <c:numCache>
                <c:formatCode>General</c:formatCode>
                <c:ptCount val="15"/>
                <c:pt idx="0">
                  <c:v>130.0</c:v>
                </c:pt>
                <c:pt idx="1">
                  <c:v>140.0</c:v>
                </c:pt>
                <c:pt idx="2">
                  <c:v>150.0</c:v>
                </c:pt>
                <c:pt idx="3">
                  <c:v>160.0</c:v>
                </c:pt>
                <c:pt idx="4">
                  <c:v>170.0</c:v>
                </c:pt>
                <c:pt idx="5">
                  <c:v>180.0</c:v>
                </c:pt>
                <c:pt idx="6">
                  <c:v>190.0</c:v>
                </c:pt>
                <c:pt idx="7">
                  <c:v>200.0</c:v>
                </c:pt>
                <c:pt idx="8">
                  <c:v>210.0</c:v>
                </c:pt>
                <c:pt idx="9">
                  <c:v>220.0</c:v>
                </c:pt>
                <c:pt idx="10">
                  <c:v>230.0</c:v>
                </c:pt>
                <c:pt idx="11">
                  <c:v>240.0</c:v>
                </c:pt>
                <c:pt idx="12">
                  <c:v>250.0</c:v>
                </c:pt>
                <c:pt idx="13">
                  <c:v>260.0</c:v>
                </c:pt>
                <c:pt idx="14">
                  <c:v>270.0</c:v>
                </c:pt>
              </c:numCache>
            </c:numRef>
          </c:xVal>
          <c:yVal>
            <c:numRef>
              <c:f>Sheet1!$B$19:$B$33</c:f>
              <c:numCache>
                <c:formatCode>General</c:formatCode>
                <c:ptCount val="15"/>
                <c:pt idx="0">
                  <c:v>0.0265877</c:v>
                </c:pt>
                <c:pt idx="1">
                  <c:v>0.0244079</c:v>
                </c:pt>
                <c:pt idx="2">
                  <c:v>0.0224821</c:v>
                </c:pt>
                <c:pt idx="3">
                  <c:v>0.0207526</c:v>
                </c:pt>
                <c:pt idx="4">
                  <c:v>0.0191695</c:v>
                </c:pt>
                <c:pt idx="5">
                  <c:v>0.0177361</c:v>
                </c:pt>
                <c:pt idx="6">
                  <c:v>0.016389</c:v>
                </c:pt>
                <c:pt idx="7">
                  <c:v>0.015151</c:v>
                </c:pt>
                <c:pt idx="8">
                  <c:v>0.0139965</c:v>
                </c:pt>
                <c:pt idx="9">
                  <c:v>0.0129299</c:v>
                </c:pt>
                <c:pt idx="10">
                  <c:v>0.0119415</c:v>
                </c:pt>
                <c:pt idx="11">
                  <c:v>0.0110222</c:v>
                </c:pt>
                <c:pt idx="12">
                  <c:v>0.0101638</c:v>
                </c:pt>
                <c:pt idx="13">
                  <c:v>0.00936002</c:v>
                </c:pt>
                <c:pt idx="14">
                  <c:v>0.00861644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Sheet1!$B$35</c:f>
              <c:strCache>
                <c:ptCount val="1"/>
                <c:pt idx="0">
                  <c:v>_w160</c:v>
                </c:pt>
              </c:strCache>
            </c:strRef>
          </c:tx>
          <c:spPr>
            <a:ln w="9525">
              <a:solidFill>
                <a:srgbClr val="B0B0B0"/>
              </a:solidFill>
              <a:prstDash val="dash"/>
            </a:ln>
          </c:spPr>
          <c:marker>
            <c:symbol val="none"/>
          </c:marker>
          <c:xVal>
            <c:numRef>
              <c:f>Sheet1!$A$36:$A$37</c:f>
              <c:numCache>
                <c:formatCode>General</c:formatCode>
                <c:ptCount val="2"/>
                <c:pt idx="0">
                  <c:v>160</c:v>
                </c:pt>
                <c:pt idx="1">
                  <c:v>160</c:v>
                </c:pt>
              </c:numCache>
            </c:numRef>
          </c:xVal>
          <c:yVal>
            <c:numRef>
              <c:f>Sheet1!$B$36:$B$37</c:f>
              <c:numCache>
                <c:formatCode>General</c:formatCode>
                <c:ptCount val="2"/>
                <c:pt idx="0">
                  <c:v>0.005</c:v>
                </c:pt>
                <c:pt idx="1">
                  <c:v>0.1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Sheet1!$B$39</c:f>
              <c:strCache>
                <c:ptCount val="1"/>
                <c:pt idx="0">
                  <c:v>_w180</c:v>
                </c:pt>
              </c:strCache>
            </c:strRef>
          </c:tx>
          <c:spPr>
            <a:ln w="12700">
              <a:solidFill>
                <a:srgbClr val="B0B0B0"/>
              </a:solidFill>
            </a:ln>
          </c:spPr>
          <c:marker>
            <c:symbol val="none"/>
          </c:marker>
          <c:xVal>
            <c:numRef>
              <c:f>Sheet1!$A$40:$A$41</c:f>
              <c:numCache>
                <c:formatCode>General</c:formatCode>
                <c:ptCount val="2"/>
                <c:pt idx="0">
                  <c:v>180</c:v>
                </c:pt>
                <c:pt idx="1">
                  <c:v>180</c:v>
                </c:pt>
              </c:numCache>
            </c:numRef>
          </c:xVal>
          <c:yVal>
            <c:numRef>
              <c:f>Sheet1!$B$40:$B$41</c:f>
              <c:numCache>
                <c:formatCode>General</c:formatCode>
                <c:ptCount val="2"/>
                <c:pt idx="0">
                  <c:v>0.005</c:v>
                </c:pt>
                <c:pt idx="1">
                  <c:v>0.1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Sheet1!$B$43</c:f>
              <c:strCache>
                <c:ptCount val="1"/>
                <c:pt idx="0">
                  <c:v>_w220</c:v>
                </c:pt>
              </c:strCache>
            </c:strRef>
          </c:tx>
          <c:spPr>
            <a:ln w="12700">
              <a:solidFill>
                <a:srgbClr val="B0B0B0"/>
              </a:solidFill>
            </a:ln>
          </c:spPr>
          <c:marker>
            <c:symbol val="none"/>
          </c:marker>
          <c:xVal>
            <c:numRef>
              <c:f>Sheet1!$A$44:$A$45</c:f>
              <c:numCache>
                <c:formatCode>General</c:formatCode>
                <c:ptCount val="2"/>
                <c:pt idx="0">
                  <c:v>220</c:v>
                </c:pt>
                <c:pt idx="1">
                  <c:v>220</c:v>
                </c:pt>
              </c:numCache>
            </c:numRef>
          </c:xVal>
          <c:yVal>
            <c:numRef>
              <c:f>Sheet1!$B$44:$B$45</c:f>
              <c:numCache>
                <c:formatCode>General</c:formatCode>
                <c:ptCount val="2"/>
                <c:pt idx="0">
                  <c:v>0.005</c:v>
                </c:pt>
                <c:pt idx="1">
                  <c:v>0.1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Sheet1!$B$47</c:f>
              <c:strCache>
                <c:ptCount val="1"/>
                <c:pt idx="0">
                  <c:v>_w240</c:v>
                </c:pt>
              </c:strCache>
            </c:strRef>
          </c:tx>
          <c:spPr>
            <a:ln w="9525">
              <a:solidFill>
                <a:srgbClr val="B0B0B0"/>
              </a:solidFill>
              <a:prstDash val="dash"/>
            </a:ln>
          </c:spPr>
          <c:marker>
            <c:symbol val="none"/>
          </c:marker>
          <c:xVal>
            <c:numRef>
              <c:f>Sheet1!$A$48:$A$49</c:f>
              <c:numCache>
                <c:formatCode>General</c:formatCode>
                <c:ptCount val="2"/>
                <c:pt idx="0">
                  <c:v>240</c:v>
                </c:pt>
                <c:pt idx="1">
                  <c:v>240</c:v>
                </c:pt>
              </c:numCache>
            </c:numRef>
          </c:xVal>
          <c:yVal>
            <c:numRef>
              <c:f>Sheet1!$B$48:$B$49</c:f>
              <c:numCache>
                <c:formatCode>General</c:formatCode>
                <c:ptCount val="2"/>
                <c:pt idx="0">
                  <c:v>0.005</c:v>
                </c:pt>
                <c:pt idx="1">
                  <c:v>0.1</c:v>
                </c:pt>
              </c:numCache>
            </c:numRef>
          </c:yVal>
          <c:smooth val="0"/>
        </c:ser>
        <c:ser>
          <c:idx val="6"/>
          <c:order val="6"/>
          <c:tx>
            <c:strRef>
              <c:f>Sheet1!$B$51</c:f>
              <c:strCache>
                <c:ptCount val="1"/>
                <c:pt idx="0">
                  <c:v>_n200</c:v>
                </c:pt>
              </c:strCache>
            </c:strRef>
          </c:tx>
          <c:spPr>
            <a:ln w="9525">
              <a:solidFill>
                <a:srgbClr val="1F4E79"/>
              </a:solidFill>
              <a:prstDash val="dash"/>
            </a:ln>
          </c:spPr>
          <c:marker>
            <c:symbol val="none"/>
          </c:marker>
          <c:xVal>
            <c:numRef>
              <c:f>Sheet1!$A$52:$A$53</c:f>
              <c:numCache>
                <c:formatCode>General</c:formatCode>
                <c:ptCount val="2"/>
                <c:pt idx="0">
                  <c:v>200</c:v>
                </c:pt>
                <c:pt idx="1">
                  <c:v>200</c:v>
                </c:pt>
              </c:numCache>
            </c:numRef>
          </c:xVal>
          <c:yVal>
            <c:numRef>
              <c:f>Sheet1!$B$52:$B$53</c:f>
              <c:numCache>
                <c:formatCode>General</c:formatCode>
                <c:ptCount val="2"/>
                <c:pt idx="0">
                  <c:v>0.005</c:v>
                </c:pt>
                <c:pt idx="1">
                  <c:v>0.1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280.0"/>
          <c:min val="12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SiO₂ buffer thickness (nm)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9643912"/>
        <c:crosses val="autoZero"/>
        <c:crossBetween val="midCat"/>
        <c:majorUnit val="20.0"/>
      </c:valAx>
      <c:valAx>
        <c:axId val="-2129643912"/>
        <c:scaling>
          <c:logBase val="10"/>
          <c:orientation val="minMax"/>
          <c:max val="0.1"/>
          <c:min val="0.005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IL (dB/cm)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Lisbon, C band 1575 nm</c:v>
                </c:pt>
              </c:strCache>
            </c:strRef>
          </c:tx>
          <c:spPr>
            <a:ln w="22225">
              <a:solidFill>
                <a:srgbClr val="EB6834"/>
              </a:solidFill>
            </a:ln>
          </c:spPr>
          <c:marker>
            <c:symbol val="circle"/>
            <c:size val="5"/>
            <c:spPr>
              <a:solidFill>
                <a:srgbClr val="EB6834"/>
              </a:solidFill>
              <a:ln>
                <a:solidFill>
                  <a:srgbClr val="EB6834"/>
                </a:solidFill>
              </a:ln>
            </c:spPr>
          </c:marker>
          <c:xVal>
            <c:numRef>
              <c:f>Sheet1!$A$2:$A$16</c:f>
              <c:numCache>
                <c:formatCode>General</c:formatCode>
                <c:ptCount val="15"/>
                <c:pt idx="0">
                  <c:v>130.0</c:v>
                </c:pt>
                <c:pt idx="1">
                  <c:v>140.0</c:v>
                </c:pt>
                <c:pt idx="2">
                  <c:v>150.0</c:v>
                </c:pt>
                <c:pt idx="3">
                  <c:v>160.0</c:v>
                </c:pt>
                <c:pt idx="4">
                  <c:v>170.0</c:v>
                </c:pt>
                <c:pt idx="5">
                  <c:v>180.0</c:v>
                </c:pt>
                <c:pt idx="6">
                  <c:v>190.0</c:v>
                </c:pt>
                <c:pt idx="7">
                  <c:v>200.0</c:v>
                </c:pt>
                <c:pt idx="8">
                  <c:v>210.0</c:v>
                </c:pt>
                <c:pt idx="9">
                  <c:v>220.0</c:v>
                </c:pt>
                <c:pt idx="10">
                  <c:v>230.0</c:v>
                </c:pt>
                <c:pt idx="11">
                  <c:v>240.0</c:v>
                </c:pt>
                <c:pt idx="12">
                  <c:v>250.0</c:v>
                </c:pt>
                <c:pt idx="13">
                  <c:v>260.0</c:v>
                </c:pt>
                <c:pt idx="14">
                  <c:v>270.0</c:v>
                </c:pt>
              </c:numCache>
            </c:numRef>
          </c:xVal>
          <c:yVal>
            <c:numRef>
              <c:f>Sheet1!$B$2:$B$16</c:f>
              <c:numCache>
                <c:formatCode>General</c:formatCode>
                <c:ptCount val="15"/>
                <c:pt idx="0">
                  <c:v>2.0748</c:v>
                </c:pt>
                <c:pt idx="1">
                  <c:v>2.0906</c:v>
                </c:pt>
                <c:pt idx="2">
                  <c:v>2.1058</c:v>
                </c:pt>
                <c:pt idx="3">
                  <c:v>2.1205</c:v>
                </c:pt>
                <c:pt idx="4">
                  <c:v>2.1347</c:v>
                </c:pt>
                <c:pt idx="5">
                  <c:v>2.1484</c:v>
                </c:pt>
                <c:pt idx="6">
                  <c:v>2.1617</c:v>
                </c:pt>
                <c:pt idx="7">
                  <c:v>2.1747</c:v>
                </c:pt>
                <c:pt idx="8">
                  <c:v>2.1874</c:v>
                </c:pt>
                <c:pt idx="9">
                  <c:v>2.1998</c:v>
                </c:pt>
                <c:pt idx="10">
                  <c:v>2.2119</c:v>
                </c:pt>
                <c:pt idx="11">
                  <c:v>2.2237</c:v>
                </c:pt>
                <c:pt idx="12">
                  <c:v>2.2353</c:v>
                </c:pt>
                <c:pt idx="13">
                  <c:v>2.2467</c:v>
                </c:pt>
                <c:pt idx="14">
                  <c:v>2.2578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Sheet1!$B$18</c:f>
              <c:strCache>
                <c:ptCount val="1"/>
                <c:pt idx="0">
                  <c:v>Jerez, O band 1360 nm</c:v>
                </c:pt>
              </c:strCache>
            </c:strRef>
          </c:tx>
          <c:spPr>
            <a:ln w="22225">
              <a:solidFill>
                <a:srgbClr val="2A78D6"/>
              </a:solidFill>
            </a:ln>
          </c:spPr>
          <c:marker>
            <c:symbol val="circle"/>
            <c:size val="5"/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xVal>
            <c:numRef>
              <c:f>Sheet1!$A$19:$A$33</c:f>
              <c:numCache>
                <c:formatCode>General</c:formatCode>
                <c:ptCount val="15"/>
                <c:pt idx="0">
                  <c:v>130.0</c:v>
                </c:pt>
                <c:pt idx="1">
                  <c:v>140.0</c:v>
                </c:pt>
                <c:pt idx="2">
                  <c:v>150.0</c:v>
                </c:pt>
                <c:pt idx="3">
                  <c:v>160.0</c:v>
                </c:pt>
                <c:pt idx="4">
                  <c:v>170.0</c:v>
                </c:pt>
                <c:pt idx="5">
                  <c:v>180.0</c:v>
                </c:pt>
                <c:pt idx="6">
                  <c:v>190.0</c:v>
                </c:pt>
                <c:pt idx="7">
                  <c:v>200.0</c:v>
                </c:pt>
                <c:pt idx="8">
                  <c:v>210.0</c:v>
                </c:pt>
                <c:pt idx="9">
                  <c:v>220.0</c:v>
                </c:pt>
                <c:pt idx="10">
                  <c:v>230.0</c:v>
                </c:pt>
                <c:pt idx="11">
                  <c:v>240.0</c:v>
                </c:pt>
                <c:pt idx="12">
                  <c:v>250.0</c:v>
                </c:pt>
                <c:pt idx="13">
                  <c:v>260.0</c:v>
                </c:pt>
                <c:pt idx="14">
                  <c:v>270.0</c:v>
                </c:pt>
              </c:numCache>
            </c:numRef>
          </c:xVal>
          <c:yVal>
            <c:numRef>
              <c:f>Sheet1!$B$19:$B$33</c:f>
              <c:numCache>
                <c:formatCode>General</c:formatCode>
                <c:ptCount val="15"/>
                <c:pt idx="0">
                  <c:v>1.7304</c:v>
                </c:pt>
                <c:pt idx="1">
                  <c:v>1.7424</c:v>
                </c:pt>
                <c:pt idx="2">
                  <c:v>1.754</c:v>
                </c:pt>
                <c:pt idx="3">
                  <c:v>1.7651</c:v>
                </c:pt>
                <c:pt idx="4">
                  <c:v>1.7759</c:v>
                </c:pt>
                <c:pt idx="5">
                  <c:v>1.7863</c:v>
                </c:pt>
                <c:pt idx="6">
                  <c:v>1.7964</c:v>
                </c:pt>
                <c:pt idx="7">
                  <c:v>1.8062</c:v>
                </c:pt>
                <c:pt idx="8">
                  <c:v>1.8159</c:v>
                </c:pt>
                <c:pt idx="9">
                  <c:v>1.8254</c:v>
                </c:pt>
                <c:pt idx="10">
                  <c:v>1.8346</c:v>
                </c:pt>
                <c:pt idx="11">
                  <c:v>1.8437</c:v>
                </c:pt>
                <c:pt idx="12">
                  <c:v>1.8525</c:v>
                </c:pt>
                <c:pt idx="13">
                  <c:v>1.8612</c:v>
                </c:pt>
                <c:pt idx="14">
                  <c:v>1.8698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Sheet1!$B$35</c:f>
              <c:strCache>
                <c:ptCount val="1"/>
                <c:pt idx="0">
                  <c:v>_refL</c:v>
                </c:pt>
              </c:strCache>
            </c:strRef>
          </c:tx>
          <c:spPr>
            <a:ln w="12700">
              <a:solidFill>
                <a:srgbClr val="EB6834"/>
              </a:solidFill>
              <a:prstDash val="dash"/>
            </a:ln>
          </c:spPr>
          <c:marker>
            <c:symbol val="none"/>
          </c:marker>
          <c:xVal>
            <c:numRef>
              <c:f>Sheet1!$A$36:$A$37</c:f>
              <c:numCache>
                <c:formatCode>General</c:formatCode>
                <c:ptCount val="2"/>
                <c:pt idx="0">
                  <c:v>120</c:v>
                </c:pt>
                <c:pt idx="1">
                  <c:v>280</c:v>
                </c:pt>
              </c:numCache>
            </c:numRef>
          </c:xVal>
          <c:yVal>
            <c:numRef>
              <c:f>Sheet1!$B$36:$B$37</c:f>
              <c:numCache>
                <c:formatCode>General</c:formatCode>
                <c:ptCount val="2"/>
                <c:pt idx="0">
                  <c:v>2.1734</c:v>
                </c:pt>
                <c:pt idx="1">
                  <c:v>2.1734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Sheet1!$B$39</c:f>
              <c:strCache>
                <c:ptCount val="1"/>
                <c:pt idx="0">
                  <c:v>_refJ</c:v>
                </c:pt>
              </c:strCache>
            </c:strRef>
          </c:tx>
          <c:spPr>
            <a:ln w="12700">
              <a:solidFill>
                <a:srgbClr val="2A78D6"/>
              </a:solidFill>
              <a:prstDash val="dash"/>
            </a:ln>
          </c:spPr>
          <c:marker>
            <c:symbol val="none"/>
          </c:marker>
          <c:xVal>
            <c:numRef>
              <c:f>Sheet1!$A$40:$A$41</c:f>
              <c:numCache>
                <c:formatCode>General</c:formatCode>
                <c:ptCount val="2"/>
                <c:pt idx="0">
                  <c:v>120</c:v>
                </c:pt>
                <c:pt idx="1">
                  <c:v>280</c:v>
                </c:pt>
              </c:numCache>
            </c:numRef>
          </c:xVal>
          <c:yVal>
            <c:numRef>
              <c:f>Sheet1!$B$40:$B$41</c:f>
              <c:numCache>
                <c:formatCode>General</c:formatCode>
                <c:ptCount val="2"/>
                <c:pt idx="0">
                  <c:v>1.8405</c:v>
                </c:pt>
                <c:pt idx="1">
                  <c:v>1.8405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Sheet1!$B$43</c:f>
              <c:strCache>
                <c:ptCount val="1"/>
                <c:pt idx="0">
                  <c:v>_w160</c:v>
                </c:pt>
              </c:strCache>
            </c:strRef>
          </c:tx>
          <c:spPr>
            <a:ln w="9525">
              <a:solidFill>
                <a:srgbClr val="B0B0B0"/>
              </a:solidFill>
              <a:prstDash val="dash"/>
            </a:ln>
          </c:spPr>
          <c:marker>
            <c:symbol val="none"/>
          </c:marker>
          <c:xVal>
            <c:numRef>
              <c:f>Sheet1!$A$44:$A$45</c:f>
              <c:numCache>
                <c:formatCode>General</c:formatCode>
                <c:ptCount val="2"/>
                <c:pt idx="0">
                  <c:v>160</c:v>
                </c:pt>
                <c:pt idx="1">
                  <c:v>160</c:v>
                </c:pt>
              </c:numCache>
            </c:numRef>
          </c:xVal>
          <c:yVal>
            <c:numRef>
              <c:f>Sheet1!$B$44:$B$45</c:f>
              <c:numCache>
                <c:formatCode>General</c:formatCode>
                <c:ptCount val="2"/>
                <c:pt idx="0">
                  <c:v>1.65</c:v>
                </c:pt>
                <c:pt idx="1">
                  <c:v>2.45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Sheet1!$B$47</c:f>
              <c:strCache>
                <c:ptCount val="1"/>
                <c:pt idx="0">
                  <c:v>_w180</c:v>
                </c:pt>
              </c:strCache>
            </c:strRef>
          </c:tx>
          <c:spPr>
            <a:ln w="12700">
              <a:solidFill>
                <a:srgbClr val="B0B0B0"/>
              </a:solidFill>
            </a:ln>
          </c:spPr>
          <c:marker>
            <c:symbol val="none"/>
          </c:marker>
          <c:xVal>
            <c:numRef>
              <c:f>Sheet1!$A$48:$A$49</c:f>
              <c:numCache>
                <c:formatCode>General</c:formatCode>
                <c:ptCount val="2"/>
                <c:pt idx="0">
                  <c:v>180</c:v>
                </c:pt>
                <c:pt idx="1">
                  <c:v>180</c:v>
                </c:pt>
              </c:numCache>
            </c:numRef>
          </c:xVal>
          <c:yVal>
            <c:numRef>
              <c:f>Sheet1!$B$48:$B$49</c:f>
              <c:numCache>
                <c:formatCode>General</c:formatCode>
                <c:ptCount val="2"/>
                <c:pt idx="0">
                  <c:v>1.65</c:v>
                </c:pt>
                <c:pt idx="1">
                  <c:v>2.45</c:v>
                </c:pt>
              </c:numCache>
            </c:numRef>
          </c:yVal>
          <c:smooth val="0"/>
        </c:ser>
        <c:ser>
          <c:idx val="6"/>
          <c:order val="6"/>
          <c:tx>
            <c:strRef>
              <c:f>Sheet1!$B$51</c:f>
              <c:strCache>
                <c:ptCount val="1"/>
                <c:pt idx="0">
                  <c:v>_w220</c:v>
                </c:pt>
              </c:strCache>
            </c:strRef>
          </c:tx>
          <c:spPr>
            <a:ln w="12700">
              <a:solidFill>
                <a:srgbClr val="B0B0B0"/>
              </a:solidFill>
            </a:ln>
          </c:spPr>
          <c:marker>
            <c:symbol val="none"/>
          </c:marker>
          <c:xVal>
            <c:numRef>
              <c:f>Sheet1!$A$52:$A$53</c:f>
              <c:numCache>
                <c:formatCode>General</c:formatCode>
                <c:ptCount val="2"/>
                <c:pt idx="0">
                  <c:v>220</c:v>
                </c:pt>
                <c:pt idx="1">
                  <c:v>220</c:v>
                </c:pt>
              </c:numCache>
            </c:numRef>
          </c:xVal>
          <c:yVal>
            <c:numRef>
              <c:f>Sheet1!$B$52:$B$53</c:f>
              <c:numCache>
                <c:formatCode>General</c:formatCode>
                <c:ptCount val="2"/>
                <c:pt idx="0">
                  <c:v>1.65</c:v>
                </c:pt>
                <c:pt idx="1">
                  <c:v>2.45</c:v>
                </c:pt>
              </c:numCache>
            </c:numRef>
          </c:yVal>
          <c:smooth val="0"/>
        </c:ser>
        <c:ser>
          <c:idx val="7"/>
          <c:order val="7"/>
          <c:tx>
            <c:strRef>
              <c:f>Sheet1!$B$55</c:f>
              <c:strCache>
                <c:ptCount val="1"/>
                <c:pt idx="0">
                  <c:v>_w240</c:v>
                </c:pt>
              </c:strCache>
            </c:strRef>
          </c:tx>
          <c:spPr>
            <a:ln w="9525">
              <a:solidFill>
                <a:srgbClr val="B0B0B0"/>
              </a:solidFill>
              <a:prstDash val="dash"/>
            </a:ln>
          </c:spPr>
          <c:marker>
            <c:symbol val="none"/>
          </c:marker>
          <c:xVal>
            <c:numRef>
              <c:f>Sheet1!$A$56:$A$57</c:f>
              <c:numCache>
                <c:formatCode>General</c:formatCode>
                <c:ptCount val="2"/>
                <c:pt idx="0">
                  <c:v>240</c:v>
                </c:pt>
                <c:pt idx="1">
                  <c:v>240</c:v>
                </c:pt>
              </c:numCache>
            </c:numRef>
          </c:xVal>
          <c:yVal>
            <c:numRef>
              <c:f>Sheet1!$B$56:$B$57</c:f>
              <c:numCache>
                <c:formatCode>General</c:formatCode>
                <c:ptCount val="2"/>
                <c:pt idx="0">
                  <c:v>1.65</c:v>
                </c:pt>
                <c:pt idx="1">
                  <c:v>2.45</c:v>
                </c:pt>
              </c:numCache>
            </c:numRef>
          </c:yVal>
          <c:smooth val="0"/>
        </c:ser>
        <c:ser>
          <c:idx val="8"/>
          <c:order val="8"/>
          <c:tx>
            <c:strRef>
              <c:f>Sheet1!$B$59</c:f>
              <c:strCache>
                <c:ptCount val="1"/>
                <c:pt idx="0">
                  <c:v>_n200</c:v>
                </c:pt>
              </c:strCache>
            </c:strRef>
          </c:tx>
          <c:spPr>
            <a:ln w="9525">
              <a:solidFill>
                <a:srgbClr val="1F4E79"/>
              </a:solidFill>
              <a:prstDash val="dash"/>
            </a:ln>
          </c:spPr>
          <c:marker>
            <c:symbol val="none"/>
          </c:marker>
          <c:xVal>
            <c:numRef>
              <c:f>Sheet1!$A$60:$A$61</c:f>
              <c:numCache>
                <c:formatCode>General</c:formatCode>
                <c:ptCount val="2"/>
                <c:pt idx="0">
                  <c:v>200</c:v>
                </c:pt>
                <c:pt idx="1">
                  <c:v>200</c:v>
                </c:pt>
              </c:numCache>
            </c:numRef>
          </c:xVal>
          <c:yVal>
            <c:numRef>
              <c:f>Sheet1!$B$60:$B$61</c:f>
              <c:numCache>
                <c:formatCode>General</c:formatCode>
                <c:ptCount val="2"/>
                <c:pt idx="0">
                  <c:v>1.65</c:v>
                </c:pt>
                <c:pt idx="1">
                  <c:v>2.45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280.0"/>
          <c:min val="120.0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9643912"/>
        <c:crosses val="autoZero"/>
        <c:crossBetween val="midCat"/>
        <c:majorUnit val="20.0"/>
      </c:valAx>
      <c:valAx>
        <c:axId val="-2129643912"/>
        <c:scaling>
          <c:orientation val="minMax"/>
          <c:max val="2.45"/>
          <c:min val="1.65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Vπ·L (V·cm)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8940872"/>
        <c:crosses val="autoZero"/>
        <c:crossBetween val="midCat"/>
        <c:majorUnit val="0.2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Lisbon, C band 1575 nm</c:v>
                </c:pt>
              </c:strCache>
            </c:strRef>
          </c:tx>
          <c:spPr>
            <a:ln w="22225">
              <a:solidFill>
                <a:srgbClr val="EB6834"/>
              </a:solidFill>
            </a:ln>
          </c:spPr>
          <c:marker>
            <c:symbol val="circle"/>
            <c:size val="5"/>
            <c:spPr>
              <a:solidFill>
                <a:srgbClr val="EB6834"/>
              </a:solidFill>
              <a:ln>
                <a:solidFill>
                  <a:srgbClr val="EB6834"/>
                </a:solidFill>
              </a:ln>
            </c:spPr>
          </c:marker>
          <c:xVal>
            <c:numRef>
              <c:f>Sheet1!$A$2:$A$16</c:f>
              <c:numCache>
                <c:formatCode>General</c:formatCode>
                <c:ptCount val="15"/>
                <c:pt idx="0">
                  <c:v>130.0</c:v>
                </c:pt>
                <c:pt idx="1">
                  <c:v>140.0</c:v>
                </c:pt>
                <c:pt idx="2">
                  <c:v>150.0</c:v>
                </c:pt>
                <c:pt idx="3">
                  <c:v>160.0</c:v>
                </c:pt>
                <c:pt idx="4">
                  <c:v>170.0</c:v>
                </c:pt>
                <c:pt idx="5">
                  <c:v>180.0</c:v>
                </c:pt>
                <c:pt idx="6">
                  <c:v>190.0</c:v>
                </c:pt>
                <c:pt idx="7">
                  <c:v>200.0</c:v>
                </c:pt>
                <c:pt idx="8">
                  <c:v>210.0</c:v>
                </c:pt>
                <c:pt idx="9">
                  <c:v>220.0</c:v>
                </c:pt>
                <c:pt idx="10">
                  <c:v>230.0</c:v>
                </c:pt>
                <c:pt idx="11">
                  <c:v>240.0</c:v>
                </c:pt>
                <c:pt idx="12">
                  <c:v>250.0</c:v>
                </c:pt>
                <c:pt idx="13">
                  <c:v>260.0</c:v>
                </c:pt>
                <c:pt idx="14">
                  <c:v>270.0</c:v>
                </c:pt>
              </c:numCache>
            </c:numRef>
          </c:xVal>
          <c:yVal>
            <c:numRef>
              <c:f>Sheet1!$B$2:$B$16</c:f>
              <c:numCache>
                <c:formatCode>General</c:formatCode>
                <c:ptCount val="15"/>
                <c:pt idx="0">
                  <c:v>0.0456559</c:v>
                </c:pt>
                <c:pt idx="1">
                  <c:v>0.042624</c:v>
                </c:pt>
                <c:pt idx="2">
                  <c:v>0.039845</c:v>
                </c:pt>
                <c:pt idx="3">
                  <c:v>0.0373085</c:v>
                </c:pt>
                <c:pt idx="4">
                  <c:v>0.034935</c:v>
                </c:pt>
                <c:pt idx="5">
                  <c:v>0.0327384</c:v>
                </c:pt>
                <c:pt idx="6">
                  <c:v>0.0306615</c:v>
                </c:pt>
                <c:pt idx="7">
                  <c:v>0.0287169</c:v>
                </c:pt>
                <c:pt idx="8">
                  <c:v>0.0268807</c:v>
                </c:pt>
                <c:pt idx="9">
                  <c:v>0.0251738</c:v>
                </c:pt>
                <c:pt idx="10">
                  <c:v>0.0235598</c:v>
                </c:pt>
                <c:pt idx="11">
                  <c:v>0.0220424</c:v>
                </c:pt>
                <c:pt idx="12">
                  <c:v>0.0206006</c:v>
                </c:pt>
                <c:pt idx="13">
                  <c:v>0.0192406</c:v>
                </c:pt>
                <c:pt idx="14">
                  <c:v>0.0179671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Sheet1!$B$18</c:f>
              <c:strCache>
                <c:ptCount val="1"/>
                <c:pt idx="0">
                  <c:v>Jerez, O band 1360 nm</c:v>
                </c:pt>
              </c:strCache>
            </c:strRef>
          </c:tx>
          <c:spPr>
            <a:ln w="22225">
              <a:solidFill>
                <a:srgbClr val="2A78D6"/>
              </a:solidFill>
            </a:ln>
          </c:spPr>
          <c:marker>
            <c:symbol val="circle"/>
            <c:size val="5"/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xVal>
            <c:numRef>
              <c:f>Sheet1!$A$19:$A$33</c:f>
              <c:numCache>
                <c:formatCode>General</c:formatCode>
                <c:ptCount val="15"/>
                <c:pt idx="0">
                  <c:v>130.0</c:v>
                </c:pt>
                <c:pt idx="1">
                  <c:v>140.0</c:v>
                </c:pt>
                <c:pt idx="2">
                  <c:v>150.0</c:v>
                </c:pt>
                <c:pt idx="3">
                  <c:v>160.0</c:v>
                </c:pt>
                <c:pt idx="4">
                  <c:v>170.0</c:v>
                </c:pt>
                <c:pt idx="5">
                  <c:v>180.0</c:v>
                </c:pt>
                <c:pt idx="6">
                  <c:v>190.0</c:v>
                </c:pt>
                <c:pt idx="7">
                  <c:v>200.0</c:v>
                </c:pt>
                <c:pt idx="8">
                  <c:v>210.0</c:v>
                </c:pt>
                <c:pt idx="9">
                  <c:v>220.0</c:v>
                </c:pt>
                <c:pt idx="10">
                  <c:v>230.0</c:v>
                </c:pt>
                <c:pt idx="11">
                  <c:v>240.0</c:v>
                </c:pt>
                <c:pt idx="12">
                  <c:v>250.0</c:v>
                </c:pt>
                <c:pt idx="13">
                  <c:v>260.0</c:v>
                </c:pt>
                <c:pt idx="14">
                  <c:v>270.0</c:v>
                </c:pt>
              </c:numCache>
            </c:numRef>
          </c:xVal>
          <c:yVal>
            <c:numRef>
              <c:f>Sheet1!$B$19:$B$33</c:f>
              <c:numCache>
                <c:formatCode>General</c:formatCode>
                <c:ptCount val="15"/>
                <c:pt idx="0">
                  <c:v>0.0284216</c:v>
                </c:pt>
                <c:pt idx="1">
                  <c:v>0.0261663</c:v>
                </c:pt>
                <c:pt idx="2">
                  <c:v>0.0241434</c:v>
                </c:pt>
                <c:pt idx="3">
                  <c:v>0.0223084</c:v>
                </c:pt>
                <c:pt idx="4">
                  <c:v>0.0206221</c:v>
                </c:pt>
                <c:pt idx="5">
                  <c:v>0.0190836</c:v>
                </c:pt>
                <c:pt idx="6">
                  <c:v>0.0176394</c:v>
                </c:pt>
                <c:pt idx="7">
                  <c:v>0.0163039</c:v>
                </c:pt>
                <c:pt idx="8">
                  <c:v>0.0150639</c:v>
                </c:pt>
                <c:pt idx="9">
                  <c:v>0.0139207</c:v>
                </c:pt>
                <c:pt idx="10">
                  <c:v>0.0128605</c:v>
                </c:pt>
                <c:pt idx="11">
                  <c:v>0.0118717</c:v>
                </c:pt>
                <c:pt idx="12">
                  <c:v>0.0109495</c:v>
                </c:pt>
                <c:pt idx="13">
                  <c:v>0.0100835</c:v>
                </c:pt>
                <c:pt idx="14">
                  <c:v>0.00928779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Sheet1!$B$35</c:f>
              <c:strCache>
                <c:ptCount val="1"/>
                <c:pt idx="0">
                  <c:v>_w160</c:v>
                </c:pt>
              </c:strCache>
            </c:strRef>
          </c:tx>
          <c:spPr>
            <a:ln w="9525">
              <a:solidFill>
                <a:srgbClr val="B0B0B0"/>
              </a:solidFill>
              <a:prstDash val="dash"/>
            </a:ln>
          </c:spPr>
          <c:marker>
            <c:symbol val="none"/>
          </c:marker>
          <c:xVal>
            <c:numRef>
              <c:f>Sheet1!$A$36:$A$37</c:f>
              <c:numCache>
                <c:formatCode>General</c:formatCode>
                <c:ptCount val="2"/>
                <c:pt idx="0">
                  <c:v>160</c:v>
                </c:pt>
                <c:pt idx="1">
                  <c:v>160</c:v>
                </c:pt>
              </c:numCache>
            </c:numRef>
          </c:xVal>
          <c:yVal>
            <c:numRef>
              <c:f>Sheet1!$B$36:$B$37</c:f>
              <c:numCache>
                <c:formatCode>General</c:formatCode>
                <c:ptCount val="2"/>
                <c:pt idx="0">
                  <c:v>0.005</c:v>
                </c:pt>
                <c:pt idx="1">
                  <c:v>0.1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Sheet1!$B$39</c:f>
              <c:strCache>
                <c:ptCount val="1"/>
                <c:pt idx="0">
                  <c:v>_w180</c:v>
                </c:pt>
              </c:strCache>
            </c:strRef>
          </c:tx>
          <c:spPr>
            <a:ln w="12700">
              <a:solidFill>
                <a:srgbClr val="B0B0B0"/>
              </a:solidFill>
            </a:ln>
          </c:spPr>
          <c:marker>
            <c:symbol val="none"/>
          </c:marker>
          <c:xVal>
            <c:numRef>
              <c:f>Sheet1!$A$40:$A$41</c:f>
              <c:numCache>
                <c:formatCode>General</c:formatCode>
                <c:ptCount val="2"/>
                <c:pt idx="0">
                  <c:v>180</c:v>
                </c:pt>
                <c:pt idx="1">
                  <c:v>180</c:v>
                </c:pt>
              </c:numCache>
            </c:numRef>
          </c:xVal>
          <c:yVal>
            <c:numRef>
              <c:f>Sheet1!$B$40:$B$41</c:f>
              <c:numCache>
                <c:formatCode>General</c:formatCode>
                <c:ptCount val="2"/>
                <c:pt idx="0">
                  <c:v>0.005</c:v>
                </c:pt>
                <c:pt idx="1">
                  <c:v>0.1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Sheet1!$B$43</c:f>
              <c:strCache>
                <c:ptCount val="1"/>
                <c:pt idx="0">
                  <c:v>_w220</c:v>
                </c:pt>
              </c:strCache>
            </c:strRef>
          </c:tx>
          <c:spPr>
            <a:ln w="12700">
              <a:solidFill>
                <a:srgbClr val="B0B0B0"/>
              </a:solidFill>
            </a:ln>
          </c:spPr>
          <c:marker>
            <c:symbol val="none"/>
          </c:marker>
          <c:xVal>
            <c:numRef>
              <c:f>Sheet1!$A$44:$A$45</c:f>
              <c:numCache>
                <c:formatCode>General</c:formatCode>
                <c:ptCount val="2"/>
                <c:pt idx="0">
                  <c:v>220</c:v>
                </c:pt>
                <c:pt idx="1">
                  <c:v>220</c:v>
                </c:pt>
              </c:numCache>
            </c:numRef>
          </c:xVal>
          <c:yVal>
            <c:numRef>
              <c:f>Sheet1!$B$44:$B$45</c:f>
              <c:numCache>
                <c:formatCode>General</c:formatCode>
                <c:ptCount val="2"/>
                <c:pt idx="0">
                  <c:v>0.005</c:v>
                </c:pt>
                <c:pt idx="1">
                  <c:v>0.1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Sheet1!$B$47</c:f>
              <c:strCache>
                <c:ptCount val="1"/>
                <c:pt idx="0">
                  <c:v>_w240</c:v>
                </c:pt>
              </c:strCache>
            </c:strRef>
          </c:tx>
          <c:spPr>
            <a:ln w="9525">
              <a:solidFill>
                <a:srgbClr val="B0B0B0"/>
              </a:solidFill>
              <a:prstDash val="dash"/>
            </a:ln>
          </c:spPr>
          <c:marker>
            <c:symbol val="none"/>
          </c:marker>
          <c:xVal>
            <c:numRef>
              <c:f>Sheet1!$A$48:$A$49</c:f>
              <c:numCache>
                <c:formatCode>General</c:formatCode>
                <c:ptCount val="2"/>
                <c:pt idx="0">
                  <c:v>240</c:v>
                </c:pt>
                <c:pt idx="1">
                  <c:v>240</c:v>
                </c:pt>
              </c:numCache>
            </c:numRef>
          </c:xVal>
          <c:yVal>
            <c:numRef>
              <c:f>Sheet1!$B$48:$B$49</c:f>
              <c:numCache>
                <c:formatCode>General</c:formatCode>
                <c:ptCount val="2"/>
                <c:pt idx="0">
                  <c:v>0.005</c:v>
                </c:pt>
                <c:pt idx="1">
                  <c:v>0.1</c:v>
                </c:pt>
              </c:numCache>
            </c:numRef>
          </c:yVal>
          <c:smooth val="0"/>
        </c:ser>
        <c:ser>
          <c:idx val="6"/>
          <c:order val="6"/>
          <c:tx>
            <c:strRef>
              <c:f>Sheet1!$B$51</c:f>
              <c:strCache>
                <c:ptCount val="1"/>
                <c:pt idx="0">
                  <c:v>_n200</c:v>
                </c:pt>
              </c:strCache>
            </c:strRef>
          </c:tx>
          <c:spPr>
            <a:ln w="9525">
              <a:solidFill>
                <a:srgbClr val="1F4E79"/>
              </a:solidFill>
              <a:prstDash val="dash"/>
            </a:ln>
          </c:spPr>
          <c:marker>
            <c:symbol val="none"/>
          </c:marker>
          <c:xVal>
            <c:numRef>
              <c:f>Sheet1!$A$52:$A$53</c:f>
              <c:numCache>
                <c:formatCode>General</c:formatCode>
                <c:ptCount val="2"/>
                <c:pt idx="0">
                  <c:v>200</c:v>
                </c:pt>
                <c:pt idx="1">
                  <c:v>200</c:v>
                </c:pt>
              </c:numCache>
            </c:numRef>
          </c:xVal>
          <c:yVal>
            <c:numRef>
              <c:f>Sheet1!$B$52:$B$53</c:f>
              <c:numCache>
                <c:formatCode>General</c:formatCode>
                <c:ptCount val="2"/>
                <c:pt idx="0">
                  <c:v>0.005</c:v>
                </c:pt>
                <c:pt idx="1">
                  <c:v>0.1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280.0"/>
          <c:min val="12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SiO₂ buffer thickness (nm)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9643912"/>
        <c:crosses val="autoZero"/>
        <c:crossBetween val="midCat"/>
        <c:majorUnit val="20.0"/>
      </c:valAx>
      <c:valAx>
        <c:axId val="-2129643912"/>
        <c:scaling>
          <c:logBase val="10"/>
          <c:orientation val="minMax"/>
          <c:max val="0.1"/>
          <c:min val="0.005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IL (dB/cm)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34B894-4718-4C4D-B942-55BEF7CC3F9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6BACFE-D1E4-4E9E-9D2A-07301B51F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Buffered lifted designs, gap 3.4 um, GAP_TOP 10 um, CAP_W 2.0 um, CAP_H 1.4 um from the buffer top (the cap moves with the buffer), 60 deg sidewalls. Lisbon: 550 nm film, 275 nm etch / 275 nm slab, 1575 nm. Jerez: 400 nm film, 170 nm etch / 230 nm slab, 1360 nm. Sellmeier LN (Zelmon) and SiO2 (Malitson), Johnson &amp; Christy gold, converged mesh. Buffer 130-270 nm in 10 nm steps (60 runs) plus the unbuffered references at gap 4.2 um (dashed). Vpi*L is linear in the buffer thickness (deviation &lt;= 6 mV*cm over the range): +1.3 mV*cm/nm (Lisbon) and +1.0 mV*cm/nm (Jerez), i.e. about +/-1.1 % at +/-20 nm and +/-2.3 % at +/-40 nm, the same for both rib widths. IL falls exponentially with the buffer (e-folding 150 nm Lisbon, 125 nm Jerez): about +/-15 % at +/-20 nm, but always below 0.036 dB/cm inside the +/-40 nm window. No ripple and no x_lift dependence appears anywhere in the range: the lateral wave under the gold stays cut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Measured 'thick slab post etch' (the 200 nm buffer after etch-back of the ~1.4 um deposition): sil-A 0.194 +/- 0.018, sil-B 0.2135 +/- 0.016, sil-C 0.248 +/- 0.016 um (min-max 167-231, 189-246, 226-279 nm). Each wafer's mean and sigma are mapped through a quadratic fit of the simulated Vpi*L(buffer) and log IL(buffer), rib top 1.0 um (1.4 um behaves the same: Lisbon 2.167 / 2.192 / 2.233, Jerez 1.800 / 1.819 / 1.851 V*cm). IL ranges are for the thinnest/thickest chip; sil-C's thickest chip (279 nm) is a 9 nm extrapolation. Vpi*L sensitivity: +1.34 (Lisbon) / +1.02 (Jerez) mV*cm per nm. Chip-to-chip sigma of Vpi*L on sil-A: 0.025 V*cm (Lisbon), 0.019 V*cm (Jerez). Against the unbuffered gap-4.2 design: Jerez crosses at 235 nm, Lisbon at 196 nm (WG 1.0) / 199 nm (WG 1.4). Narrowing the gap by 0.1 um should recover about 0.06 V*cm for Lisbon (slope ~0.6 V*cm/um from the earlier 150 nm runs at gap 3.2/3.4) - to be checked with a simulation if pursued. Caveat: the model keeps the cap height constant above the buffer; if the cap top is set by the deposition, Vpi*L shifts by about -0.4 %.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32A20-D9C5-BEC1-A331-516D50C93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B255FB-8776-2600-FB0D-D37C26A92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B4982-190C-6C07-7215-C2698E3AA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7267E-3FDA-B66E-4AD8-C6CE92D5E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F8C8B-ACEA-A9A3-B4F0-BCD03B8FF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144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8482B-292E-DBE7-F2D3-E10B4F58E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01C4E-1EAF-9AB5-5CC4-FC701A978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75CCB-9B55-2936-B303-10802E385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FC055-00ED-86ED-9C00-23DE18ECA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B0205-9236-F40A-0142-178DCCE8C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83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4F1D0-DAB1-67E8-1B2F-73E26B789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1E0F4-EFC3-E680-F6BE-0E77EFE3E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D891C-D277-DFAA-497C-2B8823A52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3FF4E-20C2-F541-1DAB-613C759BA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CAB07-57B8-0995-EE56-BB900832F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9A6F8-85E3-4B22-2629-A5CD88BCA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67E19-2A08-183A-315B-2C68CBD483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04FEB9-11F8-683F-4BCD-D299C05A4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671DF-0476-B756-5E54-A09AD8F8B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4C4BB-5CDA-73D0-C1DA-C42A6DE9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1ABC2-6DE1-3D69-6A5D-C3CA3F61E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857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F1152-8B57-3EF5-D4C6-0E6876662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A3013-0656-B7EA-B887-6A7B2A857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D63B16-884B-1811-7BAE-21CA8A6B70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255C07-A3DB-F6DA-0F4A-E9B970AC63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87223D-1F4E-936C-E584-1AAB09D0A3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643326-229D-65B9-2C15-C2124F231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F5B61B-ED00-86A7-6ACD-C43B67ACF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119906-6F6F-6917-EF5E-B774E6919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652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C6A1B-B2AF-E050-ECF5-ACC5B7AF4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6D89E8-F0D6-0E88-9769-D89E6292F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2829C5-1B60-2268-F333-5B76066F8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AF9A2B-0D7A-2052-FFC8-8CBE90A14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989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624D48-6995-0099-CD08-7A3FDDC78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EEC935-6C37-2907-F27F-AE46F371B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E360F-90C3-AD14-2358-FDAA383A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614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657D0-E028-0FEC-8108-C43C00030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22123-834D-B3B6-8655-4F727434A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6483FF-5EC4-3A43-0CAD-1E9C63C280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6F5EC1-48F3-74F5-A266-43E5E2B1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55FD67-83F7-52BD-E689-83B4411AC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1C7BE6-67AB-39DB-47FB-E76563134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708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E4AD1-9B1D-6A0E-B035-2A091F8FB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C267C1-026F-6542-5C48-B04F16F3C2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653625-A727-A9FB-C543-6910AD686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CE3EF-FE07-E44D-9BEE-561AE12BC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148578-8457-617E-26C8-83CBD42AA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0716A0-6376-1E8B-ACC0-3E99A468A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855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1CB6B-B40F-CD9E-5050-E8332EEE0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8861BA-32AA-F138-FF9C-253448691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C3F75-3492-7080-C63D-3983901FB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1E4EE-94A7-4D60-6219-FE9FAEED3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9FFF6-B663-682E-609B-32623E2A8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808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BE4FA9-B5B0-671D-FF03-B5210A3B11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E3531C-997D-F3F0-03A8-0A36E3B8A4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CAC5E-DA02-76B9-65D8-7F5388545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902A9-7AB1-C1FB-9260-FEB9B49CA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2E534-F0BB-DE3C-8762-F36B2DE82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919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1040" y="0"/>
            <a:ext cx="2467880" cy="2057147"/>
          </a:xfrm>
          <a:prstGeom prst="rect">
            <a:avLst/>
          </a:prstGeom>
          <a:noFill/>
        </p:spPr>
      </p:pic>
      <p:grpSp>
        <p:nvGrpSpPr>
          <p:cNvPr id="8" name="组合 7"/>
          <p:cNvGrpSpPr/>
          <p:nvPr userDrawn="1"/>
        </p:nvGrpSpPr>
        <p:grpSpPr>
          <a:xfrm>
            <a:off x="0" y="6485001"/>
            <a:ext cx="12192000" cy="383243"/>
            <a:chOff x="0" y="4833033"/>
            <a:chExt cx="9144000" cy="287432"/>
          </a:xfrm>
        </p:grpSpPr>
        <p:sp>
          <p:nvSpPr>
            <p:cNvPr id="9" name="Text Box 2"/>
            <p:cNvSpPr txBox="1">
              <a:spLocks noChangeArrowheads="1"/>
            </p:cNvSpPr>
            <p:nvPr/>
          </p:nvSpPr>
          <p:spPr bwMode="auto">
            <a:xfrm>
              <a:off x="0" y="4835723"/>
              <a:ext cx="1763688" cy="284742"/>
            </a:xfrm>
            <a:prstGeom prst="rect">
              <a:avLst/>
            </a:prstGeom>
            <a:solidFill>
              <a:srgbClr val="DC0000"/>
            </a:solidFill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endParaRPr kumimoji="1" lang="en-US" altLang="zh-TW" sz="1865" dirty="0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10" name="Text Box 2"/>
            <p:cNvSpPr txBox="1">
              <a:spLocks noChangeArrowheads="1"/>
            </p:cNvSpPr>
            <p:nvPr/>
          </p:nvSpPr>
          <p:spPr bwMode="auto">
            <a:xfrm>
              <a:off x="1763688" y="4835723"/>
              <a:ext cx="7380312" cy="284742"/>
            </a:xfrm>
            <a:prstGeom prst="rect">
              <a:avLst/>
            </a:prstGeom>
            <a:solidFill>
              <a:srgbClr val="00288C"/>
            </a:solidFill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endParaRPr kumimoji="1" lang="en-US" altLang="zh-TW" sz="1865" dirty="0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0" y="4833033"/>
              <a:ext cx="914399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TW" sz="1800" dirty="0">
                  <a:solidFill>
                    <a:schemeClr val="bg1"/>
                  </a:solidFill>
                  <a:latin typeface="Arial" panose="020B0604020202020204" pitchFamily="34" charset="0"/>
                  <a:ea typeface="PMingLiU" pitchFamily="18" charset="-120"/>
                  <a:cs typeface="Arial" panose="020B0604020202020204" pitchFamily="34" charset="0"/>
                </a:rPr>
                <a:t>www.afrmilan.com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02999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61"/>
          <p:cNvGrpSpPr/>
          <p:nvPr userDrawn="1"/>
        </p:nvGrpSpPr>
        <p:grpSpPr>
          <a:xfrm>
            <a:off x="631357" y="453550"/>
            <a:ext cx="996088" cy="0"/>
            <a:chOff x="707557" y="548800"/>
            <a:chExt cx="996088" cy="0"/>
          </a:xfrm>
        </p:grpSpPr>
        <p:cxnSp>
          <p:nvCxnSpPr>
            <p:cNvPr id="10" name="直接连接符 9"/>
            <p:cNvCxnSpPr/>
            <p:nvPr/>
          </p:nvCxnSpPr>
          <p:spPr bwMode="auto">
            <a:xfrm>
              <a:off x="707557" y="548800"/>
              <a:ext cx="299539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F2001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" name="直接连接符 11"/>
            <p:cNvCxnSpPr/>
            <p:nvPr/>
          </p:nvCxnSpPr>
          <p:spPr bwMode="auto">
            <a:xfrm>
              <a:off x="983645" y="548800"/>
              <a:ext cx="7200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E226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3" name="组合 12"/>
          <p:cNvGrpSpPr/>
          <p:nvPr userDrawn="1"/>
        </p:nvGrpSpPr>
        <p:grpSpPr>
          <a:xfrm>
            <a:off x="10607281" y="233681"/>
            <a:ext cx="1177119" cy="900000"/>
            <a:chOff x="7955458" y="175261"/>
            <a:chExt cx="882839" cy="675000"/>
          </a:xfrm>
        </p:grpSpPr>
        <p:pic>
          <p:nvPicPr>
            <p:cNvPr id="14" name="图片 13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60" t="23787" r="27970" b="32989"/>
            <a:stretch>
              <a:fillRect/>
            </a:stretch>
          </p:blipFill>
          <p:spPr>
            <a:xfrm>
              <a:off x="7955458" y="175261"/>
              <a:ext cx="882839" cy="675000"/>
            </a:xfrm>
            <a:prstGeom prst="rect">
              <a:avLst/>
            </a:prstGeom>
          </p:spPr>
        </p:pic>
        <p:sp>
          <p:nvSpPr>
            <p:cNvPr id="15" name="椭圆 14"/>
            <p:cNvSpPr/>
            <p:nvPr userDrawn="1"/>
          </p:nvSpPr>
          <p:spPr>
            <a:xfrm>
              <a:off x="8676456" y="195486"/>
              <a:ext cx="144016" cy="1440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92114549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27BB2C-76DC-90AF-74E8-5CA2C51AF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2E614-5C6F-DC4C-07CD-F948CDE44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B5F60-52FA-13B8-32F6-4BFCF5859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7BDF0-920C-8B79-6328-4F4CFFA1E3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40653-7ED0-A2A9-6425-DC06C7BEE1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418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Relationship Id="rId4" Type="http://schemas.openxmlformats.org/officeDocument/2006/relationships/chart" Target="../charts/chart9.xml"/><Relationship Id="rId5" Type="http://schemas.openxmlformats.org/officeDocument/2006/relationships/chart" Target="../charts/chart10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Buffered design: robust to buffer-thickness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SiO₂ buffer 130 → 270 nm (10 nm step), gap 3.4 µm, CAP 2.0 × 1.4 µm; measured spread ±20 nm (±40 nm extreme)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79" y="1536192"/>
            <a:ext cx="55778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4E79"/>
                </a:solidFill>
                <a:latin typeface="Arial"/>
              </a:rPr>
              <a:t>rib top WG_TOP = 1.0 µm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20040" y="1810512"/>
          <a:ext cx="571500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20040" y="4315968"/>
          <a:ext cx="5715000" cy="2240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19" y="1536192"/>
            <a:ext cx="55778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4E79"/>
                </a:solidFill>
                <a:latin typeface="Arial"/>
              </a:rPr>
              <a:t>rib top WG_TOP = 1.4 µm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126479" y="1810512"/>
          <a:ext cx="5715000" cy="2514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126479" y="4315968"/>
          <a:ext cx="5715000" cy="22402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" y="6492240"/>
            <a:ext cx="113385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EB6834"/>
                </a:solidFill>
                <a:latin typeface="Arial"/>
              </a:rPr>
              <a:t>━● </a:t>
            </a:r>
            <a:r>
              <a:rPr sz="1050" b="0" i="0">
                <a:solidFill>
                  <a:srgbClr val="222222"/>
                </a:solidFill>
                <a:latin typeface="Arial"/>
              </a:rPr>
              <a:t>Lisbon, C band 1575 nm     </a:t>
            </a:r>
            <a:r>
              <a:rPr sz="1050" b="1" i="0">
                <a:solidFill>
                  <a:srgbClr val="2A78D6"/>
                </a:solidFill>
                <a:latin typeface="Arial"/>
              </a:rPr>
              <a:t>━● </a:t>
            </a:r>
            <a:r>
              <a:rPr sz="1050" b="0" i="0">
                <a:solidFill>
                  <a:srgbClr val="222222"/>
                </a:solidFill>
                <a:latin typeface="Arial"/>
              </a:rPr>
              <a:t>Jerez, O band 1360 nm     </a:t>
            </a:r>
            <a:r>
              <a:rPr sz="1050" b="0" i="1">
                <a:solidFill>
                  <a:srgbClr val="595959"/>
                </a:solidFill>
                <a:latin typeface="Arial"/>
              </a:rPr>
              <a:t>dashed horizontal: unbuffered at gap 4.2 µm;  verticals: 200 nm nominal (navy), ±20 nm (grey solid), ±40 nm (grey dashed)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Measured buffer spread → Vπ·L and IL spread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Process data (32 chips per wafer) mapped onto the simulated sweep; rib top 1.0 µm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691640"/>
          <a:ext cx="11155679" cy="1828800"/>
        </p:xfrm>
        <a:graphic>
          <a:graphicData uri="http://schemas.openxmlformats.org/drawingml/2006/table">
            <a:tbl>
              <a:tblPr firstRow="1" bandRow="1"/>
              <a:tblGrid>
                <a:gridCol w="1600200"/>
                <a:gridCol w="1874519"/>
                <a:gridCol w="1965960"/>
                <a:gridCol w="1965960"/>
                <a:gridCol w="1828800"/>
                <a:gridCol w="192024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wafer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buffer (nm)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Lisbon Vπ·L (V·cm)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Lisbon IL (dB/cm)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Jerez Vπ·L (V·cm)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Jerez IL (dB/cm)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</a:rPr>
                        <a:t>sil-A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</a:rPr>
                        <a:t>194 ± 18  (167–231)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</a:rPr>
                        <a:t>2.265 ± 0.025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</a:rPr>
                        <a:t>0.028  (0.022–0.034)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</a:rPr>
                        <a:t>1.876 ± 0.019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</a:rPr>
                        <a:t>0.016  (0.012–0.020)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</a:rPr>
                        <a:t>sil-B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</a:rPr>
                        <a:t>214 ± 16  (189–246)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</a:rPr>
                        <a:t>2.291 ± 0.021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</a:rPr>
                        <a:t>0.025  (0.020–0.029)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</a:rPr>
                        <a:t>1.896 ± 0.016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</a:rPr>
                        <a:t>0.014  (0.010–0.017)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</a:rPr>
                        <a:t>sil-C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</a:rPr>
                        <a:t>248 ± 16  (226–279)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</a:rPr>
                        <a:t>2.334 ± 0.018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</a:rPr>
                        <a:t>0.019  (0.016–0.023)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</a:rPr>
                        <a:t>1.928 ± 0.014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</a:rPr>
                        <a:t>0.010  (0.008–0.012)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</a:rPr>
                        <a:t>no buffer, gap 4.2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</a:rPr>
                        <a:t>2.267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</a:rPr>
                        <a:t>0.23 (on ripple)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</a:rPr>
                        <a:t>1.915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</a:rPr>
                        <a:t>0.075 (on ripple)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3703320"/>
            <a:ext cx="2651760" cy="146304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813048"/>
            <a:ext cx="2651760" cy="8046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2A78D6"/>
                </a:solidFill>
                <a:latin typeface="Arial"/>
              </a:rPr>
              <a:t>±1.1 %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81144"/>
            <a:ext cx="2468879" cy="555955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Vπ·L per ±20 nm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(±2.3 % at ±40 nm)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3703320"/>
            <a:ext cx="2651760" cy="146304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3813048"/>
            <a:ext cx="2651760" cy="8046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2A78D6"/>
                </a:solidFill>
                <a:latin typeface="Arial"/>
              </a:rPr>
              <a:t>±0.025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4581144"/>
            <a:ext cx="2468879" cy="555955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V·cm: Vπ·L chip-to-chip σ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(sil-A, Lisbon)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703320"/>
            <a:ext cx="2651760" cy="146304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3813048"/>
            <a:ext cx="2651760" cy="8046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EB6834"/>
                </a:solidFill>
                <a:latin typeface="Arial"/>
              </a:rPr>
              <a:t>≤ 0.036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4581144"/>
            <a:ext cx="2468879" cy="555955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dB/cm IL, any chip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(buffer ≫ 38 nm cutoff)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3703320"/>
            <a:ext cx="2651760" cy="146304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3813048"/>
            <a:ext cx="2651760" cy="8046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2A78D6"/>
                </a:solidFill>
                <a:latin typeface="Arial"/>
              </a:rPr>
              <a:t>235 nm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4581144"/>
            <a:ext cx="2468879" cy="555955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Jerez: buffer up to which gap 3.4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beats the unbuffered gap 4.2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394960"/>
            <a:ext cx="11155680" cy="96012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500"/>
              </a:spcAft>
            </a:pPr>
            <a:r>
              <a:rPr sz="1350" b="1" i="0">
                <a:solidFill>
                  <a:srgbClr val="1F4E79"/>
                </a:solidFill>
                <a:latin typeface="Arial"/>
              </a:rPr>
              <a:t>Robust: </a:t>
            </a:r>
            <a:r>
              <a:rPr sz="1350" b="0" i="0">
                <a:solidFill>
                  <a:srgbClr val="222222"/>
                </a:solidFill>
                <a:latin typeface="Arial"/>
              </a:rPr>
              <a:t>the process spread moves Vπ·L by about 1 % and keeps IL ≤ 0.036 dB/cm; the wave under the gold stays cut off on every chip.</a:t>
            </a:r>
          </a:p>
          <a:p>
            <a:pPr algn="l">
              <a:spcAft>
                <a:spcPts val="500"/>
              </a:spcAft>
            </a:pPr>
            <a:r>
              <a:rPr sz="1350" b="1" i="0">
                <a:solidFill>
                  <a:srgbClr val="1F4E79"/>
                </a:solidFill>
                <a:latin typeface="Arial"/>
              </a:rPr>
              <a:t>Margin: </a:t>
            </a:r>
            <a:r>
              <a:rPr sz="1350" b="0" i="0">
                <a:solidFill>
                  <a:srgbClr val="222222"/>
                </a:solidFill>
                <a:latin typeface="Arial"/>
              </a:rPr>
              <a:t>Jerez at gap 3.4 µm beats its unbuffered reference up to a 235 nm buffer; Lisbon matches it at 196 nm, so thicker wafers (sil-B/C) give Vπ·L 1–3 % above it: target the sil-A recipe, or narrow the gap by ≈ 0.1 µm (to be verified).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995</TotalTime>
  <Words>1568</Words>
  <Application>Microsoft Office PowerPoint</Application>
  <PresentationFormat>Widescreen</PresentationFormat>
  <Paragraphs>54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Andrei.Muresian</dc:creator>
  <cp:lastModifiedBy>Andrei.Muresian</cp:lastModifiedBy>
  <cp:revision>44</cp:revision>
  <dcterms:created xsi:type="dcterms:W3CDTF">2025-12-01T09:32:09Z</dcterms:created>
  <dcterms:modified xsi:type="dcterms:W3CDTF">2026-10-01T11:55:02Z</dcterms:modified>
</cp:coreProperties>
</file>