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8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76" r:id="rId27"/>
    <p:sldId id="27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213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</c:v>
                </c:pt>
              </c:strCache>
            </c:strRef>
          </c:tx>
          <c:spPr>
            <a:ln w="25400">
              <a:solidFill>
                <a:srgbClr val="C0392B"/>
              </a:solidFill>
            </a:ln>
          </c:spPr>
          <c:marker>
            <c:symbol val="circle"/>
            <c:size val="5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Sheet1!$A$2:$A$72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Sheet1!$B$2:$B$72</c:f>
              <c:numCache>
                <c:formatCode>General</c:formatCode>
                <c:ptCount val="71"/>
                <c:pt idx="0">
                  <c:v>0.08872534541296766</c:v>
                </c:pt>
                <c:pt idx="1">
                  <c:v>0.05091125228581376</c:v>
                </c:pt>
                <c:pt idx="2">
                  <c:v>0.034449366507472295</c:v>
                </c:pt>
                <c:pt idx="3">
                  <c:v>0.025855998935702004</c:v>
                </c:pt>
                <c:pt idx="4">
                  <c:v>0.02100556675269085</c:v>
                </c:pt>
                <c:pt idx="5">
                  <c:v>0.018231772287063342</c:v>
                </c:pt>
                <c:pt idx="6">
                  <c:v>0.016882978491484048</c:v>
                </c:pt>
                <c:pt idx="7">
                  <c:v>0.016733568307219365</c:v>
                </c:pt>
                <c:pt idx="8">
                  <c:v>0.01783643633994232</c:v>
                </c:pt>
                <c:pt idx="9">
                  <c:v>0.020606503343521286</c:v>
                </c:pt>
                <c:pt idx="10">
                  <c:v>0.02610540183636762</c:v>
                </c:pt>
                <c:pt idx="11">
                  <c:v>0.036460688833222295</c:v>
                </c:pt>
                <c:pt idx="12">
                  <c:v>0.057759383349128425</c:v>
                </c:pt>
                <c:pt idx="13">
                  <c:v>0.10792131654404673</c:v>
                </c:pt>
                <c:pt idx="14">
                  <c:v>0.2593420599041353</c:v>
                </c:pt>
                <c:pt idx="15">
                  <c:v>0.8518568844317698</c:v>
                </c:pt>
                <c:pt idx="16">
                  <c:v>1.029144907307609</c:v>
                </c:pt>
                <c:pt idx="17">
                  <c:v>0.3518612567853239</c:v>
                </c:pt>
                <c:pt idx="18">
                  <c:v>0.15858751889084632</c:v>
                </c:pt>
                <c:pt idx="19">
                  <c:v>0.09192706794247414</c:v>
                </c:pt>
                <c:pt idx="20">
                  <c:v>0.06236795377839927</c:v>
                </c:pt>
                <c:pt idx="21">
                  <c:v>0.046928398906736</c:v>
                </c:pt>
                <c:pt idx="22">
                  <c:v>0.03850081723166634</c:v>
                </c:pt>
                <c:pt idx="23">
                  <c:v>0.03369809968070464</c:v>
                </c:pt>
                <c:pt idx="24">
                  <c:v>0.03144085814594755</c:v>
                </c:pt>
                <c:pt idx="25">
                  <c:v>0.03148258283859044</c:v>
                </c:pt>
                <c:pt idx="26">
                  <c:v>0.03359061077340244</c:v>
                </c:pt>
                <c:pt idx="27">
                  <c:v>0.038542226342439326</c:v>
                </c:pt>
                <c:pt idx="28">
                  <c:v>0.04764055363143606</c:v>
                </c:pt>
                <c:pt idx="29">
                  <c:v>0.06470872276082545</c:v>
                </c:pt>
                <c:pt idx="30">
                  <c:v>0.09768557030919518</c:v>
                </c:pt>
                <c:pt idx="31">
                  <c:v>0.16967640596422848</c:v>
                </c:pt>
                <c:pt idx="32">
                  <c:v>0.3460720567410094</c:v>
                </c:pt>
                <c:pt idx="33">
                  <c:v>0.7261308856555284</c:v>
                </c:pt>
                <c:pt idx="34">
                  <c:v>0.7215694871441569</c:v>
                </c:pt>
                <c:pt idx="35">
                  <c:v>0.36794367439534925</c:v>
                </c:pt>
                <c:pt idx="36">
                  <c:v>0.19560877667044452</c:v>
                </c:pt>
                <c:pt idx="37">
                  <c:v>0.1215277482826157</c:v>
                </c:pt>
                <c:pt idx="38">
                  <c:v>0.08516218504055369</c:v>
                </c:pt>
                <c:pt idx="39">
                  <c:v>0.06568116833992256</c:v>
                </c:pt>
                <c:pt idx="40">
                  <c:v>0.05454747140106628</c:v>
                </c:pt>
                <c:pt idx="41">
                  <c:v>0.048454575529414685</c:v>
                </c:pt>
                <c:pt idx="42">
                  <c:v>0.04582187473697675</c:v>
                </c:pt>
                <c:pt idx="43">
                  <c:v>0.04598893293048975</c:v>
                </c:pt>
                <c:pt idx="44">
                  <c:v>0.049061899634206894</c:v>
                </c:pt>
                <c:pt idx="45">
                  <c:v>0.0561691325984867</c:v>
                </c:pt>
                <c:pt idx="46">
                  <c:v>0.06886767656072448</c:v>
                </c:pt>
                <c:pt idx="47">
                  <c:v>0.0916959697045315</c:v>
                </c:pt>
                <c:pt idx="48">
                  <c:v>0.1348165500023665</c:v>
                </c:pt>
                <c:pt idx="49">
                  <c:v>0.21614990482654733</c:v>
                </c:pt>
                <c:pt idx="50">
                  <c:v>0.37991095016080156</c:v>
                </c:pt>
                <c:pt idx="51">
                  <c:v>0.5967046924289567</c:v>
                </c:pt>
                <c:pt idx="52">
                  <c:v>0.5519200796673431</c:v>
                </c:pt>
                <c:pt idx="53">
                  <c:v>0.3482922751924493</c:v>
                </c:pt>
                <c:pt idx="54">
                  <c:v>0.2151660448905787</c:v>
                </c:pt>
                <c:pt idx="55">
                  <c:v>0.14343771464759553</c:v>
                </c:pt>
                <c:pt idx="56">
                  <c:v>0.10445175139974353</c:v>
                </c:pt>
                <c:pt idx="57">
                  <c:v>0.08214921936967311</c:v>
                </c:pt>
                <c:pt idx="58">
                  <c:v>0.06947065972636988</c:v>
                </c:pt>
                <c:pt idx="59">
                  <c:v>0.0623388775927847</c:v>
                </c:pt>
                <c:pt idx="60">
                  <c:v>0.05938081329876724</c:v>
                </c:pt>
                <c:pt idx="61">
                  <c:v>0.059843365789566214</c:v>
                </c:pt>
                <c:pt idx="62">
                  <c:v>0.0641627201045212</c:v>
                </c:pt>
                <c:pt idx="63">
                  <c:v>0.07293322044854653</c:v>
                </c:pt>
                <c:pt idx="64">
                  <c:v>0.08894376958305936</c:v>
                </c:pt>
                <c:pt idx="65">
                  <c:v>0.11613327129001685</c:v>
                </c:pt>
                <c:pt idx="66">
                  <c:v>0.16332798616880725</c:v>
                </c:pt>
                <c:pt idx="67">
                  <c:v>0.24734891605783446</c:v>
                </c:pt>
                <c:pt idx="68">
                  <c:v>0.377172194417475</c:v>
                </c:pt>
                <c:pt idx="69">
                  <c:v>0.4920545644224204</c:v>
                </c:pt>
                <c:pt idx="70">
                  <c:v>0.4540654849760811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Sheet1!$B$74</c:f>
              <c:strCache>
                <c:ptCount val="1"/>
                <c:pt idx="0">
                  <c:v>Nominal 10.15 µm</c:v>
                </c:pt>
              </c:strCache>
            </c:strRef>
          </c:tx>
          <c:spPr>
            <a:ln w="19050">
              <a:solidFill>
                <a:srgbClr val="1F4E79"/>
              </a:solidFill>
              <a:prstDash val="dash"/>
            </a:ln>
          </c:spPr>
          <c:marker>
            <c:symbol val="none"/>
          </c:marker>
          <c:xVal>
            <c:numRef>
              <c:f>Sheet1!$A$75:$A$76</c:f>
              <c:numCache>
                <c:formatCode>General</c:formatCode>
                <c:ptCount val="2"/>
                <c:pt idx="0">
                  <c:v>10.15</c:v>
                </c:pt>
                <c:pt idx="1">
                  <c:v>10.15</c:v>
                </c:pt>
              </c:numCache>
            </c:numRef>
          </c:xVal>
          <c:yVal>
            <c:numRef>
              <c:f>Sheet1!$B$75:$B$76</c:f>
              <c:numCache>
                <c:formatCode>General</c:formatCode>
                <c:ptCount val="2"/>
                <c:pt idx="0">
                  <c:v>0</c:v>
                </c:pt>
                <c:pt idx="1">
                  <c:v>1.1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3.0"/>
          <c:min val="5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Slab width (µm)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1.0"/>
      </c:valAx>
      <c:valAx>
        <c:axId val="-2129643912"/>
        <c:scaling>
          <c:orientation val="minMax"/>
          <c:max val="1.1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Insertion loss (dB/cm)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2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34B894-4718-4C4D-B942-55BEF7CC3F90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6BACFE-D1E4-4E9E-9D2A-07301B51F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32A20-D9C5-BEC1-A331-516D50C93A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B255FB-8776-2600-FB0D-D37C26A92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B4982-190C-6C07-7215-C2698E3AA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87267E-3FDA-B66E-4AD8-C6CE92D5E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F8C8B-ACEA-A9A3-B4F0-BCD03B8FF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4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8482B-292E-DBE7-F2D3-E10B4F58E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1C4E-1EAF-9AB5-5CC4-FC701A97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75CCB-9B55-2936-B303-10802E385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FC055-00ED-86ED-9C00-23DE18ECA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B0205-9236-F40A-0142-178DCCE8C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83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4F1D0-DAB1-67E8-1B2F-73E26B78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1E0F4-EFC3-E680-F6BE-0E77EFE3E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3D891C-D277-DFAA-497C-2B8823A52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3FF4E-20C2-F541-1DAB-613C759BA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AB07-57B8-0995-EE56-BB900832F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A6F8-85E3-4B22-2629-A5CD88BCA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67E19-2A08-183A-315B-2C68CBD483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04FEB9-11F8-683F-4BCD-D299C05A43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671DF-0476-B756-5E54-A09AD8F8B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4C4BB-5CDA-73D0-C1DA-C42A6DE9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1ABC2-6DE1-3D69-6A5D-C3CA3F61E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857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F1152-8B57-3EF5-D4C6-0E6876662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EA3013-0656-B7EA-B887-6A7B2A8570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D63B16-884B-1811-7BAE-21CA8A6B70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255C07-A3DB-F6DA-0F4A-E9B970AC63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87223D-1F4E-936C-E584-1AAB09D0A3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643326-229D-65B9-2C15-C2124F231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F5B61B-ED00-86A7-6ACD-C43B67AC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119906-6F6F-6917-EF5E-B774E6919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652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C6A1B-B2AF-E050-ECF5-ACC5B7AF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6D89E8-F0D6-0E88-9769-D89E6292F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829C5-1B60-2268-F333-5B76066F8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F9A2B-0D7A-2052-FFC8-8CBE90A14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989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624D48-6995-0099-CD08-7A3FDDC78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EEC935-6C37-2907-F27F-AE46F371B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E360F-90C3-AD14-2358-FDAA383A9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614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657D0-E028-0FEC-8108-C43C00030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22123-834D-B3B6-8655-4F727434A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6483FF-5EC4-3A43-0CAD-1E9C63C280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6F5EC1-48F3-74F5-A266-43E5E2B1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55FD67-83F7-52BD-E689-83B4411AC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1C7BE6-67AB-39DB-47FB-E76563134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708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E4AD1-9B1D-6A0E-B035-2A091F8FB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C267C1-026F-6542-5C48-B04F16F3C2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653625-A727-A9FB-C543-6910AD6867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DCE3EF-FE07-E44D-9BEE-561AE12BC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148578-8457-617E-26C8-83CBD42AA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0716A0-6376-1E8B-ACC0-3E99A468A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55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1CB6B-B40F-CD9E-5050-E8332EEE0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8861BA-32AA-F138-FF9C-253448691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C3F75-3492-7080-C63D-3983901FB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1E4EE-94A7-4D60-6219-FE9FAEED3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9FFF6-B663-682E-609B-32623E2A8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808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BE4FA9-B5B0-671D-FF03-B5210A3B11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E3531C-997D-F3F0-03A8-0A36E3B8A4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CAC5E-DA02-76B9-65D8-7F5388545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902A9-7AB1-C1FB-9260-FEB9B49CA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2E534-F0BB-DE3C-8762-F36B2DE82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9196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1040" y="0"/>
            <a:ext cx="2467880" cy="2057147"/>
          </a:xfrm>
          <a:prstGeom prst="rect">
            <a:avLst/>
          </a:prstGeom>
          <a:noFill/>
        </p:spPr>
      </p:pic>
      <p:grpSp>
        <p:nvGrpSpPr>
          <p:cNvPr id="8" name="组合 7"/>
          <p:cNvGrpSpPr/>
          <p:nvPr userDrawn="1"/>
        </p:nvGrpSpPr>
        <p:grpSpPr>
          <a:xfrm>
            <a:off x="0" y="6485001"/>
            <a:ext cx="12192000" cy="383243"/>
            <a:chOff x="0" y="4833033"/>
            <a:chExt cx="9144000" cy="287432"/>
          </a:xfrm>
        </p:grpSpPr>
        <p:sp>
          <p:nvSpPr>
            <p:cNvPr id="9" name="Text Box 2"/>
            <p:cNvSpPr txBox="1">
              <a:spLocks noChangeArrowheads="1"/>
            </p:cNvSpPr>
            <p:nvPr/>
          </p:nvSpPr>
          <p:spPr bwMode="auto">
            <a:xfrm>
              <a:off x="0" y="4835723"/>
              <a:ext cx="1763688" cy="284742"/>
            </a:xfrm>
            <a:prstGeom prst="rect">
              <a:avLst/>
            </a:prstGeom>
            <a:solidFill>
              <a:srgbClr val="DC0000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0" name="Text Box 2"/>
            <p:cNvSpPr txBox="1">
              <a:spLocks noChangeArrowheads="1"/>
            </p:cNvSpPr>
            <p:nvPr/>
          </p:nvSpPr>
          <p:spPr bwMode="auto">
            <a:xfrm>
              <a:off x="1763688" y="4835723"/>
              <a:ext cx="7380312" cy="284742"/>
            </a:xfrm>
            <a:prstGeom prst="rect">
              <a:avLst/>
            </a:prstGeom>
            <a:solidFill>
              <a:srgbClr val="00288C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0" y="4833033"/>
              <a:ext cx="9143999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TW" sz="1800" dirty="0">
                  <a:solidFill>
                    <a:schemeClr val="bg1"/>
                  </a:solidFill>
                  <a:latin typeface="Arial" panose="020B0604020202020204" pitchFamily="34" charset="0"/>
                  <a:ea typeface="PMingLiU" pitchFamily="18" charset="-120"/>
                  <a:cs typeface="Arial" panose="020B0604020202020204" pitchFamily="34" charset="0"/>
                </a:rPr>
                <a:t>www.afrmilan.com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02999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61"/>
          <p:cNvGrpSpPr/>
          <p:nvPr userDrawn="1"/>
        </p:nvGrpSpPr>
        <p:grpSpPr>
          <a:xfrm>
            <a:off x="631357" y="453550"/>
            <a:ext cx="996088" cy="0"/>
            <a:chOff x="707557" y="548800"/>
            <a:chExt cx="996088" cy="0"/>
          </a:xfrm>
        </p:grpSpPr>
        <p:cxnSp>
          <p:nvCxnSpPr>
            <p:cNvPr id="10" name="直接连接符 9"/>
            <p:cNvCxnSpPr/>
            <p:nvPr/>
          </p:nvCxnSpPr>
          <p:spPr bwMode="auto">
            <a:xfrm>
              <a:off x="707557" y="548800"/>
              <a:ext cx="29953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F2001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直接连接符 11"/>
            <p:cNvCxnSpPr/>
            <p:nvPr/>
          </p:nvCxnSpPr>
          <p:spPr bwMode="auto">
            <a:xfrm>
              <a:off x="983645" y="548800"/>
              <a:ext cx="7200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0E226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3" name="组合 12"/>
          <p:cNvGrpSpPr/>
          <p:nvPr userDrawn="1"/>
        </p:nvGrpSpPr>
        <p:grpSpPr>
          <a:xfrm>
            <a:off x="10607281" y="233681"/>
            <a:ext cx="1177119" cy="900000"/>
            <a:chOff x="7955458" y="175261"/>
            <a:chExt cx="882839" cy="675000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60" t="23787" r="27970" b="32989"/>
            <a:stretch>
              <a:fillRect/>
            </a:stretch>
          </p:blipFill>
          <p:spPr>
            <a:xfrm>
              <a:off x="7955458" y="175261"/>
              <a:ext cx="882839" cy="675000"/>
            </a:xfrm>
            <a:prstGeom prst="rect">
              <a:avLst/>
            </a:prstGeom>
          </p:spPr>
        </p:pic>
        <p:sp>
          <p:nvSpPr>
            <p:cNvPr id="15" name="椭圆 14"/>
            <p:cNvSpPr/>
            <p:nvPr userDrawn="1"/>
          </p:nvSpPr>
          <p:spPr>
            <a:xfrm>
              <a:off x="8676456" y="195486"/>
              <a:ext cx="144016" cy="14401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</p:spTree>
    <p:extLst>
      <p:ext uri="{BB962C8B-B14F-4D97-AF65-F5344CB8AC3E}">
        <p14:creationId xmlns:p14="http://schemas.microsoft.com/office/powerpoint/2010/main" val="39211454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27BB2C-76DC-90AF-74E8-5CA2C51AF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2E614-5C6F-DC4C-07CD-F948CDE44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B5F60-52FA-13B8-32F6-4BFCF5859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BDF0-920C-8B79-6328-4F4CFFA1E3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40653-7ED0-A2A9-6425-DC06C7BEE1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418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/Relationships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Istanbul: cross-section and nominal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C-band tapeout, simulated at 1575 nm, gap 4.45 µm, slab 10.15 µm</a:t>
            </a:r>
          </a:p>
        </p:txBody>
      </p:sp>
      <p:pic>
        <p:nvPicPr>
          <p:cNvPr id="4" name="Picture 3" descr="xs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949440" cy="167189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691640"/>
            <a:ext cx="3840480" cy="2286000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F4E79"/>
                </a:solidFill>
                <a:latin typeface="Arial"/>
              </a:rPr>
              <a:t>Geometry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LN rib 1.0 µm top, 275 nm etch, 275 nm slab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SiO₂ cap 2.0 × 1.4 µm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Gold 2.0 µm, conformal: drops 275 nm past the slab end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Slab ends 2.85 µm inside the gold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34340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53128"/>
            <a:ext cx="3108960" cy="60350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0.092 dB/cm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01768"/>
            <a:ext cx="2926079" cy="41696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insertion loss at nominal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434340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4453128"/>
            <a:ext cx="3108960" cy="60350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2.42 V·cm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001768"/>
            <a:ext cx="2926079" cy="41696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Vπ·L at nominal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863840" y="4206240"/>
          <a:ext cx="3840480" cy="1170432"/>
        </p:xfrm>
        <a:graphic>
          <a:graphicData uri="http://schemas.openxmlformats.org/drawingml/2006/table">
            <a:tbl>
              <a:tblPr firstRow="1" bandRow="1"/>
              <a:tblGrid>
                <a:gridCol w="2011680"/>
                <a:gridCol w="822960"/>
                <a:gridCol w="100584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Same cavity (2.85 µm)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IL (dB/cm)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Cordoba etched, flat gold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4.20 µm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0.209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Cordoba etched, flat gold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4.45 µm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Istanbul, stepped gold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4.45 µm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22960" y="5669280"/>
            <a:ext cx="10881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Low loss comes from the wider gap (field at the gold ≈ halved per +0.125 µm per side); the 275 nm gold step has no effect. Vπ·L pays +7 % vs Cordoba (2.27 V·cm).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Slab-width sweep: strong IL ripples, flat Vπ·L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Slab width from gap + 1 to gap + 8 µm, 100 nm step (71 points)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7498079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12480" y="169164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180136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1.8 µm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19" y="232257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ripple period in slab width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(0.9 µm cavity per side)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92608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303580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0.05 → 0.6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19" y="355701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dB/cm within ±0.4 µm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of the nominal slab width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416052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427024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±0.04 %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19" y="479145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Vπ·L variation over the sweep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(2.421 V·cm)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06440"/>
            <a:ext cx="111556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Peaks 1.03 / 0.73 / 0.60 dB/cm, troughs 0.02–0.06 dB/cm: the nominal sits on the rising edge of a peak. Slab-edge offsets of a few hundred nm can explain the scattered loop IL measurements.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995</TotalTime>
  <Words>1568</Words>
  <Application>Microsoft Office PowerPoint</Application>
  <PresentationFormat>Widescreen</PresentationFormat>
  <Paragraphs>54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Andrei.Muresian</dc:creator>
  <cp:lastModifiedBy>Andrei.Muresian</cp:lastModifiedBy>
  <cp:revision>44</cp:revision>
  <dcterms:created xsi:type="dcterms:W3CDTF">2025-12-01T09:32:09Z</dcterms:created>
  <dcterms:modified xsi:type="dcterms:W3CDTF">2026-10-01T11:55:02Z</dcterms:modified>
</cp:coreProperties>
</file>