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2130"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Insertion loss vs lift position</a:t>
            </a:r>
          </a:p>
        </c:rich>
      </c:tx>
      <c:overlay val="0"/>
    </c:title>
    <c:autoTitleDeleted val="0"/>
    <c:plotArea>
      <c:layout/>
      <c:scatterChart>
        <c:scatterStyle val="lineMarker"/>
        <c:varyColors val="0"/>
        <c:ser>
          <c:idx val="0"/>
          <c:order val="0"/>
          <c:tx>
            <c:strRef>
              <c:f>Sheet1!$B$1</c:f>
              <c:strCache>
                <c:ptCount val="1"/>
                <c:pt idx="0">
                  <c:v>Fabry–Pérot envelope</c:v>
                </c:pt>
              </c:strCache>
            </c:strRef>
          </c:tx>
          <c:spPr>
            <a:ln w="15875">
              <a:solidFill>
                <a:srgbClr val="8A8A8A"/>
              </a:solidFill>
            </a:ln>
          </c:spPr>
          <c:marker>
            <c:symbol val="none"/>
          </c:marker>
          <c:xVal>
            <c:numRef>
              <c:f>Sheet1!$A$2:$A$47</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10.600000000000001</c:v>
                </c:pt>
                <c:pt idx="42">
                  <c:v>10.7</c:v>
                </c:pt>
                <c:pt idx="43">
                  <c:v>10.8</c:v>
                </c:pt>
                <c:pt idx="44">
                  <c:v>10.9</c:v>
                </c:pt>
                <c:pt idx="45">
                  <c:v>11</c:v>
                </c:pt>
              </c:numCache>
            </c:numRef>
          </c:xVal>
          <c:yVal>
            <c:numRef>
              <c:f>Sheet1!$B$2:$B$47</c:f>
              <c:numCache>
                <c:formatCode>General</c:formatCode>
                <c:ptCount val="46"/>
                <c:pt idx="0">
                  <c:v>1.006650587053012</c:v>
                </c:pt>
                <c:pt idx="1">
                  <c:v>0.98905043659049274</c:v>
                </c:pt>
                <c:pt idx="2">
                  <c:v>0.97217662776202174</c:v>
                </c:pt>
                <c:pt idx="3">
                  <c:v>0.9559875457464122</c:v>
                </c:pt>
                <c:pt idx="4">
                  <c:v>0.94044468351849031</c:v>
                </c:pt>
                <c:pt idx="5">
                  <c:v>0.92551235689618738</c:v>
                </c:pt>
                <c:pt idx="6">
                  <c:v>0.91115745037874274</c:v>
                </c:pt>
                <c:pt idx="7">
                  <c:v>0.89734918996298452</c:v>
                </c:pt>
                <c:pt idx="8">
                  <c:v>0.88405893965492977</c:v>
                </c:pt>
                <c:pt idx="9">
                  <c:v>0.87126001884265369</c:v>
                </c:pt>
                <c:pt idx="10">
                  <c:v>0.85892753807726974</c:v>
                </c:pt>
                <c:pt idx="11">
                  <c:v>0.84703825113307674</c:v>
                </c:pt>
                <c:pt idx="12">
                  <c:v>0.83557042149477589</c:v>
                </c:pt>
                <c:pt idx="13">
                  <c:v>0.82450370165660258</c:v>
                </c:pt>
                <c:pt idx="14">
                  <c:v>0.81381902382162419</c:v>
                </c:pt>
                <c:pt idx="15">
                  <c:v>0.80349850076448925</c:v>
                </c:pt>
                <c:pt idx="16">
                  <c:v>0.79352533577188755</c:v>
                </c:pt>
                <c:pt idx="17">
                  <c:v>0.78388374070555478</c:v>
                </c:pt>
                <c:pt idx="18">
                  <c:v>0.77455886134580809</c:v>
                </c:pt>
                <c:pt idx="19">
                  <c:v>0.76553670927190554</c:v>
                </c:pt>
                <c:pt idx="20">
                  <c:v>0.75680409962108075</c:v>
                </c:pt>
                <c:pt idx="21">
                  <c:v>0.74834859414278065</c:v>
                </c:pt>
                <c:pt idx="22">
                  <c:v>0.74015844902987427</c:v>
                </c:pt>
                <c:pt idx="23">
                  <c:v>0.7322225670657726</c:v>
                </c:pt>
                <c:pt idx="24">
                  <c:v>0.72453045367656665</c:v>
                </c:pt>
                <c:pt idx="25">
                  <c:v>0.71707217652138966</c:v>
                </c:pt>
                <c:pt idx="26">
                  <c:v>0.70983832829306681</c:v>
                </c:pt>
                <c:pt idx="27">
                  <c:v>0.7028199924354015</c:v>
                </c:pt>
                <c:pt idx="28">
                  <c:v>0.69600871151373533</c:v>
                </c:pt>
                <c:pt idx="29">
                  <c:v>0.68939645800227034</c:v>
                </c:pt>
                <c:pt idx="30">
                  <c:v>0.68297560727540774</c:v>
                </c:pt>
                <c:pt idx="31">
                  <c:v>0.67673891261152253</c:v>
                </c:pt>
                <c:pt idx="32">
                  <c:v>0.67067948203636285</c:v>
                </c:pt>
                <c:pt idx="33">
                  <c:v>0.66479075685004063</c:v>
                </c:pt>
                <c:pt idx="34">
                  <c:v>0.65906649169650677</c:v>
                </c:pt>
                <c:pt idx="35">
                  <c:v>0.65350073604776804</c:v>
                </c:pt>
                <c:pt idx="36">
                  <c:v>0.64808781698704931</c:v>
                </c:pt>
                <c:pt idx="37">
                  <c:v>0.6428223231858109</c:v>
                </c:pt>
                <c:pt idx="38">
                  <c:v>0.63769908997913627</c:v>
                </c:pt>
                <c:pt idx="39">
                  <c:v>0.63271318545263433</c:v>
                </c:pt>
                <c:pt idx="40">
                  <c:v>0.62785989746176163</c:v>
                </c:pt>
                <c:pt idx="41">
                  <c:v>0.62313472151146077</c:v>
                </c:pt>
                <c:pt idx="42">
                  <c:v>0.61853334943031124</c:v>
                </c:pt>
                <c:pt idx="43">
                  <c:v>0.61405165877907963</c:v>
                </c:pt>
                <c:pt idx="44">
                  <c:v>0.6096857029387015</c:v>
                </c:pt>
                <c:pt idx="45">
                  <c:v>0.60543170182737227</c:v>
                </c:pt>
              </c:numCache>
            </c:numRef>
          </c:yVal>
          <c:smooth val="0"/>
          <c:extLst>
            <c:ext xmlns:c16="http://schemas.microsoft.com/office/drawing/2014/chart" uri="{C3380CC4-5D6E-409C-BE32-E72D297353CC}">
              <c16:uniqueId val="{00000000-EBB1-41E7-851E-9A54D51C6008}"/>
            </c:ext>
          </c:extLst>
        </c:ser>
        <c:ser>
          <c:idx val="1"/>
          <c:order val="1"/>
          <c:tx>
            <c:strRef>
              <c:f>Sheet1!$B$49</c:f>
              <c:strCache>
                <c:ptCount val="1"/>
                <c:pt idx="0">
                  <c:v>envelope_lo</c:v>
                </c:pt>
              </c:strCache>
            </c:strRef>
          </c:tx>
          <c:spPr>
            <a:ln w="15875">
              <a:solidFill>
                <a:srgbClr val="8A8A8A"/>
              </a:solidFill>
            </a:ln>
          </c:spPr>
          <c:marker>
            <c:symbol val="none"/>
          </c:marker>
          <c:xVal>
            <c:numRef>
              <c:f>Sheet1!$A$50:$A$95</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10.600000000000001</c:v>
                </c:pt>
                <c:pt idx="42">
                  <c:v>10.7</c:v>
                </c:pt>
                <c:pt idx="43">
                  <c:v>10.8</c:v>
                </c:pt>
                <c:pt idx="44">
                  <c:v>10.9</c:v>
                </c:pt>
                <c:pt idx="45">
                  <c:v>11</c:v>
                </c:pt>
              </c:numCache>
            </c:numRef>
          </c:xVal>
          <c:yVal>
            <c:numRef>
              <c:f>Sheet1!$B$50:$B$95</c:f>
              <c:numCache>
                <c:formatCode>General</c:formatCode>
                <c:ptCount val="46"/>
                <c:pt idx="0">
                  <c:v>0.16830912461905409</c:v>
                </c:pt>
                <c:pt idx="1">
                  <c:v>0.17130418514167206</c:v>
                </c:pt>
                <c:pt idx="2">
                  <c:v>0.17427746591087931</c:v>
                </c:pt>
                <c:pt idx="3">
                  <c:v>0.17722875141837086</c:v>
                </c:pt>
                <c:pt idx="4">
                  <c:v>0.18015783604652405</c:v>
                </c:pt>
                <c:pt idx="5">
                  <c:v>0.18306452403547299</c:v>
                </c:pt>
                <c:pt idx="6">
                  <c:v>0.1859486294423896</c:v>
                </c:pt>
                <c:pt idx="7">
                  <c:v>0.18880997609318423</c:v>
                </c:pt>
                <c:pt idx="8">
                  <c:v>0.19164839752684534</c:v>
                </c:pt>
                <c:pt idx="9">
                  <c:v>0.19446373693264526</c:v>
                </c:pt>
                <c:pt idx="10">
                  <c:v>0.19725584708044072</c:v>
                </c:pt>
                <c:pt idx="11">
                  <c:v>0.20002459024430849</c:v>
                </c:pt>
                <c:pt idx="12">
                  <c:v>0.20276983811975283</c:v>
                </c:pt>
                <c:pt idx="13">
                  <c:v>0.20549147173473162</c:v>
                </c:pt>
                <c:pt idx="14">
                  <c:v>0.20818938135474863</c:v>
                </c:pt>
                <c:pt idx="15">
                  <c:v>0.21086346638226022</c:v>
                </c:pt>
                <c:pt idx="16">
                  <c:v>0.2135136352506512</c:v>
                </c:pt>
                <c:pt idx="17">
                  <c:v>0.21613980531303137</c:v>
                </c:pt>
                <c:pt idx="18">
                  <c:v>0.21874190272610752</c:v>
                </c:pt>
                <c:pt idx="19">
                  <c:v>0.22131986232938605</c:v>
                </c:pt>
                <c:pt idx="20">
                  <c:v>0.22387362751996109</c:v>
                </c:pt>
                <c:pt idx="21">
                  <c:v>0.22640315012314077</c:v>
                </c:pt>
                <c:pt idx="22">
                  <c:v>0.22890839025916584</c:v>
                </c:pt>
                <c:pt idx="23">
                  <c:v>0.23138931620627073</c:v>
                </c:pt>
                <c:pt idx="24">
                  <c:v>0.23384590426033755</c:v>
                </c:pt>
                <c:pt idx="25">
                  <c:v>0.23627813859138824</c:v>
                </c:pt>
                <c:pt idx="26">
                  <c:v>0.23868601109716125</c:v>
                </c:pt>
                <c:pt idx="27">
                  <c:v>0.24106952125401029</c:v>
                </c:pt>
                <c:pt idx="28">
                  <c:v>0.24342867596536652</c:v>
                </c:pt>
                <c:pt idx="29">
                  <c:v>0.24576348940799375</c:v>
                </c:pt>
                <c:pt idx="30">
                  <c:v>0.24807398287626961</c:v>
                </c:pt>
                <c:pt idx="31">
                  <c:v>0.25036018462471454</c:v>
                </c:pt>
                <c:pt idx="32">
                  <c:v>0.25262212970899156</c:v>
                </c:pt>
                <c:pt idx="33">
                  <c:v>0.25485985982559017</c:v>
                </c:pt>
                <c:pt idx="34">
                  <c:v>0.2570734231504056</c:v>
                </c:pt>
                <c:pt idx="35">
                  <c:v>0.25926287417641847</c:v>
                </c:pt>
                <c:pt idx="36">
                  <c:v>0.26142827355067377</c:v>
                </c:pt>
                <c:pt idx="37">
                  <c:v>0.26356968791075291</c:v>
                </c:pt>
                <c:pt idx="38">
                  <c:v>0.26568718972092709</c:v>
                </c:pt>
                <c:pt idx="39">
                  <c:v>0.26778085710817379</c:v>
                </c:pt>
                <c:pt idx="40">
                  <c:v>0.26985077369823257</c:v>
                </c:pt>
                <c:pt idx="41">
                  <c:v>0.27189702845186936</c:v>
                </c:pt>
                <c:pt idx="42">
                  <c:v>0.27391971550151395</c:v>
                </c:pt>
                <c:pt idx="43">
                  <c:v>0.27591893398842759</c:v>
                </c:pt>
                <c:pt idx="44">
                  <c:v>0.27789478790055189</c:v>
                </c:pt>
                <c:pt idx="45">
                  <c:v>0.27984738591118374</c:v>
                </c:pt>
              </c:numCache>
            </c:numRef>
          </c:yVal>
          <c:smooth val="0"/>
          <c:extLst>
            <c:ext xmlns:c16="http://schemas.microsoft.com/office/drawing/2014/chart" uri="{C3380CC4-5D6E-409C-BE32-E72D297353CC}">
              <c16:uniqueId val="{00000001-EBB1-41E7-851E-9A54D51C6008}"/>
            </c:ext>
          </c:extLst>
        </c:ser>
        <c:ser>
          <c:idx val="2"/>
          <c:order val="2"/>
          <c:tx>
            <c:strRef>
              <c:f>Sheet1!$B$97</c:f>
              <c:strCache>
                <c:ptCount val="1"/>
                <c:pt idx="0">
                  <c:v>Lisbon, lifted</c:v>
                </c:pt>
              </c:strCache>
            </c:strRef>
          </c:tx>
          <c:spPr>
            <a:ln w="22225">
              <a:solidFill>
                <a:srgbClr val="2A78D6"/>
              </a:solidFill>
            </a:ln>
          </c:spPr>
          <c:marker>
            <c:symbol val="circle"/>
            <c:size val="5"/>
            <c:spPr>
              <a:solidFill>
                <a:srgbClr val="2A78D6"/>
              </a:solidFill>
              <a:ln>
                <a:solidFill>
                  <a:srgbClr val="2A78D6"/>
                </a:solidFill>
              </a:ln>
            </c:spPr>
          </c:marker>
          <c:xVal>
            <c:numRef>
              <c:f>Sheet1!$A$98:$A$143</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Sheet1!$B$98:$B$143</c:f>
              <c:numCache>
                <c:formatCode>General</c:formatCode>
                <c:ptCount val="46"/>
                <c:pt idx="0">
                  <c:v>0.68149999999999999</c:v>
                </c:pt>
                <c:pt idx="1">
                  <c:v>0.35210000000000002</c:v>
                </c:pt>
                <c:pt idx="2">
                  <c:v>0.2271</c:v>
                </c:pt>
                <c:pt idx="3">
                  <c:v>0.18260000000000001</c:v>
                </c:pt>
                <c:pt idx="4">
                  <c:v>0.1807</c:v>
                </c:pt>
                <c:pt idx="5">
                  <c:v>0.22159999999999999</c:v>
                </c:pt>
                <c:pt idx="6">
                  <c:v>0.33450000000000002</c:v>
                </c:pt>
                <c:pt idx="7">
                  <c:v>0.60160000000000002</c:v>
                </c:pt>
                <c:pt idx="8">
                  <c:v>0.88270000000000004</c:v>
                </c:pt>
                <c:pt idx="9">
                  <c:v>0.63819999999999999</c:v>
                </c:pt>
                <c:pt idx="10">
                  <c:v>0.37309999999999999</c:v>
                </c:pt>
                <c:pt idx="11">
                  <c:v>0.25130000000000002</c:v>
                </c:pt>
                <c:pt idx="12">
                  <c:v>0.2077</c:v>
                </c:pt>
                <c:pt idx="13">
                  <c:v>0.20730000000000001</c:v>
                </c:pt>
                <c:pt idx="14">
                  <c:v>0.25090000000000001</c:v>
                </c:pt>
                <c:pt idx="15">
                  <c:v>0.36330000000000001</c:v>
                </c:pt>
                <c:pt idx="16">
                  <c:v>0.59650000000000003</c:v>
                </c:pt>
                <c:pt idx="17">
                  <c:v>0.78239999999999998</c:v>
                </c:pt>
                <c:pt idx="18">
                  <c:v>0.60019999999999996</c:v>
                </c:pt>
                <c:pt idx="19">
                  <c:v>0.38250000000000001</c:v>
                </c:pt>
                <c:pt idx="20">
                  <c:v>0.27510000000000001</c:v>
                </c:pt>
                <c:pt idx="21">
                  <c:v>0.23100000000000001</c:v>
                </c:pt>
                <c:pt idx="22">
                  <c:v>0.2329</c:v>
                </c:pt>
                <c:pt idx="23">
                  <c:v>0.2782</c:v>
                </c:pt>
                <c:pt idx="24">
                  <c:v>0.39100000000000001</c:v>
                </c:pt>
                <c:pt idx="25">
                  <c:v>0.58499999999999996</c:v>
                </c:pt>
                <c:pt idx="26">
                  <c:v>0.70760000000000001</c:v>
                </c:pt>
                <c:pt idx="27">
                  <c:v>0.56599999999999995</c:v>
                </c:pt>
                <c:pt idx="28">
                  <c:v>0.3916</c:v>
                </c:pt>
                <c:pt idx="29">
                  <c:v>0.29139999999999999</c:v>
                </c:pt>
                <c:pt idx="30">
                  <c:v>0.2525</c:v>
                </c:pt>
                <c:pt idx="31">
                  <c:v>0.25490000000000002</c:v>
                </c:pt>
                <c:pt idx="32">
                  <c:v>0.30509999999999998</c:v>
                </c:pt>
                <c:pt idx="33">
                  <c:v>0.40360000000000001</c:v>
                </c:pt>
                <c:pt idx="34">
                  <c:v>0.57420000000000004</c:v>
                </c:pt>
                <c:pt idx="35">
                  <c:v>0.64949999999999997</c:v>
                </c:pt>
                <c:pt idx="36">
                  <c:v>0.5403</c:v>
                </c:pt>
                <c:pt idx="37">
                  <c:v>0.39369999999999999</c:v>
                </c:pt>
                <c:pt idx="38">
                  <c:v>0.30709999999999998</c:v>
                </c:pt>
                <c:pt idx="39">
                  <c:v>0.27229999999999999</c:v>
                </c:pt>
                <c:pt idx="40">
                  <c:v>0.27600000000000002</c:v>
                </c:pt>
                <c:pt idx="41">
                  <c:v>0.32279999999999998</c:v>
                </c:pt>
                <c:pt idx="42">
                  <c:v>0.41689999999999999</c:v>
                </c:pt>
                <c:pt idx="43">
                  <c:v>0.5605</c:v>
                </c:pt>
                <c:pt idx="44">
                  <c:v>0.60709999999999997</c:v>
                </c:pt>
                <c:pt idx="45">
                  <c:v>0.51690000000000003</c:v>
                </c:pt>
              </c:numCache>
            </c:numRef>
          </c:yVal>
          <c:smooth val="0"/>
          <c:extLst>
            <c:ext xmlns:c16="http://schemas.microsoft.com/office/drawing/2014/chart" uri="{C3380CC4-5D6E-409C-BE32-E72D297353CC}">
              <c16:uniqueId val="{00000002-EBB1-41E7-851E-9A54D51C6008}"/>
            </c:ext>
          </c:extLst>
        </c:ser>
        <c:ser>
          <c:idx val="3"/>
          <c:order val="3"/>
          <c:tx>
            <c:strRef>
              <c:f>Sheet1!$B$145</c:f>
              <c:strCache>
                <c:ptCount val="1"/>
                <c:pt idx="0">
                  <c:v>Cordoba (0.42 dB/cm)</c:v>
                </c:pt>
              </c:strCache>
            </c:strRef>
          </c:tx>
          <c:spPr>
            <a:ln w="25400">
              <a:solidFill>
                <a:srgbClr val="1BAF7A"/>
              </a:solidFill>
              <a:prstDash val="dash"/>
            </a:ln>
          </c:spPr>
          <c:marker>
            <c:symbol val="none"/>
          </c:marker>
          <c:xVal>
            <c:numRef>
              <c:f>Sheet1!$A$146:$A$147</c:f>
              <c:numCache>
                <c:formatCode>General</c:formatCode>
                <c:ptCount val="2"/>
                <c:pt idx="0">
                  <c:v>6.5</c:v>
                </c:pt>
                <c:pt idx="1">
                  <c:v>11</c:v>
                </c:pt>
              </c:numCache>
            </c:numRef>
          </c:xVal>
          <c:yVal>
            <c:numRef>
              <c:f>Sheet1!$B$146:$B$147</c:f>
              <c:numCache>
                <c:formatCode>General</c:formatCode>
                <c:ptCount val="2"/>
                <c:pt idx="0">
                  <c:v>0.42020000000000002</c:v>
                </c:pt>
                <c:pt idx="1">
                  <c:v>0.42020000000000002</c:v>
                </c:pt>
              </c:numCache>
            </c:numRef>
          </c:yVal>
          <c:smooth val="0"/>
          <c:extLst>
            <c:ext xmlns:c16="http://schemas.microsoft.com/office/drawing/2014/chart" uri="{C3380CC4-5D6E-409C-BE32-E72D297353CC}">
              <c16:uniqueId val="{00000003-EBB1-41E7-851E-9A54D51C6008}"/>
            </c:ext>
          </c:extLst>
        </c:ser>
        <c:ser>
          <c:idx val="4"/>
          <c:order val="4"/>
          <c:tx>
            <c:strRef>
              <c:f>Sheet1!$B$149</c:f>
              <c:strCache>
                <c:ptCount val="1"/>
                <c:pt idx="0">
                  <c:v>x_lift 7.1 → 7.2 µm</c:v>
                </c:pt>
              </c:strCache>
            </c:strRef>
          </c:tx>
          <c:spPr>
            <a:ln w="31750">
              <a:solidFill>
                <a:srgbClr val="C0262D"/>
              </a:solidFill>
            </a:ln>
          </c:spPr>
          <c:marker>
            <c:symbol val="circle"/>
            <c:size val="9"/>
            <c:spPr>
              <a:solidFill>
                <a:srgbClr val="C0262D"/>
              </a:solidFill>
              <a:ln>
                <a:solidFill>
                  <a:srgbClr val="C0262D"/>
                </a:solidFill>
              </a:ln>
            </c:spPr>
          </c:marker>
          <c:xVal>
            <c:numRef>
              <c:f>Sheet1!$A$150:$A$151</c:f>
              <c:numCache>
                <c:formatCode>General</c:formatCode>
                <c:ptCount val="2"/>
                <c:pt idx="0">
                  <c:v>7.1</c:v>
                </c:pt>
                <c:pt idx="1">
                  <c:v>7.2</c:v>
                </c:pt>
              </c:numCache>
            </c:numRef>
          </c:xVal>
          <c:yVal>
            <c:numRef>
              <c:f>Sheet1!$B$150:$B$151</c:f>
              <c:numCache>
                <c:formatCode>General</c:formatCode>
                <c:ptCount val="2"/>
                <c:pt idx="0">
                  <c:v>0.33450000000000002</c:v>
                </c:pt>
                <c:pt idx="1">
                  <c:v>0.60160000000000002</c:v>
                </c:pt>
              </c:numCache>
            </c:numRef>
          </c:yVal>
          <c:smooth val="0"/>
          <c:extLst>
            <c:ext xmlns:c16="http://schemas.microsoft.com/office/drawing/2014/chart" uri="{C3380CC4-5D6E-409C-BE32-E72D297353CC}">
              <c16:uniqueId val="{00000004-EBB1-41E7-851E-9A54D51C6008}"/>
            </c:ext>
          </c:extLst>
        </c:ser>
        <c:dLbls>
          <c:showLegendKey val="0"/>
          <c:showVal val="0"/>
          <c:showCatName val="0"/>
          <c:showSerName val="0"/>
          <c:showPercent val="0"/>
          <c:showBubbleSize val="0"/>
        </c:dLbls>
        <c:axId val="-2128940872"/>
        <c:axId val="-2129643912"/>
      </c:scatterChart>
      <c:valAx>
        <c:axId val="-2128940872"/>
        <c:scaling>
          <c:orientation val="minMax"/>
          <c:max val="11"/>
          <c:min val="6.5"/>
        </c:scaling>
        <c:delete val="0"/>
        <c:axPos val="b"/>
        <c:title>
          <c:tx>
            <c:rich>
              <a:bodyPr/>
              <a:lstStyle/>
              <a:p>
                <a:r>
                  <a:rPr lang="en-US"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orientation val="minMax"/>
          <c:max val="1"/>
          <c:min val="0"/>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legend>
      <c:legendPos val="t"/>
      <c:legendEntry>
        <c:idx val="1"/>
        <c:delete val="1"/>
      </c:legendEntry>
      <c:overlay val="0"/>
      <c:txPr>
        <a:bodyPr/>
        <a:lstStyle/>
        <a:p>
          <a:pPr>
            <a:defRPr sz="9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Index of the wave under the gold</a:t>
            </a:r>
          </a:p>
        </c:rich>
      </c:tx>
      <c:overlay val="0"/>
    </c:title>
    <c:autoTitleDeleted val="0"/>
    <c:plotArea>
      <c:layout/>
      <c:scatterChart>
        <c:scatterStyle val="lineMarker"/>
        <c:varyColors val="0"/>
        <c:ser>
          <c:idx val="0"/>
          <c:order val="0"/>
          <c:tx>
            <c:strRef>
              <c:f>Sheet1!$B$1</c:f>
              <c:strCache>
                <c:ptCount val="1"/>
                <c:pt idx="0">
                  <c:v>wave under the gold</c:v>
                </c:pt>
              </c:strCache>
            </c:strRef>
          </c:tx>
          <c:spPr>
            <a:ln w="31750">
              <a:solidFill>
                <a:srgbClr val="1F4E79"/>
              </a:solidFill>
            </a:ln>
          </c:spPr>
          <c:marker>
            <c:symbol val="none"/>
          </c:marker>
          <c:xVal>
            <c:numRef>
              <c:f>Sheet1!$A$2:$A$22</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75</c:v>
                </c:pt>
                <c:pt idx="12">
                  <c:v>100</c:v>
                </c:pt>
                <c:pt idx="13">
                  <c:v>125</c:v>
                </c:pt>
                <c:pt idx="14">
                  <c:v>150</c:v>
                </c:pt>
                <c:pt idx="15">
                  <c:v>175</c:v>
                </c:pt>
                <c:pt idx="16">
                  <c:v>200</c:v>
                </c:pt>
                <c:pt idx="17">
                  <c:v>225</c:v>
                </c:pt>
                <c:pt idx="18">
                  <c:v>250</c:v>
                </c:pt>
                <c:pt idx="19">
                  <c:v>275</c:v>
                </c:pt>
                <c:pt idx="20">
                  <c:v>300</c:v>
                </c:pt>
              </c:numCache>
            </c:numRef>
          </c:xVal>
          <c:yVal>
            <c:numRef>
              <c:f>Sheet1!$B$2:$B$22</c:f>
              <c:numCache>
                <c:formatCode>General</c:formatCode>
                <c:ptCount val="21"/>
                <c:pt idx="0">
                  <c:v>2.0722450000000001</c:v>
                </c:pt>
                <c:pt idx="1">
                  <c:v>2.033595</c:v>
                </c:pt>
                <c:pt idx="2">
                  <c:v>2.0012850000000002</c:v>
                </c:pt>
                <c:pt idx="3">
                  <c:v>1.9736899999999999</c:v>
                </c:pt>
                <c:pt idx="4">
                  <c:v>1.9497499999999999</c:v>
                </c:pt>
                <c:pt idx="5">
                  <c:v>1.9286949999999998</c:v>
                </c:pt>
                <c:pt idx="6">
                  <c:v>1.91</c:v>
                </c:pt>
                <c:pt idx="7">
                  <c:v>1.89323</c:v>
                </c:pt>
                <c:pt idx="8">
                  <c:v>1.878085</c:v>
                </c:pt>
                <c:pt idx="9">
                  <c:v>1.864325</c:v>
                </c:pt>
                <c:pt idx="10">
                  <c:v>1.8517450000000002</c:v>
                </c:pt>
                <c:pt idx="11">
                  <c:v>1.80192</c:v>
                </c:pt>
                <c:pt idx="12">
                  <c:v>1.7664900000000001</c:v>
                </c:pt>
                <c:pt idx="13">
                  <c:v>1.7398199999999999</c:v>
                </c:pt>
                <c:pt idx="14">
                  <c:v>1.718955</c:v>
                </c:pt>
                <c:pt idx="15">
                  <c:v>1.7021799999999998</c:v>
                </c:pt>
                <c:pt idx="16">
                  <c:v>1.68841</c:v>
                </c:pt>
                <c:pt idx="17">
                  <c:v>1.6769350000000001</c:v>
                </c:pt>
                <c:pt idx="18">
                  <c:v>1.6672449999999999</c:v>
                </c:pt>
                <c:pt idx="19">
                  <c:v>1.65899</c:v>
                </c:pt>
                <c:pt idx="20">
                  <c:v>1.6518950000000001</c:v>
                </c:pt>
              </c:numCache>
            </c:numRef>
          </c:yVal>
          <c:smooth val="0"/>
          <c:extLst>
            <c:ext xmlns:c16="http://schemas.microsoft.com/office/drawing/2014/chart" uri="{C3380CC4-5D6E-409C-BE32-E72D297353CC}">
              <c16:uniqueId val="{00000000-517A-4413-ADBE-451343D83F4F}"/>
            </c:ext>
          </c:extLst>
        </c:ser>
        <c:ser>
          <c:idx val="1"/>
          <c:order val="1"/>
          <c:tx>
            <c:strRef>
              <c:f>Sheet1!$B$24</c:f>
              <c:strCache>
                <c:ptCount val="1"/>
                <c:pt idx="0">
                  <c:v>rib mode</c:v>
                </c:pt>
              </c:strCache>
            </c:strRef>
          </c:tx>
          <c:spPr>
            <a:ln w="22225">
              <a:solidFill>
                <a:srgbClr val="8A8A8A"/>
              </a:solidFill>
              <a:prstDash val="dash"/>
            </a:ln>
          </c:spPr>
          <c:marker>
            <c:symbol val="none"/>
          </c:marker>
          <c:xVal>
            <c:numRef>
              <c:f>Sheet1!$A$25:$A$26</c:f>
              <c:numCache>
                <c:formatCode>General</c:formatCode>
                <c:ptCount val="2"/>
                <c:pt idx="0">
                  <c:v>0</c:v>
                </c:pt>
                <c:pt idx="1">
                  <c:v>300</c:v>
                </c:pt>
              </c:numCache>
            </c:numRef>
          </c:xVal>
          <c:yVal>
            <c:numRef>
              <c:f>Sheet1!$B$25:$B$26</c:f>
              <c:numCache>
                <c:formatCode>General</c:formatCode>
                <c:ptCount val="2"/>
                <c:pt idx="0">
                  <c:v>1.8838060000000001</c:v>
                </c:pt>
                <c:pt idx="1">
                  <c:v>1.8838060000000001</c:v>
                </c:pt>
              </c:numCache>
            </c:numRef>
          </c:yVal>
          <c:smooth val="0"/>
          <c:extLst>
            <c:ext xmlns:c16="http://schemas.microsoft.com/office/drawing/2014/chart" uri="{C3380CC4-5D6E-409C-BE32-E72D297353CC}">
              <c16:uniqueId val="{00000001-517A-4413-ADBE-451343D83F4F}"/>
            </c:ext>
          </c:extLst>
        </c:ser>
        <c:ser>
          <c:idx val="2"/>
          <c:order val="2"/>
          <c:tx>
            <c:strRef>
              <c:f>Sheet1!$B$28</c:f>
              <c:strCache>
                <c:ptCount val="1"/>
                <c:pt idx="0">
                  <c:v>cutoff ≈ 38 nm</c:v>
                </c:pt>
              </c:strCache>
            </c:strRef>
          </c:tx>
          <c:spPr>
            <a:ln w="22225">
              <a:solidFill>
                <a:srgbClr val="C0262D"/>
              </a:solidFill>
              <a:prstDash val="dash"/>
            </a:ln>
          </c:spPr>
          <c:marker>
            <c:symbol val="none"/>
          </c:marker>
          <c:xVal>
            <c:numRef>
              <c:f>Sheet1!$A$29:$A$30</c:f>
              <c:numCache>
                <c:formatCode>General</c:formatCode>
                <c:ptCount val="2"/>
                <c:pt idx="0">
                  <c:v>38</c:v>
                </c:pt>
                <c:pt idx="1">
                  <c:v>38</c:v>
                </c:pt>
              </c:numCache>
            </c:numRef>
          </c:xVal>
          <c:yVal>
            <c:numRef>
              <c:f>Sheet1!$B$29:$B$30</c:f>
              <c:numCache>
                <c:formatCode>General</c:formatCode>
                <c:ptCount val="2"/>
                <c:pt idx="0">
                  <c:v>1.62</c:v>
                </c:pt>
                <c:pt idx="1">
                  <c:v>2.1</c:v>
                </c:pt>
              </c:numCache>
            </c:numRef>
          </c:yVal>
          <c:smooth val="0"/>
          <c:extLst>
            <c:ext xmlns:c16="http://schemas.microsoft.com/office/drawing/2014/chart" uri="{C3380CC4-5D6E-409C-BE32-E72D297353CC}">
              <c16:uniqueId val="{00000002-517A-4413-ADBE-451343D83F4F}"/>
            </c:ext>
          </c:extLst>
        </c:ser>
        <c:ser>
          <c:idx val="3"/>
          <c:order val="3"/>
          <c:tx>
            <c:strRef>
              <c:f>Sheet1!$B$32</c:f>
              <c:strCache>
                <c:ptCount val="1"/>
                <c:pt idx="0">
                  <c:v>design</c:v>
                </c:pt>
              </c:strCache>
            </c:strRef>
          </c:tx>
          <c:spPr>
            <a:ln w="12700">
              <a:solidFill>
                <a:srgbClr val="EB6834"/>
              </a:solidFill>
            </a:ln>
          </c:spPr>
          <c:marker>
            <c:symbol val="circle"/>
            <c:size val="9"/>
            <c:spPr>
              <a:solidFill>
                <a:srgbClr val="EB6834"/>
              </a:solidFill>
              <a:ln>
                <a:solidFill>
                  <a:srgbClr val="EB6834"/>
                </a:solidFill>
              </a:ln>
            </c:spPr>
          </c:marker>
          <c:xVal>
            <c:numRef>
              <c:f>Sheet1!$A$33:$A$33</c:f>
              <c:numCache>
                <c:formatCode>General</c:formatCode>
                <c:ptCount val="1"/>
                <c:pt idx="0">
                  <c:v>200</c:v>
                </c:pt>
              </c:numCache>
            </c:numRef>
          </c:xVal>
          <c:yVal>
            <c:numRef>
              <c:f>Sheet1!$B$33:$B$33</c:f>
              <c:numCache>
                <c:formatCode>General</c:formatCode>
                <c:ptCount val="1"/>
                <c:pt idx="0">
                  <c:v>1.68841</c:v>
                </c:pt>
              </c:numCache>
            </c:numRef>
          </c:yVal>
          <c:smooth val="0"/>
          <c:extLst>
            <c:ext xmlns:c16="http://schemas.microsoft.com/office/drawing/2014/chart" uri="{C3380CC4-5D6E-409C-BE32-E72D297353CC}">
              <c16:uniqueId val="{00000003-517A-4413-ADBE-451343D83F4F}"/>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lang="en-US" sz="1100" b="0">
                    <a:latin typeface="Arial"/>
                  </a:rPr>
                  <a:t>buffer thickness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50"/>
      </c:valAx>
      <c:valAx>
        <c:axId val="-2129643912"/>
        <c:scaling>
          <c:orientation val="minMax"/>
          <c:max val="2.1"/>
          <c:min val="1.6"/>
        </c:scaling>
        <c:delete val="0"/>
        <c:axPos val="l"/>
        <c:majorGridlines>
          <c:spPr>
            <a:ln>
              <a:solidFill>
                <a:srgbClr val="E3E3E3"/>
              </a:solidFill>
            </a:ln>
          </c:spPr>
        </c:majorGridlines>
        <c:title>
          <c:tx>
            <c:rich>
              <a:bodyPr/>
              <a:lstStyle/>
              <a:p>
                <a:r>
                  <a:rPr lang="en-US" sz="1100" b="0">
                    <a:latin typeface="Arial"/>
                  </a:rPr>
                  <a:t>effective index</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1"/>
      </c:valAx>
    </c:plotArea>
    <c:legend>
      <c:legendPos val="t"/>
      <c:overlay val="0"/>
      <c:txPr>
        <a:bodyPr/>
        <a:lstStyle/>
        <a:p>
          <a:pPr>
            <a:defRPr sz="9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Insertion loss vs lift position</a:t>
            </a:r>
          </a:p>
        </c:rich>
      </c:tx>
      <c:overlay val="0"/>
    </c:title>
    <c:autoTitleDeleted val="0"/>
    <c:plotArea>
      <c:layout/>
      <c:scatterChart>
        <c:scatterStyle val="lineMarker"/>
        <c:varyColors val="0"/>
        <c:ser>
          <c:idx val="0"/>
          <c:order val="0"/>
          <c:tx>
            <c:strRef>
              <c:f>Sheet1!$B$1</c:f>
              <c:strCache>
                <c:ptCount val="1"/>
                <c:pt idx="0">
                  <c:v>Lisbon + 200 nm buffer, gap 3.2 µm</c:v>
                </c:pt>
              </c:strCache>
            </c:strRef>
          </c:tx>
          <c:spPr>
            <a:ln w="28575">
              <a:solidFill>
                <a:srgbClr val="EB6834"/>
              </a:solidFill>
            </a:ln>
          </c:spPr>
          <c:marker>
            <c:symbol val="circle"/>
            <c:size val="4"/>
            <c:spPr>
              <a:solidFill>
                <a:srgbClr val="EB6834"/>
              </a:solidFill>
              <a:ln>
                <a:solidFill>
                  <a:srgbClr val="EB6834"/>
                </a:solidFill>
              </a:ln>
            </c:spPr>
          </c:marker>
          <c:xVal>
            <c:numRef>
              <c:f>Sheet1!$A$2:$A$74</c:f>
              <c:numCache>
                <c:formatCode>General</c:formatCode>
                <c:ptCount val="73"/>
                <c:pt idx="0">
                  <c:v>3.8</c:v>
                </c:pt>
                <c:pt idx="1">
                  <c:v>3.9</c:v>
                </c:pt>
                <c:pt idx="2">
                  <c:v>4</c:v>
                </c:pt>
                <c:pt idx="3">
                  <c:v>4.0999999999999996</c:v>
                </c:pt>
                <c:pt idx="4">
                  <c:v>4.2</c:v>
                </c:pt>
                <c:pt idx="5">
                  <c:v>4.3</c:v>
                </c:pt>
                <c:pt idx="6">
                  <c:v>4.4000000000000004</c:v>
                </c:pt>
                <c:pt idx="7">
                  <c:v>4.5</c:v>
                </c:pt>
                <c:pt idx="8">
                  <c:v>4.5999999999999996</c:v>
                </c:pt>
                <c:pt idx="9">
                  <c:v>4.7</c:v>
                </c:pt>
                <c:pt idx="10">
                  <c:v>4.8</c:v>
                </c:pt>
                <c:pt idx="11">
                  <c:v>4.9000000000000004</c:v>
                </c:pt>
                <c:pt idx="12">
                  <c:v>5</c:v>
                </c:pt>
                <c:pt idx="13">
                  <c:v>5.0999999999999996</c:v>
                </c:pt>
                <c:pt idx="14">
                  <c:v>5.2</c:v>
                </c:pt>
                <c:pt idx="15">
                  <c:v>5.3</c:v>
                </c:pt>
                <c:pt idx="16">
                  <c:v>5.4</c:v>
                </c:pt>
                <c:pt idx="17">
                  <c:v>5.5</c:v>
                </c:pt>
                <c:pt idx="18">
                  <c:v>5.6</c:v>
                </c:pt>
                <c:pt idx="19">
                  <c:v>5.7</c:v>
                </c:pt>
                <c:pt idx="20">
                  <c:v>5.8</c:v>
                </c:pt>
                <c:pt idx="21">
                  <c:v>5.9</c:v>
                </c:pt>
                <c:pt idx="22">
                  <c:v>6</c:v>
                </c:pt>
                <c:pt idx="23">
                  <c:v>6.1</c:v>
                </c:pt>
                <c:pt idx="24">
                  <c:v>6.2</c:v>
                </c:pt>
                <c:pt idx="25">
                  <c:v>6.3</c:v>
                </c:pt>
                <c:pt idx="26">
                  <c:v>6.4</c:v>
                </c:pt>
                <c:pt idx="27">
                  <c:v>6.5</c:v>
                </c:pt>
                <c:pt idx="28">
                  <c:v>6.6</c:v>
                </c:pt>
                <c:pt idx="29">
                  <c:v>6.7</c:v>
                </c:pt>
                <c:pt idx="30">
                  <c:v>6.8</c:v>
                </c:pt>
                <c:pt idx="31">
                  <c:v>6.9</c:v>
                </c:pt>
                <c:pt idx="32">
                  <c:v>7</c:v>
                </c:pt>
                <c:pt idx="33">
                  <c:v>7.1</c:v>
                </c:pt>
                <c:pt idx="34">
                  <c:v>7.2</c:v>
                </c:pt>
                <c:pt idx="35">
                  <c:v>7.3</c:v>
                </c:pt>
                <c:pt idx="36">
                  <c:v>7.4</c:v>
                </c:pt>
                <c:pt idx="37">
                  <c:v>7.5</c:v>
                </c:pt>
                <c:pt idx="38">
                  <c:v>7.6</c:v>
                </c:pt>
                <c:pt idx="39">
                  <c:v>7.7</c:v>
                </c:pt>
                <c:pt idx="40">
                  <c:v>7.8</c:v>
                </c:pt>
                <c:pt idx="41">
                  <c:v>7.9</c:v>
                </c:pt>
                <c:pt idx="42">
                  <c:v>8</c:v>
                </c:pt>
                <c:pt idx="43">
                  <c:v>8.1</c:v>
                </c:pt>
                <c:pt idx="44">
                  <c:v>8.1999999999999993</c:v>
                </c:pt>
                <c:pt idx="45">
                  <c:v>8.3000000000000007</c:v>
                </c:pt>
                <c:pt idx="46">
                  <c:v>8.4</c:v>
                </c:pt>
                <c:pt idx="47">
                  <c:v>8.5</c:v>
                </c:pt>
                <c:pt idx="48">
                  <c:v>8.6</c:v>
                </c:pt>
                <c:pt idx="49">
                  <c:v>8.6999999999999993</c:v>
                </c:pt>
                <c:pt idx="50">
                  <c:v>8.8000000000000007</c:v>
                </c:pt>
                <c:pt idx="51">
                  <c:v>8.9</c:v>
                </c:pt>
                <c:pt idx="52">
                  <c:v>9</c:v>
                </c:pt>
                <c:pt idx="53">
                  <c:v>9.1</c:v>
                </c:pt>
                <c:pt idx="54">
                  <c:v>9.1999999999999993</c:v>
                </c:pt>
                <c:pt idx="55">
                  <c:v>9.3000000000000007</c:v>
                </c:pt>
                <c:pt idx="56">
                  <c:v>9.4</c:v>
                </c:pt>
                <c:pt idx="57">
                  <c:v>9.5</c:v>
                </c:pt>
                <c:pt idx="58">
                  <c:v>9.6</c:v>
                </c:pt>
                <c:pt idx="59">
                  <c:v>9.6999999999999993</c:v>
                </c:pt>
                <c:pt idx="60">
                  <c:v>9.8000000000000007</c:v>
                </c:pt>
                <c:pt idx="61">
                  <c:v>9.9</c:v>
                </c:pt>
                <c:pt idx="62">
                  <c:v>10</c:v>
                </c:pt>
                <c:pt idx="63">
                  <c:v>10.1</c:v>
                </c:pt>
                <c:pt idx="64">
                  <c:v>10.199999999999999</c:v>
                </c:pt>
                <c:pt idx="65">
                  <c:v>10.3</c:v>
                </c:pt>
                <c:pt idx="66">
                  <c:v>10.4</c:v>
                </c:pt>
                <c:pt idx="67">
                  <c:v>10.5</c:v>
                </c:pt>
                <c:pt idx="68">
                  <c:v>10.6</c:v>
                </c:pt>
                <c:pt idx="69">
                  <c:v>10.7</c:v>
                </c:pt>
                <c:pt idx="70">
                  <c:v>10.8</c:v>
                </c:pt>
                <c:pt idx="71">
                  <c:v>10.9</c:v>
                </c:pt>
                <c:pt idx="72">
                  <c:v>11</c:v>
                </c:pt>
              </c:numCache>
            </c:numRef>
          </c:xVal>
          <c:yVal>
            <c:numRef>
              <c:f>Sheet1!$B$2:$B$74</c:f>
              <c:numCache>
                <c:formatCode>General</c:formatCode>
                <c:ptCount val="73"/>
                <c:pt idx="0">
                  <c:v>4.8099999999999997E-2</c:v>
                </c:pt>
                <c:pt idx="1">
                  <c:v>4.8099999999999997E-2</c:v>
                </c:pt>
                <c:pt idx="2">
                  <c:v>4.8099999999999997E-2</c:v>
                </c:pt>
                <c:pt idx="3">
                  <c:v>4.8099999999999997E-2</c:v>
                </c:pt>
                <c:pt idx="4">
                  <c:v>4.8099999999999997E-2</c:v>
                </c:pt>
                <c:pt idx="5">
                  <c:v>4.8099999999999997E-2</c:v>
                </c:pt>
                <c:pt idx="6">
                  <c:v>4.8099999999999997E-2</c:v>
                </c:pt>
                <c:pt idx="7">
                  <c:v>4.8099999999999997E-2</c:v>
                </c:pt>
                <c:pt idx="8">
                  <c:v>4.8000000000000001E-2</c:v>
                </c:pt>
                <c:pt idx="9">
                  <c:v>4.8000000000000001E-2</c:v>
                </c:pt>
                <c:pt idx="10">
                  <c:v>4.8099999999999997E-2</c:v>
                </c:pt>
                <c:pt idx="11">
                  <c:v>4.8000000000000001E-2</c:v>
                </c:pt>
                <c:pt idx="12">
                  <c:v>4.8000000000000001E-2</c:v>
                </c:pt>
                <c:pt idx="13">
                  <c:v>4.8099999999999997E-2</c:v>
                </c:pt>
                <c:pt idx="14">
                  <c:v>4.8000000000000001E-2</c:v>
                </c:pt>
                <c:pt idx="15">
                  <c:v>4.8099999999999997E-2</c:v>
                </c:pt>
                <c:pt idx="16">
                  <c:v>4.8099999999999997E-2</c:v>
                </c:pt>
                <c:pt idx="17">
                  <c:v>4.8000000000000001E-2</c:v>
                </c:pt>
                <c:pt idx="18">
                  <c:v>4.8000000000000001E-2</c:v>
                </c:pt>
                <c:pt idx="19">
                  <c:v>4.8099999999999997E-2</c:v>
                </c:pt>
                <c:pt idx="20">
                  <c:v>4.8000000000000001E-2</c:v>
                </c:pt>
                <c:pt idx="21">
                  <c:v>4.8099999999999997E-2</c:v>
                </c:pt>
                <c:pt idx="22">
                  <c:v>4.8099999999999997E-2</c:v>
                </c:pt>
                <c:pt idx="23">
                  <c:v>4.8099999999999997E-2</c:v>
                </c:pt>
                <c:pt idx="24">
                  <c:v>4.8099999999999997E-2</c:v>
                </c:pt>
                <c:pt idx="25">
                  <c:v>4.8099999999999997E-2</c:v>
                </c:pt>
                <c:pt idx="26">
                  <c:v>4.8099999999999997E-2</c:v>
                </c:pt>
                <c:pt idx="27">
                  <c:v>4.8099999999999997E-2</c:v>
                </c:pt>
                <c:pt idx="28">
                  <c:v>4.8099999999999997E-2</c:v>
                </c:pt>
                <c:pt idx="29">
                  <c:v>4.8099999999999997E-2</c:v>
                </c:pt>
                <c:pt idx="30">
                  <c:v>4.8099999999999997E-2</c:v>
                </c:pt>
                <c:pt idx="31">
                  <c:v>4.8099999999999997E-2</c:v>
                </c:pt>
                <c:pt idx="32">
                  <c:v>4.8099999999999997E-2</c:v>
                </c:pt>
                <c:pt idx="33">
                  <c:v>4.8099999999999997E-2</c:v>
                </c:pt>
                <c:pt idx="34">
                  <c:v>4.8099999999999997E-2</c:v>
                </c:pt>
                <c:pt idx="35">
                  <c:v>4.8099999999999997E-2</c:v>
                </c:pt>
                <c:pt idx="36">
                  <c:v>4.8099999999999997E-2</c:v>
                </c:pt>
                <c:pt idx="37">
                  <c:v>4.8099999999999997E-2</c:v>
                </c:pt>
                <c:pt idx="38">
                  <c:v>4.8099999999999997E-2</c:v>
                </c:pt>
                <c:pt idx="39">
                  <c:v>4.8099999999999997E-2</c:v>
                </c:pt>
                <c:pt idx="40">
                  <c:v>4.8099999999999997E-2</c:v>
                </c:pt>
                <c:pt idx="41">
                  <c:v>4.8000000000000001E-2</c:v>
                </c:pt>
                <c:pt idx="42">
                  <c:v>4.8099999999999997E-2</c:v>
                </c:pt>
                <c:pt idx="43">
                  <c:v>4.8099999999999997E-2</c:v>
                </c:pt>
                <c:pt idx="44">
                  <c:v>4.8099999999999997E-2</c:v>
                </c:pt>
                <c:pt idx="45">
                  <c:v>4.8099999999999997E-2</c:v>
                </c:pt>
                <c:pt idx="46">
                  <c:v>4.8099999999999997E-2</c:v>
                </c:pt>
                <c:pt idx="47">
                  <c:v>4.8099999999999997E-2</c:v>
                </c:pt>
                <c:pt idx="48">
                  <c:v>4.8099999999999997E-2</c:v>
                </c:pt>
                <c:pt idx="49">
                  <c:v>4.8099999999999997E-2</c:v>
                </c:pt>
                <c:pt idx="50">
                  <c:v>4.8099999999999997E-2</c:v>
                </c:pt>
                <c:pt idx="51">
                  <c:v>4.8099999999999997E-2</c:v>
                </c:pt>
                <c:pt idx="52">
                  <c:v>4.8099999999999997E-2</c:v>
                </c:pt>
                <c:pt idx="53">
                  <c:v>4.8099999999999997E-2</c:v>
                </c:pt>
                <c:pt idx="54">
                  <c:v>4.8099999999999997E-2</c:v>
                </c:pt>
                <c:pt idx="55">
                  <c:v>4.8099999999999997E-2</c:v>
                </c:pt>
                <c:pt idx="56">
                  <c:v>4.8000000000000001E-2</c:v>
                </c:pt>
                <c:pt idx="57">
                  <c:v>4.8099999999999997E-2</c:v>
                </c:pt>
                <c:pt idx="58">
                  <c:v>4.8099999999999997E-2</c:v>
                </c:pt>
                <c:pt idx="59">
                  <c:v>4.8099999999999997E-2</c:v>
                </c:pt>
                <c:pt idx="60">
                  <c:v>4.8099999999999997E-2</c:v>
                </c:pt>
                <c:pt idx="61">
                  <c:v>4.8099999999999997E-2</c:v>
                </c:pt>
                <c:pt idx="62">
                  <c:v>4.8099999999999997E-2</c:v>
                </c:pt>
                <c:pt idx="63">
                  <c:v>4.8099999999999997E-2</c:v>
                </c:pt>
                <c:pt idx="64">
                  <c:v>4.8099999999999997E-2</c:v>
                </c:pt>
                <c:pt idx="65">
                  <c:v>4.8099999999999997E-2</c:v>
                </c:pt>
                <c:pt idx="66">
                  <c:v>4.8099999999999997E-2</c:v>
                </c:pt>
                <c:pt idx="67">
                  <c:v>4.8099999999999997E-2</c:v>
                </c:pt>
                <c:pt idx="68">
                  <c:v>4.8099999999999997E-2</c:v>
                </c:pt>
                <c:pt idx="69">
                  <c:v>4.8099999999999997E-2</c:v>
                </c:pt>
                <c:pt idx="70">
                  <c:v>4.8099999999999997E-2</c:v>
                </c:pt>
                <c:pt idx="71">
                  <c:v>4.8099999999999997E-2</c:v>
                </c:pt>
                <c:pt idx="72">
                  <c:v>4.8099999999999997E-2</c:v>
                </c:pt>
              </c:numCache>
            </c:numRef>
          </c:yVal>
          <c:smooth val="0"/>
          <c:extLst>
            <c:ext xmlns:c16="http://schemas.microsoft.com/office/drawing/2014/chart" uri="{C3380CC4-5D6E-409C-BE32-E72D297353CC}">
              <c16:uniqueId val="{00000000-C416-456B-8BF5-1CDD1E5943AD}"/>
            </c:ext>
          </c:extLst>
        </c:ser>
        <c:ser>
          <c:idx val="1"/>
          <c:order val="1"/>
          <c:tx>
            <c:strRef>
              <c:f>Sheet1!$B$76</c:f>
              <c:strCache>
                <c:ptCount val="1"/>
                <c:pt idx="0">
                  <c:v>Lisbon, no buffer, gap 4.2 µm</c:v>
                </c:pt>
              </c:strCache>
            </c:strRef>
          </c:tx>
          <c:spPr>
            <a:ln w="19050">
              <a:solidFill>
                <a:srgbClr val="2A78D6"/>
              </a:solidFill>
            </a:ln>
          </c:spPr>
          <c:marker>
            <c:symbol val="circle"/>
            <c:size val="4"/>
            <c:spPr>
              <a:solidFill>
                <a:srgbClr val="2A78D6"/>
              </a:solidFill>
              <a:ln>
                <a:solidFill>
                  <a:srgbClr val="2A78D6"/>
                </a:solidFill>
              </a:ln>
            </c:spPr>
          </c:marker>
          <c:xVal>
            <c:numRef>
              <c:f>Sheet1!$A$77:$A$122</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Sheet1!$B$77:$B$122</c:f>
              <c:numCache>
                <c:formatCode>General</c:formatCode>
                <c:ptCount val="46"/>
                <c:pt idx="0">
                  <c:v>0.68149999999999999</c:v>
                </c:pt>
                <c:pt idx="1">
                  <c:v>0.35210000000000002</c:v>
                </c:pt>
                <c:pt idx="2">
                  <c:v>0.2271</c:v>
                </c:pt>
                <c:pt idx="3">
                  <c:v>0.18260000000000001</c:v>
                </c:pt>
                <c:pt idx="4">
                  <c:v>0.1807</c:v>
                </c:pt>
                <c:pt idx="5">
                  <c:v>0.22159999999999999</c:v>
                </c:pt>
                <c:pt idx="6">
                  <c:v>0.33450000000000002</c:v>
                </c:pt>
                <c:pt idx="7">
                  <c:v>0.60160000000000002</c:v>
                </c:pt>
                <c:pt idx="8">
                  <c:v>0.88270000000000004</c:v>
                </c:pt>
                <c:pt idx="9">
                  <c:v>0.63819999999999999</c:v>
                </c:pt>
                <c:pt idx="10">
                  <c:v>0.37309999999999999</c:v>
                </c:pt>
                <c:pt idx="11">
                  <c:v>0.25130000000000002</c:v>
                </c:pt>
                <c:pt idx="12">
                  <c:v>0.2077</c:v>
                </c:pt>
                <c:pt idx="13">
                  <c:v>0.20730000000000001</c:v>
                </c:pt>
                <c:pt idx="14">
                  <c:v>0.25090000000000001</c:v>
                </c:pt>
                <c:pt idx="15">
                  <c:v>0.36330000000000001</c:v>
                </c:pt>
                <c:pt idx="16">
                  <c:v>0.59650000000000003</c:v>
                </c:pt>
                <c:pt idx="17">
                  <c:v>0.78239999999999998</c:v>
                </c:pt>
                <c:pt idx="18">
                  <c:v>0.60019999999999996</c:v>
                </c:pt>
                <c:pt idx="19">
                  <c:v>0.38250000000000001</c:v>
                </c:pt>
                <c:pt idx="20">
                  <c:v>0.27510000000000001</c:v>
                </c:pt>
                <c:pt idx="21">
                  <c:v>0.23100000000000001</c:v>
                </c:pt>
                <c:pt idx="22">
                  <c:v>0.2329</c:v>
                </c:pt>
                <c:pt idx="23">
                  <c:v>0.2782</c:v>
                </c:pt>
                <c:pt idx="24">
                  <c:v>0.39100000000000001</c:v>
                </c:pt>
                <c:pt idx="25">
                  <c:v>0.58499999999999996</c:v>
                </c:pt>
                <c:pt idx="26">
                  <c:v>0.70760000000000001</c:v>
                </c:pt>
                <c:pt idx="27">
                  <c:v>0.56599999999999995</c:v>
                </c:pt>
                <c:pt idx="28">
                  <c:v>0.3916</c:v>
                </c:pt>
                <c:pt idx="29">
                  <c:v>0.29139999999999999</c:v>
                </c:pt>
                <c:pt idx="30">
                  <c:v>0.2525</c:v>
                </c:pt>
                <c:pt idx="31">
                  <c:v>0.25490000000000002</c:v>
                </c:pt>
                <c:pt idx="32">
                  <c:v>0.30509999999999998</c:v>
                </c:pt>
                <c:pt idx="33">
                  <c:v>0.40360000000000001</c:v>
                </c:pt>
                <c:pt idx="34">
                  <c:v>0.57420000000000004</c:v>
                </c:pt>
                <c:pt idx="35">
                  <c:v>0.64949999999999997</c:v>
                </c:pt>
                <c:pt idx="36">
                  <c:v>0.5403</c:v>
                </c:pt>
                <c:pt idx="37">
                  <c:v>0.39369999999999999</c:v>
                </c:pt>
                <c:pt idx="38">
                  <c:v>0.30709999999999998</c:v>
                </c:pt>
                <c:pt idx="39">
                  <c:v>0.27229999999999999</c:v>
                </c:pt>
                <c:pt idx="40">
                  <c:v>0.27600000000000002</c:v>
                </c:pt>
                <c:pt idx="41">
                  <c:v>0.32279999999999998</c:v>
                </c:pt>
                <c:pt idx="42">
                  <c:v>0.41689999999999999</c:v>
                </c:pt>
                <c:pt idx="43">
                  <c:v>0.5605</c:v>
                </c:pt>
                <c:pt idx="44">
                  <c:v>0.60709999999999997</c:v>
                </c:pt>
                <c:pt idx="45">
                  <c:v>0.51690000000000003</c:v>
                </c:pt>
              </c:numCache>
            </c:numRef>
          </c:yVal>
          <c:smooth val="0"/>
          <c:extLst>
            <c:ext xmlns:c16="http://schemas.microsoft.com/office/drawing/2014/chart" uri="{C3380CC4-5D6E-409C-BE32-E72D297353CC}">
              <c16:uniqueId val="{00000001-C416-456B-8BF5-1CDD1E5943AD}"/>
            </c:ext>
          </c:extLst>
        </c:ser>
        <c:dLbls>
          <c:showLegendKey val="0"/>
          <c:showVal val="0"/>
          <c:showCatName val="0"/>
          <c:showSerName val="0"/>
          <c:showPercent val="0"/>
          <c:showBubbleSize val="0"/>
        </c:dLbls>
        <c:axId val="-2128940872"/>
        <c:axId val="-2129643912"/>
      </c:scatterChart>
      <c:valAx>
        <c:axId val="-2128940872"/>
        <c:scaling>
          <c:orientation val="minMax"/>
          <c:max val="11"/>
          <c:min val="6.5"/>
        </c:scaling>
        <c:delete val="0"/>
        <c:axPos val="b"/>
        <c:title>
          <c:tx>
            <c:rich>
              <a:bodyPr/>
              <a:lstStyle/>
              <a:p>
                <a:r>
                  <a:rPr lang="en-US"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1"/>
      </c:valAx>
      <c:valAx>
        <c:axId val="-2129643912"/>
        <c:scaling>
          <c:orientation val="minMax"/>
          <c:max val="1"/>
          <c:min val="0"/>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legend>
      <c:legendPos val="t"/>
      <c:overlay val="0"/>
      <c:txPr>
        <a:bodyPr/>
        <a:lstStyle/>
        <a:p>
          <a:pPr>
            <a:defRPr sz="10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da-DK" sz="1200" b="1">
                <a:solidFill>
                  <a:srgbClr val="222222"/>
                </a:solidFill>
                <a:latin typeface="Arial"/>
              </a:rPr>
              <a:t>Vπ·L vs buffer (gap 3.2 µm)</a:t>
            </a:r>
          </a:p>
        </c:rich>
      </c:tx>
      <c:overlay val="0"/>
    </c:title>
    <c:autoTitleDeleted val="0"/>
    <c:plotArea>
      <c:layout/>
      <c:scatterChart>
        <c:scatterStyle val="lineMarker"/>
        <c:varyColors val="0"/>
        <c:ser>
          <c:idx val="0"/>
          <c:order val="0"/>
          <c:tx>
            <c:strRef>
              <c:f>Sheet1!$B$1</c:f>
              <c:strCache>
                <c:ptCount val="1"/>
                <c:pt idx="0">
                  <c:v>Vπ·L</c:v>
                </c:pt>
              </c:strCache>
            </c:strRef>
          </c:tx>
          <c:spPr>
            <a:ln w="25400">
              <a:solidFill>
                <a:srgbClr val="1F4E79"/>
              </a:solidFill>
            </a:ln>
          </c:spPr>
          <c:marker>
            <c:symbol val="circle"/>
            <c:size val="6"/>
            <c:spPr>
              <a:solidFill>
                <a:srgbClr val="1F4E79"/>
              </a:solidFill>
              <a:ln>
                <a:solidFill>
                  <a:srgbClr val="1F4E79"/>
                </a:solidFill>
              </a:ln>
            </c:spPr>
          </c:marker>
          <c:xVal>
            <c:numRef>
              <c:f>Sheet1!$A$2:$A$9</c:f>
              <c:numCache>
                <c:formatCode>General</c:formatCode>
                <c:ptCount val="8"/>
                <c:pt idx="0">
                  <c:v>0</c:v>
                </c:pt>
                <c:pt idx="1">
                  <c:v>25</c:v>
                </c:pt>
                <c:pt idx="2">
                  <c:v>50</c:v>
                </c:pt>
                <c:pt idx="3">
                  <c:v>100</c:v>
                </c:pt>
                <c:pt idx="4">
                  <c:v>150</c:v>
                </c:pt>
                <c:pt idx="5">
                  <c:v>200</c:v>
                </c:pt>
                <c:pt idx="6">
                  <c:v>250</c:v>
                </c:pt>
                <c:pt idx="7">
                  <c:v>300</c:v>
                </c:pt>
              </c:numCache>
            </c:numRef>
          </c:xVal>
          <c:yVal>
            <c:numRef>
              <c:f>Sheet1!$B$2:$B$9</c:f>
              <c:numCache>
                <c:formatCode>General</c:formatCode>
                <c:ptCount val="8"/>
                <c:pt idx="0">
                  <c:v>1.6496</c:v>
                </c:pt>
                <c:pt idx="1">
                  <c:v>1.7988999999999999</c:v>
                </c:pt>
                <c:pt idx="2">
                  <c:v>1.8784000000000001</c:v>
                </c:pt>
                <c:pt idx="3">
                  <c:v>1.9912000000000001</c:v>
                </c:pt>
                <c:pt idx="4">
                  <c:v>2.0767000000000002</c:v>
                </c:pt>
                <c:pt idx="5">
                  <c:v>2.1484000000000001</c:v>
                </c:pt>
                <c:pt idx="6">
                  <c:v>2.2120000000000002</c:v>
                </c:pt>
                <c:pt idx="7">
                  <c:v>2.2703000000000002</c:v>
                </c:pt>
              </c:numCache>
            </c:numRef>
          </c:yVal>
          <c:smooth val="0"/>
          <c:extLst>
            <c:ext xmlns:c16="http://schemas.microsoft.com/office/drawing/2014/chart" uri="{C3380CC4-5D6E-409C-BE32-E72D297353CC}">
              <c16:uniqueId val="{00000000-FAE9-4411-B470-737472F2F2F7}"/>
            </c:ext>
          </c:extLst>
        </c:ser>
        <c:ser>
          <c:idx val="1"/>
          <c:order val="1"/>
          <c:tx>
            <c:strRef>
              <c:f>Sheet1!$B$11</c:f>
              <c:strCache>
                <c:ptCount val="1"/>
                <c:pt idx="0">
                  <c:v>200 nm</c:v>
                </c:pt>
              </c:strCache>
            </c:strRef>
          </c:tx>
          <c:spPr>
            <a:ln w="12700">
              <a:solidFill>
                <a:srgbClr val="EB6834"/>
              </a:solidFill>
            </a:ln>
          </c:spPr>
          <c:marker>
            <c:symbol val="circle"/>
            <c:size val="10"/>
            <c:spPr>
              <a:solidFill>
                <a:srgbClr val="EB6834"/>
              </a:solidFill>
              <a:ln>
                <a:solidFill>
                  <a:srgbClr val="EB6834"/>
                </a:solidFill>
              </a:ln>
            </c:spPr>
          </c:marker>
          <c:xVal>
            <c:numRef>
              <c:f>Sheet1!$A$12:$A$12</c:f>
              <c:numCache>
                <c:formatCode>General</c:formatCode>
                <c:ptCount val="1"/>
                <c:pt idx="0">
                  <c:v>200</c:v>
                </c:pt>
              </c:numCache>
            </c:numRef>
          </c:xVal>
          <c:yVal>
            <c:numRef>
              <c:f>Sheet1!$B$12:$B$12</c:f>
              <c:numCache>
                <c:formatCode>General</c:formatCode>
                <c:ptCount val="1"/>
                <c:pt idx="0">
                  <c:v>2.1484000000000001</c:v>
                </c:pt>
              </c:numCache>
            </c:numRef>
          </c:yVal>
          <c:smooth val="0"/>
          <c:extLst>
            <c:ext xmlns:c16="http://schemas.microsoft.com/office/drawing/2014/chart" uri="{C3380CC4-5D6E-409C-BE32-E72D297353CC}">
              <c16:uniqueId val="{00000001-FAE9-4411-B470-737472F2F2F7}"/>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lang="en-US" sz="1100" b="0">
                    <a:latin typeface="Arial"/>
                  </a:rPr>
                  <a:t>buffer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50"/>
      </c:valAx>
      <c:valAx>
        <c:axId val="-2129643912"/>
        <c:scaling>
          <c:orientation val="minMax"/>
          <c:max val="2.4"/>
          <c:min val="1.6"/>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V</a:t>
            </a:r>
            <a:r>
              <a:rPr lang="el-GR" sz="1200" b="1">
                <a:solidFill>
                  <a:srgbClr val="222222"/>
                </a:solidFill>
                <a:latin typeface="Arial"/>
              </a:rPr>
              <a:t>π·</a:t>
            </a:r>
            <a:r>
              <a:rPr lang="en-US" sz="1200" b="1">
                <a:solidFill>
                  <a:srgbClr val="222222"/>
                </a:solidFill>
                <a:latin typeface="Arial"/>
              </a:rPr>
              <a:t>L vs gap (200 nm buffer)</a:t>
            </a:r>
          </a:p>
        </c:rich>
      </c:tx>
      <c:overlay val="0"/>
    </c:title>
    <c:autoTitleDeleted val="0"/>
    <c:plotArea>
      <c:layout/>
      <c:scatterChart>
        <c:scatterStyle val="lineMarker"/>
        <c:varyColors val="0"/>
        <c:ser>
          <c:idx val="0"/>
          <c:order val="0"/>
          <c:tx>
            <c:strRef>
              <c:f>Sheet1!$B$1</c:f>
              <c:strCache>
                <c:ptCount val="1"/>
                <c:pt idx="0">
                  <c:v>Vπ·L</c:v>
                </c:pt>
              </c:strCache>
            </c:strRef>
          </c:tx>
          <c:spPr>
            <a:ln w="25400">
              <a:solidFill>
                <a:srgbClr val="1F4E79"/>
              </a:solidFill>
            </a:ln>
          </c:spPr>
          <c:marker>
            <c:symbol val="circle"/>
            <c:size val="6"/>
            <c:spPr>
              <a:solidFill>
                <a:srgbClr val="1F4E79"/>
              </a:solidFill>
              <a:ln>
                <a:solidFill>
                  <a:srgbClr val="1F4E79"/>
                </a:solidFill>
              </a:ln>
            </c:spPr>
          </c:marker>
          <c:xVal>
            <c:numRef>
              <c:f>Sheet1!$A$2:$A$8</c:f>
              <c:numCache>
                <c:formatCode>General</c:formatCode>
                <c:ptCount val="7"/>
                <c:pt idx="0">
                  <c:v>2.4</c:v>
                </c:pt>
                <c:pt idx="1">
                  <c:v>2.6</c:v>
                </c:pt>
                <c:pt idx="2">
                  <c:v>2.8</c:v>
                </c:pt>
                <c:pt idx="3">
                  <c:v>3</c:v>
                </c:pt>
                <c:pt idx="4">
                  <c:v>3.2</c:v>
                </c:pt>
                <c:pt idx="5">
                  <c:v>3.4</c:v>
                </c:pt>
                <c:pt idx="6">
                  <c:v>3.6</c:v>
                </c:pt>
              </c:numCache>
            </c:numRef>
          </c:xVal>
          <c:yVal>
            <c:numRef>
              <c:f>Sheet1!$B$2:$B$8</c:f>
              <c:numCache>
                <c:formatCode>General</c:formatCode>
                <c:ptCount val="7"/>
                <c:pt idx="0">
                  <c:v>1.6353</c:v>
                </c:pt>
                <c:pt idx="1">
                  <c:v>1.7704</c:v>
                </c:pt>
                <c:pt idx="2">
                  <c:v>1.8993</c:v>
                </c:pt>
                <c:pt idx="3">
                  <c:v>2.0249000000000001</c:v>
                </c:pt>
                <c:pt idx="4">
                  <c:v>2.1484000000000001</c:v>
                </c:pt>
                <c:pt idx="5">
                  <c:v>2.2707000000000002</c:v>
                </c:pt>
                <c:pt idx="6">
                  <c:v>2.3919999999999999</c:v>
                </c:pt>
              </c:numCache>
            </c:numRef>
          </c:yVal>
          <c:smooth val="0"/>
          <c:extLst>
            <c:ext xmlns:c16="http://schemas.microsoft.com/office/drawing/2014/chart" uri="{C3380CC4-5D6E-409C-BE32-E72D297353CC}">
              <c16:uniqueId val="{00000000-CABF-4B30-B59E-680C83E14077}"/>
            </c:ext>
          </c:extLst>
        </c:ser>
        <c:ser>
          <c:idx val="1"/>
          <c:order val="1"/>
          <c:tx>
            <c:strRef>
              <c:f>Sheet1!$B$10</c:f>
              <c:strCache>
                <c:ptCount val="1"/>
                <c:pt idx="0">
                  <c:v>3.4 µm</c:v>
                </c:pt>
              </c:strCache>
            </c:strRef>
          </c:tx>
          <c:spPr>
            <a:ln w="12700">
              <a:solidFill>
                <a:srgbClr val="EB6834"/>
              </a:solidFill>
            </a:ln>
          </c:spPr>
          <c:marker>
            <c:symbol val="circle"/>
            <c:size val="10"/>
            <c:spPr>
              <a:solidFill>
                <a:srgbClr val="EB6834"/>
              </a:solidFill>
              <a:ln>
                <a:solidFill>
                  <a:srgbClr val="EB6834"/>
                </a:solidFill>
              </a:ln>
            </c:spPr>
          </c:marker>
          <c:xVal>
            <c:numRef>
              <c:f>Sheet1!$A$11:$A$11</c:f>
              <c:numCache>
                <c:formatCode>General</c:formatCode>
                <c:ptCount val="1"/>
                <c:pt idx="0">
                  <c:v>3.4</c:v>
                </c:pt>
              </c:numCache>
            </c:numRef>
          </c:xVal>
          <c:yVal>
            <c:numRef>
              <c:f>Sheet1!$B$11:$B$11</c:f>
              <c:numCache>
                <c:formatCode>General</c:formatCode>
                <c:ptCount val="1"/>
                <c:pt idx="0">
                  <c:v>2.2707000000000002</c:v>
                </c:pt>
              </c:numCache>
            </c:numRef>
          </c:yVal>
          <c:smooth val="0"/>
          <c:extLst>
            <c:ext xmlns:c16="http://schemas.microsoft.com/office/drawing/2014/chart" uri="{C3380CC4-5D6E-409C-BE32-E72D297353CC}">
              <c16:uniqueId val="{00000001-CABF-4B30-B59E-680C83E14077}"/>
            </c:ext>
          </c:extLst>
        </c:ser>
        <c:dLbls>
          <c:showLegendKey val="0"/>
          <c:showVal val="0"/>
          <c:showCatName val="0"/>
          <c:showSerName val="0"/>
          <c:showPercent val="0"/>
          <c:showBubbleSize val="0"/>
        </c:dLbls>
        <c:axId val="-2128940872"/>
        <c:axId val="-2129643912"/>
      </c:scatterChart>
      <c:valAx>
        <c:axId val="-2128940872"/>
        <c:scaling>
          <c:orientation val="minMax"/>
          <c:max val="3.7"/>
          <c:min val="2.2999999999999998"/>
        </c:scaling>
        <c:delete val="0"/>
        <c:axPos val="b"/>
        <c:title>
          <c:tx>
            <c:rich>
              <a:bodyPr/>
              <a:lstStyle/>
              <a:p>
                <a:r>
                  <a:rPr lang="en-US" sz="1100" b="0">
                    <a:latin typeface="Arial"/>
                  </a:rPr>
                  <a:t>bottom gap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orientation val="minMax"/>
          <c:max val="2.4"/>
          <c:min val="1.6"/>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fr-FR" sz="1200" b="1">
                <a:solidFill>
                  <a:srgbClr val="222222"/>
                </a:solidFill>
                <a:latin typeface="Arial"/>
              </a:rPr>
              <a:t>IL vs gap (200 nm buffer)</a:t>
            </a:r>
          </a:p>
        </c:rich>
      </c:tx>
      <c:overlay val="0"/>
    </c:title>
    <c:autoTitleDeleted val="0"/>
    <c:plotArea>
      <c:layout/>
      <c:scatterChart>
        <c:scatterStyle val="lineMarker"/>
        <c:varyColors val="0"/>
        <c:ser>
          <c:idx val="0"/>
          <c:order val="0"/>
          <c:tx>
            <c:strRef>
              <c:f>Sheet1!$B$1</c:f>
              <c:strCache>
                <c:ptCount val="1"/>
                <c:pt idx="0">
                  <c:v>IL</c:v>
                </c:pt>
              </c:strCache>
            </c:strRef>
          </c:tx>
          <c:spPr>
            <a:ln w="25400">
              <a:solidFill>
                <a:srgbClr val="2A78D6"/>
              </a:solidFill>
            </a:ln>
          </c:spPr>
          <c:marker>
            <c:symbol val="circle"/>
            <c:size val="6"/>
            <c:spPr>
              <a:solidFill>
                <a:srgbClr val="2A78D6"/>
              </a:solidFill>
              <a:ln>
                <a:solidFill>
                  <a:srgbClr val="2A78D6"/>
                </a:solidFill>
              </a:ln>
            </c:spPr>
          </c:marker>
          <c:xVal>
            <c:numRef>
              <c:f>Sheet1!$A$2:$A$8</c:f>
              <c:numCache>
                <c:formatCode>General</c:formatCode>
                <c:ptCount val="7"/>
                <c:pt idx="0">
                  <c:v>2.4</c:v>
                </c:pt>
                <c:pt idx="1">
                  <c:v>2.6</c:v>
                </c:pt>
                <c:pt idx="2">
                  <c:v>2.8</c:v>
                </c:pt>
                <c:pt idx="3">
                  <c:v>3</c:v>
                </c:pt>
                <c:pt idx="4">
                  <c:v>3.2</c:v>
                </c:pt>
                <c:pt idx="5">
                  <c:v>3.4</c:v>
                </c:pt>
                <c:pt idx="6">
                  <c:v>3.6</c:v>
                </c:pt>
              </c:numCache>
            </c:numRef>
          </c:xVal>
          <c:yVal>
            <c:numRef>
              <c:f>Sheet1!$B$2:$B$8</c:f>
              <c:numCache>
                <c:formatCode>General</c:formatCode>
                <c:ptCount val="7"/>
                <c:pt idx="0">
                  <c:v>0.65090000000000003</c:v>
                </c:pt>
                <c:pt idx="1">
                  <c:v>0.32569999999999999</c:v>
                </c:pt>
                <c:pt idx="2">
                  <c:v>0.16889999999999999</c:v>
                </c:pt>
                <c:pt idx="3">
                  <c:v>8.9499999999999996E-2</c:v>
                </c:pt>
                <c:pt idx="4">
                  <c:v>4.8099999999999997E-2</c:v>
                </c:pt>
                <c:pt idx="5">
                  <c:v>2.5999999999999999E-2</c:v>
                </c:pt>
                <c:pt idx="6">
                  <c:v>1.4200000000000001E-2</c:v>
                </c:pt>
              </c:numCache>
            </c:numRef>
          </c:yVal>
          <c:smooth val="0"/>
          <c:extLst>
            <c:ext xmlns:c16="http://schemas.microsoft.com/office/drawing/2014/chart" uri="{C3380CC4-5D6E-409C-BE32-E72D297353CC}">
              <c16:uniqueId val="{00000000-6FCA-4ED4-ADB7-4EED10F3179A}"/>
            </c:ext>
          </c:extLst>
        </c:ser>
        <c:ser>
          <c:idx val="1"/>
          <c:order val="1"/>
          <c:tx>
            <c:strRef>
              <c:f>Sheet1!$B$10</c:f>
              <c:strCache>
                <c:ptCount val="1"/>
                <c:pt idx="0">
                  <c:v>3.4 µm</c:v>
                </c:pt>
              </c:strCache>
            </c:strRef>
          </c:tx>
          <c:spPr>
            <a:ln w="12700">
              <a:solidFill>
                <a:srgbClr val="EB6834"/>
              </a:solidFill>
            </a:ln>
          </c:spPr>
          <c:marker>
            <c:symbol val="circle"/>
            <c:size val="10"/>
            <c:spPr>
              <a:solidFill>
                <a:srgbClr val="EB6834"/>
              </a:solidFill>
              <a:ln>
                <a:solidFill>
                  <a:srgbClr val="EB6834"/>
                </a:solidFill>
              </a:ln>
            </c:spPr>
          </c:marker>
          <c:xVal>
            <c:numRef>
              <c:f>Sheet1!$A$11:$A$11</c:f>
              <c:numCache>
                <c:formatCode>General</c:formatCode>
                <c:ptCount val="1"/>
                <c:pt idx="0">
                  <c:v>3.4</c:v>
                </c:pt>
              </c:numCache>
            </c:numRef>
          </c:xVal>
          <c:yVal>
            <c:numRef>
              <c:f>Sheet1!$B$11:$B$11</c:f>
              <c:numCache>
                <c:formatCode>General</c:formatCode>
                <c:ptCount val="1"/>
                <c:pt idx="0">
                  <c:v>2.5999999999999999E-2</c:v>
                </c:pt>
              </c:numCache>
            </c:numRef>
          </c:yVal>
          <c:smooth val="0"/>
          <c:extLst>
            <c:ext xmlns:c16="http://schemas.microsoft.com/office/drawing/2014/chart" uri="{C3380CC4-5D6E-409C-BE32-E72D297353CC}">
              <c16:uniqueId val="{00000001-6FCA-4ED4-ADB7-4EED10F3179A}"/>
            </c:ext>
          </c:extLst>
        </c:ser>
        <c:dLbls>
          <c:showLegendKey val="0"/>
          <c:showVal val="0"/>
          <c:showCatName val="0"/>
          <c:showSerName val="0"/>
          <c:showPercent val="0"/>
          <c:showBubbleSize val="0"/>
        </c:dLbls>
        <c:axId val="-2128940872"/>
        <c:axId val="-2129643912"/>
      </c:scatterChart>
      <c:valAx>
        <c:axId val="-2128940872"/>
        <c:scaling>
          <c:orientation val="minMax"/>
          <c:max val="3.7"/>
          <c:min val="2.2999999999999998"/>
        </c:scaling>
        <c:delete val="0"/>
        <c:axPos val="b"/>
        <c:title>
          <c:tx>
            <c:rich>
              <a:bodyPr/>
              <a:lstStyle/>
              <a:p>
                <a:r>
                  <a:rPr lang="en-US" sz="1100" b="0">
                    <a:latin typeface="Arial"/>
                  </a:rPr>
                  <a:t>bottom gap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logBase val="10"/>
          <c:orientation val="minMax"/>
          <c:max val="1"/>
          <c:min val="0.01"/>
        </c:scaling>
        <c:delete val="0"/>
        <c:axPos val="l"/>
        <c:majorGridlines>
          <c:spPr>
            <a:ln>
              <a:solidFill>
                <a:srgbClr val="E3E3E3"/>
              </a:solidFill>
            </a:ln>
          </c:spPr>
        </c:majorGridlines>
        <c:title>
          <c:tx>
            <c:rich>
              <a:bodyPr/>
              <a:lstStyle/>
              <a:p>
                <a:r>
                  <a:rPr lang="en-US" sz="1100" b="0">
                    <a:latin typeface="Arial"/>
                  </a:rPr>
                  <a:t>IL [dB/cm], log</a:t>
                </a:r>
              </a:p>
            </c:rich>
          </c:tx>
          <c:overlay val="0"/>
        </c:title>
        <c:numFmt formatCode="0.0#"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x_lift = 7 µm (nominal)</c:v>
                </c:pt>
              </c:strCache>
            </c:strRef>
          </c:tx>
          <c:spPr>
            <a:ln w="19050">
              <a:solidFill>
                <a:srgbClr val="2A78D6"/>
              </a:solidFill>
            </a:ln>
          </c:spPr>
          <c:marker>
            <c:symbol val="circle"/>
            <c:size val="4"/>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c:v>
                </c:pt>
                <c:pt idx="5">
                  <c:v>4.0999999999999996</c:v>
                </c:pt>
                <c:pt idx="6">
                  <c:v>4.1500000000000004</c:v>
                </c:pt>
                <c:pt idx="7">
                  <c:v>4.2</c:v>
                </c:pt>
                <c:pt idx="8">
                  <c:v>4.25</c:v>
                </c:pt>
                <c:pt idx="9">
                  <c:v>4.3</c:v>
                </c:pt>
                <c:pt idx="10">
                  <c:v>4.4000000000000004</c:v>
                </c:pt>
                <c:pt idx="11">
                  <c:v>4.5</c:v>
                </c:pt>
                <c:pt idx="12">
                  <c:v>4.5999999999999996</c:v>
                </c:pt>
                <c:pt idx="13">
                  <c:v>4.7</c:v>
                </c:pt>
                <c:pt idx="14">
                  <c:v>4.75</c:v>
                </c:pt>
                <c:pt idx="15">
                  <c:v>4.8</c:v>
                </c:pt>
                <c:pt idx="16">
                  <c:v>4.8499999999999996</c:v>
                </c:pt>
                <c:pt idx="17">
                  <c:v>4.9000000000000004</c:v>
                </c:pt>
                <c:pt idx="18">
                  <c:v>4.95</c:v>
                </c:pt>
                <c:pt idx="19">
                  <c:v>5</c:v>
                </c:pt>
                <c:pt idx="20">
                  <c:v>5.05</c:v>
                </c:pt>
                <c:pt idx="21">
                  <c:v>5.0999999999999996</c:v>
                </c:pt>
                <c:pt idx="22">
                  <c:v>5.15</c:v>
                </c:pt>
                <c:pt idx="23">
                  <c:v>5.2</c:v>
                </c:pt>
                <c:pt idx="24">
                  <c:v>5.4</c:v>
                </c:pt>
                <c:pt idx="25">
                  <c:v>5.6</c:v>
                </c:pt>
                <c:pt idx="26">
                  <c:v>5.8</c:v>
                </c:pt>
                <c:pt idx="27">
                  <c:v>6</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c:v>
                </c:pt>
                <c:pt idx="42">
                  <c:v>7.05</c:v>
                </c:pt>
                <c:pt idx="43">
                  <c:v>7.2</c:v>
                </c:pt>
                <c:pt idx="44">
                  <c:v>7.4</c:v>
                </c:pt>
                <c:pt idx="45">
                  <c:v>7.6</c:v>
                </c:pt>
                <c:pt idx="46">
                  <c:v>7.8</c:v>
                </c:pt>
                <c:pt idx="47">
                  <c:v>8</c:v>
                </c:pt>
                <c:pt idx="48">
                  <c:v>8.1999999999999993</c:v>
                </c:pt>
                <c:pt idx="49">
                  <c:v>8.25</c:v>
                </c:pt>
                <c:pt idx="50">
                  <c:v>8.3000000000000007</c:v>
                </c:pt>
                <c:pt idx="51">
                  <c:v>8.35</c:v>
                </c:pt>
                <c:pt idx="52">
                  <c:v>8.4</c:v>
                </c:pt>
                <c:pt idx="53">
                  <c:v>8.4499999999999993</c:v>
                </c:pt>
                <c:pt idx="54">
                  <c:v>8.5</c:v>
                </c:pt>
                <c:pt idx="55">
                  <c:v>8.5500000000000007</c:v>
                </c:pt>
                <c:pt idx="56">
                  <c:v>8.6</c:v>
                </c:pt>
                <c:pt idx="57">
                  <c:v>8.65</c:v>
                </c:pt>
                <c:pt idx="58">
                  <c:v>8.6999999999999993</c:v>
                </c:pt>
                <c:pt idx="59">
                  <c:v>8.75</c:v>
                </c:pt>
                <c:pt idx="60">
                  <c:v>8.8000000000000007</c:v>
                </c:pt>
                <c:pt idx="61">
                  <c:v>8.85</c:v>
                </c:pt>
                <c:pt idx="62">
                  <c:v>9</c:v>
                </c:pt>
                <c:pt idx="63">
                  <c:v>9.1999999999999993</c:v>
                </c:pt>
                <c:pt idx="64">
                  <c:v>9.4</c:v>
                </c:pt>
                <c:pt idx="65">
                  <c:v>9.6</c:v>
                </c:pt>
                <c:pt idx="66">
                  <c:v>9.8000000000000007</c:v>
                </c:pt>
                <c:pt idx="67">
                  <c:v>10</c:v>
                </c:pt>
                <c:pt idx="68">
                  <c:v>10.050000000000001</c:v>
                </c:pt>
                <c:pt idx="69">
                  <c:v>10.1</c:v>
                </c:pt>
                <c:pt idx="70">
                  <c:v>10.15</c:v>
                </c:pt>
                <c:pt idx="71">
                  <c:v>10.199999999999999</c:v>
                </c:pt>
                <c:pt idx="72">
                  <c:v>10.25</c:v>
                </c:pt>
                <c:pt idx="73">
                  <c:v>10.3</c:v>
                </c:pt>
                <c:pt idx="74">
                  <c:v>10.35</c:v>
                </c:pt>
                <c:pt idx="75">
                  <c:v>10.4</c:v>
                </c:pt>
                <c:pt idx="76">
                  <c:v>10.45</c:v>
                </c:pt>
                <c:pt idx="77">
                  <c:v>10.5</c:v>
                </c:pt>
                <c:pt idx="78">
                  <c:v>10.55</c:v>
                </c:pt>
                <c:pt idx="79">
                  <c:v>10.6</c:v>
                </c:pt>
                <c:pt idx="80">
                  <c:v>10.65</c:v>
                </c:pt>
                <c:pt idx="81">
                  <c:v>10.8</c:v>
                </c:pt>
                <c:pt idx="82">
                  <c:v>11</c:v>
                </c:pt>
                <c:pt idx="83">
                  <c:v>11.2</c:v>
                </c:pt>
                <c:pt idx="84">
                  <c:v>11.4</c:v>
                </c:pt>
                <c:pt idx="85">
                  <c:v>11.6</c:v>
                </c:pt>
                <c:pt idx="86">
                  <c:v>11.8</c:v>
                </c:pt>
                <c:pt idx="87">
                  <c:v>11.85</c:v>
                </c:pt>
                <c:pt idx="88">
                  <c:v>11.9</c:v>
                </c:pt>
                <c:pt idx="89">
                  <c:v>11.95</c:v>
                </c:pt>
                <c:pt idx="90">
                  <c:v>12</c:v>
                </c:pt>
                <c:pt idx="91">
                  <c:v>12.05</c:v>
                </c:pt>
                <c:pt idx="92">
                  <c:v>12.1</c:v>
                </c:pt>
                <c:pt idx="93">
                  <c:v>12.15</c:v>
                </c:pt>
                <c:pt idx="94">
                  <c:v>12.2</c:v>
                </c:pt>
                <c:pt idx="95">
                  <c:v>12.25</c:v>
                </c:pt>
                <c:pt idx="96">
                  <c:v>12.3</c:v>
                </c:pt>
                <c:pt idx="97">
                  <c:v>12.35</c:v>
                </c:pt>
                <c:pt idx="98">
                  <c:v>12.4</c:v>
                </c:pt>
                <c:pt idx="99">
                  <c:v>12.45</c:v>
                </c:pt>
                <c:pt idx="100">
                  <c:v>12.6</c:v>
                </c:pt>
                <c:pt idx="101">
                  <c:v>12.8</c:v>
                </c:pt>
                <c:pt idx="102">
                  <c:v>13</c:v>
                </c:pt>
                <c:pt idx="103">
                  <c:v>13.2</c:v>
                </c:pt>
                <c:pt idx="104">
                  <c:v>13.4</c:v>
                </c:pt>
                <c:pt idx="105">
                  <c:v>13.6</c:v>
                </c:pt>
                <c:pt idx="106">
                  <c:v>13.65</c:v>
                </c:pt>
                <c:pt idx="107">
                  <c:v>13.7</c:v>
                </c:pt>
                <c:pt idx="108">
                  <c:v>13.75</c:v>
                </c:pt>
                <c:pt idx="109">
                  <c:v>13.8</c:v>
                </c:pt>
                <c:pt idx="110">
                  <c:v>13.85</c:v>
                </c:pt>
                <c:pt idx="111">
                  <c:v>13.9</c:v>
                </c:pt>
                <c:pt idx="112">
                  <c:v>13.95</c:v>
                </c:pt>
                <c:pt idx="113">
                  <c:v>14</c:v>
                </c:pt>
                <c:pt idx="114">
                  <c:v>14.05</c:v>
                </c:pt>
                <c:pt idx="115">
                  <c:v>14.1</c:v>
                </c:pt>
                <c:pt idx="116">
                  <c:v>14.2</c:v>
                </c:pt>
                <c:pt idx="117">
                  <c:v>14.3</c:v>
                </c:pt>
                <c:pt idx="118">
                  <c:v>14.4</c:v>
                </c:pt>
                <c:pt idx="119">
                  <c:v>14.5</c:v>
                </c:pt>
                <c:pt idx="120">
                  <c:v>14.6</c:v>
                </c:pt>
                <c:pt idx="121">
                  <c:v>14.7</c:v>
                </c:pt>
                <c:pt idx="122">
                  <c:v>14.8</c:v>
                </c:pt>
                <c:pt idx="123">
                  <c:v>14.9</c:v>
                </c:pt>
                <c:pt idx="124">
                  <c:v>15</c:v>
                </c:pt>
                <c:pt idx="125">
                  <c:v>15.2</c:v>
                </c:pt>
                <c:pt idx="126">
                  <c:v>15.4</c:v>
                </c:pt>
                <c:pt idx="127">
                  <c:v>15.6</c:v>
                </c:pt>
                <c:pt idx="128">
                  <c:v>15.8</c:v>
                </c:pt>
                <c:pt idx="129">
                  <c:v>16</c:v>
                </c:pt>
                <c:pt idx="130">
                  <c:v>16.399999999999999</c:v>
                </c:pt>
                <c:pt idx="131">
                  <c:v>16.8</c:v>
                </c:pt>
                <c:pt idx="132">
                  <c:v>17.2</c:v>
                </c:pt>
                <c:pt idx="133">
                  <c:v>17.600000000000001</c:v>
                </c:pt>
                <c:pt idx="134">
                  <c:v>18</c:v>
                </c:pt>
                <c:pt idx="135">
                  <c:v>18.399999999999999</c:v>
                </c:pt>
                <c:pt idx="136">
                  <c:v>18.8</c:v>
                </c:pt>
                <c:pt idx="137">
                  <c:v>19.2</c:v>
                </c:pt>
                <c:pt idx="138">
                  <c:v>19.600000000000001</c:v>
                </c:pt>
                <c:pt idx="139">
                  <c:v>20</c:v>
                </c:pt>
              </c:numCache>
            </c:numRef>
          </c:xVal>
          <c:yVal>
            <c:numRef>
              <c:f>Sheet1!$B$2:$B$141</c:f>
              <c:numCache>
                <c:formatCode>General</c:formatCode>
                <c:ptCount val="140"/>
                <c:pt idx="0">
                  <c:v>1.6708999999999999E-5</c:v>
                </c:pt>
                <c:pt idx="1">
                  <c:v>5.1144999999999999E-5</c:v>
                </c:pt>
                <c:pt idx="2">
                  <c:v>1.6374E-4</c:v>
                </c:pt>
                <c:pt idx="3">
                  <c:v>5.6997000000000005E-4</c:v>
                </c:pt>
                <c:pt idx="4">
                  <c:v>2.9237999999999998E-3</c:v>
                </c:pt>
                <c:pt idx="5">
                  <c:v>6.8435385367305061E-3</c:v>
                </c:pt>
                <c:pt idx="6">
                  <c:v>1.6259208038430659E-2</c:v>
                </c:pt>
                <c:pt idx="7">
                  <c:v>0.39921218978061851</c:v>
                </c:pt>
                <c:pt idx="8">
                  <c:v>0.27518994608104475</c:v>
                </c:pt>
                <c:pt idx="9">
                  <c:v>0.20288752830513648</c:v>
                </c:pt>
                <c:pt idx="10">
                  <c:v>0.12714081822264087</c:v>
                </c:pt>
                <c:pt idx="11">
                  <c:v>9.9458271706215545E-2</c:v>
                </c:pt>
                <c:pt idx="12">
                  <c:v>0.10402871592391051</c:v>
                </c:pt>
                <c:pt idx="13">
                  <c:v>0.15987199038363142</c:v>
                </c:pt>
                <c:pt idx="14">
                  <c:v>0.23637755360007337</c:v>
                </c:pt>
                <c:pt idx="15">
                  <c:v>0.40673141946401359</c:v>
                </c:pt>
                <c:pt idx="16">
                  <c:v>0.87285435817843771</c:v>
                </c:pt>
                <c:pt idx="17">
                  <c:v>2.6909140034704686</c:v>
                </c:pt>
                <c:pt idx="18">
                  <c:v>7.4014168680791697</c:v>
                </c:pt>
                <c:pt idx="19">
                  <c:v>2.613677307782508</c:v>
                </c:pt>
                <c:pt idx="20">
                  <c:v>0.94995245055426236</c:v>
                </c:pt>
                <c:pt idx="21">
                  <c:v>0.47863188763472647</c:v>
                </c:pt>
                <c:pt idx="22">
                  <c:v>0.29344053720659385</c:v>
                </c:pt>
                <c:pt idx="23">
                  <c:v>0.20097999999999999</c:v>
                </c:pt>
                <c:pt idx="24">
                  <c:v>7.8119999999999995E-2</c:v>
                </c:pt>
                <c:pt idx="25">
                  <c:v>4.7692999999999999E-2</c:v>
                </c:pt>
                <c:pt idx="26">
                  <c:v>3.8337999999999997E-2</c:v>
                </c:pt>
                <c:pt idx="27">
                  <c:v>4.0597000000000001E-2</c:v>
                </c:pt>
                <c:pt idx="28">
                  <c:v>5.9429999999999997E-2</c:v>
                </c:pt>
                <c:pt idx="29">
                  <c:v>0.13186</c:v>
                </c:pt>
                <c:pt idx="30">
                  <c:v>0.17595</c:v>
                </c:pt>
                <c:pt idx="31">
                  <c:v>0.24573999999999999</c:v>
                </c:pt>
                <c:pt idx="32">
                  <c:v>0.36587999999999998</c:v>
                </c:pt>
                <c:pt idx="33">
                  <c:v>0.59079999999999999</c:v>
                </c:pt>
                <c:pt idx="34">
                  <c:v>1.0475000000000001</c:v>
                </c:pt>
                <c:pt idx="35">
                  <c:v>1.9426000000000001</c:v>
                </c:pt>
                <c:pt idx="36">
                  <c:v>2.8834</c:v>
                </c:pt>
                <c:pt idx="37">
                  <c:v>2.3294000000000001</c:v>
                </c:pt>
                <c:pt idx="38">
                  <c:v>1.3523000000000001</c:v>
                </c:pt>
                <c:pt idx="39">
                  <c:v>0.79579</c:v>
                </c:pt>
                <c:pt idx="40">
                  <c:v>0.51346000000000003</c:v>
                </c:pt>
                <c:pt idx="41">
                  <c:v>0.35857</c:v>
                </c:pt>
                <c:pt idx="42">
                  <c:v>0.2676</c:v>
                </c:pt>
                <c:pt idx="43">
                  <c:v>0.14144999999999999</c:v>
                </c:pt>
                <c:pt idx="44">
                  <c:v>8.7430999999999995E-2</c:v>
                </c:pt>
                <c:pt idx="45">
                  <c:v>7.145E-2</c:v>
                </c:pt>
                <c:pt idx="46">
                  <c:v>7.6405000000000001E-2</c:v>
                </c:pt>
                <c:pt idx="47">
                  <c:v>0.10839</c:v>
                </c:pt>
                <c:pt idx="48">
                  <c:v>0.22248999999999999</c:v>
                </c:pt>
                <c:pt idx="49">
                  <c:v>0.28742000000000001</c:v>
                </c:pt>
                <c:pt idx="50">
                  <c:v>0.38712000000000002</c:v>
                </c:pt>
                <c:pt idx="51">
                  <c:v>0.54357</c:v>
                </c:pt>
                <c:pt idx="52">
                  <c:v>0.78893000000000002</c:v>
                </c:pt>
                <c:pt idx="53">
                  <c:v>1.1759999999999999</c:v>
                </c:pt>
                <c:pt idx="54">
                  <c:v>1.6516</c:v>
                </c:pt>
                <c:pt idx="55">
                  <c:v>1.8869</c:v>
                </c:pt>
                <c:pt idx="56">
                  <c:v>1.6364000000000001</c:v>
                </c:pt>
                <c:pt idx="57">
                  <c:v>1.1974</c:v>
                </c:pt>
                <c:pt idx="58">
                  <c:v>0.83269000000000004</c:v>
                </c:pt>
                <c:pt idx="59">
                  <c:v>0.59772999999999998</c:v>
                </c:pt>
                <c:pt idx="60">
                  <c:v>0.44440000000000002</c:v>
                </c:pt>
                <c:pt idx="61">
                  <c:v>0.34445999999999999</c:v>
                </c:pt>
                <c:pt idx="62">
                  <c:v>0.19320999999999999</c:v>
                </c:pt>
                <c:pt idx="63">
                  <c:v>0.12381</c:v>
                </c:pt>
                <c:pt idx="64">
                  <c:v>0.10406</c:v>
                </c:pt>
                <c:pt idx="65">
                  <c:v>0.11143</c:v>
                </c:pt>
                <c:pt idx="66">
                  <c:v>0.15637000000000001</c:v>
                </c:pt>
                <c:pt idx="67">
                  <c:v>0.30754999999999999</c:v>
                </c:pt>
                <c:pt idx="68">
                  <c:v>0.38597999999999999</c:v>
                </c:pt>
                <c:pt idx="69">
                  <c:v>0.49568000000000001</c:v>
                </c:pt>
                <c:pt idx="70">
                  <c:v>0.65264999999999995</c:v>
                </c:pt>
                <c:pt idx="71">
                  <c:v>0.86814000000000002</c:v>
                </c:pt>
                <c:pt idx="72">
                  <c:v>1.1296999999999999</c:v>
                </c:pt>
                <c:pt idx="73">
                  <c:v>1.3567</c:v>
                </c:pt>
                <c:pt idx="74">
                  <c:v>1.401</c:v>
                </c:pt>
                <c:pt idx="75">
                  <c:v>1.2539</c:v>
                </c:pt>
                <c:pt idx="76">
                  <c:v>1.012</c:v>
                </c:pt>
                <c:pt idx="77">
                  <c:v>0.79193999999999998</c:v>
                </c:pt>
                <c:pt idx="78">
                  <c:v>0.61665000000000003</c:v>
                </c:pt>
                <c:pt idx="79">
                  <c:v>0.48683999999999999</c:v>
                </c:pt>
                <c:pt idx="80">
                  <c:v>0.39262999999999998</c:v>
                </c:pt>
                <c:pt idx="81">
                  <c:v>0.23702999999999999</c:v>
                </c:pt>
                <c:pt idx="82">
                  <c:v>0.15775</c:v>
                </c:pt>
                <c:pt idx="83">
                  <c:v>0.13489999999999999</c:v>
                </c:pt>
                <c:pt idx="84">
                  <c:v>0.1457</c:v>
                </c:pt>
                <c:pt idx="85">
                  <c:v>0.20227000000000001</c:v>
                </c:pt>
                <c:pt idx="86">
                  <c:v>0.37180000000000002</c:v>
                </c:pt>
                <c:pt idx="87">
                  <c:v>0.45101999999999998</c:v>
                </c:pt>
                <c:pt idx="88">
                  <c:v>0.56349000000000005</c:v>
                </c:pt>
                <c:pt idx="89">
                  <c:v>0.70054000000000005</c:v>
                </c:pt>
                <c:pt idx="90">
                  <c:v>0.85704999999999998</c:v>
                </c:pt>
                <c:pt idx="91">
                  <c:v>1.0124</c:v>
                </c:pt>
                <c:pt idx="92">
                  <c:v>1.1173</c:v>
                </c:pt>
                <c:pt idx="93">
                  <c:v>1.1232</c:v>
                </c:pt>
                <c:pt idx="94">
                  <c:v>1.0285</c:v>
                </c:pt>
                <c:pt idx="95">
                  <c:v>0.88238000000000005</c:v>
                </c:pt>
                <c:pt idx="96">
                  <c:v>0.72936999999999996</c:v>
                </c:pt>
                <c:pt idx="97">
                  <c:v>0.59735000000000005</c:v>
                </c:pt>
                <c:pt idx="98">
                  <c:v>0.49692999999999998</c:v>
                </c:pt>
                <c:pt idx="99">
                  <c:v>0.41352</c:v>
                </c:pt>
                <c:pt idx="100">
                  <c:v>0.26790000000000003</c:v>
                </c:pt>
                <c:pt idx="101">
                  <c:v>0.18706</c:v>
                </c:pt>
                <c:pt idx="102">
                  <c:v>0.1641</c:v>
                </c:pt>
                <c:pt idx="103">
                  <c:v>0.17824000000000001</c:v>
                </c:pt>
                <c:pt idx="104">
                  <c:v>0.24571999999999999</c:v>
                </c:pt>
                <c:pt idx="105">
                  <c:v>0.42104000000000003</c:v>
                </c:pt>
                <c:pt idx="106">
                  <c:v>0.49707000000000001</c:v>
                </c:pt>
                <c:pt idx="107">
                  <c:v>0.59762000000000004</c:v>
                </c:pt>
                <c:pt idx="108">
                  <c:v>0.70091999999999999</c:v>
                </c:pt>
                <c:pt idx="109">
                  <c:v>0.81596000000000002</c:v>
                </c:pt>
                <c:pt idx="110">
                  <c:v>0.90722999999999998</c:v>
                </c:pt>
                <c:pt idx="111">
                  <c:v>0.95569999999999999</c:v>
                </c:pt>
                <c:pt idx="112">
                  <c:v>0.92506999999999995</c:v>
                </c:pt>
                <c:pt idx="113">
                  <c:v>0.25020999999999999</c:v>
                </c:pt>
                <c:pt idx="114">
                  <c:v>0.21182000000000001</c:v>
                </c:pt>
                <c:pt idx="115">
                  <c:v>0.19434999999999999</c:v>
                </c:pt>
                <c:pt idx="116">
                  <c:v>0.18795999999999999</c:v>
                </c:pt>
                <c:pt idx="117">
                  <c:v>0.19386</c:v>
                </c:pt>
                <c:pt idx="118">
                  <c:v>0.20108999999999999</c:v>
                </c:pt>
                <c:pt idx="119">
                  <c:v>0.20655000000000001</c:v>
                </c:pt>
                <c:pt idx="120">
                  <c:v>0.21206</c:v>
                </c:pt>
                <c:pt idx="121">
                  <c:v>0.21629000000000001</c:v>
                </c:pt>
                <c:pt idx="122">
                  <c:v>0.21797</c:v>
                </c:pt>
                <c:pt idx="123">
                  <c:v>0.2208</c:v>
                </c:pt>
                <c:pt idx="124">
                  <c:v>0.22270000000000001</c:v>
                </c:pt>
                <c:pt idx="125">
                  <c:v>0.22459999999999999</c:v>
                </c:pt>
                <c:pt idx="126">
                  <c:v>0.22617999999999999</c:v>
                </c:pt>
                <c:pt idx="127">
                  <c:v>0.22705</c:v>
                </c:pt>
                <c:pt idx="128">
                  <c:v>0.22747999999999999</c:v>
                </c:pt>
                <c:pt idx="129">
                  <c:v>0.2288</c:v>
                </c:pt>
                <c:pt idx="130">
                  <c:v>0.22689999999999999</c:v>
                </c:pt>
                <c:pt idx="131">
                  <c:v>0.22685</c:v>
                </c:pt>
                <c:pt idx="132">
                  <c:v>0.22708</c:v>
                </c:pt>
                <c:pt idx="133">
                  <c:v>0.22721</c:v>
                </c:pt>
                <c:pt idx="134">
                  <c:v>0.22725000000000001</c:v>
                </c:pt>
                <c:pt idx="135">
                  <c:v>0.22703000000000001</c:v>
                </c:pt>
                <c:pt idx="136">
                  <c:v>0.22785</c:v>
                </c:pt>
                <c:pt idx="137">
                  <c:v>0.22713</c:v>
                </c:pt>
                <c:pt idx="138">
                  <c:v>0.22736000000000001</c:v>
                </c:pt>
                <c:pt idx="139">
                  <c:v>0.22745000000000001</c:v>
                </c:pt>
              </c:numCache>
            </c:numRef>
          </c:yVal>
          <c:smooth val="0"/>
          <c:extLst>
            <c:ext xmlns:c16="http://schemas.microsoft.com/office/drawing/2014/chart" uri="{C3380CC4-5D6E-409C-BE32-E72D297353CC}">
              <c16:uniqueId val="{00000000-7D3F-4A86-A886-98D2C80DC33A}"/>
            </c:ext>
          </c:extLst>
        </c:ser>
        <c:ser>
          <c:idx val="1"/>
          <c:order val="1"/>
          <c:tx>
            <c:strRef>
              <c:f>Sheet1!$B$143</c:f>
              <c:strCache>
                <c:ptCount val="1"/>
                <c:pt idx="0">
                  <c:v>wider gold, x_lift = 11 µm</c:v>
                </c:pt>
              </c:strCache>
            </c:strRef>
          </c:tx>
          <c:spPr>
            <a:ln w="19050">
              <a:solidFill>
                <a:srgbClr val="EB6834"/>
              </a:solidFill>
            </a:ln>
          </c:spPr>
          <c:marker>
            <c:symbol val="circle"/>
            <c:size val="4"/>
            <c:spPr>
              <a:solidFill>
                <a:srgbClr val="EB6834"/>
              </a:solidFill>
              <a:ln>
                <a:solidFill>
                  <a:srgbClr val="EB6834"/>
                </a:solidFill>
              </a:ln>
            </c:spPr>
          </c:marker>
          <c:xVal>
            <c:numRef>
              <c:f>Sheet1!$A$144:$A$224</c:f>
              <c:numCache>
                <c:formatCode>General</c:formatCode>
                <c:ptCount val="81"/>
                <c:pt idx="0">
                  <c:v>12</c:v>
                </c:pt>
                <c:pt idx="1">
                  <c:v>12.1</c:v>
                </c:pt>
                <c:pt idx="2">
                  <c:v>12.2</c:v>
                </c:pt>
                <c:pt idx="3">
                  <c:v>12.3</c:v>
                </c:pt>
                <c:pt idx="4">
                  <c:v>12.4</c:v>
                </c:pt>
                <c:pt idx="5">
                  <c:v>12.5</c:v>
                </c:pt>
                <c:pt idx="6">
                  <c:v>12.6</c:v>
                </c:pt>
                <c:pt idx="7">
                  <c:v>12.7</c:v>
                </c:pt>
                <c:pt idx="8">
                  <c:v>12.8</c:v>
                </c:pt>
                <c:pt idx="9">
                  <c:v>12.9</c:v>
                </c:pt>
                <c:pt idx="10">
                  <c:v>13</c:v>
                </c:pt>
                <c:pt idx="11">
                  <c:v>13.1</c:v>
                </c:pt>
                <c:pt idx="12">
                  <c:v>13.2</c:v>
                </c:pt>
                <c:pt idx="13">
                  <c:v>13.3</c:v>
                </c:pt>
                <c:pt idx="14">
                  <c:v>13.4</c:v>
                </c:pt>
                <c:pt idx="15">
                  <c:v>13.5</c:v>
                </c:pt>
                <c:pt idx="16">
                  <c:v>13.6</c:v>
                </c:pt>
                <c:pt idx="17">
                  <c:v>13.7</c:v>
                </c:pt>
                <c:pt idx="18">
                  <c:v>13.8</c:v>
                </c:pt>
                <c:pt idx="19">
                  <c:v>13.9</c:v>
                </c:pt>
                <c:pt idx="20">
                  <c:v>14</c:v>
                </c:pt>
                <c:pt idx="21">
                  <c:v>14.1</c:v>
                </c:pt>
                <c:pt idx="22">
                  <c:v>14.2</c:v>
                </c:pt>
                <c:pt idx="23">
                  <c:v>14.3</c:v>
                </c:pt>
                <c:pt idx="24">
                  <c:v>14.4</c:v>
                </c:pt>
                <c:pt idx="25">
                  <c:v>14.5</c:v>
                </c:pt>
                <c:pt idx="26">
                  <c:v>14.6</c:v>
                </c:pt>
                <c:pt idx="27">
                  <c:v>14.7</c:v>
                </c:pt>
                <c:pt idx="28">
                  <c:v>14.8</c:v>
                </c:pt>
                <c:pt idx="29">
                  <c:v>14.9</c:v>
                </c:pt>
                <c:pt idx="30">
                  <c:v>15</c:v>
                </c:pt>
                <c:pt idx="31">
                  <c:v>15.1</c:v>
                </c:pt>
                <c:pt idx="32">
                  <c:v>15.2</c:v>
                </c:pt>
                <c:pt idx="33">
                  <c:v>15.3</c:v>
                </c:pt>
                <c:pt idx="34">
                  <c:v>15.4</c:v>
                </c:pt>
                <c:pt idx="35">
                  <c:v>15.5</c:v>
                </c:pt>
                <c:pt idx="36">
                  <c:v>15.6</c:v>
                </c:pt>
                <c:pt idx="37">
                  <c:v>15.7</c:v>
                </c:pt>
                <c:pt idx="38">
                  <c:v>15.8</c:v>
                </c:pt>
                <c:pt idx="39">
                  <c:v>15.9</c:v>
                </c:pt>
                <c:pt idx="40">
                  <c:v>16</c:v>
                </c:pt>
                <c:pt idx="41">
                  <c:v>16.100000000000001</c:v>
                </c:pt>
                <c:pt idx="42">
                  <c:v>16.2</c:v>
                </c:pt>
                <c:pt idx="43">
                  <c:v>16.3</c:v>
                </c:pt>
                <c:pt idx="44">
                  <c:v>16.399999999999999</c:v>
                </c:pt>
                <c:pt idx="45">
                  <c:v>16.5</c:v>
                </c:pt>
                <c:pt idx="46">
                  <c:v>16.600000000000001</c:v>
                </c:pt>
                <c:pt idx="47">
                  <c:v>16.7</c:v>
                </c:pt>
                <c:pt idx="48">
                  <c:v>16.8</c:v>
                </c:pt>
                <c:pt idx="49">
                  <c:v>16.899999999999999</c:v>
                </c:pt>
                <c:pt idx="50">
                  <c:v>17</c:v>
                </c:pt>
                <c:pt idx="51">
                  <c:v>17.100000000000001</c:v>
                </c:pt>
                <c:pt idx="52">
                  <c:v>17.2</c:v>
                </c:pt>
                <c:pt idx="53">
                  <c:v>17.3</c:v>
                </c:pt>
                <c:pt idx="54">
                  <c:v>17.399999999999999</c:v>
                </c:pt>
                <c:pt idx="55">
                  <c:v>17.5</c:v>
                </c:pt>
                <c:pt idx="56">
                  <c:v>17.600000000000001</c:v>
                </c:pt>
                <c:pt idx="57">
                  <c:v>17.7</c:v>
                </c:pt>
                <c:pt idx="58">
                  <c:v>17.8</c:v>
                </c:pt>
                <c:pt idx="59">
                  <c:v>17.899999999999999</c:v>
                </c:pt>
                <c:pt idx="60">
                  <c:v>18</c:v>
                </c:pt>
                <c:pt idx="61">
                  <c:v>18.100000000000001</c:v>
                </c:pt>
                <c:pt idx="62">
                  <c:v>18.2</c:v>
                </c:pt>
                <c:pt idx="63">
                  <c:v>18.3</c:v>
                </c:pt>
                <c:pt idx="64">
                  <c:v>18.399999999999999</c:v>
                </c:pt>
                <c:pt idx="65">
                  <c:v>18.5</c:v>
                </c:pt>
                <c:pt idx="66">
                  <c:v>18.600000000000001</c:v>
                </c:pt>
                <c:pt idx="67">
                  <c:v>18.7</c:v>
                </c:pt>
                <c:pt idx="68">
                  <c:v>18.8</c:v>
                </c:pt>
                <c:pt idx="69">
                  <c:v>18.899999999999999</c:v>
                </c:pt>
                <c:pt idx="70">
                  <c:v>19</c:v>
                </c:pt>
                <c:pt idx="71">
                  <c:v>19.100000000000001</c:v>
                </c:pt>
                <c:pt idx="72">
                  <c:v>19.2</c:v>
                </c:pt>
                <c:pt idx="73">
                  <c:v>19.3</c:v>
                </c:pt>
                <c:pt idx="74">
                  <c:v>19.399999999999999</c:v>
                </c:pt>
                <c:pt idx="75">
                  <c:v>19.5</c:v>
                </c:pt>
                <c:pt idx="76">
                  <c:v>19.600000000000001</c:v>
                </c:pt>
                <c:pt idx="77">
                  <c:v>19.7</c:v>
                </c:pt>
                <c:pt idx="78">
                  <c:v>19.8</c:v>
                </c:pt>
                <c:pt idx="79">
                  <c:v>19.899999999999999</c:v>
                </c:pt>
                <c:pt idx="80">
                  <c:v>20</c:v>
                </c:pt>
              </c:numCache>
            </c:numRef>
          </c:xVal>
          <c:yVal>
            <c:numRef>
              <c:f>Sheet1!$B$144:$B$224</c:f>
              <c:numCache>
                <c:formatCode>General</c:formatCode>
                <c:ptCount val="81"/>
                <c:pt idx="0">
                  <c:v>0.8580584546078861</c:v>
                </c:pt>
                <c:pt idx="1">
                  <c:v>1.1184940781120203</c:v>
                </c:pt>
                <c:pt idx="2">
                  <c:v>1.0289909892999953</c:v>
                </c:pt>
                <c:pt idx="3">
                  <c:v>0.72950388260145482</c:v>
                </c:pt>
                <c:pt idx="4">
                  <c:v>0.49713542980492437</c:v>
                </c:pt>
                <c:pt idx="5">
                  <c:v>0.35409681168024826</c:v>
                </c:pt>
                <c:pt idx="6">
                  <c:v>0.26798950401556321</c:v>
                </c:pt>
                <c:pt idx="7">
                  <c:v>0.21693843907295535</c:v>
                </c:pt>
                <c:pt idx="8">
                  <c:v>0.18712833171523757</c:v>
                </c:pt>
                <c:pt idx="9">
                  <c:v>0.17077314088315254</c:v>
                </c:pt>
                <c:pt idx="10">
                  <c:v>0.1640959263209856</c:v>
                </c:pt>
                <c:pt idx="11">
                  <c:v>0.16627546340432914</c:v>
                </c:pt>
                <c:pt idx="12">
                  <c:v>0.17842057863027366</c:v>
                </c:pt>
                <c:pt idx="13">
                  <c:v>0.20271773924776951</c:v>
                </c:pt>
                <c:pt idx="14">
                  <c:v>0.24209840530849971</c:v>
                </c:pt>
                <c:pt idx="15">
                  <c:v>0.30942149909591088</c:v>
                </c:pt>
                <c:pt idx="16">
                  <c:v>0.41806224023115723</c:v>
                </c:pt>
                <c:pt idx="17">
                  <c:v>0.58875221912702791</c:v>
                </c:pt>
                <c:pt idx="18">
                  <c:v>0.79845903038927113</c:v>
                </c:pt>
                <c:pt idx="19">
                  <c:v>0.9584419034226116</c:v>
                </c:pt>
                <c:pt idx="20">
                  <c:v>0.87898755474046963</c:v>
                </c:pt>
                <c:pt idx="21">
                  <c:v>0.68483896526552757</c:v>
                </c:pt>
                <c:pt idx="22">
                  <c:v>0.49640776241620876</c:v>
                </c:pt>
                <c:pt idx="23">
                  <c:v>0.3746447527044568</c:v>
                </c:pt>
                <c:pt idx="24">
                  <c:v>0.29619181295249969</c:v>
                </c:pt>
                <c:pt idx="25">
                  <c:v>0.24568130092722346</c:v>
                </c:pt>
                <c:pt idx="26">
                  <c:v>0.21472078607877429</c:v>
                </c:pt>
                <c:pt idx="27">
                  <c:v>0.19807106320839957</c:v>
                </c:pt>
                <c:pt idx="28">
                  <c:v>0.19168145051891552</c:v>
                </c:pt>
                <c:pt idx="29">
                  <c:v>0.19498367443056319</c:v>
                </c:pt>
                <c:pt idx="30">
                  <c:v>0.20834849880330727</c:v>
                </c:pt>
                <c:pt idx="31">
                  <c:v>0.2345341295486604</c:v>
                </c:pt>
                <c:pt idx="32">
                  <c:v>0.27710267178852588</c:v>
                </c:pt>
                <c:pt idx="33">
                  <c:v>0.34452625297723583</c:v>
                </c:pt>
                <c:pt idx="34">
                  <c:v>0.4489014771814871</c:v>
                </c:pt>
                <c:pt idx="35">
                  <c:v>0.59259846103881064</c:v>
                </c:pt>
                <c:pt idx="36">
                  <c:v>0.75064088770224269</c:v>
                </c:pt>
                <c:pt idx="37">
                  <c:v>0.8362977346024848</c:v>
                </c:pt>
                <c:pt idx="38">
                  <c:v>0.77732202528848326</c:v>
                </c:pt>
                <c:pt idx="39">
                  <c:v>0.6340408513675686</c:v>
                </c:pt>
                <c:pt idx="40">
                  <c:v>0.49325453706510758</c:v>
                </c:pt>
                <c:pt idx="41">
                  <c:v>0.38355001550921503</c:v>
                </c:pt>
                <c:pt idx="42">
                  <c:v>0.31396422265117857</c:v>
                </c:pt>
                <c:pt idx="43">
                  <c:v>0.26752518291990657</c:v>
                </c:pt>
                <c:pt idx="44">
                  <c:v>0.23954117419958473</c:v>
                </c:pt>
                <c:pt idx="45">
                  <c:v>0.22237515399150223</c:v>
                </c:pt>
                <c:pt idx="46">
                  <c:v>0.21675825476717811</c:v>
                </c:pt>
                <c:pt idx="47">
                  <c:v>0.22111732893386518</c:v>
                </c:pt>
                <c:pt idx="48">
                  <c:v>0.23570532753621226</c:v>
                </c:pt>
                <c:pt idx="49">
                  <c:v>0.26526941401488802</c:v>
                </c:pt>
                <c:pt idx="50">
                  <c:v>0.3093002211977916</c:v>
                </c:pt>
                <c:pt idx="51">
                  <c:v>0.37720891397897865</c:v>
                </c:pt>
                <c:pt idx="52">
                  <c:v>0.47357286674175098</c:v>
                </c:pt>
                <c:pt idx="53">
                  <c:v>0.59343008091162852</c:v>
                </c:pt>
                <c:pt idx="54">
                  <c:v>0.70528295380563399</c:v>
                </c:pt>
                <c:pt idx="55">
                  <c:v>0.74859648884823216</c:v>
                </c:pt>
                <c:pt idx="56">
                  <c:v>0.69911510641556796</c:v>
                </c:pt>
                <c:pt idx="57">
                  <c:v>0.59291031849111742</c:v>
                </c:pt>
                <c:pt idx="58">
                  <c:v>0.48431462343231535</c:v>
                </c:pt>
                <c:pt idx="59">
                  <c:v>0.39460362965208606</c:v>
                </c:pt>
                <c:pt idx="60">
                  <c:v>0.33082878065536458</c:v>
                </c:pt>
                <c:pt idx="61">
                  <c:v>0.2868776703769394</c:v>
                </c:pt>
                <c:pt idx="62">
                  <c:v>0.26011337080341712</c:v>
                </c:pt>
                <c:pt idx="63">
                  <c:v>0.24360225124517876</c:v>
                </c:pt>
                <c:pt idx="64">
                  <c:v>0.24001935562645504</c:v>
                </c:pt>
                <c:pt idx="65">
                  <c:v>0.24529321165324178</c:v>
                </c:pt>
                <c:pt idx="66">
                  <c:v>0.2615097991731905</c:v>
                </c:pt>
                <c:pt idx="67">
                  <c:v>0.29198173734635918</c:v>
                </c:pt>
                <c:pt idx="68">
                  <c:v>0.33669516584153408</c:v>
                </c:pt>
                <c:pt idx="69">
                  <c:v>0.39980125385719789</c:v>
                </c:pt>
                <c:pt idx="70">
                  <c:v>0.48237417706240693</c:v>
                </c:pt>
                <c:pt idx="71">
                  <c:v>0.5739216647284423</c:v>
                </c:pt>
                <c:pt idx="72">
                  <c:v>0.65399972831519781</c:v>
                </c:pt>
                <c:pt idx="73">
                  <c:v>0.68092342169767683</c:v>
                </c:pt>
                <c:pt idx="74">
                  <c:v>0.64259960589198595</c:v>
                </c:pt>
                <c:pt idx="75">
                  <c:v>0.56068504841942435</c:v>
                </c:pt>
                <c:pt idx="76">
                  <c:v>0.47281054852500126</c:v>
                </c:pt>
                <c:pt idx="77">
                  <c:v>0.39706383844250559</c:v>
                </c:pt>
                <c:pt idx="78">
                  <c:v>0.34240215721874678</c:v>
                </c:pt>
                <c:pt idx="79">
                  <c:v>0.30273388928533373</c:v>
                </c:pt>
                <c:pt idx="80">
                  <c:v>0.27866195905005936</c:v>
                </c:pt>
              </c:numCache>
            </c:numRef>
          </c:yVal>
          <c:smooth val="0"/>
          <c:extLst>
            <c:ext xmlns:c16="http://schemas.microsoft.com/office/drawing/2014/chart" uri="{C3380CC4-5D6E-409C-BE32-E72D297353CC}">
              <c16:uniqueId val="{00000001-7D3F-4A86-A886-98D2C80DC33A}"/>
            </c:ext>
          </c:extLst>
        </c:ser>
        <c:ser>
          <c:idx val="2"/>
          <c:order val="2"/>
          <c:tx>
            <c:strRef>
              <c:f>Sheet1!$B$226</c:f>
              <c:strCache>
                <c:ptCount val="1"/>
                <c:pt idx="0">
                  <c:v>standard lifted (no etch)</c:v>
                </c:pt>
              </c:strCache>
            </c:strRef>
          </c:tx>
          <c:spPr>
            <a:ln w="15875">
              <a:solidFill>
                <a:srgbClr val="8A8A8A"/>
              </a:solidFill>
              <a:prstDash val="dash"/>
            </a:ln>
          </c:spPr>
          <c:marker>
            <c:symbol val="none"/>
          </c:marker>
          <c:xVal>
            <c:numRef>
              <c:f>Sheet1!$A$227:$A$228</c:f>
              <c:numCache>
                <c:formatCode>General</c:formatCode>
                <c:ptCount val="2"/>
                <c:pt idx="0">
                  <c:v>2</c:v>
                </c:pt>
                <c:pt idx="1">
                  <c:v>20</c:v>
                </c:pt>
              </c:numCache>
            </c:numRef>
          </c:xVal>
          <c:yVal>
            <c:numRef>
              <c:f>Sheet1!$B$227:$B$228</c:f>
              <c:numCache>
                <c:formatCode>General</c:formatCode>
                <c:ptCount val="2"/>
                <c:pt idx="0">
                  <c:v>0.22950000000000001</c:v>
                </c:pt>
                <c:pt idx="1">
                  <c:v>0.22950000000000001</c:v>
                </c:pt>
              </c:numCache>
            </c:numRef>
          </c:yVal>
          <c:smooth val="0"/>
          <c:extLst>
            <c:ext xmlns:c16="http://schemas.microsoft.com/office/drawing/2014/chart" uri="{C3380CC4-5D6E-409C-BE32-E72D297353CC}">
              <c16:uniqueId val="{00000002-7D3F-4A86-A886-98D2C80DC33A}"/>
            </c:ext>
          </c:extLst>
        </c:ser>
        <c:ser>
          <c:idx val="3"/>
          <c:order val="3"/>
          <c:tx>
            <c:strRef>
              <c:f>Sheet1!$B$230</c:f>
              <c:strCache>
                <c:ptCount val="1"/>
                <c:pt idx="0">
                  <c:v>_v4.2</c:v>
                </c:pt>
              </c:strCache>
            </c:strRef>
          </c:tx>
          <c:spPr>
            <a:ln w="12700">
              <a:solidFill>
                <a:srgbClr val="B0B0B0"/>
              </a:solidFill>
              <a:prstDash val="dash"/>
            </a:ln>
          </c:spPr>
          <c:marker>
            <c:symbol val="none"/>
          </c:marker>
          <c:xVal>
            <c:numRef>
              <c:f>Sheet1!$A$231:$A$232</c:f>
              <c:numCache>
                <c:formatCode>General</c:formatCode>
                <c:ptCount val="2"/>
                <c:pt idx="0">
                  <c:v>4.2</c:v>
                </c:pt>
                <c:pt idx="1">
                  <c:v>4.2</c:v>
                </c:pt>
              </c:numCache>
            </c:numRef>
          </c:xVal>
          <c:yVal>
            <c:numRef>
              <c:f>Sheet1!$B$231:$B$232</c:f>
              <c:numCache>
                <c:formatCode>General</c:formatCode>
                <c:ptCount val="2"/>
                <c:pt idx="0">
                  <c:v>1.0000000000000001E-5</c:v>
                </c:pt>
                <c:pt idx="1">
                  <c:v>10</c:v>
                </c:pt>
              </c:numCache>
            </c:numRef>
          </c:yVal>
          <c:smooth val="0"/>
          <c:extLst>
            <c:ext xmlns:c16="http://schemas.microsoft.com/office/drawing/2014/chart" uri="{C3380CC4-5D6E-409C-BE32-E72D297353CC}">
              <c16:uniqueId val="{00000003-7D3F-4A86-A886-98D2C80DC33A}"/>
            </c:ext>
          </c:extLst>
        </c:ser>
        <c:ser>
          <c:idx val="4"/>
          <c:order val="4"/>
          <c:tx>
            <c:strRef>
              <c:f>Sheet1!$B$234</c:f>
              <c:strCache>
                <c:ptCount val="1"/>
                <c:pt idx="0">
                  <c:v>_v14.0</c:v>
                </c:pt>
              </c:strCache>
            </c:strRef>
          </c:tx>
          <c:spPr>
            <a:ln w="12700">
              <a:solidFill>
                <a:srgbClr val="B0B0B0"/>
              </a:solidFill>
              <a:prstDash val="dash"/>
            </a:ln>
          </c:spPr>
          <c:marker>
            <c:symbol val="none"/>
          </c:marker>
          <c:xVal>
            <c:numRef>
              <c:f>Sheet1!$A$235:$A$236</c:f>
              <c:numCache>
                <c:formatCode>General</c:formatCode>
                <c:ptCount val="2"/>
                <c:pt idx="0">
                  <c:v>14</c:v>
                </c:pt>
                <c:pt idx="1">
                  <c:v>14</c:v>
                </c:pt>
              </c:numCache>
            </c:numRef>
          </c:xVal>
          <c:yVal>
            <c:numRef>
              <c:f>Sheet1!$B$235:$B$236</c:f>
              <c:numCache>
                <c:formatCode>General</c:formatCode>
                <c:ptCount val="2"/>
                <c:pt idx="0">
                  <c:v>1.0000000000000001E-5</c:v>
                </c:pt>
                <c:pt idx="1">
                  <c:v>10</c:v>
                </c:pt>
              </c:numCache>
            </c:numRef>
          </c:yVal>
          <c:smooth val="0"/>
          <c:extLst>
            <c:ext xmlns:c16="http://schemas.microsoft.com/office/drawing/2014/chart" uri="{C3380CC4-5D6E-409C-BE32-E72D297353CC}">
              <c16:uniqueId val="{00000004-7D3F-4A86-A886-98D2C80DC33A}"/>
            </c:ext>
          </c:extLst>
        </c:ser>
        <c:dLbls>
          <c:showLegendKey val="0"/>
          <c:showVal val="0"/>
          <c:showCatName val="0"/>
          <c:showSerName val="0"/>
          <c:showPercent val="0"/>
          <c:showBubbleSize val="0"/>
        </c:dLbls>
        <c:axId val="-2128940872"/>
        <c:axId val="-2129643912"/>
      </c:scatterChart>
      <c:valAx>
        <c:axId val="-2128940872"/>
        <c:scaling>
          <c:orientation val="minMax"/>
          <c:max val="20"/>
          <c:min val="2"/>
        </c:scaling>
        <c:delete val="0"/>
        <c:axPos val="b"/>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
      </c:valAx>
      <c:valAx>
        <c:axId val="-2129643912"/>
        <c:scaling>
          <c:logBase val="10"/>
          <c:orientation val="minMax"/>
          <c:max val="10"/>
          <c:min val="1.0000000000000001E-5"/>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legendEntry>
        <c:idx val="3"/>
        <c:delete val="1"/>
      </c:legendEntry>
      <c:legendEntry>
        <c:idx val="4"/>
        <c:delete val="1"/>
      </c:legendEntry>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x_lift = 7 µm</c:v>
                </c:pt>
              </c:strCache>
            </c:strRef>
          </c:tx>
          <c:spPr>
            <a:ln w="19050">
              <a:solidFill>
                <a:srgbClr val="2A78D6"/>
              </a:solidFill>
            </a:ln>
          </c:spPr>
          <c:marker>
            <c:symbol val="circle"/>
            <c:size val="3"/>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c:v>
                </c:pt>
                <c:pt idx="5">
                  <c:v>4.0999999999999996</c:v>
                </c:pt>
                <c:pt idx="6">
                  <c:v>4.1500000000000004</c:v>
                </c:pt>
                <c:pt idx="7">
                  <c:v>4.2</c:v>
                </c:pt>
                <c:pt idx="8">
                  <c:v>4.25</c:v>
                </c:pt>
                <c:pt idx="9">
                  <c:v>4.3</c:v>
                </c:pt>
                <c:pt idx="10">
                  <c:v>4.4000000000000004</c:v>
                </c:pt>
                <c:pt idx="11">
                  <c:v>4.5</c:v>
                </c:pt>
                <c:pt idx="12">
                  <c:v>4.5999999999999996</c:v>
                </c:pt>
                <c:pt idx="13">
                  <c:v>4.7</c:v>
                </c:pt>
                <c:pt idx="14">
                  <c:v>4.75</c:v>
                </c:pt>
                <c:pt idx="15">
                  <c:v>4.8</c:v>
                </c:pt>
                <c:pt idx="16">
                  <c:v>4.8499999999999996</c:v>
                </c:pt>
                <c:pt idx="17">
                  <c:v>4.9000000000000004</c:v>
                </c:pt>
                <c:pt idx="18">
                  <c:v>4.95</c:v>
                </c:pt>
                <c:pt idx="19">
                  <c:v>5</c:v>
                </c:pt>
                <c:pt idx="20">
                  <c:v>5.05</c:v>
                </c:pt>
                <c:pt idx="21">
                  <c:v>5.0999999999999996</c:v>
                </c:pt>
                <c:pt idx="22">
                  <c:v>5.15</c:v>
                </c:pt>
                <c:pt idx="23">
                  <c:v>5.2</c:v>
                </c:pt>
                <c:pt idx="24">
                  <c:v>5.4</c:v>
                </c:pt>
                <c:pt idx="25">
                  <c:v>5.6</c:v>
                </c:pt>
                <c:pt idx="26">
                  <c:v>5.8</c:v>
                </c:pt>
                <c:pt idx="27">
                  <c:v>6</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c:v>
                </c:pt>
                <c:pt idx="42">
                  <c:v>7.05</c:v>
                </c:pt>
                <c:pt idx="43">
                  <c:v>7.2</c:v>
                </c:pt>
                <c:pt idx="44">
                  <c:v>7.4</c:v>
                </c:pt>
                <c:pt idx="45">
                  <c:v>7.6</c:v>
                </c:pt>
                <c:pt idx="46">
                  <c:v>7.8</c:v>
                </c:pt>
                <c:pt idx="47">
                  <c:v>8</c:v>
                </c:pt>
                <c:pt idx="48">
                  <c:v>8.1999999999999993</c:v>
                </c:pt>
                <c:pt idx="49">
                  <c:v>8.25</c:v>
                </c:pt>
                <c:pt idx="50">
                  <c:v>8.3000000000000007</c:v>
                </c:pt>
                <c:pt idx="51">
                  <c:v>8.35</c:v>
                </c:pt>
                <c:pt idx="52">
                  <c:v>8.4</c:v>
                </c:pt>
                <c:pt idx="53">
                  <c:v>8.4499999999999993</c:v>
                </c:pt>
                <c:pt idx="54">
                  <c:v>8.5</c:v>
                </c:pt>
                <c:pt idx="55">
                  <c:v>8.5500000000000007</c:v>
                </c:pt>
                <c:pt idx="56">
                  <c:v>8.6</c:v>
                </c:pt>
                <c:pt idx="57">
                  <c:v>8.65</c:v>
                </c:pt>
                <c:pt idx="58">
                  <c:v>8.6999999999999993</c:v>
                </c:pt>
                <c:pt idx="59">
                  <c:v>8.75</c:v>
                </c:pt>
                <c:pt idx="60">
                  <c:v>8.8000000000000007</c:v>
                </c:pt>
                <c:pt idx="61">
                  <c:v>8.85</c:v>
                </c:pt>
                <c:pt idx="62">
                  <c:v>9</c:v>
                </c:pt>
                <c:pt idx="63">
                  <c:v>9.1999999999999993</c:v>
                </c:pt>
                <c:pt idx="64">
                  <c:v>9.4</c:v>
                </c:pt>
                <c:pt idx="65">
                  <c:v>9.6</c:v>
                </c:pt>
                <c:pt idx="66">
                  <c:v>9.8000000000000007</c:v>
                </c:pt>
                <c:pt idx="67">
                  <c:v>10</c:v>
                </c:pt>
                <c:pt idx="68">
                  <c:v>10.050000000000001</c:v>
                </c:pt>
                <c:pt idx="69">
                  <c:v>10.1</c:v>
                </c:pt>
                <c:pt idx="70">
                  <c:v>10.15</c:v>
                </c:pt>
                <c:pt idx="71">
                  <c:v>10.199999999999999</c:v>
                </c:pt>
                <c:pt idx="72">
                  <c:v>10.25</c:v>
                </c:pt>
                <c:pt idx="73">
                  <c:v>10.3</c:v>
                </c:pt>
                <c:pt idx="74">
                  <c:v>10.35</c:v>
                </c:pt>
                <c:pt idx="75">
                  <c:v>10.4</c:v>
                </c:pt>
                <c:pt idx="76">
                  <c:v>10.45</c:v>
                </c:pt>
                <c:pt idx="77">
                  <c:v>10.5</c:v>
                </c:pt>
                <c:pt idx="78">
                  <c:v>10.55</c:v>
                </c:pt>
                <c:pt idx="79">
                  <c:v>10.6</c:v>
                </c:pt>
                <c:pt idx="80">
                  <c:v>10.65</c:v>
                </c:pt>
                <c:pt idx="81">
                  <c:v>10.8</c:v>
                </c:pt>
                <c:pt idx="82">
                  <c:v>11</c:v>
                </c:pt>
                <c:pt idx="83">
                  <c:v>11.2</c:v>
                </c:pt>
                <c:pt idx="84">
                  <c:v>11.4</c:v>
                </c:pt>
                <c:pt idx="85">
                  <c:v>11.6</c:v>
                </c:pt>
                <c:pt idx="86">
                  <c:v>11.8</c:v>
                </c:pt>
                <c:pt idx="87">
                  <c:v>11.85</c:v>
                </c:pt>
                <c:pt idx="88">
                  <c:v>11.9</c:v>
                </c:pt>
                <c:pt idx="89">
                  <c:v>11.95</c:v>
                </c:pt>
                <c:pt idx="90">
                  <c:v>12</c:v>
                </c:pt>
                <c:pt idx="91">
                  <c:v>12.05</c:v>
                </c:pt>
                <c:pt idx="92">
                  <c:v>12.1</c:v>
                </c:pt>
                <c:pt idx="93">
                  <c:v>12.15</c:v>
                </c:pt>
                <c:pt idx="94">
                  <c:v>12.2</c:v>
                </c:pt>
                <c:pt idx="95">
                  <c:v>12.25</c:v>
                </c:pt>
                <c:pt idx="96">
                  <c:v>12.3</c:v>
                </c:pt>
                <c:pt idx="97">
                  <c:v>12.35</c:v>
                </c:pt>
                <c:pt idx="98">
                  <c:v>12.4</c:v>
                </c:pt>
                <c:pt idx="99">
                  <c:v>12.45</c:v>
                </c:pt>
                <c:pt idx="100">
                  <c:v>12.6</c:v>
                </c:pt>
                <c:pt idx="101">
                  <c:v>12.8</c:v>
                </c:pt>
                <c:pt idx="102">
                  <c:v>13</c:v>
                </c:pt>
                <c:pt idx="103">
                  <c:v>13.2</c:v>
                </c:pt>
                <c:pt idx="104">
                  <c:v>13.4</c:v>
                </c:pt>
                <c:pt idx="105">
                  <c:v>13.6</c:v>
                </c:pt>
                <c:pt idx="106">
                  <c:v>13.65</c:v>
                </c:pt>
                <c:pt idx="107">
                  <c:v>13.7</c:v>
                </c:pt>
                <c:pt idx="108">
                  <c:v>13.75</c:v>
                </c:pt>
                <c:pt idx="109">
                  <c:v>13.8</c:v>
                </c:pt>
                <c:pt idx="110">
                  <c:v>13.85</c:v>
                </c:pt>
                <c:pt idx="111">
                  <c:v>13.9</c:v>
                </c:pt>
                <c:pt idx="112">
                  <c:v>13.95</c:v>
                </c:pt>
                <c:pt idx="113">
                  <c:v>14</c:v>
                </c:pt>
                <c:pt idx="114">
                  <c:v>14.05</c:v>
                </c:pt>
                <c:pt idx="115">
                  <c:v>14.1</c:v>
                </c:pt>
                <c:pt idx="116">
                  <c:v>14.2</c:v>
                </c:pt>
                <c:pt idx="117">
                  <c:v>14.3</c:v>
                </c:pt>
                <c:pt idx="118">
                  <c:v>14.4</c:v>
                </c:pt>
                <c:pt idx="119">
                  <c:v>14.5</c:v>
                </c:pt>
                <c:pt idx="120">
                  <c:v>14.6</c:v>
                </c:pt>
                <c:pt idx="121">
                  <c:v>14.7</c:v>
                </c:pt>
                <c:pt idx="122">
                  <c:v>14.8</c:v>
                </c:pt>
                <c:pt idx="123">
                  <c:v>14.9</c:v>
                </c:pt>
                <c:pt idx="124">
                  <c:v>15</c:v>
                </c:pt>
                <c:pt idx="125">
                  <c:v>15.2</c:v>
                </c:pt>
                <c:pt idx="126">
                  <c:v>15.4</c:v>
                </c:pt>
                <c:pt idx="127">
                  <c:v>15.6</c:v>
                </c:pt>
                <c:pt idx="128">
                  <c:v>15.8</c:v>
                </c:pt>
                <c:pt idx="129">
                  <c:v>16</c:v>
                </c:pt>
                <c:pt idx="130">
                  <c:v>16.399999999999999</c:v>
                </c:pt>
                <c:pt idx="131">
                  <c:v>16.8</c:v>
                </c:pt>
                <c:pt idx="132">
                  <c:v>17.2</c:v>
                </c:pt>
                <c:pt idx="133">
                  <c:v>17.600000000000001</c:v>
                </c:pt>
                <c:pt idx="134">
                  <c:v>18</c:v>
                </c:pt>
                <c:pt idx="135">
                  <c:v>18.399999999999999</c:v>
                </c:pt>
                <c:pt idx="136">
                  <c:v>18.8</c:v>
                </c:pt>
                <c:pt idx="137">
                  <c:v>19.2</c:v>
                </c:pt>
                <c:pt idx="138">
                  <c:v>19.600000000000001</c:v>
                </c:pt>
                <c:pt idx="139">
                  <c:v>20</c:v>
                </c:pt>
              </c:numCache>
            </c:numRef>
          </c:xVal>
          <c:yVal>
            <c:numRef>
              <c:f>Sheet1!$B$2:$B$141</c:f>
              <c:numCache>
                <c:formatCode>General</c:formatCode>
                <c:ptCount val="140"/>
                <c:pt idx="0">
                  <c:v>5.3860000000000001</c:v>
                </c:pt>
                <c:pt idx="1">
                  <c:v>4.7811000000000003</c:v>
                </c:pt>
                <c:pt idx="2">
                  <c:v>4.2476000000000003</c:v>
                </c:pt>
                <c:pt idx="3">
                  <c:v>3.7256</c:v>
                </c:pt>
                <c:pt idx="4">
                  <c:v>3.0594999999999999</c:v>
                </c:pt>
                <c:pt idx="5">
                  <c:v>2.7753000000000001</c:v>
                </c:pt>
                <c:pt idx="6">
                  <c:v>2.5579000000000001</c:v>
                </c:pt>
                <c:pt idx="7">
                  <c:v>2.1505999999999998</c:v>
                </c:pt>
                <c:pt idx="8">
                  <c:v>2.1753</c:v>
                </c:pt>
                <c:pt idx="9">
                  <c:v>2.1953999999999998</c:v>
                </c:pt>
                <c:pt idx="10">
                  <c:v>2.2241</c:v>
                </c:pt>
                <c:pt idx="11">
                  <c:v>2.2412000000000001</c:v>
                </c:pt>
                <c:pt idx="12">
                  <c:v>2.2513000000000001</c:v>
                </c:pt>
                <c:pt idx="13">
                  <c:v>2.2570000000000001</c:v>
                </c:pt>
                <c:pt idx="14">
                  <c:v>2.2589000000000001</c:v>
                </c:pt>
                <c:pt idx="15">
                  <c:v>2.2603</c:v>
                </c:pt>
                <c:pt idx="16">
                  <c:v>2.2612000000000001</c:v>
                </c:pt>
                <c:pt idx="17">
                  <c:v>2.2616999999999998</c:v>
                </c:pt>
                <c:pt idx="18">
                  <c:v>2.262</c:v>
                </c:pt>
                <c:pt idx="19">
                  <c:v>2.2637</c:v>
                </c:pt>
                <c:pt idx="20">
                  <c:v>2.2643</c:v>
                </c:pt>
                <c:pt idx="21">
                  <c:v>2.2646000000000002</c:v>
                </c:pt>
                <c:pt idx="22">
                  <c:v>2.2648999999999999</c:v>
                </c:pt>
                <c:pt idx="23">
                  <c:v>2.2650999999999999</c:v>
                </c:pt>
                <c:pt idx="24">
                  <c:v>2.2656999999999998</c:v>
                </c:pt>
                <c:pt idx="25">
                  <c:v>2.266</c:v>
                </c:pt>
                <c:pt idx="26">
                  <c:v>2.2662</c:v>
                </c:pt>
                <c:pt idx="27">
                  <c:v>2.2663000000000002</c:v>
                </c:pt>
                <c:pt idx="28">
                  <c:v>2.2664</c:v>
                </c:pt>
                <c:pt idx="29">
                  <c:v>2.2664</c:v>
                </c:pt>
                <c:pt idx="30">
                  <c:v>2.2664</c:v>
                </c:pt>
                <c:pt idx="31">
                  <c:v>2.2664</c:v>
                </c:pt>
                <c:pt idx="32">
                  <c:v>2.2664</c:v>
                </c:pt>
                <c:pt idx="33">
                  <c:v>2.2664</c:v>
                </c:pt>
                <c:pt idx="34">
                  <c:v>2.2663000000000002</c:v>
                </c:pt>
                <c:pt idx="35">
                  <c:v>2.2663000000000002</c:v>
                </c:pt>
                <c:pt idx="36">
                  <c:v>2.2664</c:v>
                </c:pt>
                <c:pt idx="37">
                  <c:v>2.2665000000000002</c:v>
                </c:pt>
                <c:pt idx="38">
                  <c:v>2.2665999999999999</c:v>
                </c:pt>
                <c:pt idx="39">
                  <c:v>2.2667000000000002</c:v>
                </c:pt>
                <c:pt idx="40">
                  <c:v>2.2667000000000002</c:v>
                </c:pt>
                <c:pt idx="41">
                  <c:v>2.2667000000000002</c:v>
                </c:pt>
                <c:pt idx="42">
                  <c:v>2.2667000000000002</c:v>
                </c:pt>
                <c:pt idx="43">
                  <c:v>2.2667000000000002</c:v>
                </c:pt>
                <c:pt idx="44">
                  <c:v>2.2667000000000002</c:v>
                </c:pt>
                <c:pt idx="45">
                  <c:v>2.2667000000000002</c:v>
                </c:pt>
                <c:pt idx="46">
                  <c:v>2.2667000000000002</c:v>
                </c:pt>
                <c:pt idx="47">
                  <c:v>2.2667000000000002</c:v>
                </c:pt>
                <c:pt idx="48">
                  <c:v>2.2667000000000002</c:v>
                </c:pt>
                <c:pt idx="49">
                  <c:v>2.2667000000000002</c:v>
                </c:pt>
                <c:pt idx="50">
                  <c:v>2.2667000000000002</c:v>
                </c:pt>
                <c:pt idx="51">
                  <c:v>2.2667000000000002</c:v>
                </c:pt>
                <c:pt idx="52">
                  <c:v>2.2665999999999999</c:v>
                </c:pt>
                <c:pt idx="53">
                  <c:v>2.2665999999999999</c:v>
                </c:pt>
                <c:pt idx="54">
                  <c:v>2.2667000000000002</c:v>
                </c:pt>
                <c:pt idx="55">
                  <c:v>2.2667000000000002</c:v>
                </c:pt>
                <c:pt idx="56">
                  <c:v>2.2667999999999999</c:v>
                </c:pt>
                <c:pt idx="57">
                  <c:v>2.2667999999999999</c:v>
                </c:pt>
                <c:pt idx="58">
                  <c:v>2.2667999999999999</c:v>
                </c:pt>
                <c:pt idx="59">
                  <c:v>2.2667999999999999</c:v>
                </c:pt>
                <c:pt idx="60">
                  <c:v>2.2667999999999999</c:v>
                </c:pt>
                <c:pt idx="61">
                  <c:v>2.2667999999999999</c:v>
                </c:pt>
                <c:pt idx="62">
                  <c:v>2.2667999999999999</c:v>
                </c:pt>
                <c:pt idx="63">
                  <c:v>2.2667999999999999</c:v>
                </c:pt>
                <c:pt idx="64">
                  <c:v>2.2667999999999999</c:v>
                </c:pt>
                <c:pt idx="65">
                  <c:v>2.2667999999999999</c:v>
                </c:pt>
                <c:pt idx="66">
                  <c:v>2.2667999999999999</c:v>
                </c:pt>
                <c:pt idx="67">
                  <c:v>2.2667999999999999</c:v>
                </c:pt>
                <c:pt idx="68">
                  <c:v>2.2667999999999999</c:v>
                </c:pt>
                <c:pt idx="69">
                  <c:v>2.2667999999999999</c:v>
                </c:pt>
                <c:pt idx="70">
                  <c:v>2.2667999999999999</c:v>
                </c:pt>
                <c:pt idx="71">
                  <c:v>2.2667999999999999</c:v>
                </c:pt>
                <c:pt idx="72">
                  <c:v>2.2667999999999999</c:v>
                </c:pt>
                <c:pt idx="73">
                  <c:v>2.2667999999999999</c:v>
                </c:pt>
                <c:pt idx="74">
                  <c:v>2.2667999999999999</c:v>
                </c:pt>
                <c:pt idx="75">
                  <c:v>2.2669000000000001</c:v>
                </c:pt>
                <c:pt idx="76">
                  <c:v>2.2669000000000001</c:v>
                </c:pt>
                <c:pt idx="77">
                  <c:v>2.2669000000000001</c:v>
                </c:pt>
                <c:pt idx="78">
                  <c:v>2.2669000000000001</c:v>
                </c:pt>
                <c:pt idx="79">
                  <c:v>2.2669000000000001</c:v>
                </c:pt>
                <c:pt idx="80">
                  <c:v>2.2669000000000001</c:v>
                </c:pt>
                <c:pt idx="81">
                  <c:v>2.2669000000000001</c:v>
                </c:pt>
                <c:pt idx="82">
                  <c:v>2.2669000000000001</c:v>
                </c:pt>
                <c:pt idx="83">
                  <c:v>2.2669000000000001</c:v>
                </c:pt>
                <c:pt idx="84">
                  <c:v>2.2669000000000001</c:v>
                </c:pt>
                <c:pt idx="85">
                  <c:v>2.2667999999999999</c:v>
                </c:pt>
                <c:pt idx="86">
                  <c:v>2.2667999999999999</c:v>
                </c:pt>
                <c:pt idx="87">
                  <c:v>2.2667999999999999</c:v>
                </c:pt>
                <c:pt idx="88">
                  <c:v>2.2667999999999999</c:v>
                </c:pt>
                <c:pt idx="89">
                  <c:v>2.2667999999999999</c:v>
                </c:pt>
                <c:pt idx="90">
                  <c:v>2.2667999999999999</c:v>
                </c:pt>
                <c:pt idx="91">
                  <c:v>2.2667999999999999</c:v>
                </c:pt>
                <c:pt idx="92">
                  <c:v>2.2667999999999999</c:v>
                </c:pt>
                <c:pt idx="93">
                  <c:v>2.2669000000000001</c:v>
                </c:pt>
                <c:pt idx="94">
                  <c:v>2.2669000000000001</c:v>
                </c:pt>
                <c:pt idx="95">
                  <c:v>2.2669000000000001</c:v>
                </c:pt>
                <c:pt idx="96">
                  <c:v>2.2669000000000001</c:v>
                </c:pt>
                <c:pt idx="97">
                  <c:v>2.2669000000000001</c:v>
                </c:pt>
                <c:pt idx="98">
                  <c:v>2.2669000000000001</c:v>
                </c:pt>
                <c:pt idx="99">
                  <c:v>2.2669000000000001</c:v>
                </c:pt>
                <c:pt idx="100">
                  <c:v>2.2669000000000001</c:v>
                </c:pt>
                <c:pt idx="101">
                  <c:v>2.2669000000000001</c:v>
                </c:pt>
                <c:pt idx="102">
                  <c:v>2.2669000000000001</c:v>
                </c:pt>
                <c:pt idx="103">
                  <c:v>2.2669000000000001</c:v>
                </c:pt>
                <c:pt idx="104">
                  <c:v>2.2669000000000001</c:v>
                </c:pt>
                <c:pt idx="105">
                  <c:v>2.2669000000000001</c:v>
                </c:pt>
                <c:pt idx="106">
                  <c:v>2.2667999999999999</c:v>
                </c:pt>
                <c:pt idx="107">
                  <c:v>2.2667999999999999</c:v>
                </c:pt>
                <c:pt idx="108">
                  <c:v>2.2669000000000001</c:v>
                </c:pt>
                <c:pt idx="109">
                  <c:v>2.2669000000000001</c:v>
                </c:pt>
                <c:pt idx="110">
                  <c:v>2.2669999999999999</c:v>
                </c:pt>
                <c:pt idx="111">
                  <c:v>2.2669000000000001</c:v>
                </c:pt>
                <c:pt idx="112">
                  <c:v>2.2669000000000001</c:v>
                </c:pt>
                <c:pt idx="113">
                  <c:v>2.2669000000000001</c:v>
                </c:pt>
                <c:pt idx="114">
                  <c:v>2.2669999999999999</c:v>
                </c:pt>
                <c:pt idx="115">
                  <c:v>2.2669000000000001</c:v>
                </c:pt>
                <c:pt idx="116">
                  <c:v>2.2669000000000001</c:v>
                </c:pt>
                <c:pt idx="117">
                  <c:v>2.2669000000000001</c:v>
                </c:pt>
                <c:pt idx="118">
                  <c:v>2.2669000000000001</c:v>
                </c:pt>
                <c:pt idx="119">
                  <c:v>2.2669000000000001</c:v>
                </c:pt>
                <c:pt idx="120">
                  <c:v>2.2667999999999999</c:v>
                </c:pt>
                <c:pt idx="121">
                  <c:v>2.2667999999999999</c:v>
                </c:pt>
                <c:pt idx="122">
                  <c:v>2.2667999999999999</c:v>
                </c:pt>
                <c:pt idx="123">
                  <c:v>2.2667999999999999</c:v>
                </c:pt>
                <c:pt idx="124">
                  <c:v>2.2667999999999999</c:v>
                </c:pt>
                <c:pt idx="125">
                  <c:v>2.2667999999999999</c:v>
                </c:pt>
                <c:pt idx="126">
                  <c:v>2.2667999999999999</c:v>
                </c:pt>
                <c:pt idx="127">
                  <c:v>2.2667999999999999</c:v>
                </c:pt>
                <c:pt idx="128">
                  <c:v>2.2667999999999999</c:v>
                </c:pt>
                <c:pt idx="129">
                  <c:v>2.2667999999999999</c:v>
                </c:pt>
                <c:pt idx="130">
                  <c:v>2.2667999999999999</c:v>
                </c:pt>
                <c:pt idx="131">
                  <c:v>2.2667999999999999</c:v>
                </c:pt>
                <c:pt idx="132">
                  <c:v>2.2667999999999999</c:v>
                </c:pt>
                <c:pt idx="133">
                  <c:v>2.2667999999999999</c:v>
                </c:pt>
                <c:pt idx="134">
                  <c:v>2.2667999999999999</c:v>
                </c:pt>
                <c:pt idx="135">
                  <c:v>2.2667999999999999</c:v>
                </c:pt>
                <c:pt idx="136">
                  <c:v>2.2667999999999999</c:v>
                </c:pt>
                <c:pt idx="137">
                  <c:v>2.2667999999999999</c:v>
                </c:pt>
                <c:pt idx="138">
                  <c:v>2.2667999999999999</c:v>
                </c:pt>
                <c:pt idx="139">
                  <c:v>2.2667999999999999</c:v>
                </c:pt>
              </c:numCache>
            </c:numRef>
          </c:yVal>
          <c:smooth val="0"/>
          <c:extLst>
            <c:ext xmlns:c16="http://schemas.microsoft.com/office/drawing/2014/chart" uri="{C3380CC4-5D6E-409C-BE32-E72D297353CC}">
              <c16:uniqueId val="{00000000-10FF-47D8-AD33-0DF43E63A3F6}"/>
            </c:ext>
          </c:extLst>
        </c:ser>
        <c:ser>
          <c:idx val="1"/>
          <c:order val="1"/>
          <c:tx>
            <c:strRef>
              <c:f>Sheet1!$B$143</c:f>
              <c:strCache>
                <c:ptCount val="1"/>
                <c:pt idx="0">
                  <c:v>x_lift = 11 µm</c:v>
                </c:pt>
              </c:strCache>
            </c:strRef>
          </c:tx>
          <c:spPr>
            <a:ln w="19050">
              <a:solidFill>
                <a:srgbClr val="EB6834"/>
              </a:solidFill>
            </a:ln>
          </c:spPr>
          <c:marker>
            <c:symbol val="circle"/>
            <c:size val="3"/>
            <c:spPr>
              <a:solidFill>
                <a:srgbClr val="EB6834"/>
              </a:solidFill>
              <a:ln>
                <a:solidFill>
                  <a:srgbClr val="EB6834"/>
                </a:solidFill>
              </a:ln>
            </c:spPr>
          </c:marker>
          <c:xVal>
            <c:numRef>
              <c:f>Sheet1!$A$144:$A$224</c:f>
              <c:numCache>
                <c:formatCode>General</c:formatCode>
                <c:ptCount val="81"/>
                <c:pt idx="0">
                  <c:v>12</c:v>
                </c:pt>
                <c:pt idx="1">
                  <c:v>12.1</c:v>
                </c:pt>
                <c:pt idx="2">
                  <c:v>12.2</c:v>
                </c:pt>
                <c:pt idx="3">
                  <c:v>12.3</c:v>
                </c:pt>
                <c:pt idx="4">
                  <c:v>12.4</c:v>
                </c:pt>
                <c:pt idx="5">
                  <c:v>12.5</c:v>
                </c:pt>
                <c:pt idx="6">
                  <c:v>12.6</c:v>
                </c:pt>
                <c:pt idx="7">
                  <c:v>12.7</c:v>
                </c:pt>
                <c:pt idx="8">
                  <c:v>12.8</c:v>
                </c:pt>
                <c:pt idx="9">
                  <c:v>12.9</c:v>
                </c:pt>
                <c:pt idx="10">
                  <c:v>13</c:v>
                </c:pt>
                <c:pt idx="11">
                  <c:v>13.1</c:v>
                </c:pt>
                <c:pt idx="12">
                  <c:v>13.2</c:v>
                </c:pt>
                <c:pt idx="13">
                  <c:v>13.3</c:v>
                </c:pt>
                <c:pt idx="14">
                  <c:v>13.4</c:v>
                </c:pt>
                <c:pt idx="15">
                  <c:v>13.5</c:v>
                </c:pt>
                <c:pt idx="16">
                  <c:v>13.6</c:v>
                </c:pt>
                <c:pt idx="17">
                  <c:v>13.7</c:v>
                </c:pt>
                <c:pt idx="18">
                  <c:v>13.8</c:v>
                </c:pt>
                <c:pt idx="19">
                  <c:v>13.9</c:v>
                </c:pt>
                <c:pt idx="20">
                  <c:v>14</c:v>
                </c:pt>
                <c:pt idx="21">
                  <c:v>14.1</c:v>
                </c:pt>
                <c:pt idx="22">
                  <c:v>14.2</c:v>
                </c:pt>
                <c:pt idx="23">
                  <c:v>14.3</c:v>
                </c:pt>
                <c:pt idx="24">
                  <c:v>14.4</c:v>
                </c:pt>
                <c:pt idx="25">
                  <c:v>14.5</c:v>
                </c:pt>
                <c:pt idx="26">
                  <c:v>14.6</c:v>
                </c:pt>
                <c:pt idx="27">
                  <c:v>14.7</c:v>
                </c:pt>
                <c:pt idx="28">
                  <c:v>14.8</c:v>
                </c:pt>
                <c:pt idx="29">
                  <c:v>14.9</c:v>
                </c:pt>
                <c:pt idx="30">
                  <c:v>15</c:v>
                </c:pt>
                <c:pt idx="31">
                  <c:v>15.1</c:v>
                </c:pt>
                <c:pt idx="32">
                  <c:v>15.2</c:v>
                </c:pt>
                <c:pt idx="33">
                  <c:v>15.3</c:v>
                </c:pt>
                <c:pt idx="34">
                  <c:v>15.4</c:v>
                </c:pt>
                <c:pt idx="35">
                  <c:v>15.5</c:v>
                </c:pt>
                <c:pt idx="36">
                  <c:v>15.6</c:v>
                </c:pt>
                <c:pt idx="37">
                  <c:v>15.7</c:v>
                </c:pt>
                <c:pt idx="38">
                  <c:v>15.8</c:v>
                </c:pt>
                <c:pt idx="39">
                  <c:v>15.9</c:v>
                </c:pt>
                <c:pt idx="40">
                  <c:v>16</c:v>
                </c:pt>
                <c:pt idx="41">
                  <c:v>16.100000000000001</c:v>
                </c:pt>
                <c:pt idx="42">
                  <c:v>16.2</c:v>
                </c:pt>
                <c:pt idx="43">
                  <c:v>16.3</c:v>
                </c:pt>
                <c:pt idx="44">
                  <c:v>16.399999999999999</c:v>
                </c:pt>
                <c:pt idx="45">
                  <c:v>16.5</c:v>
                </c:pt>
                <c:pt idx="46">
                  <c:v>16.600000000000001</c:v>
                </c:pt>
                <c:pt idx="47">
                  <c:v>16.7</c:v>
                </c:pt>
                <c:pt idx="48">
                  <c:v>16.8</c:v>
                </c:pt>
                <c:pt idx="49">
                  <c:v>16.899999999999999</c:v>
                </c:pt>
                <c:pt idx="50">
                  <c:v>17</c:v>
                </c:pt>
                <c:pt idx="51">
                  <c:v>17.100000000000001</c:v>
                </c:pt>
                <c:pt idx="52">
                  <c:v>17.2</c:v>
                </c:pt>
                <c:pt idx="53">
                  <c:v>17.3</c:v>
                </c:pt>
                <c:pt idx="54">
                  <c:v>17.399999999999999</c:v>
                </c:pt>
                <c:pt idx="55">
                  <c:v>17.5</c:v>
                </c:pt>
                <c:pt idx="56">
                  <c:v>17.600000000000001</c:v>
                </c:pt>
                <c:pt idx="57">
                  <c:v>17.7</c:v>
                </c:pt>
                <c:pt idx="58">
                  <c:v>17.8</c:v>
                </c:pt>
                <c:pt idx="59">
                  <c:v>17.899999999999999</c:v>
                </c:pt>
                <c:pt idx="60">
                  <c:v>18</c:v>
                </c:pt>
                <c:pt idx="61">
                  <c:v>18.100000000000001</c:v>
                </c:pt>
                <c:pt idx="62">
                  <c:v>18.2</c:v>
                </c:pt>
                <c:pt idx="63">
                  <c:v>18.3</c:v>
                </c:pt>
                <c:pt idx="64">
                  <c:v>18.399999999999999</c:v>
                </c:pt>
                <c:pt idx="65">
                  <c:v>18.5</c:v>
                </c:pt>
                <c:pt idx="66">
                  <c:v>18.600000000000001</c:v>
                </c:pt>
                <c:pt idx="67">
                  <c:v>18.7</c:v>
                </c:pt>
                <c:pt idx="68">
                  <c:v>18.8</c:v>
                </c:pt>
                <c:pt idx="69">
                  <c:v>18.899999999999999</c:v>
                </c:pt>
                <c:pt idx="70">
                  <c:v>19</c:v>
                </c:pt>
                <c:pt idx="71">
                  <c:v>19.100000000000001</c:v>
                </c:pt>
                <c:pt idx="72">
                  <c:v>19.2</c:v>
                </c:pt>
                <c:pt idx="73">
                  <c:v>19.3</c:v>
                </c:pt>
                <c:pt idx="74">
                  <c:v>19.399999999999999</c:v>
                </c:pt>
                <c:pt idx="75">
                  <c:v>19.5</c:v>
                </c:pt>
                <c:pt idx="76">
                  <c:v>19.600000000000001</c:v>
                </c:pt>
                <c:pt idx="77">
                  <c:v>19.7</c:v>
                </c:pt>
                <c:pt idx="78">
                  <c:v>19.8</c:v>
                </c:pt>
                <c:pt idx="79">
                  <c:v>19.899999999999999</c:v>
                </c:pt>
                <c:pt idx="80">
                  <c:v>20</c:v>
                </c:pt>
              </c:numCache>
            </c:numRef>
          </c:xVal>
          <c:yVal>
            <c:numRef>
              <c:f>Sheet1!$B$144:$B$224</c:f>
              <c:numCache>
                <c:formatCode>General</c:formatCode>
                <c:ptCount val="81"/>
                <c:pt idx="0">
                  <c:v>2.2667999999999999</c:v>
                </c:pt>
                <c:pt idx="1">
                  <c:v>2.2669000000000001</c:v>
                </c:pt>
                <c:pt idx="2">
                  <c:v>2.2669000000000001</c:v>
                </c:pt>
                <c:pt idx="3">
                  <c:v>2.2669000000000001</c:v>
                </c:pt>
                <c:pt idx="4">
                  <c:v>2.2669999999999999</c:v>
                </c:pt>
                <c:pt idx="5">
                  <c:v>2.2669000000000001</c:v>
                </c:pt>
                <c:pt idx="6">
                  <c:v>2.2669000000000001</c:v>
                </c:pt>
                <c:pt idx="7">
                  <c:v>2.2669000000000001</c:v>
                </c:pt>
                <c:pt idx="8">
                  <c:v>2.2669000000000001</c:v>
                </c:pt>
                <c:pt idx="9">
                  <c:v>2.2669000000000001</c:v>
                </c:pt>
                <c:pt idx="10">
                  <c:v>2.2669000000000001</c:v>
                </c:pt>
                <c:pt idx="11">
                  <c:v>2.2669000000000001</c:v>
                </c:pt>
                <c:pt idx="12">
                  <c:v>2.2669000000000001</c:v>
                </c:pt>
                <c:pt idx="13">
                  <c:v>2.2669000000000001</c:v>
                </c:pt>
                <c:pt idx="14">
                  <c:v>2.2669000000000001</c:v>
                </c:pt>
                <c:pt idx="15">
                  <c:v>2.2669000000000001</c:v>
                </c:pt>
                <c:pt idx="16">
                  <c:v>2.2669000000000001</c:v>
                </c:pt>
                <c:pt idx="17">
                  <c:v>2.2669000000000001</c:v>
                </c:pt>
                <c:pt idx="18">
                  <c:v>2.2669000000000001</c:v>
                </c:pt>
                <c:pt idx="19">
                  <c:v>2.2669000000000001</c:v>
                </c:pt>
                <c:pt idx="20">
                  <c:v>2.2669000000000001</c:v>
                </c:pt>
                <c:pt idx="21">
                  <c:v>2.2669999999999999</c:v>
                </c:pt>
                <c:pt idx="22">
                  <c:v>2.2669999999999999</c:v>
                </c:pt>
                <c:pt idx="23">
                  <c:v>2.2669000000000001</c:v>
                </c:pt>
                <c:pt idx="24">
                  <c:v>2.2669000000000001</c:v>
                </c:pt>
                <c:pt idx="25">
                  <c:v>2.2669000000000001</c:v>
                </c:pt>
                <c:pt idx="26">
                  <c:v>2.2669000000000001</c:v>
                </c:pt>
                <c:pt idx="27">
                  <c:v>2.2669000000000001</c:v>
                </c:pt>
                <c:pt idx="28">
                  <c:v>2.2669000000000001</c:v>
                </c:pt>
                <c:pt idx="29">
                  <c:v>2.2669000000000001</c:v>
                </c:pt>
                <c:pt idx="30">
                  <c:v>2.2669000000000001</c:v>
                </c:pt>
                <c:pt idx="31">
                  <c:v>2.2669000000000001</c:v>
                </c:pt>
                <c:pt idx="32">
                  <c:v>2.2669000000000001</c:v>
                </c:pt>
                <c:pt idx="33">
                  <c:v>2.2669000000000001</c:v>
                </c:pt>
                <c:pt idx="34">
                  <c:v>2.2669000000000001</c:v>
                </c:pt>
                <c:pt idx="35">
                  <c:v>2.2669000000000001</c:v>
                </c:pt>
                <c:pt idx="36">
                  <c:v>2.2669000000000001</c:v>
                </c:pt>
                <c:pt idx="37">
                  <c:v>2.2669000000000001</c:v>
                </c:pt>
                <c:pt idx="38">
                  <c:v>2.2669000000000001</c:v>
                </c:pt>
                <c:pt idx="39">
                  <c:v>2.2669000000000001</c:v>
                </c:pt>
                <c:pt idx="40">
                  <c:v>2.2669999999999999</c:v>
                </c:pt>
                <c:pt idx="41">
                  <c:v>2.2669000000000001</c:v>
                </c:pt>
                <c:pt idx="42">
                  <c:v>2.2669000000000001</c:v>
                </c:pt>
                <c:pt idx="43">
                  <c:v>2.2669000000000001</c:v>
                </c:pt>
                <c:pt idx="44">
                  <c:v>2.2669000000000001</c:v>
                </c:pt>
                <c:pt idx="45">
                  <c:v>2.2669000000000001</c:v>
                </c:pt>
                <c:pt idx="46">
                  <c:v>2.2669000000000001</c:v>
                </c:pt>
                <c:pt idx="47">
                  <c:v>2.2669000000000001</c:v>
                </c:pt>
                <c:pt idx="48">
                  <c:v>2.2669000000000001</c:v>
                </c:pt>
                <c:pt idx="49">
                  <c:v>2.2669000000000001</c:v>
                </c:pt>
                <c:pt idx="50">
                  <c:v>2.2669000000000001</c:v>
                </c:pt>
                <c:pt idx="51">
                  <c:v>2.2669000000000001</c:v>
                </c:pt>
                <c:pt idx="52">
                  <c:v>2.2669000000000001</c:v>
                </c:pt>
                <c:pt idx="53">
                  <c:v>2.2669000000000001</c:v>
                </c:pt>
                <c:pt idx="54">
                  <c:v>2.2669000000000001</c:v>
                </c:pt>
                <c:pt idx="55">
                  <c:v>2.2669000000000001</c:v>
                </c:pt>
                <c:pt idx="56">
                  <c:v>2.2669000000000001</c:v>
                </c:pt>
                <c:pt idx="57">
                  <c:v>2.2669000000000001</c:v>
                </c:pt>
                <c:pt idx="58">
                  <c:v>2.2669000000000001</c:v>
                </c:pt>
                <c:pt idx="59">
                  <c:v>2.2669000000000001</c:v>
                </c:pt>
                <c:pt idx="60">
                  <c:v>2.2669000000000001</c:v>
                </c:pt>
                <c:pt idx="61">
                  <c:v>2.2669000000000001</c:v>
                </c:pt>
                <c:pt idx="62">
                  <c:v>2.2669000000000001</c:v>
                </c:pt>
                <c:pt idx="63">
                  <c:v>2.2669000000000001</c:v>
                </c:pt>
                <c:pt idx="64">
                  <c:v>2.2669000000000001</c:v>
                </c:pt>
                <c:pt idx="65">
                  <c:v>2.2669000000000001</c:v>
                </c:pt>
                <c:pt idx="66">
                  <c:v>2.2669000000000001</c:v>
                </c:pt>
                <c:pt idx="67">
                  <c:v>2.2669000000000001</c:v>
                </c:pt>
                <c:pt idx="68">
                  <c:v>2.2669000000000001</c:v>
                </c:pt>
                <c:pt idx="69">
                  <c:v>2.2669000000000001</c:v>
                </c:pt>
                <c:pt idx="70">
                  <c:v>2.2669000000000001</c:v>
                </c:pt>
                <c:pt idx="71">
                  <c:v>2.2669000000000001</c:v>
                </c:pt>
                <c:pt idx="72">
                  <c:v>2.2669000000000001</c:v>
                </c:pt>
                <c:pt idx="73">
                  <c:v>2.2669000000000001</c:v>
                </c:pt>
                <c:pt idx="74">
                  <c:v>2.2669000000000001</c:v>
                </c:pt>
                <c:pt idx="75">
                  <c:v>2.2669000000000001</c:v>
                </c:pt>
                <c:pt idx="76">
                  <c:v>2.2669000000000001</c:v>
                </c:pt>
                <c:pt idx="77">
                  <c:v>2.2669000000000001</c:v>
                </c:pt>
                <c:pt idx="78">
                  <c:v>2.2669000000000001</c:v>
                </c:pt>
                <c:pt idx="79">
                  <c:v>2.2669000000000001</c:v>
                </c:pt>
                <c:pt idx="80">
                  <c:v>2.2669000000000001</c:v>
                </c:pt>
              </c:numCache>
            </c:numRef>
          </c:yVal>
          <c:smooth val="0"/>
          <c:extLst>
            <c:ext xmlns:c16="http://schemas.microsoft.com/office/drawing/2014/chart" uri="{C3380CC4-5D6E-409C-BE32-E72D297353CC}">
              <c16:uniqueId val="{00000001-10FF-47D8-AD33-0DF43E63A3F6}"/>
            </c:ext>
          </c:extLst>
        </c:ser>
        <c:ser>
          <c:idx val="2"/>
          <c:order val="2"/>
          <c:tx>
            <c:strRef>
              <c:f>Sheet1!$B$226</c:f>
              <c:strCache>
                <c:ptCount val="1"/>
                <c:pt idx="0">
                  <c:v>_v4.2</c:v>
                </c:pt>
              </c:strCache>
            </c:strRef>
          </c:tx>
          <c:spPr>
            <a:ln w="12700">
              <a:solidFill>
                <a:srgbClr val="B0B0B0"/>
              </a:solidFill>
              <a:prstDash val="dash"/>
            </a:ln>
          </c:spPr>
          <c:marker>
            <c:symbol val="none"/>
          </c:marker>
          <c:xVal>
            <c:numRef>
              <c:f>Sheet1!$A$227:$A$228</c:f>
              <c:numCache>
                <c:formatCode>General</c:formatCode>
                <c:ptCount val="2"/>
                <c:pt idx="0">
                  <c:v>4.2</c:v>
                </c:pt>
                <c:pt idx="1">
                  <c:v>4.2</c:v>
                </c:pt>
              </c:numCache>
            </c:numRef>
          </c:xVal>
          <c:yVal>
            <c:numRef>
              <c:f>Sheet1!$B$227:$B$228</c:f>
              <c:numCache>
                <c:formatCode>General</c:formatCode>
                <c:ptCount val="2"/>
                <c:pt idx="0">
                  <c:v>2</c:v>
                </c:pt>
                <c:pt idx="1">
                  <c:v>6</c:v>
                </c:pt>
              </c:numCache>
            </c:numRef>
          </c:yVal>
          <c:smooth val="0"/>
          <c:extLst>
            <c:ext xmlns:c16="http://schemas.microsoft.com/office/drawing/2014/chart" uri="{C3380CC4-5D6E-409C-BE32-E72D297353CC}">
              <c16:uniqueId val="{00000002-10FF-47D8-AD33-0DF43E63A3F6}"/>
            </c:ext>
          </c:extLst>
        </c:ser>
        <c:ser>
          <c:idx val="3"/>
          <c:order val="3"/>
          <c:tx>
            <c:strRef>
              <c:f>Sheet1!$B$230</c:f>
              <c:strCache>
                <c:ptCount val="1"/>
                <c:pt idx="0">
                  <c:v>_v14.0</c:v>
                </c:pt>
              </c:strCache>
            </c:strRef>
          </c:tx>
          <c:spPr>
            <a:ln w="12700">
              <a:solidFill>
                <a:srgbClr val="B0B0B0"/>
              </a:solidFill>
              <a:prstDash val="dash"/>
            </a:ln>
          </c:spPr>
          <c:marker>
            <c:symbol val="none"/>
          </c:marker>
          <c:xVal>
            <c:numRef>
              <c:f>Sheet1!$A$231:$A$232</c:f>
              <c:numCache>
                <c:formatCode>General</c:formatCode>
                <c:ptCount val="2"/>
                <c:pt idx="0">
                  <c:v>14</c:v>
                </c:pt>
                <c:pt idx="1">
                  <c:v>14</c:v>
                </c:pt>
              </c:numCache>
            </c:numRef>
          </c:xVal>
          <c:yVal>
            <c:numRef>
              <c:f>Sheet1!$B$231:$B$232</c:f>
              <c:numCache>
                <c:formatCode>General</c:formatCode>
                <c:ptCount val="2"/>
                <c:pt idx="0">
                  <c:v>2</c:v>
                </c:pt>
                <c:pt idx="1">
                  <c:v>6</c:v>
                </c:pt>
              </c:numCache>
            </c:numRef>
          </c:yVal>
          <c:smooth val="0"/>
          <c:extLst>
            <c:ext xmlns:c16="http://schemas.microsoft.com/office/drawing/2014/chart" uri="{C3380CC4-5D6E-409C-BE32-E72D297353CC}">
              <c16:uniqueId val="{00000003-10FF-47D8-AD33-0DF43E63A3F6}"/>
            </c:ext>
          </c:extLst>
        </c:ser>
        <c:dLbls>
          <c:showLegendKey val="0"/>
          <c:showVal val="0"/>
          <c:showCatName val="0"/>
          <c:showSerName val="0"/>
          <c:showPercent val="0"/>
          <c:showBubbleSize val="0"/>
        </c:dLbls>
        <c:axId val="-2128940872"/>
        <c:axId val="-2129643912"/>
      </c:scatterChart>
      <c:valAx>
        <c:axId val="-2128940872"/>
        <c:scaling>
          <c:orientation val="minMax"/>
          <c:max val="20"/>
          <c:min val="2"/>
        </c:scaling>
        <c:delete val="0"/>
        <c:axPos val="b"/>
        <c:title>
          <c:tx>
            <c:rich>
              <a:bodyPr/>
              <a:lstStyle/>
              <a:p>
                <a:r>
                  <a:rPr lang="en-US" sz="1100" b="0">
                    <a:latin typeface="Arial"/>
                  </a:rPr>
                  <a:t>slab_w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
      </c:valAx>
      <c:valAx>
        <c:axId val="-2129643912"/>
        <c:scaling>
          <c:orientation val="minMax"/>
          <c:max val="6"/>
          <c:min val="2"/>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1"/>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no spacer</c:v>
                </c:pt>
              </c:strCache>
            </c:strRef>
          </c:tx>
          <c:spPr>
            <a:ln w="19050">
              <a:solidFill>
                <a:srgbClr val="2A78D6"/>
              </a:solidFill>
            </a:ln>
          </c:spPr>
          <c:marker>
            <c:symbol val="circle"/>
            <c:size val="3"/>
            <c:spPr>
              <a:solidFill>
                <a:srgbClr val="2A78D6"/>
              </a:solidFill>
              <a:ln>
                <a:solidFill>
                  <a:srgbClr val="2A78D6"/>
                </a:solidFill>
              </a:ln>
            </c:spPr>
          </c:marker>
          <c:xVal>
            <c:numRef>
              <c:f>Sheet1!$A$2:$A$22</c:f>
              <c:numCache>
                <c:formatCode>General</c:formatCode>
                <c:ptCount val="21"/>
                <c:pt idx="0">
                  <c:v>6</c:v>
                </c:pt>
                <c:pt idx="1">
                  <c:v>6.2</c:v>
                </c:pt>
                <c:pt idx="2">
                  <c:v>6.4</c:v>
                </c:pt>
                <c:pt idx="3">
                  <c:v>6.45</c:v>
                </c:pt>
                <c:pt idx="4">
                  <c:v>6.5</c:v>
                </c:pt>
                <c:pt idx="5">
                  <c:v>6.55</c:v>
                </c:pt>
                <c:pt idx="6">
                  <c:v>6.6</c:v>
                </c:pt>
                <c:pt idx="7">
                  <c:v>6.65</c:v>
                </c:pt>
                <c:pt idx="8">
                  <c:v>6.7</c:v>
                </c:pt>
                <c:pt idx="9">
                  <c:v>6.75</c:v>
                </c:pt>
                <c:pt idx="10">
                  <c:v>6.8</c:v>
                </c:pt>
                <c:pt idx="11">
                  <c:v>6.85</c:v>
                </c:pt>
                <c:pt idx="12">
                  <c:v>6.9</c:v>
                </c:pt>
                <c:pt idx="13">
                  <c:v>6.95</c:v>
                </c:pt>
                <c:pt idx="14">
                  <c:v>7</c:v>
                </c:pt>
                <c:pt idx="15">
                  <c:v>7.05</c:v>
                </c:pt>
                <c:pt idx="16">
                  <c:v>7.2</c:v>
                </c:pt>
                <c:pt idx="17">
                  <c:v>7.4</c:v>
                </c:pt>
                <c:pt idx="18">
                  <c:v>7.6</c:v>
                </c:pt>
                <c:pt idx="19">
                  <c:v>7.8</c:v>
                </c:pt>
                <c:pt idx="20">
                  <c:v>8</c:v>
                </c:pt>
              </c:numCache>
            </c:numRef>
          </c:xVal>
          <c:yVal>
            <c:numRef>
              <c:f>Sheet1!$B$2:$B$22</c:f>
              <c:numCache>
                <c:formatCode>General</c:formatCode>
                <c:ptCount val="21"/>
                <c:pt idx="0">
                  <c:v>4.0597000000000001E-2</c:v>
                </c:pt>
                <c:pt idx="1">
                  <c:v>5.9429999999999997E-2</c:v>
                </c:pt>
                <c:pt idx="2">
                  <c:v>0.13186</c:v>
                </c:pt>
                <c:pt idx="3">
                  <c:v>0.17595</c:v>
                </c:pt>
                <c:pt idx="4">
                  <c:v>0.24573999999999999</c:v>
                </c:pt>
                <c:pt idx="5">
                  <c:v>0.36587999999999998</c:v>
                </c:pt>
                <c:pt idx="6">
                  <c:v>0.59079999999999999</c:v>
                </c:pt>
                <c:pt idx="7">
                  <c:v>1.0475000000000001</c:v>
                </c:pt>
                <c:pt idx="8">
                  <c:v>1.9426000000000001</c:v>
                </c:pt>
                <c:pt idx="9">
                  <c:v>2.8834</c:v>
                </c:pt>
                <c:pt idx="10">
                  <c:v>2.3294000000000001</c:v>
                </c:pt>
                <c:pt idx="11">
                  <c:v>1.3523000000000001</c:v>
                </c:pt>
                <c:pt idx="12">
                  <c:v>0.79579</c:v>
                </c:pt>
                <c:pt idx="13">
                  <c:v>0.51346000000000003</c:v>
                </c:pt>
                <c:pt idx="14">
                  <c:v>0.35857</c:v>
                </c:pt>
                <c:pt idx="15">
                  <c:v>0.2676</c:v>
                </c:pt>
                <c:pt idx="16">
                  <c:v>0.14144999999999999</c:v>
                </c:pt>
                <c:pt idx="17">
                  <c:v>8.7430999999999995E-2</c:v>
                </c:pt>
                <c:pt idx="18">
                  <c:v>7.145E-2</c:v>
                </c:pt>
                <c:pt idx="19">
                  <c:v>7.6405000000000001E-2</c:v>
                </c:pt>
                <c:pt idx="20">
                  <c:v>0.10839</c:v>
                </c:pt>
              </c:numCache>
            </c:numRef>
          </c:yVal>
          <c:smooth val="0"/>
          <c:extLst>
            <c:ext xmlns:c16="http://schemas.microsoft.com/office/drawing/2014/chart" uri="{C3380CC4-5D6E-409C-BE32-E72D297353CC}">
              <c16:uniqueId val="{00000000-53E1-4420-AFC6-0E8CF4F31441}"/>
            </c:ext>
          </c:extLst>
        </c:ser>
        <c:ser>
          <c:idx val="1"/>
          <c:order val="1"/>
          <c:tx>
            <c:strRef>
              <c:f>Sheet1!$B$24</c:f>
              <c:strCache>
                <c:ptCount val="1"/>
                <c:pt idx="0">
                  <c:v>100 nm</c:v>
                </c:pt>
              </c:strCache>
            </c:strRef>
          </c:tx>
          <c:spPr>
            <a:ln w="19050">
              <a:solidFill>
                <a:srgbClr val="1BAF7A"/>
              </a:solidFill>
            </a:ln>
          </c:spPr>
          <c:marker>
            <c:symbol val="circle"/>
            <c:size val="3"/>
            <c:spPr>
              <a:solidFill>
                <a:srgbClr val="1BAF7A"/>
              </a:solidFill>
              <a:ln>
                <a:solidFill>
                  <a:srgbClr val="1BAF7A"/>
                </a:solidFill>
              </a:ln>
            </c:spPr>
          </c:marker>
          <c:xVal>
            <c:numRef>
              <c:f>Sheet1!$A$25:$A$45</c:f>
              <c:numCache>
                <c:formatCode>General</c:formatCode>
                <c:ptCount val="21"/>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pt idx="20">
                  <c:v>8</c:v>
                </c:pt>
              </c:numCache>
            </c:numRef>
          </c:xVal>
          <c:yVal>
            <c:numRef>
              <c:f>Sheet1!$B$25:$B$45</c:f>
              <c:numCache>
                <c:formatCode>General</c:formatCode>
                <c:ptCount val="21"/>
                <c:pt idx="0">
                  <c:v>4.9280407630066463E-2</c:v>
                </c:pt>
                <c:pt idx="1">
                  <c:v>6.5399972831519784E-2</c:v>
                </c:pt>
                <c:pt idx="2">
                  <c:v>9.6609973641814298E-2</c:v>
                </c:pt>
                <c:pt idx="3">
                  <c:v>0.16403008974772085</c:v>
                </c:pt>
                <c:pt idx="4">
                  <c:v>0.3392627921988593</c:v>
                </c:pt>
                <c:pt idx="5">
                  <c:v>0.9510612770513529</c:v>
                </c:pt>
                <c:pt idx="6">
                  <c:v>2.881666811798071</c:v>
                </c:pt>
                <c:pt idx="7">
                  <c:v>1.4574484779413763</c:v>
                </c:pt>
                <c:pt idx="8">
                  <c:v>0.53227136943148001</c:v>
                </c:pt>
                <c:pt idx="9">
                  <c:v>0.27205404614396062</c:v>
                </c:pt>
                <c:pt idx="10">
                  <c:v>0.16990687018230058</c:v>
                </c:pt>
                <c:pt idx="11">
                  <c:v>0.12156203490915424</c:v>
                </c:pt>
                <c:pt idx="12">
                  <c:v>9.5116522953545501E-2</c:v>
                </c:pt>
                <c:pt idx="13">
                  <c:v>8.0175085905250854E-2</c:v>
                </c:pt>
                <c:pt idx="14">
                  <c:v>7.2343998769549112E-2</c:v>
                </c:pt>
                <c:pt idx="15">
                  <c:v>6.9741721584189814E-2</c:v>
                </c:pt>
                <c:pt idx="16">
                  <c:v>7.1626726629243687E-2</c:v>
                </c:pt>
                <c:pt idx="17">
                  <c:v>7.8789052783887717E-2</c:v>
                </c:pt>
                <c:pt idx="18">
                  <c:v>9.3266168736525726E-2</c:v>
                </c:pt>
                <c:pt idx="19">
                  <c:v>0.12104227248864305</c:v>
                </c:pt>
                <c:pt idx="20">
                  <c:v>0.1714696225266375</c:v>
                </c:pt>
              </c:numCache>
            </c:numRef>
          </c:yVal>
          <c:smooth val="0"/>
          <c:extLst>
            <c:ext xmlns:c16="http://schemas.microsoft.com/office/drawing/2014/chart" uri="{C3380CC4-5D6E-409C-BE32-E72D297353CC}">
              <c16:uniqueId val="{00000001-53E1-4420-AFC6-0E8CF4F31441}"/>
            </c:ext>
          </c:extLst>
        </c:ser>
        <c:ser>
          <c:idx val="2"/>
          <c:order val="2"/>
          <c:tx>
            <c:strRef>
              <c:f>Sheet1!$B$47</c:f>
              <c:strCache>
                <c:ptCount val="1"/>
                <c:pt idx="0">
                  <c:v>300 nm</c:v>
                </c:pt>
              </c:strCache>
            </c:strRef>
          </c:tx>
          <c:spPr>
            <a:ln w="19050">
              <a:solidFill>
                <a:srgbClr val="EB6834"/>
              </a:solidFill>
            </a:ln>
          </c:spPr>
          <c:marker>
            <c:symbol val="circle"/>
            <c:size val="3"/>
            <c:spPr>
              <a:solidFill>
                <a:srgbClr val="EB6834"/>
              </a:solidFill>
              <a:ln>
                <a:solidFill>
                  <a:srgbClr val="EB6834"/>
                </a:solidFill>
              </a:ln>
            </c:spPr>
          </c:marker>
          <c:xVal>
            <c:numRef>
              <c:f>Sheet1!$A$48:$A$68</c:f>
              <c:numCache>
                <c:formatCode>General</c:formatCode>
                <c:ptCount val="21"/>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pt idx="20">
                  <c:v>8</c:v>
                </c:pt>
              </c:numCache>
            </c:numRef>
          </c:xVal>
          <c:yVal>
            <c:numRef>
              <c:f>Sheet1!$B$48:$B$68</c:f>
              <c:numCache>
                <c:formatCode>General</c:formatCode>
                <c:ptCount val="21"/>
                <c:pt idx="0">
                  <c:v>6.3379829557133005E-2</c:v>
                </c:pt>
                <c:pt idx="1">
                  <c:v>9.4146299768591304E-2</c:v>
                </c:pt>
                <c:pt idx="2">
                  <c:v>0.16014919700790406</c:v>
                </c:pt>
                <c:pt idx="3">
                  <c:v>0.33290090017180246</c:v>
                </c:pt>
                <c:pt idx="4">
                  <c:v>0.94555179539393441</c:v>
                </c:pt>
                <c:pt idx="5">
                  <c:v>2.9348558328303818</c:v>
                </c:pt>
                <c:pt idx="6">
                  <c:v>1.4491669300412315</c:v>
                </c:pt>
                <c:pt idx="7">
                  <c:v>0.52593026790124364</c:v>
                </c:pt>
                <c:pt idx="8">
                  <c:v>0.26752864800270998</c:v>
                </c:pt>
                <c:pt idx="9">
                  <c:v>0.16716945476760836</c:v>
                </c:pt>
                <c:pt idx="10">
                  <c:v>0.11939289307422092</c:v>
                </c:pt>
                <c:pt idx="11">
                  <c:v>9.3484468953140401E-2</c:v>
                </c:pt>
                <c:pt idx="12">
                  <c:v>7.9042003828536489E-2</c:v>
                </c:pt>
                <c:pt idx="13">
                  <c:v>7.1148545202373403E-2</c:v>
                </c:pt>
                <c:pt idx="14">
                  <c:v>6.8546268017014106E-2</c:v>
                </c:pt>
                <c:pt idx="15">
                  <c:v>7.0472854055708883E-2</c:v>
                </c:pt>
                <c:pt idx="16">
                  <c:v>7.7520832477840446E-2</c:v>
                </c:pt>
                <c:pt idx="17">
                  <c:v>9.1855880035538726E-2</c:v>
                </c:pt>
                <c:pt idx="18">
                  <c:v>0.11842266988926672</c:v>
                </c:pt>
                <c:pt idx="19">
                  <c:v>0.16947026974907117</c:v>
                </c:pt>
                <c:pt idx="20">
                  <c:v>0.27337424269205901</c:v>
                </c:pt>
              </c:numCache>
            </c:numRef>
          </c:yVal>
          <c:smooth val="0"/>
          <c:extLst>
            <c:ext xmlns:c16="http://schemas.microsoft.com/office/drawing/2014/chart" uri="{C3380CC4-5D6E-409C-BE32-E72D297353CC}">
              <c16:uniqueId val="{00000002-53E1-4420-AFC6-0E8CF4F31441}"/>
            </c:ext>
          </c:extLst>
        </c:ser>
        <c:ser>
          <c:idx val="3"/>
          <c:order val="3"/>
          <c:tx>
            <c:strRef>
              <c:f>Sheet1!$B$70</c:f>
              <c:strCache>
                <c:ptCount val="1"/>
                <c:pt idx="0">
                  <c:v>600 nm</c:v>
                </c:pt>
              </c:strCache>
            </c:strRef>
          </c:tx>
          <c:spPr>
            <a:ln w="19050">
              <a:solidFill>
                <a:srgbClr val="EDA100"/>
              </a:solidFill>
            </a:ln>
          </c:spPr>
          <c:marker>
            <c:symbol val="circle"/>
            <c:size val="3"/>
            <c:spPr>
              <a:solidFill>
                <a:srgbClr val="EDA100"/>
              </a:solidFill>
              <a:ln>
                <a:solidFill>
                  <a:srgbClr val="EDA100"/>
                </a:solidFill>
              </a:ln>
            </c:spPr>
          </c:marker>
          <c:xVal>
            <c:numRef>
              <c:f>Sheet1!$A$71:$A$90</c:f>
              <c:numCache>
                <c:formatCode>General</c:formatCode>
                <c:ptCount val="20"/>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numCache>
            </c:numRef>
          </c:xVal>
          <c:yVal>
            <c:numRef>
              <c:f>Sheet1!$B$71:$B$90</c:f>
              <c:numCache>
                <c:formatCode>General</c:formatCode>
                <c:ptCount val="20"/>
                <c:pt idx="0">
                  <c:v>6.6297429277602418E-2</c:v>
                </c:pt>
                <c:pt idx="1">
                  <c:v>9.9887941973838129E-2</c:v>
                </c:pt>
                <c:pt idx="2">
                  <c:v>0.17445998898597848</c:v>
                </c:pt>
                <c:pt idx="3">
                  <c:v>0.37540707092120662</c:v>
                </c:pt>
                <c:pt idx="4">
                  <c:v>1.131245582828561</c:v>
                </c:pt>
                <c:pt idx="5">
                  <c:v>3.0429317654686723</c:v>
                </c:pt>
                <c:pt idx="6">
                  <c:v>1.2278174405595379</c:v>
                </c:pt>
                <c:pt idx="7">
                  <c:v>0.47031568890654757</c:v>
                </c:pt>
                <c:pt idx="8">
                  <c:v>0.24763214254554208</c:v>
                </c:pt>
                <c:pt idx="9">
                  <c:v>0.1582780522940638</c:v>
                </c:pt>
                <c:pt idx="10">
                  <c:v>0.11490561084380775</c:v>
                </c:pt>
                <c:pt idx="11">
                  <c:v>9.0840610774140226E-2</c:v>
                </c:pt>
                <c:pt idx="12">
                  <c:v>7.7517367395037035E-2</c:v>
                </c:pt>
                <c:pt idx="13">
                  <c:v>7.0479784221315692E-2</c:v>
                </c:pt>
                <c:pt idx="14">
                  <c:v>6.8393804373664172E-2</c:v>
                </c:pt>
                <c:pt idx="15">
                  <c:v>7.0895594157724631E-2</c:v>
                </c:pt>
                <c:pt idx="16">
                  <c:v>7.8723216210622976E-2</c:v>
                </c:pt>
                <c:pt idx="17">
                  <c:v>9.4416576227257132E-2</c:v>
                </c:pt>
                <c:pt idx="18">
                  <c:v>0.12373464182689095</c:v>
                </c:pt>
                <c:pt idx="19">
                  <c:v>0.17921061750945066</c:v>
                </c:pt>
              </c:numCache>
            </c:numRef>
          </c:yVal>
          <c:smooth val="0"/>
          <c:extLst>
            <c:ext xmlns:c16="http://schemas.microsoft.com/office/drawing/2014/chart" uri="{C3380CC4-5D6E-409C-BE32-E72D297353CC}">
              <c16:uniqueId val="{00000003-53E1-4420-AFC6-0E8CF4F31441}"/>
            </c:ext>
          </c:extLst>
        </c:ser>
        <c:dLbls>
          <c:showLegendKey val="0"/>
          <c:showVal val="0"/>
          <c:showCatName val="0"/>
          <c:showSerName val="0"/>
          <c:showPercent val="0"/>
          <c:showBubbleSize val="0"/>
        </c:dLbls>
        <c:axId val="-2128940872"/>
        <c:axId val="-2129643912"/>
      </c:scatterChart>
      <c:valAx>
        <c:axId val="-2128940872"/>
        <c:scaling>
          <c:orientation val="minMax"/>
          <c:max val="8"/>
          <c:min val="6"/>
        </c:scaling>
        <c:delete val="0"/>
        <c:axPos val="b"/>
        <c:title>
          <c:tx>
            <c:rich>
              <a:bodyPr/>
              <a:lstStyle/>
              <a:p>
                <a:r>
                  <a:rPr lang="en-US" sz="1100" b="0">
                    <a:latin typeface="Arial"/>
                  </a:rPr>
                  <a:t>slab_w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10"/>
          <c:min val="0.02"/>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slab 175 nm</c:v>
                </c:pt>
              </c:strCache>
            </c:strRef>
          </c:tx>
          <c:spPr>
            <a:ln w="19050">
              <a:solidFill>
                <a:srgbClr val="EB6834"/>
              </a:solidFill>
            </a:ln>
          </c:spPr>
          <c:marker>
            <c:symbol val="circle"/>
            <c:size val="4"/>
            <c:spPr>
              <a:solidFill>
                <a:srgbClr val="EB6834"/>
              </a:solidFill>
              <a:ln>
                <a:solidFill>
                  <a:srgbClr val="EB6834"/>
                </a:solidFill>
              </a:ln>
            </c:spPr>
          </c:marker>
          <c:xVal>
            <c:numRef>
              <c:f>Sheet1!$A$2:$A$17</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Sheet1!$B$2:$B$17</c:f>
              <c:numCache>
                <c:formatCode>General</c:formatCode>
                <c:ptCount val="16"/>
                <c:pt idx="0">
                  <c:v>0.12335001763571268</c:v>
                </c:pt>
                <c:pt idx="1">
                  <c:v>0.12300697443817529</c:v>
                </c:pt>
                <c:pt idx="2">
                  <c:v>0.12245602627243345</c:v>
                </c:pt>
                <c:pt idx="3">
                  <c:v>0.12186696219585412</c:v>
                </c:pt>
                <c:pt idx="4">
                  <c:v>0.12173875413212804</c:v>
                </c:pt>
                <c:pt idx="5">
                  <c:v>0.1210214819918226</c:v>
                </c:pt>
                <c:pt idx="6">
                  <c:v>0.12162787148241898</c:v>
                </c:pt>
                <c:pt idx="7">
                  <c:v>0.12195705434874272</c:v>
                </c:pt>
                <c:pt idx="8">
                  <c:v>0.12187735744426434</c:v>
                </c:pt>
                <c:pt idx="9">
                  <c:v>0.12209912274368245</c:v>
                </c:pt>
                <c:pt idx="10">
                  <c:v>0.12224119113862217</c:v>
                </c:pt>
                <c:pt idx="11">
                  <c:v>0.12251493268009139</c:v>
                </c:pt>
                <c:pt idx="12">
                  <c:v>0.1230035093553719</c:v>
                </c:pt>
                <c:pt idx="13">
                  <c:v>0.12308320625985028</c:v>
                </c:pt>
                <c:pt idx="14">
                  <c:v>0.12329111122805475</c:v>
                </c:pt>
                <c:pt idx="15">
                  <c:v>0.12337427321533655</c:v>
                </c:pt>
              </c:numCache>
            </c:numRef>
          </c:yVal>
          <c:smooth val="0"/>
          <c:extLst>
            <c:ext xmlns:c16="http://schemas.microsoft.com/office/drawing/2014/chart" uri="{C3380CC4-5D6E-409C-BE32-E72D297353CC}">
              <c16:uniqueId val="{00000000-A52B-4BFA-9048-EAD1CD9DCD14}"/>
            </c:ext>
          </c:extLst>
        </c:ser>
        <c:ser>
          <c:idx val="1"/>
          <c:order val="1"/>
          <c:tx>
            <c:strRef>
              <c:f>Sheet1!$B$19</c:f>
              <c:strCache>
                <c:ptCount val="1"/>
                <c:pt idx="0">
                  <c:v>slab 150 nm</c:v>
                </c:pt>
              </c:strCache>
            </c:strRef>
          </c:tx>
          <c:spPr>
            <a:ln w="19050">
              <a:solidFill>
                <a:srgbClr val="2A78D6"/>
              </a:solidFill>
            </a:ln>
          </c:spPr>
          <c:marker>
            <c:symbol val="circle"/>
            <c:size val="4"/>
            <c:spPr>
              <a:solidFill>
                <a:srgbClr val="2A78D6"/>
              </a:solidFill>
              <a:ln>
                <a:solidFill>
                  <a:srgbClr val="2A78D6"/>
                </a:solidFill>
              </a:ln>
            </c:spPr>
          </c:marker>
          <c:xVal>
            <c:numRef>
              <c:f>Sheet1!$A$20:$A$35</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Sheet1!$B$20:$B$35</c:f>
              <c:numCache>
                <c:formatCode>General</c:formatCode>
                <c:ptCount val="16"/>
                <c:pt idx="0">
                  <c:v>3.4375353951207584E-3</c:v>
                </c:pt>
                <c:pt idx="1">
                  <c:v>3.4367384260759752E-3</c:v>
                </c:pt>
                <c:pt idx="2">
                  <c:v>3.4374660934646905E-3</c:v>
                </c:pt>
                <c:pt idx="3">
                  <c:v>3.4376739984328946E-3</c:v>
                </c:pt>
                <c:pt idx="4">
                  <c:v>3.4379858558852019E-3</c:v>
                </c:pt>
                <c:pt idx="5">
                  <c:v>3.4388867774140879E-3</c:v>
                </c:pt>
                <c:pt idx="6">
                  <c:v>3.4388521265860533E-3</c:v>
                </c:pt>
                <c:pt idx="7">
                  <c:v>3.4367037752479406E-3</c:v>
                </c:pt>
                <c:pt idx="8">
                  <c:v>3.436114711171361E-3</c:v>
                </c:pt>
                <c:pt idx="9">
                  <c:v>3.4363919177956338E-3</c:v>
                </c:pt>
                <c:pt idx="10">
                  <c:v>3.4365998227638386E-3</c:v>
                </c:pt>
                <c:pt idx="11">
                  <c:v>3.43711958518435E-3</c:v>
                </c:pt>
                <c:pt idx="12">
                  <c:v>3.4348326305341003E-3</c:v>
                </c:pt>
                <c:pt idx="13">
                  <c:v>3.4364265686236679E-3</c:v>
                </c:pt>
                <c:pt idx="14">
                  <c:v>3.435109837158373E-3</c:v>
                </c:pt>
                <c:pt idx="15">
                  <c:v>3.4365305211077704E-3</c:v>
                </c:pt>
              </c:numCache>
            </c:numRef>
          </c:yVal>
          <c:smooth val="0"/>
          <c:extLst>
            <c:ext xmlns:c16="http://schemas.microsoft.com/office/drawing/2014/chart" uri="{C3380CC4-5D6E-409C-BE32-E72D297353CC}">
              <c16:uniqueId val="{00000001-A52B-4BFA-9048-EAD1CD9DCD14}"/>
            </c:ext>
          </c:extLst>
        </c:ser>
        <c:ser>
          <c:idx val="2"/>
          <c:order val="2"/>
          <c:tx>
            <c:strRef>
              <c:f>Sheet1!$B$37</c:f>
              <c:strCache>
                <c:ptCount val="1"/>
                <c:pt idx="0">
                  <c:v>slab 275 nm (today)</c:v>
                </c:pt>
              </c:strCache>
            </c:strRef>
          </c:tx>
          <c:spPr>
            <a:ln w="15875">
              <a:solidFill>
                <a:srgbClr val="B0B0B0"/>
              </a:solidFill>
            </a:ln>
          </c:spPr>
          <c:marker>
            <c:symbol val="circle"/>
            <c:size val="3"/>
            <c:spPr>
              <a:solidFill>
                <a:srgbClr val="B0B0B0"/>
              </a:solidFill>
              <a:ln>
                <a:solidFill>
                  <a:srgbClr val="B0B0B0"/>
                </a:solidFill>
              </a:ln>
            </c:spPr>
          </c:marker>
          <c:xVal>
            <c:numRef>
              <c:f>Sheet1!$A$38:$A$53</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Sheet1!$B$38:$B$53</c:f>
              <c:numCache>
                <c:formatCode>General</c:formatCode>
                <c:ptCount val="16"/>
                <c:pt idx="0">
                  <c:v>0.63924000000000003</c:v>
                </c:pt>
                <c:pt idx="1">
                  <c:v>0.33574999999999999</c:v>
                </c:pt>
                <c:pt idx="2">
                  <c:v>0.22159999999999999</c:v>
                </c:pt>
                <c:pt idx="3">
                  <c:v>0.18184</c:v>
                </c:pt>
                <c:pt idx="4">
                  <c:v>0.18385000000000001</c:v>
                </c:pt>
                <c:pt idx="5">
                  <c:v>0.22925000000000001</c:v>
                </c:pt>
                <c:pt idx="6">
                  <c:v>0.35663</c:v>
                </c:pt>
                <c:pt idx="7">
                  <c:v>0.65156999999999998</c:v>
                </c:pt>
                <c:pt idx="8">
                  <c:v>0.88615999999999995</c:v>
                </c:pt>
                <c:pt idx="9">
                  <c:v>0.60414000000000001</c:v>
                </c:pt>
                <c:pt idx="10">
                  <c:v>0.35337000000000002</c:v>
                </c:pt>
                <c:pt idx="11">
                  <c:v>0.24609</c:v>
                </c:pt>
                <c:pt idx="12">
                  <c:v>0.20746000000000001</c:v>
                </c:pt>
                <c:pt idx="13">
                  <c:v>0.21190999999999999</c:v>
                </c:pt>
                <c:pt idx="14">
                  <c:v>0.26211000000000001</c:v>
                </c:pt>
                <c:pt idx="15">
                  <c:v>0.39057999999999998</c:v>
                </c:pt>
              </c:numCache>
            </c:numRef>
          </c:yVal>
          <c:smooth val="0"/>
          <c:extLst>
            <c:ext xmlns:c16="http://schemas.microsoft.com/office/drawing/2014/chart" uri="{C3380CC4-5D6E-409C-BE32-E72D297353CC}">
              <c16:uniqueId val="{00000002-A52B-4BFA-9048-EAD1CD9DCD14}"/>
            </c:ext>
          </c:extLst>
        </c:ser>
        <c:dLbls>
          <c:showLegendKey val="0"/>
          <c:showVal val="0"/>
          <c:showCatName val="0"/>
          <c:showSerName val="0"/>
          <c:showPercent val="0"/>
          <c:showBubbleSize val="0"/>
        </c:dLbls>
        <c:axId val="-2128940872"/>
        <c:axId val="-2129643912"/>
      </c:scatterChart>
      <c:valAx>
        <c:axId val="-2128940872"/>
        <c:scaling>
          <c:orientation val="minMax"/>
          <c:max val="8"/>
          <c:min val="6.5"/>
        </c:scaling>
        <c:delete val="0"/>
        <c:axPos val="b"/>
        <c:title>
          <c:tx>
            <c:rich>
              <a:bodyPr/>
              <a:lstStyle/>
              <a:p>
                <a:r>
                  <a:rPr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2"/>
          <c:min val="1E-3"/>
        </c:scaling>
        <c:delete val="0"/>
        <c:axPos val="l"/>
        <c:majorGridlines>
          <c:spPr>
            <a:ln>
              <a:solidFill>
                <a:srgbClr val="E3E3E3"/>
              </a:solidFill>
            </a:ln>
          </c:spPr>
        </c:majorGridlines>
        <c:title>
          <c:tx>
            <c:rich>
              <a:bodyPr/>
              <a:lstStyle/>
              <a:p>
                <a:r>
                  <a:rPr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125 nm left</c:v>
                </c:pt>
              </c:strCache>
            </c:strRef>
          </c:tx>
          <c:spPr>
            <a:ln w="19050">
              <a:solidFill>
                <a:srgbClr val="2A78D6"/>
              </a:solidFill>
            </a:ln>
          </c:spPr>
          <c:marker>
            <c:symbol val="circle"/>
            <c:size val="5"/>
            <c:spPr>
              <a:solidFill>
                <a:srgbClr val="2A78D6"/>
              </a:solidFill>
              <a:ln>
                <a:solidFill>
                  <a:srgbClr val="2A78D6"/>
                </a:solidFill>
              </a:ln>
            </c:spPr>
          </c:marker>
          <c:xVal>
            <c:numRef>
              <c:f>Sheet1!$A$2:$A$11</c:f>
              <c:numCache>
                <c:formatCode>General</c:formatCode>
                <c:ptCount val="10"/>
                <c:pt idx="0">
                  <c:v>2.4</c:v>
                </c:pt>
                <c:pt idx="1">
                  <c:v>2.8</c:v>
                </c:pt>
                <c:pt idx="2">
                  <c:v>3.2</c:v>
                </c:pt>
                <c:pt idx="3">
                  <c:v>3.6</c:v>
                </c:pt>
                <c:pt idx="4">
                  <c:v>4</c:v>
                </c:pt>
                <c:pt idx="5">
                  <c:v>4.4000000000000004</c:v>
                </c:pt>
                <c:pt idx="6">
                  <c:v>4.8</c:v>
                </c:pt>
                <c:pt idx="7">
                  <c:v>5.2</c:v>
                </c:pt>
                <c:pt idx="8">
                  <c:v>6</c:v>
                </c:pt>
                <c:pt idx="9">
                  <c:v>7</c:v>
                </c:pt>
              </c:numCache>
            </c:numRef>
          </c:xVal>
          <c:yVal>
            <c:numRef>
              <c:f>Sheet1!$B$2:$B$11</c:f>
              <c:numCache>
                <c:formatCode>General</c:formatCode>
                <c:ptCount val="10"/>
                <c:pt idx="0">
                  <c:v>1.8591208765124144E-3</c:v>
                </c:pt>
                <c:pt idx="1">
                  <c:v>3.8143631499913625E-3</c:v>
                </c:pt>
                <c:pt idx="2">
                  <c:v>7.9385047026073879E-3</c:v>
                </c:pt>
                <c:pt idx="3">
                  <c:v>1.7569702354679511E-2</c:v>
                </c:pt>
                <c:pt idx="4">
                  <c:v>5.9391519250410571E-2</c:v>
                </c:pt>
                <c:pt idx="5">
                  <c:v>2.4183852409824413</c:v>
                </c:pt>
                <c:pt idx="6">
                  <c:v>0.67406255774692925</c:v>
                </c:pt>
                <c:pt idx="7">
                  <c:v>9.913255392269521E-2</c:v>
                </c:pt>
                <c:pt idx="8">
                  <c:v>8.3158522198985022E-2</c:v>
                </c:pt>
                <c:pt idx="9">
                  <c:v>0.17293881763528243</c:v>
                </c:pt>
              </c:numCache>
            </c:numRef>
          </c:yVal>
          <c:smooth val="0"/>
          <c:extLst>
            <c:ext xmlns:c16="http://schemas.microsoft.com/office/drawing/2014/chart" uri="{C3380CC4-5D6E-409C-BE32-E72D297353CC}">
              <c16:uniqueId val="{00000000-8CBC-4AD6-A4C6-B494C29CDD5B}"/>
            </c:ext>
          </c:extLst>
        </c:ser>
        <c:ser>
          <c:idx val="1"/>
          <c:order val="1"/>
          <c:tx>
            <c:strRef>
              <c:f>Sheet1!$B$13</c:f>
              <c:strCache>
                <c:ptCount val="1"/>
                <c:pt idx="0">
                  <c:v>_v4.2</c:v>
                </c:pt>
              </c:strCache>
            </c:strRef>
          </c:tx>
          <c:spPr>
            <a:ln w="12700">
              <a:solidFill>
                <a:srgbClr val="B0B0B0"/>
              </a:solidFill>
              <a:prstDash val="dash"/>
            </a:ln>
          </c:spPr>
          <c:marker>
            <c:symbol val="none"/>
          </c:marker>
          <c:xVal>
            <c:numRef>
              <c:f>Sheet1!$A$14:$A$15</c:f>
              <c:numCache>
                <c:formatCode>General</c:formatCode>
                <c:ptCount val="2"/>
                <c:pt idx="0">
                  <c:v>4.2</c:v>
                </c:pt>
                <c:pt idx="1">
                  <c:v>4.2</c:v>
                </c:pt>
              </c:numCache>
            </c:numRef>
          </c:xVal>
          <c:yVal>
            <c:numRef>
              <c:f>Sheet1!$B$14:$B$15</c:f>
              <c:numCache>
                <c:formatCode>General</c:formatCode>
                <c:ptCount val="2"/>
                <c:pt idx="0">
                  <c:v>1E-3</c:v>
                </c:pt>
                <c:pt idx="1">
                  <c:v>10</c:v>
                </c:pt>
              </c:numCache>
            </c:numRef>
          </c:yVal>
          <c:smooth val="0"/>
          <c:extLst>
            <c:ext xmlns:c16="http://schemas.microsoft.com/office/drawing/2014/chart" uri="{C3380CC4-5D6E-409C-BE32-E72D297353CC}">
              <c16:uniqueId val="{00000001-8CBC-4AD6-A4C6-B494C29CDD5B}"/>
            </c:ext>
          </c:extLst>
        </c:ser>
        <c:dLbls>
          <c:showLegendKey val="0"/>
          <c:showVal val="0"/>
          <c:showCatName val="0"/>
          <c:showSerName val="0"/>
          <c:showPercent val="0"/>
          <c:showBubbleSize val="0"/>
        </c:dLbls>
        <c:axId val="-2128940872"/>
        <c:axId val="-2129643912"/>
      </c:scatterChart>
      <c:valAx>
        <c:axId val="-2128940872"/>
        <c:scaling>
          <c:orientation val="minMax"/>
          <c:max val="7"/>
          <c:min val="2"/>
        </c:scaling>
        <c:delete val="0"/>
        <c:axPos val="b"/>
        <c:title>
          <c:tx>
            <c:rich>
              <a:bodyPr/>
              <a:lstStyle/>
              <a:p>
                <a:r>
                  <a:rPr lang="en-US" sz="1100" b="0">
                    <a:latin typeface="Arial"/>
                  </a:rPr>
                  <a:t>slab_w (µm)   [step under the gold for slab_w &gt; 4.2]</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1"/>
      </c:valAx>
      <c:valAx>
        <c:axId val="-2129643912"/>
        <c:scaling>
          <c:logBase val="10"/>
          <c:orientation val="minMax"/>
          <c:max val="10"/>
          <c:min val="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partial 2nd etch (100 – 150 nm left)</c:v>
                </c:pt>
              </c:strCache>
            </c:strRef>
          </c:tx>
          <c:spPr>
            <a:ln>
              <a:noFill/>
            </a:ln>
          </c:spPr>
          <c:marker>
            <c:symbol val="circle"/>
            <c:size val="8"/>
            <c:spPr>
              <a:solidFill>
                <a:srgbClr val="EB6834"/>
              </a:solidFill>
              <a:ln>
                <a:solidFill>
                  <a:srgbClr val="EB6834"/>
                </a:solidFill>
              </a:ln>
            </c:spPr>
          </c:marker>
          <c:xVal>
            <c:numRef>
              <c:f>Sheet1!$A$2:$A$12</c:f>
              <c:numCache>
                <c:formatCode>General</c:formatCode>
                <c:ptCount val="11"/>
                <c:pt idx="0">
                  <c:v>1.8511</c:v>
                </c:pt>
                <c:pt idx="1">
                  <c:v>1.9343999999999999</c:v>
                </c:pt>
                <c:pt idx="2">
                  <c:v>2.0327999999999999</c:v>
                </c:pt>
                <c:pt idx="3">
                  <c:v>2.0554999999999999</c:v>
                </c:pt>
                <c:pt idx="4">
                  <c:v>2.1766000000000001</c:v>
                </c:pt>
                <c:pt idx="5">
                  <c:v>2.2732999999999999</c:v>
                </c:pt>
                <c:pt idx="6">
                  <c:v>2.375</c:v>
                </c:pt>
                <c:pt idx="7">
                  <c:v>2.4664000000000001</c:v>
                </c:pt>
                <c:pt idx="8">
                  <c:v>2.5396999999999998</c:v>
                </c:pt>
                <c:pt idx="9">
                  <c:v>2.5790999999999999</c:v>
                </c:pt>
                <c:pt idx="10">
                  <c:v>2.6886999999999999</c:v>
                </c:pt>
              </c:numCache>
            </c:numRef>
          </c:xVal>
          <c:yVal>
            <c:numRef>
              <c:f>Sheet1!$B$2:$B$12</c:f>
              <c:numCache>
                <c:formatCode>General</c:formatCode>
                <c:ptCount val="11"/>
                <c:pt idx="0">
                  <c:v>0.74967066451728859</c:v>
                </c:pt>
                <c:pt idx="1">
                  <c:v>0.45475746711924636</c:v>
                </c:pt>
                <c:pt idx="2">
                  <c:v>0.2084940322810504</c:v>
                </c:pt>
                <c:pt idx="3">
                  <c:v>0.23814128074700797</c:v>
                </c:pt>
                <c:pt idx="4">
                  <c:v>0.12440340280794866</c:v>
                </c:pt>
                <c:pt idx="5">
                  <c:v>5.6917450128777358E-2</c:v>
                </c:pt>
                <c:pt idx="6">
                  <c:v>5.9391519250410571E-2</c:v>
                </c:pt>
                <c:pt idx="7">
                  <c:v>5.518144364427003E-2</c:v>
                </c:pt>
                <c:pt idx="8">
                  <c:v>1.7569702354679511E-2</c:v>
                </c:pt>
                <c:pt idx="9">
                  <c:v>2.8044301161101102E-2</c:v>
                </c:pt>
                <c:pt idx="10">
                  <c:v>7.9385047026073879E-3</c:v>
                </c:pt>
              </c:numCache>
            </c:numRef>
          </c:yVal>
          <c:smooth val="0"/>
          <c:extLst>
            <c:ext xmlns:c16="http://schemas.microsoft.com/office/drawing/2014/chart" uri="{C3380CC4-5D6E-409C-BE32-E72D297353CC}">
              <c16:uniqueId val="{00000000-70F9-4F67-BAC3-D0CA8DBE1D40}"/>
            </c:ext>
          </c:extLst>
        </c:ser>
        <c:ser>
          <c:idx val="1"/>
          <c:order val="1"/>
          <c:tx>
            <c:strRef>
              <c:f>Sheet1!$B$14</c:f>
              <c:strCache>
                <c:ptCount val="1"/>
                <c:pt idx="0">
                  <c:v>buffered 200 nm (gap 2.4 – 3.6 µm)</c:v>
                </c:pt>
              </c:strCache>
            </c:strRef>
          </c:tx>
          <c:spPr>
            <a:ln w="25400">
              <a:solidFill>
                <a:srgbClr val="2A78D6"/>
              </a:solidFill>
            </a:ln>
          </c:spPr>
          <c:marker>
            <c:symbol val="circle"/>
            <c:size val="6"/>
            <c:spPr>
              <a:solidFill>
                <a:srgbClr val="2A78D6"/>
              </a:solidFill>
              <a:ln>
                <a:solidFill>
                  <a:srgbClr val="2A78D6"/>
                </a:solidFill>
              </a:ln>
            </c:spPr>
          </c:marker>
          <c:xVal>
            <c:numRef>
              <c:f>Sheet1!$A$15:$A$21</c:f>
              <c:numCache>
                <c:formatCode>General</c:formatCode>
                <c:ptCount val="7"/>
                <c:pt idx="0">
                  <c:v>1.6353</c:v>
                </c:pt>
                <c:pt idx="1">
                  <c:v>1.7704</c:v>
                </c:pt>
                <c:pt idx="2">
                  <c:v>1.8993</c:v>
                </c:pt>
                <c:pt idx="3">
                  <c:v>2.0249000000000001</c:v>
                </c:pt>
                <c:pt idx="4">
                  <c:v>2.1484000000000001</c:v>
                </c:pt>
                <c:pt idx="5">
                  <c:v>2.2707000000000002</c:v>
                </c:pt>
                <c:pt idx="6">
                  <c:v>2.3919999999999999</c:v>
                </c:pt>
              </c:numCache>
            </c:numRef>
          </c:xVal>
          <c:yVal>
            <c:numRef>
              <c:f>Sheet1!$B$15:$B$21</c:f>
              <c:numCache>
                <c:formatCode>General</c:formatCode>
                <c:ptCount val="7"/>
                <c:pt idx="0">
                  <c:v>0.65090000000000003</c:v>
                </c:pt>
                <c:pt idx="1">
                  <c:v>0.32569999999999999</c:v>
                </c:pt>
                <c:pt idx="2">
                  <c:v>0.16889999999999999</c:v>
                </c:pt>
                <c:pt idx="3">
                  <c:v>8.9499999999999996E-2</c:v>
                </c:pt>
                <c:pt idx="4">
                  <c:v>4.8099999999999997E-2</c:v>
                </c:pt>
                <c:pt idx="5">
                  <c:v>2.5999999999999999E-2</c:v>
                </c:pt>
                <c:pt idx="6">
                  <c:v>1.4200000000000001E-2</c:v>
                </c:pt>
              </c:numCache>
            </c:numRef>
          </c:yVal>
          <c:smooth val="0"/>
          <c:extLst>
            <c:ext xmlns:c16="http://schemas.microsoft.com/office/drawing/2014/chart" uri="{C3380CC4-5D6E-409C-BE32-E72D297353CC}">
              <c16:uniqueId val="{00000001-70F9-4F67-BAC3-D0CA8DBE1D40}"/>
            </c:ext>
          </c:extLst>
        </c:ser>
        <c:ser>
          <c:idx val="2"/>
          <c:order val="2"/>
          <c:tx>
            <c:strRef>
              <c:f>Sheet1!$B$23</c:f>
              <c:strCache>
                <c:ptCount val="1"/>
                <c:pt idx="0">
                  <c:v>full etch, slab ends in the gap</c:v>
                </c:pt>
              </c:strCache>
            </c:strRef>
          </c:tx>
          <c:spPr>
            <a:ln>
              <a:noFill/>
            </a:ln>
          </c:spPr>
          <c:marker>
            <c:symbol val="circle"/>
            <c:size val="8"/>
            <c:spPr>
              <a:solidFill>
                <a:srgbClr val="EDA100"/>
              </a:solidFill>
              <a:ln>
                <a:solidFill>
                  <a:srgbClr val="EDA100"/>
                </a:solidFill>
              </a:ln>
            </c:spPr>
          </c:marker>
          <c:xVal>
            <c:numRef>
              <c:f>Sheet1!$A$24:$A$30</c:f>
              <c:numCache>
                <c:formatCode>General</c:formatCode>
                <c:ptCount val="7"/>
                <c:pt idx="0">
                  <c:v>2.4710999999999999</c:v>
                </c:pt>
                <c:pt idx="1">
                  <c:v>2.7077</c:v>
                </c:pt>
                <c:pt idx="2">
                  <c:v>2.8807999999999998</c:v>
                </c:pt>
                <c:pt idx="3">
                  <c:v>3.0594999999999999</c:v>
                </c:pt>
                <c:pt idx="4">
                  <c:v>3.1049000000000002</c:v>
                </c:pt>
                <c:pt idx="5">
                  <c:v>3.7256</c:v>
                </c:pt>
                <c:pt idx="6">
                  <c:v>4.2476000000000003</c:v>
                </c:pt>
              </c:numCache>
            </c:numRef>
          </c:xVal>
          <c:yVal>
            <c:numRef>
              <c:f>Sheet1!$B$24:$B$30</c:f>
              <c:numCache>
                <c:formatCode>General</c:formatCode>
                <c:ptCount val="7"/>
                <c:pt idx="0">
                  <c:v>8.2843199663874906E-2</c:v>
                </c:pt>
                <c:pt idx="1">
                  <c:v>2.173992950858086E-2</c:v>
                </c:pt>
                <c:pt idx="2">
                  <c:v>3.257281787687482E-2</c:v>
                </c:pt>
                <c:pt idx="3">
                  <c:v>2.9237999999999998E-3</c:v>
                </c:pt>
                <c:pt idx="4">
                  <c:v>8.5341524365131951E-3</c:v>
                </c:pt>
                <c:pt idx="5">
                  <c:v>5.6997000000000005E-4</c:v>
                </c:pt>
                <c:pt idx="6">
                  <c:v>1.6374E-4</c:v>
                </c:pt>
              </c:numCache>
            </c:numRef>
          </c:yVal>
          <c:smooth val="0"/>
          <c:extLst>
            <c:ext xmlns:c16="http://schemas.microsoft.com/office/drawing/2014/chart" uri="{C3380CC4-5D6E-409C-BE32-E72D297353CC}">
              <c16:uniqueId val="{00000002-70F9-4F67-BAC3-D0CA8DBE1D40}"/>
            </c:ext>
          </c:extLst>
        </c:ser>
        <c:ser>
          <c:idx val="3"/>
          <c:order val="3"/>
          <c:tx>
            <c:strRef>
              <c:f>Sheet1!$B$32</c:f>
              <c:strCache>
                <c:ptCount val="1"/>
                <c:pt idx="0">
                  <c:v>deeper rib etch (125 – 150 nm slab)</c:v>
                </c:pt>
              </c:strCache>
            </c:strRef>
          </c:tx>
          <c:spPr>
            <a:ln>
              <a:noFill/>
            </a:ln>
          </c:spPr>
          <c:marker>
            <c:symbol val="circle"/>
            <c:size val="8"/>
            <c:spPr>
              <a:solidFill>
                <a:srgbClr val="1BAF7A"/>
              </a:solidFill>
              <a:ln>
                <a:solidFill>
                  <a:srgbClr val="1BAF7A"/>
                </a:solidFill>
              </a:ln>
            </c:spPr>
          </c:marker>
          <c:xVal>
            <c:numRef>
              <c:f>Sheet1!$A$33:$A$38</c:f>
              <c:numCache>
                <c:formatCode>General</c:formatCode>
                <c:ptCount val="6"/>
                <c:pt idx="0">
                  <c:v>2.2198000000000002</c:v>
                </c:pt>
                <c:pt idx="1">
                  <c:v>2.3969</c:v>
                </c:pt>
                <c:pt idx="2">
                  <c:v>2.5945</c:v>
                </c:pt>
                <c:pt idx="3">
                  <c:v>2.8123999999999998</c:v>
                </c:pt>
                <c:pt idx="4">
                  <c:v>3.1515</c:v>
                </c:pt>
                <c:pt idx="5">
                  <c:v>3.4283000000000001</c:v>
                </c:pt>
              </c:numCache>
            </c:numRef>
          </c:xVal>
          <c:yVal>
            <c:numRef>
              <c:f>Sheet1!$B$33:$B$38</c:f>
              <c:numCache>
                <c:formatCode>General</c:formatCode>
                <c:ptCount val="6"/>
                <c:pt idx="0">
                  <c:v>0.35686887792297461</c:v>
                </c:pt>
                <c:pt idx="1">
                  <c:v>8.0098854083575893E-2</c:v>
                </c:pt>
                <c:pt idx="2">
                  <c:v>5.4831470281125831E-2</c:v>
                </c:pt>
                <c:pt idx="3">
                  <c:v>1.0973224221831984E-2</c:v>
                </c:pt>
                <c:pt idx="4">
                  <c:v>3.4388867774140879E-3</c:v>
                </c:pt>
                <c:pt idx="5">
                  <c:v>5.846634214190067E-4</c:v>
                </c:pt>
              </c:numCache>
            </c:numRef>
          </c:yVal>
          <c:smooth val="0"/>
          <c:extLst>
            <c:ext xmlns:c16="http://schemas.microsoft.com/office/drawing/2014/chart" uri="{C3380CC4-5D6E-409C-BE32-E72D297353CC}">
              <c16:uniqueId val="{00000003-70F9-4F67-BAC3-D0CA8DBE1D40}"/>
            </c:ext>
          </c:extLst>
        </c:ser>
        <c:ser>
          <c:idx val="4"/>
          <c:order val="4"/>
          <c:tx>
            <c:strRef>
              <c:f>Sheet1!$B$40</c:f>
              <c:strCache>
                <c:ptCount val="1"/>
                <c:pt idx="0">
                  <c:v>standard lifted: ripple range</c:v>
                </c:pt>
              </c:strCache>
            </c:strRef>
          </c:tx>
          <c:spPr>
            <a:ln w="25400">
              <a:solidFill>
                <a:srgbClr val="8A8A8A"/>
              </a:solidFill>
            </a:ln>
          </c:spPr>
          <c:marker>
            <c:symbol val="circle"/>
            <c:size val="6"/>
            <c:spPr>
              <a:solidFill>
                <a:srgbClr val="8A8A8A"/>
              </a:solidFill>
              <a:ln>
                <a:solidFill>
                  <a:srgbClr val="8A8A8A"/>
                </a:solidFill>
              </a:ln>
            </c:spPr>
          </c:marker>
          <c:xVal>
            <c:numRef>
              <c:f>Sheet1!$A$41:$A$42</c:f>
              <c:numCache>
                <c:formatCode>General</c:formatCode>
                <c:ptCount val="2"/>
                <c:pt idx="0">
                  <c:v>2.2667999999999999</c:v>
                </c:pt>
                <c:pt idx="1">
                  <c:v>2.2667999999999999</c:v>
                </c:pt>
              </c:numCache>
            </c:numRef>
          </c:xVal>
          <c:yVal>
            <c:numRef>
              <c:f>Sheet1!$B$41:$B$42</c:f>
              <c:numCache>
                <c:formatCode>General</c:formatCode>
                <c:ptCount val="2"/>
                <c:pt idx="0">
                  <c:v>0.18184</c:v>
                </c:pt>
                <c:pt idx="1">
                  <c:v>0.88615999999999995</c:v>
                </c:pt>
              </c:numCache>
            </c:numRef>
          </c:yVal>
          <c:smooth val="0"/>
          <c:extLst>
            <c:ext xmlns:c16="http://schemas.microsoft.com/office/drawing/2014/chart" uri="{C3380CC4-5D6E-409C-BE32-E72D297353CC}">
              <c16:uniqueId val="{00000004-70F9-4F67-BAC3-D0CA8DBE1D40}"/>
            </c:ext>
          </c:extLst>
        </c:ser>
        <c:dLbls>
          <c:showLegendKey val="0"/>
          <c:showVal val="0"/>
          <c:showCatName val="0"/>
          <c:showSerName val="0"/>
          <c:showPercent val="0"/>
          <c:showBubbleSize val="0"/>
        </c:dLbls>
        <c:axId val="-2128940872"/>
        <c:axId val="-2129643912"/>
      </c:scatterChart>
      <c:valAx>
        <c:axId val="-2128940872"/>
        <c:scaling>
          <c:orientation val="minMax"/>
          <c:max val="3.6"/>
          <c:min val="1.6"/>
        </c:scaling>
        <c:delete val="0"/>
        <c:axPos val="b"/>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logBase val="10"/>
          <c:orientation val="minMax"/>
          <c:max val="2"/>
          <c:min val="5.0000000000000001E-4"/>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Vπ·L</c:v>
                </c:pt>
              </c:strCache>
            </c:strRef>
          </c:tx>
          <c:spPr>
            <a:ln w="25400">
              <a:solidFill>
                <a:srgbClr val="2A78D6"/>
              </a:solidFill>
            </a:ln>
          </c:spPr>
          <c:marker>
            <c:symbol val="circle"/>
            <c:size val="6"/>
            <c:spPr>
              <a:solidFill>
                <a:srgbClr val="2A78D6"/>
              </a:solidFill>
              <a:ln>
                <a:solidFill>
                  <a:srgbClr val="2A78D6"/>
                </a:solidFill>
              </a:ln>
            </c:spPr>
          </c:marker>
          <c:xVal>
            <c:numRef>
              <c:f>Sheet1!$A$2:$A$11</c:f>
              <c:numCache>
                <c:formatCode>General</c:formatCode>
                <c:ptCount val="10"/>
                <c:pt idx="0">
                  <c:v>0</c:v>
                </c:pt>
                <c:pt idx="1">
                  <c:v>15</c:v>
                </c:pt>
                <c:pt idx="2">
                  <c:v>30</c:v>
                </c:pt>
                <c:pt idx="3">
                  <c:v>45</c:v>
                </c:pt>
                <c:pt idx="4">
                  <c:v>60</c:v>
                </c:pt>
                <c:pt idx="5">
                  <c:v>75</c:v>
                </c:pt>
                <c:pt idx="6">
                  <c:v>90</c:v>
                </c:pt>
                <c:pt idx="7">
                  <c:v>105</c:v>
                </c:pt>
                <c:pt idx="8">
                  <c:v>120</c:v>
                </c:pt>
                <c:pt idx="9">
                  <c:v>125</c:v>
                </c:pt>
              </c:numCache>
            </c:numRef>
          </c:xVal>
          <c:yVal>
            <c:numRef>
              <c:f>Sheet1!$B$2:$B$11</c:f>
              <c:numCache>
                <c:formatCode>General</c:formatCode>
                <c:ptCount val="10"/>
                <c:pt idx="0">
                  <c:v>2.2707</c:v>
                </c:pt>
                <c:pt idx="1">
                  <c:v>2.3293</c:v>
                </c:pt>
                <c:pt idx="2">
                  <c:v>2.3914</c:v>
                </c:pt>
                <c:pt idx="3">
                  <c:v>2.4571</c:v>
                </c:pt>
                <c:pt idx="4">
                  <c:v>2.5269</c:v>
                </c:pt>
                <c:pt idx="5">
                  <c:v>2.6012</c:v>
                </c:pt>
                <c:pt idx="6">
                  <c:v>2.6808</c:v>
                </c:pt>
                <c:pt idx="7">
                  <c:v>2.766</c:v>
                </c:pt>
                <c:pt idx="8">
                  <c:v>2.8579</c:v>
                </c:pt>
                <c:pt idx="9">
                  <c:v>2.8901</c:v>
                </c:pt>
              </c:numCache>
            </c:numRef>
          </c:yVal>
          <c:smooth val="0"/>
        </c:ser>
        <c:axId val="-2128940872"/>
        <c:axId val="-2129643912"/>
      </c:scatterChart>
      <c:valAx>
        <c:axId val="-2128940872"/>
        <c:scaling>
          <c:orientation val="minMax"/>
          <c:max val="125.0"/>
          <c:min val="0.0"/>
        </c:scaling>
        <c:delete val="0"/>
        <c:axPos val="b"/>
        <c:title>
          <c:tx>
            <c:rich>
              <a:bodyPr/>
              <a:lstStyle/>
              <a:p>
                <a:r>
                  <a:rPr sz="1100" b="0">
                    <a:latin typeface="Arial"/>
                  </a:rPr>
                  <a:t>over-etch (nm)  [slab = 275 − over-etch]</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25.0"/>
      </c:valAx>
      <c:valAx>
        <c:axId val="-2129643912"/>
        <c:scaling>
          <c:orientation val="minMax"/>
          <c:max val="3.0"/>
          <c:min val="2.2"/>
        </c:scaling>
        <c:delete val="0"/>
        <c:axPos val="l"/>
        <c:majorGridlines>
          <c:spPr>
            <a:ln>
              <a:solidFill>
                <a:srgbClr val="E3E3E3"/>
              </a:solidFill>
            </a:ln>
          </c:spPr>
        </c:majorGridlines>
        <c:title>
          <c:tx>
            <c:rich>
              <a:bodyPr/>
              <a:lstStyle/>
              <a:p>
                <a:r>
                  <a:rPr sz="1100" b="0">
                    <a:latin typeface="Arial"/>
                  </a:rPr>
                  <a:t>Vπ·L (V·cm)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IL</c:v>
                </c:pt>
              </c:strCache>
            </c:strRef>
          </c:tx>
          <c:spPr>
            <a:ln w="25400">
              <a:solidFill>
                <a:srgbClr val="EB6834"/>
              </a:solidFill>
            </a:ln>
          </c:spPr>
          <c:marker>
            <c:symbol val="circle"/>
            <c:size val="6"/>
            <c:spPr>
              <a:solidFill>
                <a:srgbClr val="EB6834"/>
              </a:solidFill>
              <a:ln>
                <a:solidFill>
                  <a:srgbClr val="EB6834"/>
                </a:solidFill>
              </a:ln>
            </c:spPr>
          </c:marker>
          <c:xVal>
            <c:numRef>
              <c:f>Sheet1!$A$2:$A$11</c:f>
              <c:numCache>
                <c:formatCode>General</c:formatCode>
                <c:ptCount val="10"/>
                <c:pt idx="0">
                  <c:v>0</c:v>
                </c:pt>
                <c:pt idx="1">
                  <c:v>15</c:v>
                </c:pt>
                <c:pt idx="2">
                  <c:v>30</c:v>
                </c:pt>
                <c:pt idx="3">
                  <c:v>45</c:v>
                </c:pt>
                <c:pt idx="4">
                  <c:v>60</c:v>
                </c:pt>
                <c:pt idx="5">
                  <c:v>75</c:v>
                </c:pt>
                <c:pt idx="6">
                  <c:v>90</c:v>
                </c:pt>
                <c:pt idx="7">
                  <c:v>105</c:v>
                </c:pt>
                <c:pt idx="8">
                  <c:v>120</c:v>
                </c:pt>
                <c:pt idx="9">
                  <c:v>125</c:v>
                </c:pt>
              </c:numCache>
            </c:numRef>
          </c:xVal>
          <c:yVal>
            <c:numRef>
              <c:f>Sheet1!$B$2:$B$11</c:f>
              <c:numCache>
                <c:formatCode>General</c:formatCode>
                <c:ptCount val="10"/>
                <c:pt idx="0">
                  <c:v>0.02603</c:v>
                </c:pt>
                <c:pt idx="1">
                  <c:v>0.01905</c:v>
                </c:pt>
                <c:pt idx="2">
                  <c:v>0.01402</c:v>
                </c:pt>
                <c:pt idx="3">
                  <c:v>0.01038</c:v>
                </c:pt>
                <c:pt idx="4">
                  <c:v>0.00775</c:v>
                </c:pt>
                <c:pt idx="5">
                  <c:v>0.00582</c:v>
                </c:pt>
                <c:pt idx="6">
                  <c:v>0.00442</c:v>
                </c:pt>
                <c:pt idx="7">
                  <c:v>0.00339</c:v>
                </c:pt>
                <c:pt idx="8">
                  <c:v>0.00263</c:v>
                </c:pt>
                <c:pt idx="9">
                  <c:v>0.00242</c:v>
                </c:pt>
              </c:numCache>
            </c:numRef>
          </c:yVal>
          <c:smooth val="0"/>
        </c:ser>
        <c:axId val="-2128940872"/>
        <c:axId val="-2129643912"/>
      </c:scatterChart>
      <c:valAx>
        <c:axId val="-2128940872"/>
        <c:scaling>
          <c:orientation val="minMax"/>
          <c:max val="125.0"/>
          <c:min val="0.0"/>
        </c:scaling>
        <c:delete val="0"/>
        <c:axPos val="b"/>
        <c:title>
          <c:tx>
            <c:rich>
              <a:bodyPr/>
              <a:lstStyle/>
              <a:p>
                <a:r>
                  <a:rPr sz="1100" b="0">
                    <a:latin typeface="Arial"/>
                  </a:rPr>
                  <a:t>over-etch (nm)  [slab = 275 − over-etch]</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25.0"/>
      </c:valAx>
      <c:valAx>
        <c:axId val="-2129643912"/>
        <c:scaling>
          <c:logBase val="10"/>
          <c:orientation val="minMax"/>
          <c:max val="0.1"/>
          <c:min val="0.001"/>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gap 3.9 µm</c:v>
                </c:pt>
              </c:strCache>
            </c:strRef>
          </c:tx>
          <c:spPr>
            <a:ln w="15875">
              <a:solidFill>
                <a:srgbClr val="EB6834"/>
              </a:solidFill>
            </a:ln>
          </c:spPr>
          <c:marker>
            <c:symbol val="circle"/>
            <c:size val="3"/>
            <c:spPr>
              <a:solidFill>
                <a:srgbClr val="EB6834"/>
              </a:solidFill>
              <a:ln>
                <a:solidFill>
                  <a:srgbClr val="EB6834"/>
                </a:solidFill>
              </a:ln>
            </c:spPr>
          </c:marker>
          <c:xVal>
            <c:numRef>
              <c:f>Sheet1!$A$2:$A$47</c:f>
              <c:numCache>
                <c:formatCode>General</c:formatCode>
                <c:ptCount val="4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pt idx="16">
                  <c:v>8.1</c:v>
                </c:pt>
                <c:pt idx="17">
                  <c:v>8.2</c:v>
                </c:pt>
                <c:pt idx="18">
                  <c:v>8.3</c:v>
                </c:pt>
                <c:pt idx="19">
                  <c:v>8.4</c:v>
                </c:pt>
                <c:pt idx="20">
                  <c:v>8.5</c:v>
                </c:pt>
                <c:pt idx="21">
                  <c:v>8.6</c:v>
                </c:pt>
                <c:pt idx="22">
                  <c:v>8.7</c:v>
                </c:pt>
                <c:pt idx="23">
                  <c:v>8.8</c:v>
                </c:pt>
                <c:pt idx="24">
                  <c:v>8.9</c:v>
                </c:pt>
                <c:pt idx="25">
                  <c:v>9.0</c:v>
                </c:pt>
                <c:pt idx="26">
                  <c:v>9.1</c:v>
                </c:pt>
                <c:pt idx="27">
                  <c:v>9.2</c:v>
                </c:pt>
                <c:pt idx="28">
                  <c:v>9.3</c:v>
                </c:pt>
                <c:pt idx="29">
                  <c:v>9.4</c:v>
                </c:pt>
                <c:pt idx="30">
                  <c:v>9.5</c:v>
                </c:pt>
                <c:pt idx="31">
                  <c:v>9.6</c:v>
                </c:pt>
                <c:pt idx="32">
                  <c:v>9.7</c:v>
                </c:pt>
                <c:pt idx="33">
                  <c:v>9.8</c:v>
                </c:pt>
                <c:pt idx="34">
                  <c:v>9.9</c:v>
                </c:pt>
                <c:pt idx="35">
                  <c:v>10.0</c:v>
                </c:pt>
                <c:pt idx="36">
                  <c:v>10.1</c:v>
                </c:pt>
                <c:pt idx="37">
                  <c:v>10.2</c:v>
                </c:pt>
                <c:pt idx="38">
                  <c:v>10.3</c:v>
                </c:pt>
                <c:pt idx="39">
                  <c:v>10.4</c:v>
                </c:pt>
                <c:pt idx="40">
                  <c:v>10.5</c:v>
                </c:pt>
                <c:pt idx="41">
                  <c:v>10.6</c:v>
                </c:pt>
                <c:pt idx="42">
                  <c:v>10.7</c:v>
                </c:pt>
                <c:pt idx="43">
                  <c:v>10.8</c:v>
                </c:pt>
                <c:pt idx="44">
                  <c:v>10.9</c:v>
                </c:pt>
                <c:pt idx="45">
                  <c:v>11.0</c:v>
                </c:pt>
              </c:numCache>
            </c:numRef>
          </c:xVal>
          <c:yVal>
            <c:numRef>
              <c:f>Sheet1!$B$2:$B$47</c:f>
              <c:numCache>
                <c:formatCode>General</c:formatCode>
                <c:ptCount val="46"/>
                <c:pt idx="0">
                  <c:v>0.73588</c:v>
                </c:pt>
                <c:pt idx="1">
                  <c:v>0.52943</c:v>
                </c:pt>
                <c:pt idx="2">
                  <c:v>0.47226</c:v>
                </c:pt>
                <c:pt idx="3">
                  <c:v>0.51921</c:v>
                </c:pt>
                <c:pt idx="4">
                  <c:v>0.70944</c:v>
                </c:pt>
                <c:pt idx="5">
                  <c:v>1.18502</c:v>
                </c:pt>
                <c:pt idx="6">
                  <c:v>2.11065</c:v>
                </c:pt>
                <c:pt idx="7">
                  <c:v>2.16138</c:v>
                </c:pt>
                <c:pt idx="8">
                  <c:v>1.29196</c:v>
                </c:pt>
                <c:pt idx="9">
                  <c:v>0.79548</c:v>
                </c:pt>
                <c:pt idx="10">
                  <c:v>0.59662</c:v>
                </c:pt>
                <c:pt idx="11">
                  <c:v>0.54183</c:v>
                </c:pt>
                <c:pt idx="12">
                  <c:v>0.59669</c:v>
                </c:pt>
                <c:pt idx="13">
                  <c:v>0.79309</c:v>
                </c:pt>
                <c:pt idx="14">
                  <c:v>1.25155</c:v>
                </c:pt>
                <c:pt idx="15">
                  <c:v>1.94526</c:v>
                </c:pt>
                <c:pt idx="16">
                  <c:v>1.9313</c:v>
                </c:pt>
                <c:pt idx="17">
                  <c:v>1.26642</c:v>
                </c:pt>
                <c:pt idx="18">
                  <c:v>0.85054</c:v>
                </c:pt>
                <c:pt idx="19">
                  <c:v>0.66211</c:v>
                </c:pt>
                <c:pt idx="20">
                  <c:v>0.60774</c:v>
                </c:pt>
                <c:pt idx="21">
                  <c:v>0.66613</c:v>
                </c:pt>
                <c:pt idx="22">
                  <c:v>0.87233</c:v>
                </c:pt>
                <c:pt idx="23">
                  <c:v>1.28426</c:v>
                </c:pt>
                <c:pt idx="24">
                  <c:v>1.80926</c:v>
                </c:pt>
                <c:pt idx="25">
                  <c:v>1.76761</c:v>
                </c:pt>
                <c:pt idx="26">
                  <c:v>1.25828</c:v>
                </c:pt>
                <c:pt idx="27">
                  <c:v>0.89021</c:v>
                </c:pt>
                <c:pt idx="28">
                  <c:v>0.71568</c:v>
                </c:pt>
                <c:pt idx="29">
                  <c:v>0.6671</c:v>
                </c:pt>
                <c:pt idx="30">
                  <c:v>0.73065</c:v>
                </c:pt>
                <c:pt idx="31">
                  <c:v>0.91735</c:v>
                </c:pt>
                <c:pt idx="32">
                  <c:v>1.30187</c:v>
                </c:pt>
                <c:pt idx="33">
                  <c:v>1.6956</c:v>
                </c:pt>
                <c:pt idx="34">
                  <c:v>1.6482</c:v>
                </c:pt>
                <c:pt idx="35">
                  <c:v>1.23679</c:v>
                </c:pt>
                <c:pt idx="36">
                  <c:v>0.91475</c:v>
                </c:pt>
                <c:pt idx="37">
                  <c:v>0.76142</c:v>
                </c:pt>
                <c:pt idx="38">
                  <c:v>0.72153</c:v>
                </c:pt>
                <c:pt idx="39">
                  <c:v>0.78848</c:v>
                </c:pt>
                <c:pt idx="40">
                  <c:v>0.98214</c:v>
                </c:pt>
                <c:pt idx="41">
                  <c:v>1.31167</c:v>
                </c:pt>
                <c:pt idx="42">
                  <c:v>1.60752</c:v>
                </c:pt>
                <c:pt idx="43">
                  <c:v>1.53493</c:v>
                </c:pt>
                <c:pt idx="44">
                  <c:v>1.21808</c:v>
                </c:pt>
                <c:pt idx="45">
                  <c:v>0.95207</c:v>
                </c:pt>
              </c:numCache>
            </c:numRef>
          </c:yVal>
          <c:smooth val="0"/>
        </c:ser>
        <c:ser>
          <c:idx val="1"/>
          <c:order val="1"/>
          <c:tx>
            <c:strRef>
              <c:f>Sheet1!$B$49</c:f>
              <c:strCache>
                <c:ptCount val="1"/>
                <c:pt idx="0">
                  <c:v>gap 4.2 µm</c:v>
                </c:pt>
              </c:strCache>
            </c:strRef>
          </c:tx>
          <c:spPr>
            <a:ln w="15875">
              <a:solidFill>
                <a:srgbClr val="7F8C8D"/>
              </a:solidFill>
            </a:ln>
          </c:spPr>
          <c:marker>
            <c:symbol val="circle"/>
            <c:size val="3"/>
            <c:spPr>
              <a:solidFill>
                <a:srgbClr val="7F8C8D"/>
              </a:solidFill>
              <a:ln>
                <a:solidFill>
                  <a:srgbClr val="7F8C8D"/>
                </a:solidFill>
              </a:ln>
            </c:spPr>
          </c:marker>
          <c:xVal>
            <c:numRef>
              <c:f>Sheet1!$A$50:$A$95</c:f>
              <c:numCache>
                <c:formatCode>General</c:formatCode>
                <c:ptCount val="4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pt idx="16">
                  <c:v>8.1</c:v>
                </c:pt>
                <c:pt idx="17">
                  <c:v>8.2</c:v>
                </c:pt>
                <c:pt idx="18">
                  <c:v>8.3</c:v>
                </c:pt>
                <c:pt idx="19">
                  <c:v>8.4</c:v>
                </c:pt>
                <c:pt idx="20">
                  <c:v>8.5</c:v>
                </c:pt>
                <c:pt idx="21">
                  <c:v>8.6</c:v>
                </c:pt>
                <c:pt idx="22">
                  <c:v>8.7</c:v>
                </c:pt>
                <c:pt idx="23">
                  <c:v>8.8</c:v>
                </c:pt>
                <c:pt idx="24">
                  <c:v>8.9</c:v>
                </c:pt>
                <c:pt idx="25">
                  <c:v>9.0</c:v>
                </c:pt>
                <c:pt idx="26">
                  <c:v>9.1</c:v>
                </c:pt>
                <c:pt idx="27">
                  <c:v>9.2</c:v>
                </c:pt>
                <c:pt idx="28">
                  <c:v>9.3</c:v>
                </c:pt>
                <c:pt idx="29">
                  <c:v>9.4</c:v>
                </c:pt>
                <c:pt idx="30">
                  <c:v>9.5</c:v>
                </c:pt>
                <c:pt idx="31">
                  <c:v>9.6</c:v>
                </c:pt>
                <c:pt idx="32">
                  <c:v>9.7</c:v>
                </c:pt>
                <c:pt idx="33">
                  <c:v>9.8</c:v>
                </c:pt>
                <c:pt idx="34">
                  <c:v>9.9</c:v>
                </c:pt>
                <c:pt idx="35">
                  <c:v>10.0</c:v>
                </c:pt>
                <c:pt idx="36">
                  <c:v>10.1</c:v>
                </c:pt>
                <c:pt idx="37">
                  <c:v>10.2</c:v>
                </c:pt>
                <c:pt idx="38">
                  <c:v>10.3</c:v>
                </c:pt>
                <c:pt idx="39">
                  <c:v>10.4</c:v>
                </c:pt>
                <c:pt idx="40">
                  <c:v>10.5</c:v>
                </c:pt>
                <c:pt idx="41">
                  <c:v>10.6</c:v>
                </c:pt>
                <c:pt idx="42">
                  <c:v>10.7</c:v>
                </c:pt>
                <c:pt idx="43">
                  <c:v>10.8</c:v>
                </c:pt>
                <c:pt idx="44">
                  <c:v>10.9</c:v>
                </c:pt>
                <c:pt idx="45">
                  <c:v>11.0</c:v>
                </c:pt>
              </c:numCache>
            </c:numRef>
          </c:xVal>
          <c:yVal>
            <c:numRef>
              <c:f>Sheet1!$B$50:$B$95</c:f>
              <c:numCache>
                <c:formatCode>General</c:formatCode>
                <c:ptCount val="46"/>
                <c:pt idx="0">
                  <c:v>0.6815</c:v>
                </c:pt>
                <c:pt idx="1">
                  <c:v>0.3521</c:v>
                </c:pt>
                <c:pt idx="2">
                  <c:v>0.2271</c:v>
                </c:pt>
                <c:pt idx="3">
                  <c:v>0.1826</c:v>
                </c:pt>
                <c:pt idx="4">
                  <c:v>0.1807</c:v>
                </c:pt>
                <c:pt idx="5">
                  <c:v>0.2216</c:v>
                </c:pt>
                <c:pt idx="6">
                  <c:v>0.3345</c:v>
                </c:pt>
                <c:pt idx="7">
                  <c:v>0.6016</c:v>
                </c:pt>
                <c:pt idx="8">
                  <c:v>0.8827</c:v>
                </c:pt>
                <c:pt idx="9">
                  <c:v>0.6382</c:v>
                </c:pt>
                <c:pt idx="10">
                  <c:v>0.3731</c:v>
                </c:pt>
                <c:pt idx="11">
                  <c:v>0.2513</c:v>
                </c:pt>
                <c:pt idx="12">
                  <c:v>0.2077</c:v>
                </c:pt>
                <c:pt idx="13">
                  <c:v>0.2073</c:v>
                </c:pt>
                <c:pt idx="14">
                  <c:v>0.2509</c:v>
                </c:pt>
                <c:pt idx="15">
                  <c:v>0.3633</c:v>
                </c:pt>
                <c:pt idx="16">
                  <c:v>0.5965</c:v>
                </c:pt>
                <c:pt idx="17">
                  <c:v>0.7824</c:v>
                </c:pt>
                <c:pt idx="18">
                  <c:v>0.6002</c:v>
                </c:pt>
                <c:pt idx="19">
                  <c:v>0.3825</c:v>
                </c:pt>
                <c:pt idx="20">
                  <c:v>0.2751</c:v>
                </c:pt>
                <c:pt idx="21">
                  <c:v>0.231</c:v>
                </c:pt>
                <c:pt idx="22">
                  <c:v>0.2329</c:v>
                </c:pt>
                <c:pt idx="23">
                  <c:v>0.2782</c:v>
                </c:pt>
                <c:pt idx="24">
                  <c:v>0.391</c:v>
                </c:pt>
                <c:pt idx="25">
                  <c:v>0.585</c:v>
                </c:pt>
                <c:pt idx="26">
                  <c:v>0.7076</c:v>
                </c:pt>
                <c:pt idx="27">
                  <c:v>0.566</c:v>
                </c:pt>
                <c:pt idx="28">
                  <c:v>0.3916</c:v>
                </c:pt>
                <c:pt idx="29">
                  <c:v>0.2914</c:v>
                </c:pt>
                <c:pt idx="30">
                  <c:v>0.2525</c:v>
                </c:pt>
                <c:pt idx="31">
                  <c:v>0.2549</c:v>
                </c:pt>
                <c:pt idx="32">
                  <c:v>0.3051</c:v>
                </c:pt>
                <c:pt idx="33">
                  <c:v>0.4036</c:v>
                </c:pt>
                <c:pt idx="34">
                  <c:v>0.5742</c:v>
                </c:pt>
                <c:pt idx="35">
                  <c:v>0.6495</c:v>
                </c:pt>
                <c:pt idx="36">
                  <c:v>0.5403</c:v>
                </c:pt>
                <c:pt idx="37">
                  <c:v>0.3937</c:v>
                </c:pt>
                <c:pt idx="38">
                  <c:v>0.3071</c:v>
                </c:pt>
                <c:pt idx="39">
                  <c:v>0.2723</c:v>
                </c:pt>
                <c:pt idx="40">
                  <c:v>0.276</c:v>
                </c:pt>
                <c:pt idx="41">
                  <c:v>0.3228</c:v>
                </c:pt>
                <c:pt idx="42">
                  <c:v>0.4169</c:v>
                </c:pt>
                <c:pt idx="43">
                  <c:v>0.5605</c:v>
                </c:pt>
                <c:pt idx="44">
                  <c:v>0.6071</c:v>
                </c:pt>
                <c:pt idx="45">
                  <c:v>0.5169</c:v>
                </c:pt>
              </c:numCache>
            </c:numRef>
          </c:yVal>
          <c:smooth val="0"/>
        </c:ser>
        <c:ser>
          <c:idx val="2"/>
          <c:order val="2"/>
          <c:tx>
            <c:strRef>
              <c:f>Sheet1!$B$97</c:f>
              <c:strCache>
                <c:ptCount val="1"/>
                <c:pt idx="0">
                  <c:v>gap 5.0 µm</c:v>
                </c:pt>
              </c:strCache>
            </c:strRef>
          </c:tx>
          <c:spPr>
            <a:ln w="15875">
              <a:solidFill>
                <a:srgbClr val="2A78D6"/>
              </a:solidFill>
            </a:ln>
          </c:spPr>
          <c:marker>
            <c:symbol val="circle"/>
            <c:size val="3"/>
            <c:spPr>
              <a:solidFill>
                <a:srgbClr val="2A78D6"/>
              </a:solidFill>
              <a:ln>
                <a:solidFill>
                  <a:srgbClr val="2A78D6"/>
                </a:solidFill>
              </a:ln>
            </c:spPr>
          </c:marker>
          <c:xVal>
            <c:numRef>
              <c:f>Sheet1!$A$98:$A$143</c:f>
              <c:numCache>
                <c:formatCode>General</c:formatCode>
                <c:ptCount val="4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pt idx="16">
                  <c:v>8.1</c:v>
                </c:pt>
                <c:pt idx="17">
                  <c:v>8.2</c:v>
                </c:pt>
                <c:pt idx="18">
                  <c:v>8.3</c:v>
                </c:pt>
                <c:pt idx="19">
                  <c:v>8.4</c:v>
                </c:pt>
                <c:pt idx="20">
                  <c:v>8.5</c:v>
                </c:pt>
                <c:pt idx="21">
                  <c:v>8.6</c:v>
                </c:pt>
                <c:pt idx="22">
                  <c:v>8.7</c:v>
                </c:pt>
                <c:pt idx="23">
                  <c:v>8.8</c:v>
                </c:pt>
                <c:pt idx="24">
                  <c:v>8.9</c:v>
                </c:pt>
                <c:pt idx="25">
                  <c:v>9.0</c:v>
                </c:pt>
                <c:pt idx="26">
                  <c:v>9.1</c:v>
                </c:pt>
                <c:pt idx="27">
                  <c:v>9.2</c:v>
                </c:pt>
                <c:pt idx="28">
                  <c:v>9.3</c:v>
                </c:pt>
                <c:pt idx="29">
                  <c:v>9.4</c:v>
                </c:pt>
                <c:pt idx="30">
                  <c:v>9.5</c:v>
                </c:pt>
                <c:pt idx="31">
                  <c:v>9.6</c:v>
                </c:pt>
                <c:pt idx="32">
                  <c:v>9.7</c:v>
                </c:pt>
                <c:pt idx="33">
                  <c:v>9.8</c:v>
                </c:pt>
                <c:pt idx="34">
                  <c:v>9.9</c:v>
                </c:pt>
                <c:pt idx="35">
                  <c:v>10.0</c:v>
                </c:pt>
                <c:pt idx="36">
                  <c:v>10.1</c:v>
                </c:pt>
                <c:pt idx="37">
                  <c:v>10.2</c:v>
                </c:pt>
                <c:pt idx="38">
                  <c:v>10.3</c:v>
                </c:pt>
                <c:pt idx="39">
                  <c:v>10.4</c:v>
                </c:pt>
                <c:pt idx="40">
                  <c:v>10.5</c:v>
                </c:pt>
                <c:pt idx="41">
                  <c:v>10.6</c:v>
                </c:pt>
                <c:pt idx="42">
                  <c:v>10.7</c:v>
                </c:pt>
                <c:pt idx="43">
                  <c:v>10.8</c:v>
                </c:pt>
                <c:pt idx="44">
                  <c:v>10.9</c:v>
                </c:pt>
                <c:pt idx="45">
                  <c:v>11.0</c:v>
                </c:pt>
              </c:numCache>
            </c:numRef>
          </c:xVal>
          <c:yVal>
            <c:numRef>
              <c:f>Sheet1!$B$98:$B$143</c:f>
              <c:numCache>
                <c:formatCode>General</c:formatCode>
                <c:ptCount val="46"/>
                <c:pt idx="0">
                  <c:v>0.0134</c:v>
                </c:pt>
                <c:pt idx="1">
                  <c:v>0.02122</c:v>
                </c:pt>
                <c:pt idx="2">
                  <c:v>0.04283</c:v>
                </c:pt>
                <c:pt idx="3">
                  <c:v>0.07348</c:v>
                </c:pt>
                <c:pt idx="4">
                  <c:v>0.04889</c:v>
                </c:pt>
                <c:pt idx="5">
                  <c:v>0.02532</c:v>
                </c:pt>
                <c:pt idx="6">
                  <c:v>0.01625</c:v>
                </c:pt>
                <c:pt idx="7">
                  <c:v>0.01305</c:v>
                </c:pt>
                <c:pt idx="8">
                  <c:v>0.01291</c:v>
                </c:pt>
                <c:pt idx="9">
                  <c:v>0.01582</c:v>
                </c:pt>
                <c:pt idx="10">
                  <c:v>0.02414</c:v>
                </c:pt>
                <c:pt idx="11">
                  <c:v>0.04355</c:v>
                </c:pt>
                <c:pt idx="12">
                  <c:v>0.0634</c:v>
                </c:pt>
                <c:pt idx="13">
                  <c:v>0.04588</c:v>
                </c:pt>
                <c:pt idx="14">
                  <c:v>0.02668</c:v>
                </c:pt>
                <c:pt idx="15">
                  <c:v>0.01804</c:v>
                </c:pt>
                <c:pt idx="16">
                  <c:v>0.01493</c:v>
                </c:pt>
                <c:pt idx="17">
                  <c:v>0.0148</c:v>
                </c:pt>
                <c:pt idx="18">
                  <c:v>0.018</c:v>
                </c:pt>
                <c:pt idx="19">
                  <c:v>0.02616</c:v>
                </c:pt>
                <c:pt idx="20">
                  <c:v>0.04318</c:v>
                </c:pt>
                <c:pt idx="21">
                  <c:v>0.05608</c:v>
                </c:pt>
                <c:pt idx="22">
                  <c:v>0.04312</c:v>
                </c:pt>
                <c:pt idx="23">
                  <c:v>0.02748</c:v>
                </c:pt>
                <c:pt idx="24">
                  <c:v>0.01969</c:v>
                </c:pt>
                <c:pt idx="25">
                  <c:v>0.01657</c:v>
                </c:pt>
                <c:pt idx="26">
                  <c:v>0.01663</c:v>
                </c:pt>
                <c:pt idx="27">
                  <c:v>0.01993</c:v>
                </c:pt>
                <c:pt idx="28">
                  <c:v>0.02791</c:v>
                </c:pt>
                <c:pt idx="29">
                  <c:v>0.04175</c:v>
                </c:pt>
                <c:pt idx="30">
                  <c:v>0.05067</c:v>
                </c:pt>
                <c:pt idx="31">
                  <c:v>0.04084</c:v>
                </c:pt>
                <c:pt idx="32">
                  <c:v>0.02802</c:v>
                </c:pt>
                <c:pt idx="33">
                  <c:v>0.02095</c:v>
                </c:pt>
                <c:pt idx="34">
                  <c:v>0.0181</c:v>
                </c:pt>
                <c:pt idx="35">
                  <c:v>0.01831</c:v>
                </c:pt>
                <c:pt idx="36">
                  <c:v>0.02141</c:v>
                </c:pt>
                <c:pt idx="37">
                  <c:v>0.02902</c:v>
                </c:pt>
                <c:pt idx="38">
                  <c:v>0.04066</c:v>
                </c:pt>
                <c:pt idx="39">
                  <c:v>0.04664</c:v>
                </c:pt>
                <c:pt idx="40">
                  <c:v>0.03862</c:v>
                </c:pt>
                <c:pt idx="41">
                  <c:v>0.028</c:v>
                </c:pt>
                <c:pt idx="42">
                  <c:v>0.02219</c:v>
                </c:pt>
                <c:pt idx="43">
                  <c:v>0.01953</c:v>
                </c:pt>
                <c:pt idx="44">
                  <c:v>0.01971</c:v>
                </c:pt>
                <c:pt idx="45">
                  <c:v>0.02323</c:v>
                </c:pt>
              </c:numCache>
            </c:numRef>
          </c:yVal>
          <c:smooth val="0"/>
        </c:ser>
        <c:axId val="-2128940872"/>
        <c:axId val="-2129643912"/>
      </c:scatterChart>
      <c:valAx>
        <c:axId val="-2128940872"/>
        <c:scaling>
          <c:orientation val="minMax"/>
          <c:max val="11.0"/>
          <c:min val="6.5"/>
        </c:scaling>
        <c:delete val="0"/>
        <c:axPos val="b"/>
        <c:title>
          <c:tx>
            <c:rich>
              <a:bodyPr/>
              <a:lstStyle/>
              <a:p>
                <a:r>
                  <a:rPr sz="1100" b="0">
                    <a:latin typeface="Arial"/>
                  </a:rPr>
                  <a:t>x_lift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0.5"/>
      </c:valAx>
      <c:valAx>
        <c:axId val="-2129643912"/>
        <c:scaling>
          <c:logBase val="10"/>
          <c:orientation val="minMax"/>
          <c:max val="3.0"/>
          <c:min val="0.01"/>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gap 3.9 µm</c:v>
                </c:pt>
              </c:strCache>
            </c:strRef>
          </c:tx>
          <c:spPr>
            <a:ln w="15875">
              <a:solidFill>
                <a:srgbClr val="EB6834"/>
              </a:solidFill>
            </a:ln>
          </c:spPr>
          <c:marker>
            <c:symbol val="circle"/>
            <c:size val="3"/>
            <c:spPr>
              <a:solidFill>
                <a:srgbClr val="EB6834"/>
              </a:solidFill>
              <a:ln>
                <a:solidFill>
                  <a:srgbClr val="EB6834"/>
                </a:solidFill>
              </a:ln>
            </c:spPr>
          </c:marker>
          <c:xVal>
            <c:numRef>
              <c:f>Sheet1!$A$2:$A$47</c:f>
              <c:numCache>
                <c:formatCode>General</c:formatCode>
                <c:ptCount val="46"/>
                <c:pt idx="0">
                  <c:v>4.55</c:v>
                </c:pt>
                <c:pt idx="1">
                  <c:v>4.6499999999999995</c:v>
                </c:pt>
                <c:pt idx="2">
                  <c:v>4.75</c:v>
                </c:pt>
                <c:pt idx="3">
                  <c:v>4.85</c:v>
                </c:pt>
                <c:pt idx="4">
                  <c:v>4.95</c:v>
                </c:pt>
                <c:pt idx="5">
                  <c:v>5.05</c:v>
                </c:pt>
                <c:pt idx="6">
                  <c:v>5.1499999999999995</c:v>
                </c:pt>
                <c:pt idx="7">
                  <c:v>5.25</c:v>
                </c:pt>
                <c:pt idx="8">
                  <c:v>5.35</c:v>
                </c:pt>
                <c:pt idx="9">
                  <c:v>5.45</c:v>
                </c:pt>
                <c:pt idx="10">
                  <c:v>5.55</c:v>
                </c:pt>
                <c:pt idx="11">
                  <c:v>5.6499999999999995</c:v>
                </c:pt>
                <c:pt idx="12">
                  <c:v>5.75</c:v>
                </c:pt>
                <c:pt idx="13">
                  <c:v>5.85</c:v>
                </c:pt>
                <c:pt idx="14">
                  <c:v>5.95</c:v>
                </c:pt>
                <c:pt idx="15">
                  <c:v>6.05</c:v>
                </c:pt>
                <c:pt idx="16">
                  <c:v>6.1499999999999995</c:v>
                </c:pt>
                <c:pt idx="17">
                  <c:v>6.249999999999999</c:v>
                </c:pt>
                <c:pt idx="18">
                  <c:v>6.3500000000000005</c:v>
                </c:pt>
                <c:pt idx="19">
                  <c:v>6.45</c:v>
                </c:pt>
                <c:pt idx="20">
                  <c:v>6.55</c:v>
                </c:pt>
                <c:pt idx="21">
                  <c:v>6.6499999999999995</c:v>
                </c:pt>
                <c:pt idx="22">
                  <c:v>6.749999999999999</c:v>
                </c:pt>
                <c:pt idx="23">
                  <c:v>6.8500000000000005</c:v>
                </c:pt>
                <c:pt idx="24">
                  <c:v>6.95</c:v>
                </c:pt>
                <c:pt idx="25">
                  <c:v>7.05</c:v>
                </c:pt>
                <c:pt idx="26">
                  <c:v>7.1499999999999995</c:v>
                </c:pt>
                <c:pt idx="27">
                  <c:v>7.249999999999999</c:v>
                </c:pt>
                <c:pt idx="28">
                  <c:v>7.3500000000000005</c:v>
                </c:pt>
                <c:pt idx="29">
                  <c:v>7.45</c:v>
                </c:pt>
                <c:pt idx="30">
                  <c:v>7.55</c:v>
                </c:pt>
                <c:pt idx="31">
                  <c:v>7.6499999999999995</c:v>
                </c:pt>
                <c:pt idx="32">
                  <c:v>7.749999999999999</c:v>
                </c:pt>
                <c:pt idx="33">
                  <c:v>7.8500000000000005</c:v>
                </c:pt>
                <c:pt idx="34">
                  <c:v>7.95</c:v>
                </c:pt>
                <c:pt idx="35">
                  <c:v>8.05</c:v>
                </c:pt>
                <c:pt idx="36">
                  <c:v>8.15</c:v>
                </c:pt>
                <c:pt idx="37">
                  <c:v>8.25</c:v>
                </c:pt>
                <c:pt idx="38">
                  <c:v>8.350000000000001</c:v>
                </c:pt>
                <c:pt idx="39">
                  <c:v>8.450000000000001</c:v>
                </c:pt>
                <c:pt idx="40">
                  <c:v>8.55</c:v>
                </c:pt>
                <c:pt idx="41">
                  <c:v>8.65</c:v>
                </c:pt>
                <c:pt idx="42">
                  <c:v>8.75</c:v>
                </c:pt>
                <c:pt idx="43">
                  <c:v>8.850000000000001</c:v>
                </c:pt>
                <c:pt idx="44">
                  <c:v>8.950000000000001</c:v>
                </c:pt>
                <c:pt idx="45">
                  <c:v>9.05</c:v>
                </c:pt>
              </c:numCache>
            </c:numRef>
          </c:xVal>
          <c:yVal>
            <c:numRef>
              <c:f>Sheet1!$B$2:$B$47</c:f>
              <c:numCache>
                <c:formatCode>General</c:formatCode>
                <c:ptCount val="46"/>
                <c:pt idx="0">
                  <c:v>0.6673437925092953</c:v>
                </c:pt>
                <c:pt idx="1">
                  <c:v>0.480121519905686</c:v>
                </c:pt>
                <c:pt idx="2">
                  <c:v>0.42827604969620026</c:v>
                </c:pt>
                <c:pt idx="3">
                  <c:v>0.4708533599347057</c:v>
                </c:pt>
                <c:pt idx="4">
                  <c:v>0.6433662827604969</c:v>
                </c:pt>
                <c:pt idx="5">
                  <c:v>1.074653124149814</c:v>
                </c:pt>
                <c:pt idx="6">
                  <c:v>1.9140745443003537</c:v>
                </c:pt>
                <c:pt idx="7">
                  <c:v>1.9600798041171668</c:v>
                </c:pt>
                <c:pt idx="8">
                  <c:v>1.171633263807019</c:v>
                </c:pt>
                <c:pt idx="9">
                  <c:v>0.7213929445905505</c:v>
                </c:pt>
                <c:pt idx="10">
                  <c:v>0.541053777092591</c:v>
                </c:pt>
                <c:pt idx="11">
                  <c:v>0.4913666455064841</c:v>
                </c:pt>
                <c:pt idx="12">
                  <c:v>0.5411172576403374</c:v>
                </c:pt>
                <c:pt idx="13">
                  <c:v>0.7192255373174934</c:v>
                </c:pt>
                <c:pt idx="14">
                  <c:v>1.1349868504579668</c:v>
                </c:pt>
                <c:pt idx="15">
                  <c:v>1.7640881472748708</c:v>
                </c:pt>
                <c:pt idx="16">
                  <c:v>1.7514283123242949</c:v>
                </c:pt>
                <c:pt idx="17">
                  <c:v>1.1484719325292465</c:v>
                </c:pt>
                <c:pt idx="18">
                  <c:v>0.771324929717965</c:v>
                </c:pt>
                <c:pt idx="19">
                  <c:v>0.6004443638342251</c:v>
                </c:pt>
                <c:pt idx="20">
                  <c:v>0.5511381155345968</c:v>
                </c:pt>
                <c:pt idx="21">
                  <c:v>0.6040899610048064</c:v>
                </c:pt>
                <c:pt idx="22">
                  <c:v>0.7910855173664642</c:v>
                </c:pt>
                <c:pt idx="23">
                  <c:v>1.1646504035549106</c:v>
                </c:pt>
                <c:pt idx="24">
                  <c:v>1.640754511653215</c:v>
                </c:pt>
                <c:pt idx="25">
                  <c:v>1.6029835857440826</c:v>
                </c:pt>
                <c:pt idx="26">
                  <c:v>1.1410900516913032</c:v>
                </c:pt>
                <c:pt idx="27">
                  <c:v>0.8073002629908406</c:v>
                </c:pt>
                <c:pt idx="28">
                  <c:v>0.6490251201596082</c:v>
                </c:pt>
                <c:pt idx="29">
                  <c:v>0.6049696200235785</c:v>
                </c:pt>
                <c:pt idx="30">
                  <c:v>0.6626008887276684</c:v>
                </c:pt>
                <c:pt idx="31">
                  <c:v>0.8319125782171035</c:v>
                </c:pt>
                <c:pt idx="32">
                  <c:v>1.1806202956379797</c:v>
                </c:pt>
                <c:pt idx="33">
                  <c:v>1.5376802394123514</c:v>
                </c:pt>
                <c:pt idx="34">
                  <c:v>1.4946948399383333</c:v>
                </c:pt>
                <c:pt idx="35">
                  <c:v>1.121601523533146</c:v>
                </c:pt>
                <c:pt idx="36">
                  <c:v>0.8295547293008071</c:v>
                </c:pt>
                <c:pt idx="37">
                  <c:v>0.6905051237870681</c:v>
                </c:pt>
                <c:pt idx="38">
                  <c:v>0.654330280221275</c:v>
                </c:pt>
                <c:pt idx="39">
                  <c:v>0.7150448898159064</c:v>
                </c:pt>
                <c:pt idx="40">
                  <c:v>0.8906683594812732</c:v>
                </c:pt>
                <c:pt idx="41">
                  <c:v>1.189507572322481</c:v>
                </c:pt>
                <c:pt idx="42">
                  <c:v>1.4578035730479733</c:v>
                </c:pt>
                <c:pt idx="43">
                  <c:v>1.3919742450349142</c:v>
                </c:pt>
                <c:pt idx="44">
                  <c:v>1.1046340799854901</c:v>
                </c:pt>
                <c:pt idx="45">
                  <c:v>0.863398929899338</c:v>
                </c:pt>
              </c:numCache>
            </c:numRef>
          </c:yVal>
          <c:smooth val="0"/>
        </c:ser>
        <c:ser>
          <c:idx val="1"/>
          <c:order val="1"/>
          <c:tx>
            <c:strRef>
              <c:f>Sheet1!$B$49</c:f>
              <c:strCache>
                <c:ptCount val="1"/>
                <c:pt idx="0">
                  <c:v>gap 4.2 µm</c:v>
                </c:pt>
              </c:strCache>
            </c:strRef>
          </c:tx>
          <c:spPr>
            <a:ln w="15875">
              <a:solidFill>
                <a:srgbClr val="7F8C8D"/>
              </a:solidFill>
            </a:ln>
          </c:spPr>
          <c:marker>
            <c:symbol val="circle"/>
            <c:size val="3"/>
            <c:spPr>
              <a:solidFill>
                <a:srgbClr val="7F8C8D"/>
              </a:solidFill>
              <a:ln>
                <a:solidFill>
                  <a:srgbClr val="7F8C8D"/>
                </a:solidFill>
              </a:ln>
            </c:spPr>
          </c:marker>
          <c:xVal>
            <c:numRef>
              <c:f>Sheet1!$A$50:$A$95</c:f>
              <c:numCache>
                <c:formatCode>General</c:formatCode>
                <c:ptCount val="46"/>
                <c:pt idx="0">
                  <c:v>4.4</c:v>
                </c:pt>
                <c:pt idx="1">
                  <c:v>4.5</c:v>
                </c:pt>
                <c:pt idx="2">
                  <c:v>4.6</c:v>
                </c:pt>
                <c:pt idx="3">
                  <c:v>4.699999999999999</c:v>
                </c:pt>
                <c:pt idx="4">
                  <c:v>4.800000000000001</c:v>
                </c:pt>
                <c:pt idx="5">
                  <c:v>4.9</c:v>
                </c:pt>
                <c:pt idx="6">
                  <c:v>5.0</c:v>
                </c:pt>
                <c:pt idx="7">
                  <c:v>5.1</c:v>
                </c:pt>
                <c:pt idx="8">
                  <c:v>5.199999999999999</c:v>
                </c:pt>
                <c:pt idx="9">
                  <c:v>5.300000000000001</c:v>
                </c:pt>
                <c:pt idx="10">
                  <c:v>5.4</c:v>
                </c:pt>
                <c:pt idx="11">
                  <c:v>5.5</c:v>
                </c:pt>
                <c:pt idx="12">
                  <c:v>5.6</c:v>
                </c:pt>
                <c:pt idx="13">
                  <c:v>5.699999999999999</c:v>
                </c:pt>
                <c:pt idx="14">
                  <c:v>5.800000000000001</c:v>
                </c:pt>
                <c:pt idx="15">
                  <c:v>5.9</c:v>
                </c:pt>
                <c:pt idx="16">
                  <c:v>6.0</c:v>
                </c:pt>
                <c:pt idx="17">
                  <c:v>6.1</c:v>
                </c:pt>
                <c:pt idx="18">
                  <c:v>6.200000000000001</c:v>
                </c:pt>
                <c:pt idx="19">
                  <c:v>6.300000000000001</c:v>
                </c:pt>
                <c:pt idx="20">
                  <c:v>6.4</c:v>
                </c:pt>
                <c:pt idx="21">
                  <c:v>6.5</c:v>
                </c:pt>
                <c:pt idx="22">
                  <c:v>6.6</c:v>
                </c:pt>
                <c:pt idx="23">
                  <c:v>6.700000000000001</c:v>
                </c:pt>
                <c:pt idx="24">
                  <c:v>6.800000000000001</c:v>
                </c:pt>
                <c:pt idx="25">
                  <c:v>6.9</c:v>
                </c:pt>
                <c:pt idx="26">
                  <c:v>7.0</c:v>
                </c:pt>
                <c:pt idx="27">
                  <c:v>7.1</c:v>
                </c:pt>
                <c:pt idx="28">
                  <c:v>7.200000000000001</c:v>
                </c:pt>
                <c:pt idx="29">
                  <c:v>7.300000000000001</c:v>
                </c:pt>
                <c:pt idx="30">
                  <c:v>7.4</c:v>
                </c:pt>
                <c:pt idx="31">
                  <c:v>7.5</c:v>
                </c:pt>
                <c:pt idx="32">
                  <c:v>7.6</c:v>
                </c:pt>
                <c:pt idx="33">
                  <c:v>7.700000000000001</c:v>
                </c:pt>
                <c:pt idx="34">
                  <c:v>7.800000000000001</c:v>
                </c:pt>
                <c:pt idx="35">
                  <c:v>7.9</c:v>
                </c:pt>
                <c:pt idx="36">
                  <c:v>8.0</c:v>
                </c:pt>
                <c:pt idx="37">
                  <c:v>8.1</c:v>
                </c:pt>
                <c:pt idx="38">
                  <c:v>8.200000000000001</c:v>
                </c:pt>
                <c:pt idx="39">
                  <c:v>8.3</c:v>
                </c:pt>
                <c:pt idx="40">
                  <c:v>8.4</c:v>
                </c:pt>
                <c:pt idx="41">
                  <c:v>8.5</c:v>
                </c:pt>
                <c:pt idx="42">
                  <c:v>8.6</c:v>
                </c:pt>
                <c:pt idx="43">
                  <c:v>8.700000000000001</c:v>
                </c:pt>
                <c:pt idx="44">
                  <c:v>8.8</c:v>
                </c:pt>
                <c:pt idx="45">
                  <c:v>8.9</c:v>
                </c:pt>
              </c:numCache>
            </c:numRef>
          </c:xVal>
          <c:yVal>
            <c:numRef>
              <c:f>Sheet1!$B$50:$B$95</c:f>
              <c:numCache>
                <c:formatCode>General</c:formatCode>
                <c:ptCount val="46"/>
                <c:pt idx="0">
                  <c:v>1.6557337220602526</c:v>
                </c:pt>
                <c:pt idx="1">
                  <c:v>0.8554421768707483</c:v>
                </c:pt>
                <c:pt idx="2">
                  <c:v>0.5517492711370262</c:v>
                </c:pt>
                <c:pt idx="3">
                  <c:v>0.44363459669582117</c:v>
                </c:pt>
                <c:pt idx="4">
                  <c:v>0.4390184645286686</c:v>
                </c:pt>
                <c:pt idx="5">
                  <c:v>0.5383867832847424</c:v>
                </c:pt>
                <c:pt idx="6">
                  <c:v>0.8126822157434402</c:v>
                </c:pt>
                <c:pt idx="7">
                  <c:v>1.4616132167152576</c:v>
                </c:pt>
                <c:pt idx="8">
                  <c:v>2.1445578231292517</c:v>
                </c:pt>
                <c:pt idx="9">
                  <c:v>1.5505344995140913</c:v>
                </c:pt>
                <c:pt idx="10">
                  <c:v>0.9064625850340136</c:v>
                </c:pt>
                <c:pt idx="11">
                  <c:v>0.6105442176870749</c:v>
                </c:pt>
                <c:pt idx="12">
                  <c:v>0.5046161321671525</c:v>
                </c:pt>
                <c:pt idx="13">
                  <c:v>0.5036443148688047</c:v>
                </c:pt>
                <c:pt idx="14">
                  <c:v>0.609572400388727</c:v>
                </c:pt>
                <c:pt idx="15">
                  <c:v>0.8826530612244898</c:v>
                </c:pt>
                <c:pt idx="16">
                  <c:v>1.4492225461613217</c:v>
                </c:pt>
                <c:pt idx="17">
                  <c:v>1.9008746355685129</c:v>
                </c:pt>
                <c:pt idx="18">
                  <c:v>1.4582118561710398</c:v>
                </c:pt>
                <c:pt idx="19">
                  <c:v>0.9293002915451894</c:v>
                </c:pt>
                <c:pt idx="20">
                  <c:v>0.6683673469387755</c:v>
                </c:pt>
                <c:pt idx="21">
                  <c:v>0.5612244897959183</c:v>
                </c:pt>
                <c:pt idx="22">
                  <c:v>0.5658406219630709</c:v>
                </c:pt>
                <c:pt idx="23">
                  <c:v>0.6758989310009718</c:v>
                </c:pt>
                <c:pt idx="24">
                  <c:v>0.9499514091350826</c:v>
                </c:pt>
                <c:pt idx="25">
                  <c:v>1.421282798833819</c:v>
                </c:pt>
                <c:pt idx="26">
                  <c:v>1.7191448007774537</c:v>
                </c:pt>
                <c:pt idx="27">
                  <c:v>1.3751214771622933</c:v>
                </c:pt>
                <c:pt idx="28">
                  <c:v>0.9514091350826044</c:v>
                </c:pt>
                <c:pt idx="29">
                  <c:v>0.7079689018464528</c:v>
                </c:pt>
                <c:pt idx="30">
                  <c:v>0.6134596695821185</c:v>
                </c:pt>
                <c:pt idx="31">
                  <c:v>0.619290573372206</c:v>
                </c:pt>
                <c:pt idx="32">
                  <c:v>0.7412536443148687</c:v>
                </c:pt>
                <c:pt idx="33">
                  <c:v>0.9805636540330418</c:v>
                </c:pt>
                <c:pt idx="34">
                  <c:v>1.3950437317784257</c:v>
                </c:pt>
                <c:pt idx="35">
                  <c:v>1.5779883381924196</c:v>
                </c:pt>
                <c:pt idx="36">
                  <c:v>1.3126822157434401</c:v>
                </c:pt>
                <c:pt idx="37">
                  <c:v>0.956511175898931</c:v>
                </c:pt>
                <c:pt idx="38">
                  <c:v>0.7461127308066082</c:v>
                </c:pt>
                <c:pt idx="39">
                  <c:v>0.66156462585034</c:v>
                </c:pt>
                <c:pt idx="40">
                  <c:v>0.6705539358600583</c:v>
                </c:pt>
                <c:pt idx="41">
                  <c:v>0.7842565597667638</c:v>
                </c:pt>
                <c:pt idx="42">
                  <c:v>1.0128765792031098</c:v>
                </c:pt>
                <c:pt idx="43">
                  <c:v>1.3617589893100097</c:v>
                </c:pt>
                <c:pt idx="44">
                  <c:v>1.4749757045675411</c:v>
                </c:pt>
                <c:pt idx="45">
                  <c:v>1.2558309037900874</c:v>
                </c:pt>
              </c:numCache>
            </c:numRef>
          </c:yVal>
          <c:smooth val="0"/>
        </c:ser>
        <c:ser>
          <c:idx val="2"/>
          <c:order val="2"/>
          <c:tx>
            <c:strRef>
              <c:f>Sheet1!$B$97</c:f>
              <c:strCache>
                <c:ptCount val="1"/>
                <c:pt idx="0">
                  <c:v>gap 5.0 µm</c:v>
                </c:pt>
              </c:strCache>
            </c:strRef>
          </c:tx>
          <c:spPr>
            <a:ln w="15875">
              <a:solidFill>
                <a:srgbClr val="2A78D6"/>
              </a:solidFill>
            </a:ln>
          </c:spPr>
          <c:marker>
            <c:symbol val="circle"/>
            <c:size val="3"/>
            <c:spPr>
              <a:solidFill>
                <a:srgbClr val="2A78D6"/>
              </a:solidFill>
              <a:ln>
                <a:solidFill>
                  <a:srgbClr val="2A78D6"/>
                </a:solidFill>
              </a:ln>
            </c:spPr>
          </c:marker>
          <c:xVal>
            <c:numRef>
              <c:f>Sheet1!$A$98:$A$143</c:f>
              <c:numCache>
                <c:formatCode>General</c:formatCode>
                <c:ptCount val="46"/>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5.699999999999999</c:v>
                </c:pt>
                <c:pt idx="18">
                  <c:v>5.800000000000001</c:v>
                </c:pt>
                <c:pt idx="19">
                  <c:v>5.9</c:v>
                </c:pt>
                <c:pt idx="20">
                  <c:v>6.0</c:v>
                </c:pt>
                <c:pt idx="21">
                  <c:v>6.1</c:v>
                </c:pt>
                <c:pt idx="22">
                  <c:v>6.199999999999999</c:v>
                </c:pt>
                <c:pt idx="23">
                  <c:v>6.300000000000001</c:v>
                </c:pt>
                <c:pt idx="24">
                  <c:v>6.4</c:v>
                </c:pt>
                <c:pt idx="25">
                  <c:v>6.5</c:v>
                </c:pt>
                <c:pt idx="26">
                  <c:v>6.6</c:v>
                </c:pt>
                <c:pt idx="27">
                  <c:v>6.699999999999999</c:v>
                </c:pt>
                <c:pt idx="28">
                  <c:v>6.800000000000001</c:v>
                </c:pt>
                <c:pt idx="29">
                  <c:v>6.9</c:v>
                </c:pt>
                <c:pt idx="30">
                  <c:v>7.0</c:v>
                </c:pt>
                <c:pt idx="31">
                  <c:v>7.1</c:v>
                </c:pt>
                <c:pt idx="32">
                  <c:v>7.199999999999999</c:v>
                </c:pt>
                <c:pt idx="33">
                  <c:v>7.300000000000001</c:v>
                </c:pt>
                <c:pt idx="34">
                  <c:v>7.4</c:v>
                </c:pt>
                <c:pt idx="35">
                  <c:v>7.5</c:v>
                </c:pt>
                <c:pt idx="36">
                  <c:v>7.6</c:v>
                </c:pt>
                <c:pt idx="37">
                  <c:v>7.699999999999999</c:v>
                </c:pt>
                <c:pt idx="38">
                  <c:v>7.800000000000001</c:v>
                </c:pt>
                <c:pt idx="39">
                  <c:v>7.9</c:v>
                </c:pt>
                <c:pt idx="40">
                  <c:v>8.0</c:v>
                </c:pt>
                <c:pt idx="41">
                  <c:v>8.1</c:v>
                </c:pt>
                <c:pt idx="42">
                  <c:v>8.2</c:v>
                </c:pt>
                <c:pt idx="43">
                  <c:v>8.3</c:v>
                </c:pt>
                <c:pt idx="44">
                  <c:v>8.4</c:v>
                </c:pt>
                <c:pt idx="45">
                  <c:v>8.5</c:v>
                </c:pt>
              </c:numCache>
            </c:numRef>
          </c:xVal>
          <c:yVal>
            <c:numRef>
              <c:f>Sheet1!$B$98:$B$143</c:f>
              <c:numCache>
                <c:formatCode>General</c:formatCode>
                <c:ptCount val="46"/>
                <c:pt idx="0">
                  <c:v>0.4542372881355933</c:v>
                </c:pt>
                <c:pt idx="1">
                  <c:v>0.7193220338983051</c:v>
                </c:pt>
                <c:pt idx="2">
                  <c:v>1.451864406779661</c:v>
                </c:pt>
                <c:pt idx="3">
                  <c:v>2.490847457627119</c:v>
                </c:pt>
                <c:pt idx="4">
                  <c:v>1.6572881355932205</c:v>
                </c:pt>
                <c:pt idx="5">
                  <c:v>0.8583050847457627</c:v>
                </c:pt>
                <c:pt idx="6">
                  <c:v>0.5508474576271187</c:v>
                </c:pt>
                <c:pt idx="7">
                  <c:v>0.4423728813559323</c:v>
                </c:pt>
                <c:pt idx="8">
                  <c:v>0.4376271186440678</c:v>
                </c:pt>
                <c:pt idx="9">
                  <c:v>0.5362711864406781</c:v>
                </c:pt>
                <c:pt idx="10">
                  <c:v>0.8183050847457628</c:v>
                </c:pt>
                <c:pt idx="11">
                  <c:v>1.476271186440678</c:v>
                </c:pt>
                <c:pt idx="12">
                  <c:v>2.1491525423728812</c:v>
                </c:pt>
                <c:pt idx="13">
                  <c:v>1.5552542372881355</c:v>
                </c:pt>
                <c:pt idx="14">
                  <c:v>0.904406779661017</c:v>
                </c:pt>
                <c:pt idx="15">
                  <c:v>0.6115254237288136</c:v>
                </c:pt>
                <c:pt idx="16">
                  <c:v>0.5061016949152543</c:v>
                </c:pt>
                <c:pt idx="17">
                  <c:v>0.5016949152542374</c:v>
                </c:pt>
                <c:pt idx="18">
                  <c:v>0.6101694915254238</c:v>
                </c:pt>
                <c:pt idx="19">
                  <c:v>0.8867796610169492</c:v>
                </c:pt>
                <c:pt idx="20">
                  <c:v>1.4637288135593223</c:v>
                </c:pt>
                <c:pt idx="21">
                  <c:v>1.9010169491525424</c:v>
                </c:pt>
                <c:pt idx="22">
                  <c:v>1.4616949152542373</c:v>
                </c:pt>
                <c:pt idx="23">
                  <c:v>0.9315254237288136</c:v>
                </c:pt>
                <c:pt idx="24">
                  <c:v>0.6674576271186441</c:v>
                </c:pt>
                <c:pt idx="25">
                  <c:v>0.5616949152542373</c:v>
                </c:pt>
                <c:pt idx="26">
                  <c:v>0.563728813559322</c:v>
                </c:pt>
                <c:pt idx="27">
                  <c:v>0.6755932203389831</c:v>
                </c:pt>
                <c:pt idx="28">
                  <c:v>0.9461016949152543</c:v>
                </c:pt>
                <c:pt idx="29">
                  <c:v>1.4152542372881358</c:v>
                </c:pt>
                <c:pt idx="30">
                  <c:v>1.717627118644068</c:v>
                </c:pt>
                <c:pt idx="31">
                  <c:v>1.384406779661017</c:v>
                </c:pt>
                <c:pt idx="32">
                  <c:v>0.9498305084745763</c:v>
                </c:pt>
                <c:pt idx="33">
                  <c:v>0.7101694915254237</c:v>
                </c:pt>
                <c:pt idx="34">
                  <c:v>0.6135593220338984</c:v>
                </c:pt>
                <c:pt idx="35">
                  <c:v>0.6206779661016949</c:v>
                </c:pt>
                <c:pt idx="36">
                  <c:v>0.7257627118644068</c:v>
                </c:pt>
                <c:pt idx="37">
                  <c:v>0.9837288135593221</c:v>
                </c:pt>
                <c:pt idx="38">
                  <c:v>1.3783050847457627</c:v>
                </c:pt>
                <c:pt idx="39">
                  <c:v>1.5810169491525425</c:v>
                </c:pt>
                <c:pt idx="40">
                  <c:v>1.3091525423728814</c:v>
                </c:pt>
                <c:pt idx="41">
                  <c:v>0.9491525423728814</c:v>
                </c:pt>
                <c:pt idx="42">
                  <c:v>0.7522033898305086</c:v>
                </c:pt>
                <c:pt idx="43">
                  <c:v>0.6620338983050847</c:v>
                </c:pt>
                <c:pt idx="44">
                  <c:v>0.668135593220339</c:v>
                </c:pt>
                <c:pt idx="45">
                  <c:v>0.7874576271186441</c:v>
                </c:pt>
              </c:numCache>
            </c:numRef>
          </c:yVal>
          <c:smooth val="0"/>
        </c:ser>
        <c:axId val="-2128940872"/>
        <c:axId val="-2129643912"/>
      </c:scatterChart>
      <c:valAx>
        <c:axId val="-2128940872"/>
        <c:scaling>
          <c:orientation val="minMax"/>
          <c:max val="9.0"/>
          <c:min val="4.0"/>
        </c:scaling>
        <c:delete val="0"/>
        <c:axPos val="b"/>
        <c:title>
          <c:tx>
            <c:rich>
              <a:bodyPr/>
              <a:lstStyle/>
              <a:p>
                <a:r>
                  <a:rPr sz="1100" b="0">
                    <a:latin typeface="Arial"/>
                  </a:rPr>
                  <a:t>cavity length L = x_lift − gap/2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0.5"/>
      </c:valAx>
      <c:valAx>
        <c:axId val="-2129643912"/>
        <c:scaling>
          <c:logBase val="10"/>
          <c:orientation val="minMax"/>
          <c:max val="3.0"/>
          <c:min val="0.3"/>
        </c:scaling>
        <c:delete val="0"/>
        <c:axPos val="l"/>
        <c:majorGridlines>
          <c:spPr>
            <a:ln>
              <a:solidFill>
                <a:srgbClr val="E3E3E3"/>
              </a:solidFill>
            </a:ln>
          </c:spPr>
        </c:majorGridlines>
        <c:title>
          <c:tx>
            <c:rich>
              <a:bodyPr/>
              <a:lstStyle/>
              <a:p>
                <a:r>
                  <a:rPr sz="1100" b="0">
                    <a:latin typeface="Arial"/>
                  </a:rPr>
                  <a:t>IL / IL∞</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_envU</c:v>
                </c:pt>
              </c:strCache>
            </c:strRef>
          </c:tx>
          <c:spPr>
            <a:ln w="9525">
              <a:solidFill>
                <a:srgbClr val="F3B094"/>
              </a:solidFill>
              <a:prstDash val="dash"/>
            </a:ln>
          </c:spPr>
          <c:marker>
            <c:symbol val="none"/>
          </c:marker>
          <c:xVal>
            <c:numRef>
              <c:f>Sheet1!$A$2:$A$301</c:f>
              <c:numCache>
                <c:formatCode>General</c:formatCode>
                <c:ptCount val="300"/>
                <c:pt idx="0">
                  <c:v>5.0</c:v>
                </c:pt>
                <c:pt idx="1">
                  <c:v>5.150501672240803</c:v>
                </c:pt>
                <c:pt idx="2">
                  <c:v>5.301003344481606</c:v>
                </c:pt>
                <c:pt idx="3">
                  <c:v>5.451505016722408</c:v>
                </c:pt>
                <c:pt idx="4">
                  <c:v>5.602006688963211</c:v>
                </c:pt>
                <c:pt idx="5">
                  <c:v>5.752508361204013</c:v>
                </c:pt>
                <c:pt idx="6">
                  <c:v>5.903010033444816</c:v>
                </c:pt>
                <c:pt idx="7">
                  <c:v>6.053511705685619</c:v>
                </c:pt>
                <c:pt idx="8">
                  <c:v>6.2040133779264215</c:v>
                </c:pt>
                <c:pt idx="9">
                  <c:v>6.354515050167224</c:v>
                </c:pt>
                <c:pt idx="10">
                  <c:v>6.505016722408027</c:v>
                </c:pt>
                <c:pt idx="11">
                  <c:v>6.65551839464883</c:v>
                </c:pt>
                <c:pt idx="12">
                  <c:v>6.806020066889632</c:v>
                </c:pt>
                <c:pt idx="13">
                  <c:v>6.9565217391304355</c:v>
                </c:pt>
                <c:pt idx="14">
                  <c:v>7.107023411371237</c:v>
                </c:pt>
                <c:pt idx="15">
                  <c:v>7.25752508361204</c:v>
                </c:pt>
                <c:pt idx="16">
                  <c:v>7.408026755852843</c:v>
                </c:pt>
                <c:pt idx="17">
                  <c:v>7.558528428093646</c:v>
                </c:pt>
                <c:pt idx="18">
                  <c:v>7.709030100334449</c:v>
                </c:pt>
                <c:pt idx="19">
                  <c:v>7.8595317725752505</c:v>
                </c:pt>
                <c:pt idx="20">
                  <c:v>8.010033444816054</c:v>
                </c:pt>
                <c:pt idx="21">
                  <c:v>8.160535117056856</c:v>
                </c:pt>
                <c:pt idx="22">
                  <c:v>8.31103678929766</c:v>
                </c:pt>
                <c:pt idx="23">
                  <c:v>8.461538461538462</c:v>
                </c:pt>
                <c:pt idx="24">
                  <c:v>8.612040133779264</c:v>
                </c:pt>
                <c:pt idx="25">
                  <c:v>8.762541806020067</c:v>
                </c:pt>
                <c:pt idx="26">
                  <c:v>8.913043478260871</c:v>
                </c:pt>
                <c:pt idx="27">
                  <c:v>9.063545150501673</c:v>
                </c:pt>
                <c:pt idx="28">
                  <c:v>9.214046822742475</c:v>
                </c:pt>
                <c:pt idx="29">
                  <c:v>9.364548494983278</c:v>
                </c:pt>
                <c:pt idx="30">
                  <c:v>9.51505016722408</c:v>
                </c:pt>
                <c:pt idx="31">
                  <c:v>9.665551839464882</c:v>
                </c:pt>
                <c:pt idx="32">
                  <c:v>9.816053511705686</c:v>
                </c:pt>
                <c:pt idx="33">
                  <c:v>9.96655518394649</c:v>
                </c:pt>
                <c:pt idx="34">
                  <c:v>10.117056856187292</c:v>
                </c:pt>
                <c:pt idx="35">
                  <c:v>10.267558528428093</c:v>
                </c:pt>
                <c:pt idx="36">
                  <c:v>10.418060200668897</c:v>
                </c:pt>
                <c:pt idx="37">
                  <c:v>10.568561872909699</c:v>
                </c:pt>
                <c:pt idx="38">
                  <c:v>10.719063545150501</c:v>
                </c:pt>
                <c:pt idx="39">
                  <c:v>10.869565217391305</c:v>
                </c:pt>
                <c:pt idx="40">
                  <c:v>11.020066889632108</c:v>
                </c:pt>
                <c:pt idx="41">
                  <c:v>11.17056856187291</c:v>
                </c:pt>
                <c:pt idx="42">
                  <c:v>11.321070234113712</c:v>
                </c:pt>
                <c:pt idx="43">
                  <c:v>11.471571906354516</c:v>
                </c:pt>
                <c:pt idx="44">
                  <c:v>11.622073578595318</c:v>
                </c:pt>
                <c:pt idx="45">
                  <c:v>11.77257525083612</c:v>
                </c:pt>
                <c:pt idx="46">
                  <c:v>11.923076923076923</c:v>
                </c:pt>
                <c:pt idx="47">
                  <c:v>12.073578595317727</c:v>
                </c:pt>
                <c:pt idx="48">
                  <c:v>12.224080267558529</c:v>
                </c:pt>
                <c:pt idx="49">
                  <c:v>12.37458193979933</c:v>
                </c:pt>
                <c:pt idx="50">
                  <c:v>12.525083612040135</c:v>
                </c:pt>
                <c:pt idx="51">
                  <c:v>12.675585284280938</c:v>
                </c:pt>
                <c:pt idx="52">
                  <c:v>12.82608695652174</c:v>
                </c:pt>
                <c:pt idx="53">
                  <c:v>12.976588628762542</c:v>
                </c:pt>
                <c:pt idx="54">
                  <c:v>13.127090301003346</c:v>
                </c:pt>
                <c:pt idx="55">
                  <c:v>13.277591973244148</c:v>
                </c:pt>
                <c:pt idx="56">
                  <c:v>13.42809364548495</c:v>
                </c:pt>
                <c:pt idx="57">
                  <c:v>13.578595317725753</c:v>
                </c:pt>
                <c:pt idx="58">
                  <c:v>13.729096989966555</c:v>
                </c:pt>
                <c:pt idx="59">
                  <c:v>13.879598662207359</c:v>
                </c:pt>
                <c:pt idx="60">
                  <c:v>14.03010033444816</c:v>
                </c:pt>
                <c:pt idx="61">
                  <c:v>14.180602006688964</c:v>
                </c:pt>
                <c:pt idx="62">
                  <c:v>14.331103678929766</c:v>
                </c:pt>
                <c:pt idx="63">
                  <c:v>14.48160535117057</c:v>
                </c:pt>
                <c:pt idx="64">
                  <c:v>14.632107023411372</c:v>
                </c:pt>
                <c:pt idx="65">
                  <c:v>14.782608695652174</c:v>
                </c:pt>
                <c:pt idx="66">
                  <c:v>14.933110367892978</c:v>
                </c:pt>
                <c:pt idx="67">
                  <c:v>15.08361204013378</c:v>
                </c:pt>
                <c:pt idx="68">
                  <c:v>15.234113712374583</c:v>
                </c:pt>
                <c:pt idx="69">
                  <c:v>15.384615384615385</c:v>
                </c:pt>
                <c:pt idx="70">
                  <c:v>15.535117056856189</c:v>
                </c:pt>
                <c:pt idx="71">
                  <c:v>15.68561872909699</c:v>
                </c:pt>
                <c:pt idx="72">
                  <c:v>15.836120401337794</c:v>
                </c:pt>
                <c:pt idx="73">
                  <c:v>15.986622073578596</c:v>
                </c:pt>
                <c:pt idx="74">
                  <c:v>16.137123745819398</c:v>
                </c:pt>
                <c:pt idx="75">
                  <c:v>16.287625418060202</c:v>
                </c:pt>
                <c:pt idx="76">
                  <c:v>16.438127090301002</c:v>
                </c:pt>
                <c:pt idx="77">
                  <c:v>16.58862876254181</c:v>
                </c:pt>
                <c:pt idx="78">
                  <c:v>16.73913043478261</c:v>
                </c:pt>
                <c:pt idx="79">
                  <c:v>16.889632107023413</c:v>
                </c:pt>
                <c:pt idx="80">
                  <c:v>17.040133779264217</c:v>
                </c:pt>
                <c:pt idx="81">
                  <c:v>17.190635451505017</c:v>
                </c:pt>
                <c:pt idx="82">
                  <c:v>17.34113712374582</c:v>
                </c:pt>
                <c:pt idx="83">
                  <c:v>17.491638795986624</c:v>
                </c:pt>
                <c:pt idx="84">
                  <c:v>17.642140468227424</c:v>
                </c:pt>
                <c:pt idx="85">
                  <c:v>17.792642140468228</c:v>
                </c:pt>
                <c:pt idx="86">
                  <c:v>17.94314381270903</c:v>
                </c:pt>
                <c:pt idx="87">
                  <c:v>18.093645484949832</c:v>
                </c:pt>
                <c:pt idx="88">
                  <c:v>18.244147157190636</c:v>
                </c:pt>
                <c:pt idx="89">
                  <c:v>18.39464882943144</c:v>
                </c:pt>
                <c:pt idx="90">
                  <c:v>18.54515050167224</c:v>
                </c:pt>
                <c:pt idx="91">
                  <c:v>18.695652173913047</c:v>
                </c:pt>
                <c:pt idx="92">
                  <c:v>18.846153846153847</c:v>
                </c:pt>
                <c:pt idx="93">
                  <c:v>18.99665551839465</c:v>
                </c:pt>
                <c:pt idx="94">
                  <c:v>19.147157190635454</c:v>
                </c:pt>
                <c:pt idx="95">
                  <c:v>19.297658862876254</c:v>
                </c:pt>
                <c:pt idx="96">
                  <c:v>19.448160535117058</c:v>
                </c:pt>
                <c:pt idx="97">
                  <c:v>19.59866220735786</c:v>
                </c:pt>
                <c:pt idx="98">
                  <c:v>19.74916387959866</c:v>
                </c:pt>
                <c:pt idx="99">
                  <c:v>19.899665551839465</c:v>
                </c:pt>
                <c:pt idx="100">
                  <c:v>20.05016722408027</c:v>
                </c:pt>
                <c:pt idx="101">
                  <c:v>20.20066889632107</c:v>
                </c:pt>
                <c:pt idx="102">
                  <c:v>20.351170568561876</c:v>
                </c:pt>
                <c:pt idx="103">
                  <c:v>20.501672240802677</c:v>
                </c:pt>
                <c:pt idx="104">
                  <c:v>20.65217391304348</c:v>
                </c:pt>
                <c:pt idx="105">
                  <c:v>20.802675585284284</c:v>
                </c:pt>
                <c:pt idx="106">
                  <c:v>20.953177257525084</c:v>
                </c:pt>
                <c:pt idx="107">
                  <c:v>21.103678929765888</c:v>
                </c:pt>
                <c:pt idx="108">
                  <c:v>21.25418060200669</c:v>
                </c:pt>
                <c:pt idx="109">
                  <c:v>21.40468227424749</c:v>
                </c:pt>
                <c:pt idx="110">
                  <c:v>21.555183946488295</c:v>
                </c:pt>
                <c:pt idx="111">
                  <c:v>21.7056856187291</c:v>
                </c:pt>
                <c:pt idx="112">
                  <c:v>21.8561872909699</c:v>
                </c:pt>
                <c:pt idx="113">
                  <c:v>22.006688963210703</c:v>
                </c:pt>
                <c:pt idx="114">
                  <c:v>22.157190635451506</c:v>
                </c:pt>
                <c:pt idx="115">
                  <c:v>22.30769230769231</c:v>
                </c:pt>
                <c:pt idx="116">
                  <c:v>22.45819397993311</c:v>
                </c:pt>
                <c:pt idx="117">
                  <c:v>22.608695652173914</c:v>
                </c:pt>
                <c:pt idx="118">
                  <c:v>22.759197324414718</c:v>
                </c:pt>
                <c:pt idx="119">
                  <c:v>22.90969899665552</c:v>
                </c:pt>
                <c:pt idx="120">
                  <c:v>23.06020066889632</c:v>
                </c:pt>
                <c:pt idx="121">
                  <c:v>23.210702341137125</c:v>
                </c:pt>
                <c:pt idx="122">
                  <c:v>23.36120401337793</c:v>
                </c:pt>
                <c:pt idx="123">
                  <c:v>23.51170568561873</c:v>
                </c:pt>
                <c:pt idx="124">
                  <c:v>23.662207357859533</c:v>
                </c:pt>
                <c:pt idx="125">
                  <c:v>23.812709030100336</c:v>
                </c:pt>
                <c:pt idx="126">
                  <c:v>23.96321070234114</c:v>
                </c:pt>
                <c:pt idx="127">
                  <c:v>24.11371237458194</c:v>
                </c:pt>
                <c:pt idx="128">
                  <c:v>24.264214046822744</c:v>
                </c:pt>
                <c:pt idx="129">
                  <c:v>24.414715719063548</c:v>
                </c:pt>
                <c:pt idx="130">
                  <c:v>24.565217391304348</c:v>
                </c:pt>
                <c:pt idx="131">
                  <c:v>24.71571906354515</c:v>
                </c:pt>
                <c:pt idx="132">
                  <c:v>24.866220735785955</c:v>
                </c:pt>
                <c:pt idx="133">
                  <c:v>25.01672240802676</c:v>
                </c:pt>
                <c:pt idx="134">
                  <c:v>25.16722408026756</c:v>
                </c:pt>
                <c:pt idx="135">
                  <c:v>25.317725752508363</c:v>
                </c:pt>
                <c:pt idx="136">
                  <c:v>25.468227424749166</c:v>
                </c:pt>
                <c:pt idx="137">
                  <c:v>25.618729096989966</c:v>
                </c:pt>
                <c:pt idx="138">
                  <c:v>25.76923076923077</c:v>
                </c:pt>
                <c:pt idx="139">
                  <c:v>25.919732441471574</c:v>
                </c:pt>
                <c:pt idx="140">
                  <c:v>26.070234113712377</c:v>
                </c:pt>
                <c:pt idx="141">
                  <c:v>26.220735785953178</c:v>
                </c:pt>
                <c:pt idx="142">
                  <c:v>26.37123745819398</c:v>
                </c:pt>
                <c:pt idx="143">
                  <c:v>26.521739130434785</c:v>
                </c:pt>
                <c:pt idx="144">
                  <c:v>26.67224080267559</c:v>
                </c:pt>
                <c:pt idx="145">
                  <c:v>26.82274247491639</c:v>
                </c:pt>
                <c:pt idx="146">
                  <c:v>26.973244147157192</c:v>
                </c:pt>
                <c:pt idx="147">
                  <c:v>27.123745819397996</c:v>
                </c:pt>
                <c:pt idx="148">
                  <c:v>27.274247491638796</c:v>
                </c:pt>
                <c:pt idx="149">
                  <c:v>27.4247491638796</c:v>
                </c:pt>
                <c:pt idx="150">
                  <c:v>27.575250836120404</c:v>
                </c:pt>
                <c:pt idx="151">
                  <c:v>27.725752508361207</c:v>
                </c:pt>
                <c:pt idx="152">
                  <c:v>27.876254180602007</c:v>
                </c:pt>
                <c:pt idx="153">
                  <c:v>28.02675585284281</c:v>
                </c:pt>
                <c:pt idx="154">
                  <c:v>28.177257525083615</c:v>
                </c:pt>
                <c:pt idx="155">
                  <c:v>28.327759197324415</c:v>
                </c:pt>
                <c:pt idx="156">
                  <c:v>28.47826086956522</c:v>
                </c:pt>
                <c:pt idx="157">
                  <c:v>28.628762541806022</c:v>
                </c:pt>
                <c:pt idx="158">
                  <c:v>28.779264214046826</c:v>
                </c:pt>
                <c:pt idx="159">
                  <c:v>28.929765886287626</c:v>
                </c:pt>
                <c:pt idx="160">
                  <c:v>29.08026755852843</c:v>
                </c:pt>
                <c:pt idx="161">
                  <c:v>29.230769230769234</c:v>
                </c:pt>
                <c:pt idx="162">
                  <c:v>29.381270903010034</c:v>
                </c:pt>
                <c:pt idx="163">
                  <c:v>29.531772575250837</c:v>
                </c:pt>
                <c:pt idx="164">
                  <c:v>29.68227424749164</c:v>
                </c:pt>
                <c:pt idx="165">
                  <c:v>29.832775919732445</c:v>
                </c:pt>
                <c:pt idx="166">
                  <c:v>29.983277591973245</c:v>
                </c:pt>
                <c:pt idx="167">
                  <c:v>30.13377926421405</c:v>
                </c:pt>
                <c:pt idx="168">
                  <c:v>30.284280936454852</c:v>
                </c:pt>
                <c:pt idx="169">
                  <c:v>30.434782608695652</c:v>
                </c:pt>
                <c:pt idx="170">
                  <c:v>30.585284280936456</c:v>
                </c:pt>
                <c:pt idx="171">
                  <c:v>30.73578595317726</c:v>
                </c:pt>
                <c:pt idx="172">
                  <c:v>30.886287625418063</c:v>
                </c:pt>
                <c:pt idx="173">
                  <c:v>31.036789297658864</c:v>
                </c:pt>
                <c:pt idx="174">
                  <c:v>31.187290969899667</c:v>
                </c:pt>
                <c:pt idx="175">
                  <c:v>31.33779264214047</c:v>
                </c:pt>
                <c:pt idx="176">
                  <c:v>31.48829431438127</c:v>
                </c:pt>
                <c:pt idx="177">
                  <c:v>31.638795986622075</c:v>
                </c:pt>
                <c:pt idx="178">
                  <c:v>31.78929765886288</c:v>
                </c:pt>
                <c:pt idx="179">
                  <c:v>31.939799331103682</c:v>
                </c:pt>
                <c:pt idx="180">
                  <c:v>32.09030100334448</c:v>
                </c:pt>
                <c:pt idx="181">
                  <c:v>32.240802675585286</c:v>
                </c:pt>
                <c:pt idx="182">
                  <c:v>32.39130434782609</c:v>
                </c:pt>
                <c:pt idx="183">
                  <c:v>32.54180602006689</c:v>
                </c:pt>
                <c:pt idx="184">
                  <c:v>32.69230769230769</c:v>
                </c:pt>
                <c:pt idx="185">
                  <c:v>32.8428093645485</c:v>
                </c:pt>
                <c:pt idx="186">
                  <c:v>32.9933110367893</c:v>
                </c:pt>
                <c:pt idx="187">
                  <c:v>33.1438127090301</c:v>
                </c:pt>
                <c:pt idx="188">
                  <c:v>33.29431438127091</c:v>
                </c:pt>
                <c:pt idx="189">
                  <c:v>33.44481605351171</c:v>
                </c:pt>
                <c:pt idx="190">
                  <c:v>33.59531772575251</c:v>
                </c:pt>
                <c:pt idx="191">
                  <c:v>33.745819397993316</c:v>
                </c:pt>
                <c:pt idx="192">
                  <c:v>33.896321070234116</c:v>
                </c:pt>
                <c:pt idx="193">
                  <c:v>34.046822742474916</c:v>
                </c:pt>
                <c:pt idx="194">
                  <c:v>34.19732441471572</c:v>
                </c:pt>
                <c:pt idx="195">
                  <c:v>34.34782608695652</c:v>
                </c:pt>
                <c:pt idx="196">
                  <c:v>34.49832775919732</c:v>
                </c:pt>
                <c:pt idx="197">
                  <c:v>34.64882943143813</c:v>
                </c:pt>
                <c:pt idx="198">
                  <c:v>34.79933110367893</c:v>
                </c:pt>
                <c:pt idx="199">
                  <c:v>34.94983277591973</c:v>
                </c:pt>
                <c:pt idx="200">
                  <c:v>35.10033444816054</c:v>
                </c:pt>
                <c:pt idx="201">
                  <c:v>35.25083612040134</c:v>
                </c:pt>
                <c:pt idx="202">
                  <c:v>35.40133779264214</c:v>
                </c:pt>
                <c:pt idx="203">
                  <c:v>35.551839464882946</c:v>
                </c:pt>
                <c:pt idx="204">
                  <c:v>35.70234113712375</c:v>
                </c:pt>
                <c:pt idx="205">
                  <c:v>35.852842809364546</c:v>
                </c:pt>
                <c:pt idx="206">
                  <c:v>36.00334448160535</c:v>
                </c:pt>
                <c:pt idx="207">
                  <c:v>36.15384615384616</c:v>
                </c:pt>
                <c:pt idx="208">
                  <c:v>36.30434782608696</c:v>
                </c:pt>
                <c:pt idx="209">
                  <c:v>36.45484949832776</c:v>
                </c:pt>
                <c:pt idx="210">
                  <c:v>36.60535117056857</c:v>
                </c:pt>
                <c:pt idx="211">
                  <c:v>36.75585284280937</c:v>
                </c:pt>
                <c:pt idx="212">
                  <c:v>36.90635451505017</c:v>
                </c:pt>
                <c:pt idx="213">
                  <c:v>37.056856187290975</c:v>
                </c:pt>
                <c:pt idx="214">
                  <c:v>37.207357859531776</c:v>
                </c:pt>
                <c:pt idx="215">
                  <c:v>37.357859531772576</c:v>
                </c:pt>
                <c:pt idx="216">
                  <c:v>37.50836120401338</c:v>
                </c:pt>
                <c:pt idx="217">
                  <c:v>37.65886287625418</c:v>
                </c:pt>
                <c:pt idx="218">
                  <c:v>37.80936454849498</c:v>
                </c:pt>
                <c:pt idx="219">
                  <c:v>37.95986622073579</c:v>
                </c:pt>
                <c:pt idx="220">
                  <c:v>38.11036789297659</c:v>
                </c:pt>
                <c:pt idx="221">
                  <c:v>38.26086956521739</c:v>
                </c:pt>
                <c:pt idx="222">
                  <c:v>38.4113712374582</c:v>
                </c:pt>
                <c:pt idx="223">
                  <c:v>38.561872909699</c:v>
                </c:pt>
                <c:pt idx="224">
                  <c:v>38.7123745819398</c:v>
                </c:pt>
                <c:pt idx="225">
                  <c:v>38.862876254180605</c:v>
                </c:pt>
                <c:pt idx="226">
                  <c:v>39.013377926421406</c:v>
                </c:pt>
                <c:pt idx="227">
                  <c:v>39.16387959866221</c:v>
                </c:pt>
                <c:pt idx="228">
                  <c:v>39.31438127090301</c:v>
                </c:pt>
                <c:pt idx="229">
                  <c:v>39.46488294314381</c:v>
                </c:pt>
                <c:pt idx="230">
                  <c:v>39.61538461538462</c:v>
                </c:pt>
                <c:pt idx="231">
                  <c:v>39.76588628762542</c:v>
                </c:pt>
                <c:pt idx="232">
                  <c:v>39.91638795986622</c:v>
                </c:pt>
                <c:pt idx="233">
                  <c:v>40.06688963210703</c:v>
                </c:pt>
                <c:pt idx="234">
                  <c:v>40.21739130434783</c:v>
                </c:pt>
                <c:pt idx="235">
                  <c:v>40.36789297658863</c:v>
                </c:pt>
                <c:pt idx="236">
                  <c:v>40.518394648829435</c:v>
                </c:pt>
                <c:pt idx="237">
                  <c:v>40.668896321070235</c:v>
                </c:pt>
                <c:pt idx="238">
                  <c:v>40.81939799331104</c:v>
                </c:pt>
                <c:pt idx="239">
                  <c:v>40.96989966555184</c:v>
                </c:pt>
                <c:pt idx="240">
                  <c:v>41.12040133779264</c:v>
                </c:pt>
                <c:pt idx="241">
                  <c:v>41.27090301003345</c:v>
                </c:pt>
                <c:pt idx="242">
                  <c:v>41.42140468227425</c:v>
                </c:pt>
                <c:pt idx="243">
                  <c:v>41.57190635451505</c:v>
                </c:pt>
                <c:pt idx="244">
                  <c:v>41.72240802675586</c:v>
                </c:pt>
                <c:pt idx="245">
                  <c:v>41.87290969899666</c:v>
                </c:pt>
                <c:pt idx="246">
                  <c:v>42.02341137123746</c:v>
                </c:pt>
                <c:pt idx="247">
                  <c:v>42.173913043478265</c:v>
                </c:pt>
                <c:pt idx="248">
                  <c:v>42.324414715719065</c:v>
                </c:pt>
                <c:pt idx="249">
                  <c:v>42.474916387959865</c:v>
                </c:pt>
                <c:pt idx="250">
                  <c:v>42.62541806020067</c:v>
                </c:pt>
                <c:pt idx="251">
                  <c:v>42.77591973244147</c:v>
                </c:pt>
                <c:pt idx="252">
                  <c:v>42.92642140468228</c:v>
                </c:pt>
                <c:pt idx="253">
                  <c:v>43.07692307692308</c:v>
                </c:pt>
                <c:pt idx="254">
                  <c:v>43.22742474916388</c:v>
                </c:pt>
                <c:pt idx="255">
                  <c:v>43.37792642140469</c:v>
                </c:pt>
                <c:pt idx="256">
                  <c:v>43.52842809364549</c:v>
                </c:pt>
                <c:pt idx="257">
                  <c:v>43.67892976588629</c:v>
                </c:pt>
                <c:pt idx="258">
                  <c:v>43.829431438127095</c:v>
                </c:pt>
                <c:pt idx="259">
                  <c:v>43.979933110367895</c:v>
                </c:pt>
                <c:pt idx="260">
                  <c:v>44.130434782608695</c:v>
                </c:pt>
                <c:pt idx="261">
                  <c:v>44.2809364548495</c:v>
                </c:pt>
                <c:pt idx="262">
                  <c:v>44.4314381270903</c:v>
                </c:pt>
                <c:pt idx="263">
                  <c:v>44.58193979933111</c:v>
                </c:pt>
                <c:pt idx="264">
                  <c:v>44.73244147157191</c:v>
                </c:pt>
                <c:pt idx="265">
                  <c:v>44.88294314381271</c:v>
                </c:pt>
                <c:pt idx="266">
                  <c:v>45.03344481605352</c:v>
                </c:pt>
                <c:pt idx="267">
                  <c:v>45.18394648829432</c:v>
                </c:pt>
                <c:pt idx="268">
                  <c:v>45.33444816053512</c:v>
                </c:pt>
                <c:pt idx="269">
                  <c:v>45.484949832775925</c:v>
                </c:pt>
                <c:pt idx="270">
                  <c:v>45.635451505016725</c:v>
                </c:pt>
                <c:pt idx="271">
                  <c:v>45.785953177257525</c:v>
                </c:pt>
                <c:pt idx="272">
                  <c:v>45.93645484949833</c:v>
                </c:pt>
                <c:pt idx="273">
                  <c:v>46.08695652173913</c:v>
                </c:pt>
                <c:pt idx="274">
                  <c:v>46.23745819397993</c:v>
                </c:pt>
                <c:pt idx="275">
                  <c:v>46.38795986622074</c:v>
                </c:pt>
                <c:pt idx="276">
                  <c:v>46.53846153846154</c:v>
                </c:pt>
                <c:pt idx="277">
                  <c:v>46.68896321070235</c:v>
                </c:pt>
                <c:pt idx="278">
                  <c:v>46.83946488294315</c:v>
                </c:pt>
                <c:pt idx="279">
                  <c:v>46.98996655518395</c:v>
                </c:pt>
                <c:pt idx="280">
                  <c:v>47.140468227424755</c:v>
                </c:pt>
                <c:pt idx="281">
                  <c:v>47.290969899665555</c:v>
                </c:pt>
                <c:pt idx="282">
                  <c:v>47.441471571906355</c:v>
                </c:pt>
                <c:pt idx="283">
                  <c:v>47.59197324414716</c:v>
                </c:pt>
                <c:pt idx="284">
                  <c:v>47.74247491638796</c:v>
                </c:pt>
                <c:pt idx="285">
                  <c:v>47.89297658862876</c:v>
                </c:pt>
                <c:pt idx="286">
                  <c:v>48.04347826086957</c:v>
                </c:pt>
                <c:pt idx="287">
                  <c:v>48.19397993311037</c:v>
                </c:pt>
                <c:pt idx="288">
                  <c:v>48.34448160535118</c:v>
                </c:pt>
                <c:pt idx="289">
                  <c:v>48.49498327759198</c:v>
                </c:pt>
                <c:pt idx="290">
                  <c:v>48.64548494983278</c:v>
                </c:pt>
                <c:pt idx="291">
                  <c:v>48.795986622073585</c:v>
                </c:pt>
                <c:pt idx="292">
                  <c:v>48.946488294314385</c:v>
                </c:pt>
                <c:pt idx="293">
                  <c:v>49.096989966555185</c:v>
                </c:pt>
                <c:pt idx="294">
                  <c:v>49.24749163879599</c:v>
                </c:pt>
                <c:pt idx="295">
                  <c:v>49.39799331103679</c:v>
                </c:pt>
                <c:pt idx="296">
                  <c:v>49.54849498327759</c:v>
                </c:pt>
                <c:pt idx="297">
                  <c:v>49.6989966555184</c:v>
                </c:pt>
                <c:pt idx="298">
                  <c:v>49.8494983277592</c:v>
                </c:pt>
                <c:pt idx="299">
                  <c:v>50.0</c:v>
                </c:pt>
              </c:numCache>
            </c:numRef>
          </c:xVal>
          <c:yVal>
            <c:numRef>
              <c:f>Sheet1!$B$2:$B$301</c:f>
              <c:numCache>
                <c:formatCode>General</c:formatCode>
                <c:ptCount val="300"/>
                <c:pt idx="0">
                  <c:v>6.638459667134278</c:v>
                </c:pt>
                <c:pt idx="1">
                  <c:v>5.995725804014679</c:v>
                </c:pt>
                <c:pt idx="2">
                  <c:v>5.466913213161825</c:v>
                </c:pt>
                <c:pt idx="3">
                  <c:v>5.024236439652112</c:v>
                </c:pt>
                <c:pt idx="4">
                  <c:v>4.648266473392895</c:v>
                </c:pt>
                <c:pt idx="5">
                  <c:v>4.325008940619404</c:v>
                </c:pt>
                <c:pt idx="6">
                  <c:v>4.044128093358187</c:v>
                </c:pt>
                <c:pt idx="7">
                  <c:v>3.7978245401255113</c:v>
                </c:pt>
                <c:pt idx="8">
                  <c:v>3.5801022001825733</c:v>
                </c:pt>
                <c:pt idx="9">
                  <c:v>3.3862755990291333</c:v>
                </c:pt>
                <c:pt idx="10">
                  <c:v>3.2126303352983987</c:v>
                </c:pt>
                <c:pt idx="11">
                  <c:v>3.056183901651466</c:v>
                </c:pt>
                <c:pt idx="12">
                  <c:v>2.9145138796756496</c:v>
                </c:pt>
                <c:pt idx="13">
                  <c:v>2.7856323601139534</c:v>
                </c:pt>
                <c:pt idx="14">
                  <c:v>2.667892701061062</c:v>
                </c:pt>
                <c:pt idx="15">
                  <c:v>2.5599193087097634</c:v>
                </c:pt>
                <c:pt idx="16">
                  <c:v>2.46055407080349</c:v>
                </c:pt>
                <c:pt idx="17">
                  <c:v>2.368815010536628</c:v>
                </c:pt>
                <c:pt idx="18">
                  <c:v>2.2838640274687063</c:v>
                </c:pt>
                <c:pt idx="19">
                  <c:v>2.2049814777910557</c:v>
                </c:pt>
                <c:pt idx="20">
                  <c:v>2.1315459599778244</c:v>
                </c:pt>
                <c:pt idx="21">
                  <c:v>2.0630181032622694</c:v>
                </c:pt>
                <c:pt idx="22">
                  <c:v>1.9989274637412944</c:v>
                </c:pt>
                <c:pt idx="23">
                  <c:v>1.9388618546310359</c:v>
                </c:pt>
                <c:pt idx="24">
                  <c:v>1.88245859899199</c:v>
                </c:pt>
                <c:pt idx="25">
                  <c:v>1.829397312584368</c:v>
                </c:pt>
                <c:pt idx="26">
                  <c:v>1.7793939134295078</c:v>
                </c:pt>
                <c:pt idx="27">
                  <c:v>1.7321956215232328</c:v>
                </c:pt>
                <c:pt idx="28">
                  <c:v>1.6875767628823966</c:v>
                </c:pt>
                <c:pt idx="29">
                  <c:v>1.645335230919013</c:v>
                </c:pt>
                <c:pt idx="30">
                  <c:v>1.6052894880610964</c:v>
                </c:pt>
                <c:pt idx="31">
                  <c:v>1.567276013781101</c:v>
                </c:pt>
                <c:pt idx="32">
                  <c:v>1.5311471233699125</c:v>
                </c:pt>
                <c:pt idx="33">
                  <c:v>1.4967690961038467</c:v>
                </c:pt>
                <c:pt idx="34">
                  <c:v>1.4640205627874692</c:v>
                </c:pt>
                <c:pt idx="35">
                  <c:v>1.432791111687453</c:v>
                </c:pt>
                <c:pt idx="36">
                  <c:v>1.402980079110599</c:v>
                </c:pt>
                <c:pt idx="37">
                  <c:v>1.3744954967101413</c:v>
                </c:pt>
                <c:pt idx="38">
                  <c:v>1.347253172325917</c:v>
                </c:pt>
                <c:pt idx="39">
                  <c:v>1.3211758850057331</c:v>
                </c:pt>
                <c:pt idx="40">
                  <c:v>1.2961926779956194</c:v>
                </c:pt>
                <c:pt idx="41">
                  <c:v>1.2722382360651543</c:v>
                </c:pt>
                <c:pt idx="42">
                  <c:v>1.249252335660192</c:v>
                </c:pt>
                <c:pt idx="43">
                  <c:v>1.227179358135549</c:v>
                </c:pt>
                <c:pt idx="44">
                  <c:v>1.2059678577832496</c:v>
                </c:pt>
                <c:pt idx="45">
                  <c:v>1.1855701775924579</c:v>
                </c:pt>
                <c:pt idx="46">
                  <c:v>1.1659421066991242</c:v>
                </c:pt>
                <c:pt idx="47">
                  <c:v>1.147042574341914</c:v>
                </c:pt>
                <c:pt idx="48">
                  <c:v>1.1288333758646598</c:v>
                </c:pt>
                <c:pt idx="49">
                  <c:v>1.1112789269175742</c:v>
                </c:pt>
                <c:pt idx="50">
                  <c:v>1.0943460425285347</c:v>
                </c:pt>
                <c:pt idx="51">
                  <c:v>1.0780037381573655</c:v>
                </c:pt>
                <c:pt idx="52">
                  <c:v>1.062223050222837</c:v>
                </c:pt>
                <c:pt idx="53">
                  <c:v>1.0469768739144292</c:v>
                </c:pt>
                <c:pt idx="54">
                  <c:v>1.0322398163774464</c:v>
                </c:pt>
                <c:pt idx="55">
                  <c:v>1.0179880635978547</c:v>
                </c:pt>
                <c:pt idx="56">
                  <c:v>1.0041992595182772</c:v>
                </c:pt>
                <c:pt idx="57">
                  <c:v>0.9908523960937747</c:v>
                </c:pt>
                <c:pt idx="58">
                  <c:v>0.9779277131495343</c:v>
                </c:pt>
                <c:pt idx="59">
                  <c:v>0.9654066070358892</c:v>
                </c:pt>
                <c:pt idx="60">
                  <c:v>0.953271547192044</c:v>
                </c:pt>
                <c:pt idx="61">
                  <c:v>0.9415059998310131</c:v>
                </c:pt>
                <c:pt idx="62">
                  <c:v>0.9300943580466321</c:v>
                </c:pt>
                <c:pt idx="63">
                  <c:v>0.9190218777208645</c:v>
                </c:pt>
                <c:pt idx="64">
                  <c:v>0.9082746186774915</c:v>
                </c:pt>
                <c:pt idx="65">
                  <c:v>0.8978393905879002</c:v>
                </c:pt>
                <c:pt idx="66">
                  <c:v>0.8877037031872146</c:v>
                </c:pt>
                <c:pt idx="67">
                  <c:v>0.8778557204053213</c:v>
                </c:pt>
                <c:pt idx="68">
                  <c:v>0.8682842180582706</c:v>
                </c:pt>
                <c:pt idx="69">
                  <c:v>0.8589785447817564</c:v>
                </c:pt>
                <c:pt idx="70">
                  <c:v>0.8499285859204861</c:v>
                </c:pt>
                <c:pt idx="71">
                  <c:v>0.841124730115769</c:v>
                </c:pt>
                <c:pt idx="72">
                  <c:v>0.832557838358999</c:v>
                </c:pt>
                <c:pt idx="73">
                  <c:v>0.8242192153012979</c:v>
                </c:pt>
                <c:pt idx="74">
                  <c:v>0.8161005826297225</c:v>
                </c:pt>
                <c:pt idx="75">
                  <c:v>0.8081940543384364</c:v>
                </c:pt>
                <c:pt idx="76">
                  <c:v>0.8004921137393349</c:v>
                </c:pt>
                <c:pt idx="77">
                  <c:v>0.7929875920710338</c:v>
                </c:pt>
                <c:pt idx="78">
                  <c:v>0.7856736485780589</c:v>
                </c:pt>
                <c:pt idx="79">
                  <c:v>0.7785437519436789</c:v>
                </c:pt>
                <c:pt idx="80">
                  <c:v>0.7715916629702819</c:v>
                </c:pt>
                <c:pt idx="81">
                  <c:v>0.7648114184105778</c:v>
                </c:pt>
                <c:pt idx="82">
                  <c:v>0.7581973158613908</c:v>
                </c:pt>
                <c:pt idx="83">
                  <c:v>0.7517438996394628</c:v>
                </c:pt>
                <c:pt idx="84">
                  <c:v>0.7454459475655802</c:v>
                </c:pt>
                <c:pt idx="85">
                  <c:v>0.7392984585896019</c:v>
                </c:pt>
                <c:pt idx="86">
                  <c:v>0.733296641194619</c:v>
                </c:pt>
                <c:pt idx="87">
                  <c:v>0.7274359025236147</c:v>
                </c:pt>
                <c:pt idx="88">
                  <c:v>0.721711838176638</c:v>
                </c:pt>
                <c:pt idx="89">
                  <c:v>0.7161202226307506</c:v>
                </c:pt>
                <c:pt idx="90">
                  <c:v>0.7106570002388354</c:v>
                </c:pt>
                <c:pt idx="91">
                  <c:v>0.7053182767668759</c:v>
                </c:pt>
                <c:pt idx="92">
                  <c:v>0.7001003114324893</c:v>
                </c:pt>
                <c:pt idx="93">
                  <c:v>0.6949995094104152</c:v>
                </c:pt>
                <c:pt idx="94">
                  <c:v>0.6900124147733183</c:v>
                </c:pt>
                <c:pt idx="95">
                  <c:v>0.6851357038386868</c:v>
                </c:pt>
                <c:pt idx="96">
                  <c:v>0.6803661788948284</c:v>
                </c:pt>
                <c:pt idx="97">
                  <c:v>0.6757007622810005</c:v>
                </c:pt>
                <c:pt idx="98">
                  <c:v>0.6711364907985716</c:v>
                </c:pt>
                <c:pt idx="99">
                  <c:v>0.6666705104318145</c:v>
                </c:pt>
                <c:pt idx="100">
                  <c:v>0.6623000713585007</c:v>
                </c:pt>
                <c:pt idx="101">
                  <c:v>0.6580225232319056</c:v>
                </c:pt>
                <c:pt idx="102">
                  <c:v>0.6538353107171495</c:v>
                </c:pt>
                <c:pt idx="103">
                  <c:v>0.6497359692660273</c:v>
                </c:pt>
                <c:pt idx="104">
                  <c:v>0.6457221211155795</c:v>
                </c:pt>
                <c:pt idx="105">
                  <c:v>0.641791471496717</c:v>
                </c:pt>
                <c:pt idx="106">
                  <c:v>0.6379418050401301</c:v>
                </c:pt>
                <c:pt idx="107">
                  <c:v>0.63417098236762</c:v>
                </c:pt>
                <c:pt idx="108">
                  <c:v>0.6304769368577763</c:v>
                </c:pt>
                <c:pt idx="109">
                  <c:v>0.626857671575692</c:v>
                </c:pt>
                <c:pt idx="110">
                  <c:v>0.6233112563570822</c:v>
                </c:pt>
                <c:pt idx="111">
                  <c:v>0.6198358250378287</c:v>
                </c:pt>
                <c:pt idx="112">
                  <c:v>0.6164295728205521</c:v>
                </c:pt>
                <c:pt idx="113">
                  <c:v>0.6130907537703693</c:v>
                </c:pt>
                <c:pt idx="114">
                  <c:v>0.6098176784325036</c:v>
                </c:pt>
                <c:pt idx="115">
                  <c:v>0.606608711564881</c:v>
                </c:pt>
                <c:pt idx="116">
                  <c:v>0.6034622699792921</c:v>
                </c:pt>
                <c:pt idx="117">
                  <c:v>0.6003768204850963</c:v>
                </c:pt>
                <c:pt idx="118">
                  <c:v>0.5973508779298359</c:v>
                </c:pt>
                <c:pt idx="119">
                  <c:v>0.5943830033314671</c:v>
                </c:pt>
                <c:pt idx="120">
                  <c:v>0.5914718020972485</c:v>
                </c:pt>
                <c:pt idx="121">
                  <c:v>0.5886159223246311</c:v>
                </c:pt>
                <c:pt idx="122">
                  <c:v>0.5858140531797797</c:v>
                </c:pt>
                <c:pt idx="123">
                  <c:v>0.5830649233496127</c:v>
                </c:pt>
                <c:pt idx="124">
                  <c:v>0.5803672995635037</c:v>
                </c:pt>
                <c:pt idx="125">
                  <c:v>0.5777199851810116</c:v>
                </c:pt>
                <c:pt idx="126">
                  <c:v>0.5751218188422216</c:v>
                </c:pt>
                <c:pt idx="127">
                  <c:v>0.5725716731774828</c:v>
                </c:pt>
                <c:pt idx="128">
                  <c:v>0.5700684535735124</c:v>
                </c:pt>
                <c:pt idx="129">
                  <c:v>0.5676110969930132</c:v>
                </c:pt>
                <c:pt idx="130">
                  <c:v>0.5651985708451153</c:v>
                </c:pt>
                <c:pt idx="131">
                  <c:v>0.562829871904105</c:v>
                </c:pt>
                <c:pt idx="132">
                  <c:v>0.5605040252740494</c:v>
                </c:pt>
                <c:pt idx="133">
                  <c:v>0.5582200833970566</c:v>
                </c:pt>
                <c:pt idx="134">
                  <c:v>0.5559771251030412</c:v>
                </c:pt>
                <c:pt idx="135">
                  <c:v>0.5537742546989814</c:v>
                </c:pt>
                <c:pt idx="136">
                  <c:v>0.5516106010957619</c:v>
                </c:pt>
                <c:pt idx="137">
                  <c:v>0.5494853169708093</c:v>
                </c:pt>
                <c:pt idx="138">
                  <c:v>0.5473975779648106</c:v>
                </c:pt>
                <c:pt idx="139">
                  <c:v>0.5453465819109152</c:v>
                </c:pt>
                <c:pt idx="140">
                  <c:v>0.5433315480948883</c:v>
                </c:pt>
                <c:pt idx="141">
                  <c:v>0.5413517165447791</c:v>
                </c:pt>
                <c:pt idx="142">
                  <c:v>0.539406347348736</c:v>
                </c:pt>
                <c:pt idx="143">
                  <c:v>0.537494719999676</c:v>
                </c:pt>
                <c:pt idx="144">
                  <c:v>0.5356161327655791</c:v>
                </c:pt>
                <c:pt idx="145">
                  <c:v>0.5337699020842479</c:v>
                </c:pt>
                <c:pt idx="146">
                  <c:v>0.5319553619814276</c:v>
                </c:pt>
                <c:pt idx="147">
                  <c:v>0.5301718635112401</c:v>
                </c:pt>
                <c:pt idx="148">
                  <c:v>0.52841877421794</c:v>
                </c:pt>
                <c:pt idx="149">
                  <c:v>0.5266954776180465</c:v>
                </c:pt>
                <c:pt idx="150">
                  <c:v>0.525001372701959</c:v>
                </c:pt>
                <c:pt idx="151">
                  <c:v>0.5233358734542043</c:v>
                </c:pt>
                <c:pt idx="152">
                  <c:v>0.5216984083915036</c:v>
                </c:pt>
                <c:pt idx="153">
                  <c:v>0.5200884201178955</c:v>
                </c:pt>
                <c:pt idx="154">
                  <c:v>0.5185053648961797</c:v>
                </c:pt>
                <c:pt idx="155">
                  <c:v>0.5169487122349871</c:v>
                </c:pt>
                <c:pt idx="156">
                  <c:v>0.515417944490815</c:v>
                </c:pt>
                <c:pt idx="157">
                  <c:v>0.5139125564843964</c:v>
                </c:pt>
                <c:pt idx="158">
                  <c:v>0.5124320551308034</c:v>
                </c:pt>
                <c:pt idx="159">
                  <c:v>0.5109759590827138</c:v>
                </c:pt>
                <c:pt idx="160">
                  <c:v>0.5095437983862966</c:v>
                </c:pt>
                <c:pt idx="161">
                  <c:v>0.5081351141491964</c:v>
                </c:pt>
                <c:pt idx="162">
                  <c:v>0.5067494582201227</c:v>
                </c:pt>
                <c:pt idx="163">
                  <c:v>0.5053863928795741</c:v>
                </c:pt>
                <c:pt idx="164">
                  <c:v>0.504045490541244</c:v>
                </c:pt>
                <c:pt idx="165">
                  <c:v>0.5027263334636822</c:v>
                </c:pt>
                <c:pt idx="166">
                  <c:v>0.5014285134718</c:v>
                </c:pt>
                <c:pt idx="167">
                  <c:v>0.50015163168783</c:v>
                </c:pt>
                <c:pt idx="168">
                  <c:v>0.4988952982713657</c:v>
                </c:pt>
                <c:pt idx="169">
                  <c:v>0.4976591321681247</c:v>
                </c:pt>
                <c:pt idx="170">
                  <c:v>0.49644276086709493</c:v>
                </c:pt>
                <c:pt idx="171">
                  <c:v>0.4952458201657388</c:v>
                </c:pt>
                <c:pt idx="172">
                  <c:v>0.494067953942943</c:v>
                </c:pt>
                <c:pt idx="173">
                  <c:v>0.492908813939417</c:v>
                </c:pt>
                <c:pt idx="174">
                  <c:v>0.4917680595452564</c:v>
                </c:pt>
                <c:pt idx="175">
                  <c:v>0.49064535759439726</c:v>
                </c:pt>
                <c:pt idx="176">
                  <c:v>0.48954038216570306</c:v>
                </c:pt>
                <c:pt idx="177">
                  <c:v>0.48845281439043264</c:v>
                </c:pt>
                <c:pt idx="178">
                  <c:v>0.4873823422658537</c:v>
                </c:pt>
                <c:pt idx="179">
                  <c:v>0.4863286604747693</c:v>
                </c:pt>
                <c:pt idx="180">
                  <c:v>0.48529147021074326</c:v>
                </c:pt>
                <c:pt idx="181">
                  <c:v>0.4842704790088099</c:v>
                </c:pt>
                <c:pt idx="182">
                  <c:v>0.4832654005814726</c:v>
                </c:pt>
                <c:pt idx="183">
                  <c:v>0.48227595465979406</c:v>
                </c:pt>
                <c:pt idx="184">
                  <c:v>0.4813018668393961</c:v>
                </c:pt>
                <c:pt idx="185">
                  <c:v>0.48034286843119217</c:v>
                </c:pt>
                <c:pt idx="186">
                  <c:v>0.4793986963166831</c:v>
                </c:pt>
                <c:pt idx="187">
                  <c:v>0.4784690928076505</c:v>
                </c:pt>
                <c:pt idx="188">
                  <c:v>0.47755380551009713</c:v>
                </c:pt>
                <c:pt idx="189">
                  <c:v>0.4766525871922785</c:v>
                </c:pt>
                <c:pt idx="190">
                  <c:v>0.4757651956566867</c:v>
                </c:pt>
                <c:pt idx="191">
                  <c:v>0.47489139361584537</c:v>
                </c:pt>
                <c:pt idx="192">
                  <c:v>0.47403094857178485</c:v>
                </c:pt>
                <c:pt idx="193">
                  <c:v>0.47318363269906916</c:v>
                </c:pt>
                <c:pt idx="194">
                  <c:v>0.47234922273125346</c:v>
                </c:pt>
                <c:pt idx="195">
                  <c:v>0.4715274998506544</c:v>
                </c:pt>
                <c:pt idx="196">
                  <c:v>0.47071824958131925</c:v>
                </c:pt>
                <c:pt idx="197">
                  <c:v>0.46992126168508647</c:v>
                </c:pt>
                <c:pt idx="198">
                  <c:v>0.4691363300606342</c:v>
                </c:pt>
                <c:pt idx="199">
                  <c:v>0.46836325264541306</c:v>
                </c:pt>
                <c:pt idx="200">
                  <c:v>0.467601831320371</c:v>
                </c:pt>
                <c:pt idx="201">
                  <c:v>0.4668518718173739</c:v>
                </c:pt>
                <c:pt idx="202">
                  <c:v>0.46611318362923493</c:v>
                </c:pt>
                <c:pt idx="203">
                  <c:v>0.4653855799222653</c:v>
                </c:pt>
                <c:pt idx="204">
                  <c:v>0.4646688774512645</c:v>
                </c:pt>
                <c:pt idx="205">
                  <c:v>0.46396289647687017</c:v>
                </c:pt>
                <c:pt idx="206">
                  <c:v>0.4632674606851908</c:v>
                </c:pt>
                <c:pt idx="207">
                  <c:v>0.46258239710964777</c:v>
                </c:pt>
                <c:pt idx="208">
                  <c:v>0.4619075360549556</c:v>
                </c:pt>
                <c:pt idx="209">
                  <c:v>0.46124271102317116</c:v>
                </c:pt>
                <c:pt idx="210">
                  <c:v>0.46058775864174734</c:v>
                </c:pt>
                <c:pt idx="211">
                  <c:v>0.4599425185935263</c:v>
                </c:pt>
                <c:pt idx="212">
                  <c:v>0.4593068335486115</c:v>
                </c:pt>
                <c:pt idx="213">
                  <c:v>0.45868054909805966</c:v>
                </c:pt>
                <c:pt idx="214">
                  <c:v>0.45806351368933507</c:v>
                </c:pt>
                <c:pt idx="215">
                  <c:v>0.45745557856347163</c:v>
                </c:pt>
                <c:pt idx="216">
                  <c:v>0.4568565976938912</c:v>
                </c:pt>
                <c:pt idx="217">
                  <c:v>0.45626642772682313</c:v>
                </c:pt>
                <c:pt idx="218">
                  <c:v>0.45568492792328086</c:v>
                </c:pt>
                <c:pt idx="219">
                  <c:v>0.4551119601025433</c:v>
                </c:pt>
                <c:pt idx="220">
                  <c:v>0.4545473885870993</c:v>
                </c:pt>
                <c:pt idx="221">
                  <c:v>0.45399108014900663</c:v>
                </c:pt>
                <c:pt idx="222">
                  <c:v>0.4534429039576267</c:v>
                </c:pt>
                <c:pt idx="223">
                  <c:v>0.45290273152869137</c:v>
                </c:pt>
                <c:pt idx="224">
                  <c:v>0.45237043667466176</c:v>
                </c:pt>
                <c:pt idx="225">
                  <c:v>0.45184589545634246</c:v>
                </c:pt>
                <c:pt idx="226">
                  <c:v>0.4513289861357123</c:v>
                </c:pt>
                <c:pt idx="227">
                  <c:v>0.4508195891299363</c:v>
                </c:pt>
                <c:pt idx="228">
                  <c:v>0.45031758696652385</c:v>
                </c:pt>
                <c:pt idx="229">
                  <c:v>0.44982286423959994</c:v>
                </c:pt>
                <c:pt idx="230">
                  <c:v>0.44933530756725715</c:v>
                </c:pt>
                <c:pt idx="231">
                  <c:v>0.44885480554995544</c:v>
                </c:pt>
                <c:pt idx="232">
                  <c:v>0.4483812487299426</c:v>
                </c:pt>
                <c:pt idx="233">
                  <c:v>0.44791452955166244</c:v>
                </c:pt>
                <c:pt idx="234">
                  <c:v>0.447454542323125</c:v>
                </c:pt>
                <c:pt idx="235">
                  <c:v>0.44700118317820986</c:v>
                </c:pt>
                <c:pt idx="236">
                  <c:v>0.44655435003987726</c:v>
                </c:pt>
                <c:pt idx="237">
                  <c:v>0.4461139425842603</c:v>
                </c:pt>
                <c:pt idx="238">
                  <c:v>0.4456798622056138</c:v>
                </c:pt>
                <c:pt idx="239">
                  <c:v>0.4452520119820961</c:v>
                </c:pt>
                <c:pt idx="240">
                  <c:v>0.44483029664235957</c:v>
                </c:pt>
                <c:pt idx="241">
                  <c:v>0.4444146225329296</c:v>
                </c:pt>
                <c:pt idx="242">
                  <c:v>0.44400489758634604</c:v>
                </c:pt>
                <c:pt idx="243">
                  <c:v>0.4436010312900516</c:v>
                </c:pt>
                <c:pt idx="244">
                  <c:v>0.4432029346560016</c:v>
                </c:pt>
                <c:pt idx="245">
                  <c:v>0.44281052019097866</c:v>
                </c:pt>
                <c:pt idx="246">
                  <c:v>0.44242370186759133</c:v>
                </c:pt>
                <c:pt idx="247">
                  <c:v>0.44204239509593957</c:v>
                </c:pt>
                <c:pt idx="248">
                  <c:v>0.4416665166959273</c:v>
                </c:pt>
                <c:pt idx="249">
                  <c:v>0.4412959848702066</c:v>
                </c:pt>
                <c:pt idx="250">
                  <c:v>0.44093071917773413</c:v>
                </c:pt>
                <c:pt idx="251">
                  <c:v>0.4405706405079271</c:v>
                </c:pt>
                <c:pt idx="252">
                  <c:v>0.44021567105539866</c:v>
                </c:pt>
                <c:pt idx="253">
                  <c:v>0.43986573429526027</c:v>
                </c:pt>
                <c:pt idx="254">
                  <c:v>0.43952075495897563</c:v>
                </c:pt>
                <c:pt idx="255">
                  <c:v>0.43918065901075004</c:v>
                </c:pt>
                <c:pt idx="256">
                  <c:v>0.43884537362444426</c:v>
                </c:pt>
                <c:pt idx="257">
                  <c:v>0.4385148271609952</c:v>
                </c:pt>
                <c:pt idx="258">
                  <c:v>0.4381889491463348</c:v>
                </c:pt>
                <c:pt idx="259">
                  <c:v>0.43786767024979</c:v>
                </c:pt>
                <c:pt idx="260">
                  <c:v>0.4375509222629546</c:v>
                </c:pt>
                <c:pt idx="261">
                  <c:v>0.43723863807901875</c:v>
                </c:pt>
                <c:pt idx="262">
                  <c:v>0.4369307516725464</c:v>
                </c:pt>
                <c:pt idx="263">
                  <c:v>0.436627198079687</c:v>
                </c:pt>
                <c:pt idx="264">
                  <c:v>0.4363279133788125</c:v>
                </c:pt>
                <c:pt idx="265">
                  <c:v>0.4360328346715681</c:v>
                </c:pt>
                <c:pt idx="266">
                  <c:v>0.43574190006432567</c:v>
                </c:pt>
                <c:pt idx="267">
                  <c:v>0.43545504865003126</c:v>
                </c:pt>
                <c:pt idx="268">
                  <c:v>0.4351722204904355</c:v>
                </c:pt>
                <c:pt idx="269">
                  <c:v>0.4348933565986984</c:v>
                </c:pt>
                <c:pt idx="270">
                  <c:v>0.4346183989223583</c:v>
                </c:pt>
                <c:pt idx="271">
                  <c:v>0.4343472903266573</c:v>
                </c:pt>
                <c:pt idx="272">
                  <c:v>0.43407997457821257</c:v>
                </c:pt>
                <c:pt idx="273">
                  <c:v>0.4338163963290273</c:v>
                </c:pt>
                <c:pt idx="274">
                  <c:v>0.4335565011008312</c:v>
                </c:pt>
                <c:pt idx="275">
                  <c:v>0.4333002352697437</c:v>
                </c:pt>
                <c:pt idx="276">
                  <c:v>0.4330475460512508</c:v>
                </c:pt>
                <c:pt idx="277">
                  <c:v>0.4327983814854899</c:v>
                </c:pt>
                <c:pt idx="278">
                  <c:v>0.43255269042283345</c:v>
                </c:pt>
                <c:pt idx="279">
                  <c:v>0.4323104225097649</c:v>
                </c:pt>
                <c:pt idx="280">
                  <c:v>0.4320715281750409</c:v>
                </c:pt>
                <c:pt idx="281">
                  <c:v>0.4318359586161306</c:v>
                </c:pt>
                <c:pt idx="282">
                  <c:v>0.43160366578592885</c:v>
                </c:pt>
                <c:pt idx="283">
                  <c:v>0.4313746023797338</c:v>
                </c:pt>
                <c:pt idx="284">
                  <c:v>0.43114872182248415</c:v>
                </c:pt>
                <c:pt idx="285">
                  <c:v>0.43092597825625023</c:v>
                </c:pt>
                <c:pt idx="286">
                  <c:v>0.4307063265279721</c:v>
                </c:pt>
                <c:pt idx="287">
                  <c:v>0.43048972217743964</c:v>
                </c:pt>
                <c:pt idx="288">
                  <c:v>0.43027612142550853</c:v>
                </c:pt>
                <c:pt idx="289">
                  <c:v>0.4300654811625476</c:v>
                </c:pt>
                <c:pt idx="290">
                  <c:v>0.42985775893711037</c:v>
                </c:pt>
                <c:pt idx="291">
                  <c:v>0.4296529129448287</c:v>
                </c:pt>
                <c:pt idx="292">
                  <c:v>0.42945090201751984</c:v>
                </c:pt>
                <c:pt idx="293">
                  <c:v>0.429251685612505</c:v>
                </c:pt>
                <c:pt idx="294">
                  <c:v>0.42905522380213357</c:v>
                </c:pt>
                <c:pt idx="295">
                  <c:v>0.4288614772635079</c:v>
                </c:pt>
                <c:pt idx="296">
                  <c:v>0.42867040726840455</c:v>
                </c:pt>
                <c:pt idx="297">
                  <c:v>0.4284819756733883</c:v>
                </c:pt>
                <c:pt idx="298">
                  <c:v>0.4282961449101133</c:v>
                </c:pt>
                <c:pt idx="299">
                  <c:v>0.4281128779758084</c:v>
                </c:pt>
              </c:numCache>
            </c:numRef>
          </c:yVal>
          <c:smooth val="0"/>
        </c:ser>
        <c:ser>
          <c:idx val="1"/>
          <c:order val="1"/>
          <c:tx>
            <c:strRef>
              <c:f>Sheet1!$B$303</c:f>
              <c:strCache>
                <c:ptCount val="1"/>
                <c:pt idx="0">
                  <c:v>_envL</c:v>
                </c:pt>
              </c:strCache>
            </c:strRef>
          </c:tx>
          <c:spPr>
            <a:ln w="9525">
              <a:solidFill>
                <a:srgbClr val="F3B094"/>
              </a:solidFill>
              <a:prstDash val="dash"/>
            </a:ln>
          </c:spPr>
          <c:marker>
            <c:symbol val="none"/>
          </c:marker>
          <c:xVal>
            <c:numRef>
              <c:f>Sheet1!$A$304:$A$603</c:f>
              <c:numCache>
                <c:formatCode>General</c:formatCode>
                <c:ptCount val="300"/>
                <c:pt idx="0">
                  <c:v>5.0</c:v>
                </c:pt>
                <c:pt idx="1">
                  <c:v>5.150501672240803</c:v>
                </c:pt>
                <c:pt idx="2">
                  <c:v>5.301003344481606</c:v>
                </c:pt>
                <c:pt idx="3">
                  <c:v>5.451505016722408</c:v>
                </c:pt>
                <c:pt idx="4">
                  <c:v>5.602006688963211</c:v>
                </c:pt>
                <c:pt idx="5">
                  <c:v>5.752508361204013</c:v>
                </c:pt>
                <c:pt idx="6">
                  <c:v>5.903010033444816</c:v>
                </c:pt>
                <c:pt idx="7">
                  <c:v>6.053511705685619</c:v>
                </c:pt>
                <c:pt idx="8">
                  <c:v>6.2040133779264215</c:v>
                </c:pt>
                <c:pt idx="9">
                  <c:v>6.354515050167224</c:v>
                </c:pt>
                <c:pt idx="10">
                  <c:v>6.505016722408027</c:v>
                </c:pt>
                <c:pt idx="11">
                  <c:v>6.65551839464883</c:v>
                </c:pt>
                <c:pt idx="12">
                  <c:v>6.806020066889632</c:v>
                </c:pt>
                <c:pt idx="13">
                  <c:v>6.9565217391304355</c:v>
                </c:pt>
                <c:pt idx="14">
                  <c:v>7.107023411371237</c:v>
                </c:pt>
                <c:pt idx="15">
                  <c:v>7.25752508361204</c:v>
                </c:pt>
                <c:pt idx="16">
                  <c:v>7.408026755852843</c:v>
                </c:pt>
                <c:pt idx="17">
                  <c:v>7.558528428093646</c:v>
                </c:pt>
                <c:pt idx="18">
                  <c:v>7.709030100334449</c:v>
                </c:pt>
                <c:pt idx="19">
                  <c:v>7.8595317725752505</c:v>
                </c:pt>
                <c:pt idx="20">
                  <c:v>8.010033444816054</c:v>
                </c:pt>
                <c:pt idx="21">
                  <c:v>8.160535117056856</c:v>
                </c:pt>
                <c:pt idx="22">
                  <c:v>8.31103678929766</c:v>
                </c:pt>
                <c:pt idx="23">
                  <c:v>8.461538461538462</c:v>
                </c:pt>
                <c:pt idx="24">
                  <c:v>8.612040133779264</c:v>
                </c:pt>
                <c:pt idx="25">
                  <c:v>8.762541806020067</c:v>
                </c:pt>
                <c:pt idx="26">
                  <c:v>8.913043478260871</c:v>
                </c:pt>
                <c:pt idx="27">
                  <c:v>9.063545150501673</c:v>
                </c:pt>
                <c:pt idx="28">
                  <c:v>9.214046822742475</c:v>
                </c:pt>
                <c:pt idx="29">
                  <c:v>9.364548494983278</c:v>
                </c:pt>
                <c:pt idx="30">
                  <c:v>9.51505016722408</c:v>
                </c:pt>
                <c:pt idx="31">
                  <c:v>9.665551839464882</c:v>
                </c:pt>
                <c:pt idx="32">
                  <c:v>9.816053511705686</c:v>
                </c:pt>
                <c:pt idx="33">
                  <c:v>9.96655518394649</c:v>
                </c:pt>
                <c:pt idx="34">
                  <c:v>10.117056856187292</c:v>
                </c:pt>
                <c:pt idx="35">
                  <c:v>10.267558528428093</c:v>
                </c:pt>
                <c:pt idx="36">
                  <c:v>10.418060200668897</c:v>
                </c:pt>
                <c:pt idx="37">
                  <c:v>10.568561872909699</c:v>
                </c:pt>
                <c:pt idx="38">
                  <c:v>10.719063545150501</c:v>
                </c:pt>
                <c:pt idx="39">
                  <c:v>10.869565217391305</c:v>
                </c:pt>
                <c:pt idx="40">
                  <c:v>11.020066889632108</c:v>
                </c:pt>
                <c:pt idx="41">
                  <c:v>11.17056856187291</c:v>
                </c:pt>
                <c:pt idx="42">
                  <c:v>11.321070234113712</c:v>
                </c:pt>
                <c:pt idx="43">
                  <c:v>11.471571906354516</c:v>
                </c:pt>
                <c:pt idx="44">
                  <c:v>11.622073578595318</c:v>
                </c:pt>
                <c:pt idx="45">
                  <c:v>11.77257525083612</c:v>
                </c:pt>
                <c:pt idx="46">
                  <c:v>11.923076923076923</c:v>
                </c:pt>
                <c:pt idx="47">
                  <c:v>12.073578595317727</c:v>
                </c:pt>
                <c:pt idx="48">
                  <c:v>12.224080267558529</c:v>
                </c:pt>
                <c:pt idx="49">
                  <c:v>12.37458193979933</c:v>
                </c:pt>
                <c:pt idx="50">
                  <c:v>12.525083612040135</c:v>
                </c:pt>
                <c:pt idx="51">
                  <c:v>12.675585284280938</c:v>
                </c:pt>
                <c:pt idx="52">
                  <c:v>12.82608695652174</c:v>
                </c:pt>
                <c:pt idx="53">
                  <c:v>12.976588628762542</c:v>
                </c:pt>
                <c:pt idx="54">
                  <c:v>13.127090301003346</c:v>
                </c:pt>
                <c:pt idx="55">
                  <c:v>13.277591973244148</c:v>
                </c:pt>
                <c:pt idx="56">
                  <c:v>13.42809364548495</c:v>
                </c:pt>
                <c:pt idx="57">
                  <c:v>13.578595317725753</c:v>
                </c:pt>
                <c:pt idx="58">
                  <c:v>13.729096989966555</c:v>
                </c:pt>
                <c:pt idx="59">
                  <c:v>13.879598662207359</c:v>
                </c:pt>
                <c:pt idx="60">
                  <c:v>14.03010033444816</c:v>
                </c:pt>
                <c:pt idx="61">
                  <c:v>14.180602006688964</c:v>
                </c:pt>
                <c:pt idx="62">
                  <c:v>14.331103678929766</c:v>
                </c:pt>
                <c:pt idx="63">
                  <c:v>14.48160535117057</c:v>
                </c:pt>
                <c:pt idx="64">
                  <c:v>14.632107023411372</c:v>
                </c:pt>
                <c:pt idx="65">
                  <c:v>14.782608695652174</c:v>
                </c:pt>
                <c:pt idx="66">
                  <c:v>14.933110367892978</c:v>
                </c:pt>
                <c:pt idx="67">
                  <c:v>15.08361204013378</c:v>
                </c:pt>
                <c:pt idx="68">
                  <c:v>15.234113712374583</c:v>
                </c:pt>
                <c:pt idx="69">
                  <c:v>15.384615384615385</c:v>
                </c:pt>
                <c:pt idx="70">
                  <c:v>15.535117056856189</c:v>
                </c:pt>
                <c:pt idx="71">
                  <c:v>15.68561872909699</c:v>
                </c:pt>
                <c:pt idx="72">
                  <c:v>15.836120401337794</c:v>
                </c:pt>
                <c:pt idx="73">
                  <c:v>15.986622073578596</c:v>
                </c:pt>
                <c:pt idx="74">
                  <c:v>16.137123745819398</c:v>
                </c:pt>
                <c:pt idx="75">
                  <c:v>16.287625418060202</c:v>
                </c:pt>
                <c:pt idx="76">
                  <c:v>16.438127090301002</c:v>
                </c:pt>
                <c:pt idx="77">
                  <c:v>16.58862876254181</c:v>
                </c:pt>
                <c:pt idx="78">
                  <c:v>16.73913043478261</c:v>
                </c:pt>
                <c:pt idx="79">
                  <c:v>16.889632107023413</c:v>
                </c:pt>
                <c:pt idx="80">
                  <c:v>17.040133779264217</c:v>
                </c:pt>
                <c:pt idx="81">
                  <c:v>17.190635451505017</c:v>
                </c:pt>
                <c:pt idx="82">
                  <c:v>17.34113712374582</c:v>
                </c:pt>
                <c:pt idx="83">
                  <c:v>17.491638795986624</c:v>
                </c:pt>
                <c:pt idx="84">
                  <c:v>17.642140468227424</c:v>
                </c:pt>
                <c:pt idx="85">
                  <c:v>17.792642140468228</c:v>
                </c:pt>
                <c:pt idx="86">
                  <c:v>17.94314381270903</c:v>
                </c:pt>
                <c:pt idx="87">
                  <c:v>18.093645484949832</c:v>
                </c:pt>
                <c:pt idx="88">
                  <c:v>18.244147157190636</c:v>
                </c:pt>
                <c:pt idx="89">
                  <c:v>18.39464882943144</c:v>
                </c:pt>
                <c:pt idx="90">
                  <c:v>18.54515050167224</c:v>
                </c:pt>
                <c:pt idx="91">
                  <c:v>18.695652173913047</c:v>
                </c:pt>
                <c:pt idx="92">
                  <c:v>18.846153846153847</c:v>
                </c:pt>
                <c:pt idx="93">
                  <c:v>18.99665551839465</c:v>
                </c:pt>
                <c:pt idx="94">
                  <c:v>19.147157190635454</c:v>
                </c:pt>
                <c:pt idx="95">
                  <c:v>19.297658862876254</c:v>
                </c:pt>
                <c:pt idx="96">
                  <c:v>19.448160535117058</c:v>
                </c:pt>
                <c:pt idx="97">
                  <c:v>19.59866220735786</c:v>
                </c:pt>
                <c:pt idx="98">
                  <c:v>19.74916387959866</c:v>
                </c:pt>
                <c:pt idx="99">
                  <c:v>19.899665551839465</c:v>
                </c:pt>
                <c:pt idx="100">
                  <c:v>20.05016722408027</c:v>
                </c:pt>
                <c:pt idx="101">
                  <c:v>20.20066889632107</c:v>
                </c:pt>
                <c:pt idx="102">
                  <c:v>20.351170568561876</c:v>
                </c:pt>
                <c:pt idx="103">
                  <c:v>20.501672240802677</c:v>
                </c:pt>
                <c:pt idx="104">
                  <c:v>20.65217391304348</c:v>
                </c:pt>
                <c:pt idx="105">
                  <c:v>20.802675585284284</c:v>
                </c:pt>
                <c:pt idx="106">
                  <c:v>20.953177257525084</c:v>
                </c:pt>
                <c:pt idx="107">
                  <c:v>21.103678929765888</c:v>
                </c:pt>
                <c:pt idx="108">
                  <c:v>21.25418060200669</c:v>
                </c:pt>
                <c:pt idx="109">
                  <c:v>21.40468227424749</c:v>
                </c:pt>
                <c:pt idx="110">
                  <c:v>21.555183946488295</c:v>
                </c:pt>
                <c:pt idx="111">
                  <c:v>21.7056856187291</c:v>
                </c:pt>
                <c:pt idx="112">
                  <c:v>21.8561872909699</c:v>
                </c:pt>
                <c:pt idx="113">
                  <c:v>22.006688963210703</c:v>
                </c:pt>
                <c:pt idx="114">
                  <c:v>22.157190635451506</c:v>
                </c:pt>
                <c:pt idx="115">
                  <c:v>22.30769230769231</c:v>
                </c:pt>
                <c:pt idx="116">
                  <c:v>22.45819397993311</c:v>
                </c:pt>
                <c:pt idx="117">
                  <c:v>22.608695652173914</c:v>
                </c:pt>
                <c:pt idx="118">
                  <c:v>22.759197324414718</c:v>
                </c:pt>
                <c:pt idx="119">
                  <c:v>22.90969899665552</c:v>
                </c:pt>
                <c:pt idx="120">
                  <c:v>23.06020066889632</c:v>
                </c:pt>
                <c:pt idx="121">
                  <c:v>23.210702341137125</c:v>
                </c:pt>
                <c:pt idx="122">
                  <c:v>23.36120401337793</c:v>
                </c:pt>
                <c:pt idx="123">
                  <c:v>23.51170568561873</c:v>
                </c:pt>
                <c:pt idx="124">
                  <c:v>23.662207357859533</c:v>
                </c:pt>
                <c:pt idx="125">
                  <c:v>23.812709030100336</c:v>
                </c:pt>
                <c:pt idx="126">
                  <c:v>23.96321070234114</c:v>
                </c:pt>
                <c:pt idx="127">
                  <c:v>24.11371237458194</c:v>
                </c:pt>
                <c:pt idx="128">
                  <c:v>24.264214046822744</c:v>
                </c:pt>
                <c:pt idx="129">
                  <c:v>24.414715719063548</c:v>
                </c:pt>
                <c:pt idx="130">
                  <c:v>24.565217391304348</c:v>
                </c:pt>
                <c:pt idx="131">
                  <c:v>24.71571906354515</c:v>
                </c:pt>
                <c:pt idx="132">
                  <c:v>24.866220735785955</c:v>
                </c:pt>
                <c:pt idx="133">
                  <c:v>25.01672240802676</c:v>
                </c:pt>
                <c:pt idx="134">
                  <c:v>25.16722408026756</c:v>
                </c:pt>
                <c:pt idx="135">
                  <c:v>25.317725752508363</c:v>
                </c:pt>
                <c:pt idx="136">
                  <c:v>25.468227424749166</c:v>
                </c:pt>
                <c:pt idx="137">
                  <c:v>25.618729096989966</c:v>
                </c:pt>
                <c:pt idx="138">
                  <c:v>25.76923076923077</c:v>
                </c:pt>
                <c:pt idx="139">
                  <c:v>25.919732441471574</c:v>
                </c:pt>
                <c:pt idx="140">
                  <c:v>26.070234113712377</c:v>
                </c:pt>
                <c:pt idx="141">
                  <c:v>26.220735785953178</c:v>
                </c:pt>
                <c:pt idx="142">
                  <c:v>26.37123745819398</c:v>
                </c:pt>
                <c:pt idx="143">
                  <c:v>26.521739130434785</c:v>
                </c:pt>
                <c:pt idx="144">
                  <c:v>26.67224080267559</c:v>
                </c:pt>
                <c:pt idx="145">
                  <c:v>26.82274247491639</c:v>
                </c:pt>
                <c:pt idx="146">
                  <c:v>26.973244147157192</c:v>
                </c:pt>
                <c:pt idx="147">
                  <c:v>27.123745819397996</c:v>
                </c:pt>
                <c:pt idx="148">
                  <c:v>27.274247491638796</c:v>
                </c:pt>
                <c:pt idx="149">
                  <c:v>27.4247491638796</c:v>
                </c:pt>
                <c:pt idx="150">
                  <c:v>27.575250836120404</c:v>
                </c:pt>
                <c:pt idx="151">
                  <c:v>27.725752508361207</c:v>
                </c:pt>
                <c:pt idx="152">
                  <c:v>27.876254180602007</c:v>
                </c:pt>
                <c:pt idx="153">
                  <c:v>28.02675585284281</c:v>
                </c:pt>
                <c:pt idx="154">
                  <c:v>28.177257525083615</c:v>
                </c:pt>
                <c:pt idx="155">
                  <c:v>28.327759197324415</c:v>
                </c:pt>
                <c:pt idx="156">
                  <c:v>28.47826086956522</c:v>
                </c:pt>
                <c:pt idx="157">
                  <c:v>28.628762541806022</c:v>
                </c:pt>
                <c:pt idx="158">
                  <c:v>28.779264214046826</c:v>
                </c:pt>
                <c:pt idx="159">
                  <c:v>28.929765886287626</c:v>
                </c:pt>
                <c:pt idx="160">
                  <c:v>29.08026755852843</c:v>
                </c:pt>
                <c:pt idx="161">
                  <c:v>29.230769230769234</c:v>
                </c:pt>
                <c:pt idx="162">
                  <c:v>29.381270903010034</c:v>
                </c:pt>
                <c:pt idx="163">
                  <c:v>29.531772575250837</c:v>
                </c:pt>
                <c:pt idx="164">
                  <c:v>29.68227424749164</c:v>
                </c:pt>
                <c:pt idx="165">
                  <c:v>29.832775919732445</c:v>
                </c:pt>
                <c:pt idx="166">
                  <c:v>29.983277591973245</c:v>
                </c:pt>
                <c:pt idx="167">
                  <c:v>30.13377926421405</c:v>
                </c:pt>
                <c:pt idx="168">
                  <c:v>30.284280936454852</c:v>
                </c:pt>
                <c:pt idx="169">
                  <c:v>30.434782608695652</c:v>
                </c:pt>
                <c:pt idx="170">
                  <c:v>30.585284280936456</c:v>
                </c:pt>
                <c:pt idx="171">
                  <c:v>30.73578595317726</c:v>
                </c:pt>
                <c:pt idx="172">
                  <c:v>30.886287625418063</c:v>
                </c:pt>
                <c:pt idx="173">
                  <c:v>31.036789297658864</c:v>
                </c:pt>
                <c:pt idx="174">
                  <c:v>31.187290969899667</c:v>
                </c:pt>
                <c:pt idx="175">
                  <c:v>31.33779264214047</c:v>
                </c:pt>
                <c:pt idx="176">
                  <c:v>31.48829431438127</c:v>
                </c:pt>
                <c:pt idx="177">
                  <c:v>31.638795986622075</c:v>
                </c:pt>
                <c:pt idx="178">
                  <c:v>31.78929765886288</c:v>
                </c:pt>
                <c:pt idx="179">
                  <c:v>31.939799331103682</c:v>
                </c:pt>
                <c:pt idx="180">
                  <c:v>32.09030100334448</c:v>
                </c:pt>
                <c:pt idx="181">
                  <c:v>32.240802675585286</c:v>
                </c:pt>
                <c:pt idx="182">
                  <c:v>32.39130434782609</c:v>
                </c:pt>
                <c:pt idx="183">
                  <c:v>32.54180602006689</c:v>
                </c:pt>
                <c:pt idx="184">
                  <c:v>32.69230769230769</c:v>
                </c:pt>
                <c:pt idx="185">
                  <c:v>32.8428093645485</c:v>
                </c:pt>
                <c:pt idx="186">
                  <c:v>32.9933110367893</c:v>
                </c:pt>
                <c:pt idx="187">
                  <c:v>33.1438127090301</c:v>
                </c:pt>
                <c:pt idx="188">
                  <c:v>33.29431438127091</c:v>
                </c:pt>
                <c:pt idx="189">
                  <c:v>33.44481605351171</c:v>
                </c:pt>
                <c:pt idx="190">
                  <c:v>33.59531772575251</c:v>
                </c:pt>
                <c:pt idx="191">
                  <c:v>33.745819397993316</c:v>
                </c:pt>
                <c:pt idx="192">
                  <c:v>33.896321070234116</c:v>
                </c:pt>
                <c:pt idx="193">
                  <c:v>34.046822742474916</c:v>
                </c:pt>
                <c:pt idx="194">
                  <c:v>34.19732441471572</c:v>
                </c:pt>
                <c:pt idx="195">
                  <c:v>34.34782608695652</c:v>
                </c:pt>
                <c:pt idx="196">
                  <c:v>34.49832775919732</c:v>
                </c:pt>
                <c:pt idx="197">
                  <c:v>34.64882943143813</c:v>
                </c:pt>
                <c:pt idx="198">
                  <c:v>34.79933110367893</c:v>
                </c:pt>
                <c:pt idx="199">
                  <c:v>34.94983277591973</c:v>
                </c:pt>
                <c:pt idx="200">
                  <c:v>35.10033444816054</c:v>
                </c:pt>
                <c:pt idx="201">
                  <c:v>35.25083612040134</c:v>
                </c:pt>
                <c:pt idx="202">
                  <c:v>35.40133779264214</c:v>
                </c:pt>
                <c:pt idx="203">
                  <c:v>35.551839464882946</c:v>
                </c:pt>
                <c:pt idx="204">
                  <c:v>35.70234113712375</c:v>
                </c:pt>
                <c:pt idx="205">
                  <c:v>35.852842809364546</c:v>
                </c:pt>
                <c:pt idx="206">
                  <c:v>36.00334448160535</c:v>
                </c:pt>
                <c:pt idx="207">
                  <c:v>36.15384615384616</c:v>
                </c:pt>
                <c:pt idx="208">
                  <c:v>36.30434782608696</c:v>
                </c:pt>
                <c:pt idx="209">
                  <c:v>36.45484949832776</c:v>
                </c:pt>
                <c:pt idx="210">
                  <c:v>36.60535117056857</c:v>
                </c:pt>
                <c:pt idx="211">
                  <c:v>36.75585284280937</c:v>
                </c:pt>
                <c:pt idx="212">
                  <c:v>36.90635451505017</c:v>
                </c:pt>
                <c:pt idx="213">
                  <c:v>37.056856187290975</c:v>
                </c:pt>
                <c:pt idx="214">
                  <c:v>37.207357859531776</c:v>
                </c:pt>
                <c:pt idx="215">
                  <c:v>37.357859531772576</c:v>
                </c:pt>
                <c:pt idx="216">
                  <c:v>37.50836120401338</c:v>
                </c:pt>
                <c:pt idx="217">
                  <c:v>37.65886287625418</c:v>
                </c:pt>
                <c:pt idx="218">
                  <c:v>37.80936454849498</c:v>
                </c:pt>
                <c:pt idx="219">
                  <c:v>37.95986622073579</c:v>
                </c:pt>
                <c:pt idx="220">
                  <c:v>38.11036789297659</c:v>
                </c:pt>
                <c:pt idx="221">
                  <c:v>38.26086956521739</c:v>
                </c:pt>
                <c:pt idx="222">
                  <c:v>38.4113712374582</c:v>
                </c:pt>
                <c:pt idx="223">
                  <c:v>38.561872909699</c:v>
                </c:pt>
                <c:pt idx="224">
                  <c:v>38.7123745819398</c:v>
                </c:pt>
                <c:pt idx="225">
                  <c:v>38.862876254180605</c:v>
                </c:pt>
                <c:pt idx="226">
                  <c:v>39.013377926421406</c:v>
                </c:pt>
                <c:pt idx="227">
                  <c:v>39.16387959866221</c:v>
                </c:pt>
                <c:pt idx="228">
                  <c:v>39.31438127090301</c:v>
                </c:pt>
                <c:pt idx="229">
                  <c:v>39.46488294314381</c:v>
                </c:pt>
                <c:pt idx="230">
                  <c:v>39.61538461538462</c:v>
                </c:pt>
                <c:pt idx="231">
                  <c:v>39.76588628762542</c:v>
                </c:pt>
                <c:pt idx="232">
                  <c:v>39.91638795986622</c:v>
                </c:pt>
                <c:pt idx="233">
                  <c:v>40.06688963210703</c:v>
                </c:pt>
                <c:pt idx="234">
                  <c:v>40.21739130434783</c:v>
                </c:pt>
                <c:pt idx="235">
                  <c:v>40.36789297658863</c:v>
                </c:pt>
                <c:pt idx="236">
                  <c:v>40.518394648829435</c:v>
                </c:pt>
                <c:pt idx="237">
                  <c:v>40.668896321070235</c:v>
                </c:pt>
                <c:pt idx="238">
                  <c:v>40.81939799331104</c:v>
                </c:pt>
                <c:pt idx="239">
                  <c:v>40.96989966555184</c:v>
                </c:pt>
                <c:pt idx="240">
                  <c:v>41.12040133779264</c:v>
                </c:pt>
                <c:pt idx="241">
                  <c:v>41.27090301003345</c:v>
                </c:pt>
                <c:pt idx="242">
                  <c:v>41.42140468227425</c:v>
                </c:pt>
                <c:pt idx="243">
                  <c:v>41.57190635451505</c:v>
                </c:pt>
                <c:pt idx="244">
                  <c:v>41.72240802675586</c:v>
                </c:pt>
                <c:pt idx="245">
                  <c:v>41.87290969899666</c:v>
                </c:pt>
                <c:pt idx="246">
                  <c:v>42.02341137123746</c:v>
                </c:pt>
                <c:pt idx="247">
                  <c:v>42.173913043478265</c:v>
                </c:pt>
                <c:pt idx="248">
                  <c:v>42.324414715719065</c:v>
                </c:pt>
                <c:pt idx="249">
                  <c:v>42.474916387959865</c:v>
                </c:pt>
                <c:pt idx="250">
                  <c:v>42.62541806020067</c:v>
                </c:pt>
                <c:pt idx="251">
                  <c:v>42.77591973244147</c:v>
                </c:pt>
                <c:pt idx="252">
                  <c:v>42.92642140468228</c:v>
                </c:pt>
                <c:pt idx="253">
                  <c:v>43.07692307692308</c:v>
                </c:pt>
                <c:pt idx="254">
                  <c:v>43.22742474916388</c:v>
                </c:pt>
                <c:pt idx="255">
                  <c:v>43.37792642140469</c:v>
                </c:pt>
                <c:pt idx="256">
                  <c:v>43.52842809364549</c:v>
                </c:pt>
                <c:pt idx="257">
                  <c:v>43.67892976588629</c:v>
                </c:pt>
                <c:pt idx="258">
                  <c:v>43.829431438127095</c:v>
                </c:pt>
                <c:pt idx="259">
                  <c:v>43.979933110367895</c:v>
                </c:pt>
                <c:pt idx="260">
                  <c:v>44.130434782608695</c:v>
                </c:pt>
                <c:pt idx="261">
                  <c:v>44.2809364548495</c:v>
                </c:pt>
                <c:pt idx="262">
                  <c:v>44.4314381270903</c:v>
                </c:pt>
                <c:pt idx="263">
                  <c:v>44.58193979933111</c:v>
                </c:pt>
                <c:pt idx="264">
                  <c:v>44.73244147157191</c:v>
                </c:pt>
                <c:pt idx="265">
                  <c:v>44.88294314381271</c:v>
                </c:pt>
                <c:pt idx="266">
                  <c:v>45.03344481605352</c:v>
                </c:pt>
                <c:pt idx="267">
                  <c:v>45.18394648829432</c:v>
                </c:pt>
                <c:pt idx="268">
                  <c:v>45.33444816053512</c:v>
                </c:pt>
                <c:pt idx="269">
                  <c:v>45.484949832775925</c:v>
                </c:pt>
                <c:pt idx="270">
                  <c:v>45.635451505016725</c:v>
                </c:pt>
                <c:pt idx="271">
                  <c:v>45.785953177257525</c:v>
                </c:pt>
                <c:pt idx="272">
                  <c:v>45.93645484949833</c:v>
                </c:pt>
                <c:pt idx="273">
                  <c:v>46.08695652173913</c:v>
                </c:pt>
                <c:pt idx="274">
                  <c:v>46.23745819397993</c:v>
                </c:pt>
                <c:pt idx="275">
                  <c:v>46.38795986622074</c:v>
                </c:pt>
                <c:pt idx="276">
                  <c:v>46.53846153846154</c:v>
                </c:pt>
                <c:pt idx="277">
                  <c:v>46.68896321070235</c:v>
                </c:pt>
                <c:pt idx="278">
                  <c:v>46.83946488294315</c:v>
                </c:pt>
                <c:pt idx="279">
                  <c:v>46.98996655518395</c:v>
                </c:pt>
                <c:pt idx="280">
                  <c:v>47.140468227424755</c:v>
                </c:pt>
                <c:pt idx="281">
                  <c:v>47.290969899665555</c:v>
                </c:pt>
                <c:pt idx="282">
                  <c:v>47.441471571906355</c:v>
                </c:pt>
                <c:pt idx="283">
                  <c:v>47.59197324414716</c:v>
                </c:pt>
                <c:pt idx="284">
                  <c:v>47.74247491638796</c:v>
                </c:pt>
                <c:pt idx="285">
                  <c:v>47.89297658862876</c:v>
                </c:pt>
                <c:pt idx="286">
                  <c:v>48.04347826086957</c:v>
                </c:pt>
                <c:pt idx="287">
                  <c:v>48.19397993311037</c:v>
                </c:pt>
                <c:pt idx="288">
                  <c:v>48.34448160535118</c:v>
                </c:pt>
                <c:pt idx="289">
                  <c:v>48.49498327759198</c:v>
                </c:pt>
                <c:pt idx="290">
                  <c:v>48.64548494983278</c:v>
                </c:pt>
                <c:pt idx="291">
                  <c:v>48.795986622073585</c:v>
                </c:pt>
                <c:pt idx="292">
                  <c:v>48.946488294314385</c:v>
                </c:pt>
                <c:pt idx="293">
                  <c:v>49.096989966555185</c:v>
                </c:pt>
                <c:pt idx="294">
                  <c:v>49.24749163879599</c:v>
                </c:pt>
                <c:pt idx="295">
                  <c:v>49.39799331103679</c:v>
                </c:pt>
                <c:pt idx="296">
                  <c:v>49.54849498327759</c:v>
                </c:pt>
                <c:pt idx="297">
                  <c:v>49.6989966555184</c:v>
                </c:pt>
                <c:pt idx="298">
                  <c:v>49.8494983277592</c:v>
                </c:pt>
                <c:pt idx="299">
                  <c:v>50.0</c:v>
                </c:pt>
              </c:numCache>
            </c:numRef>
          </c:xVal>
          <c:yVal>
            <c:numRef>
              <c:f>Sheet1!$B$304:$B$603</c:f>
              <c:numCache>
                <c:formatCode>General</c:formatCode>
                <c:ptCount val="300"/>
                <c:pt idx="0">
                  <c:v>0.025918518546076408</c:v>
                </c:pt>
                <c:pt idx="1">
                  <c:v>0.028696949397651068</c:v>
                </c:pt>
                <c:pt idx="2">
                  <c:v>0.031472795212069686</c:v>
                </c:pt>
                <c:pt idx="3">
                  <c:v>0.03424580870479768</c:v>
                </c:pt>
                <c:pt idx="4">
                  <c:v>0.03701574360783354</c:v>
                </c:pt>
                <c:pt idx="5">
                  <c:v>0.03978235475632535</c:v>
                </c:pt>
                <c:pt idx="6">
                  <c:v>0.04254539817435026</c:v>
                </c:pt>
                <c:pt idx="7">
                  <c:v>0.04530463115979386</c:v>
                </c:pt>
                <c:pt idx="8">
                  <c:v>0.04805981236826858</c:v>
                </c:pt>
                <c:pt idx="9">
                  <c:v>0.05081070189600941</c:v>
                </c:pt>
                <c:pt idx="10">
                  <c:v>0.05355706136168905</c:v>
                </c:pt>
                <c:pt idx="11">
                  <c:v>0.05629865398709309</c:v>
                </c:pt>
                <c:pt idx="12">
                  <c:v>0.05903524467660044</c:v>
                </c:pt>
                <c:pt idx="13">
                  <c:v>0.06176660009541298</c:v>
                </c:pt>
                <c:pt idx="14">
                  <c:v>0.06449248874648125</c:v>
                </c:pt>
                <c:pt idx="15">
                  <c:v>0.06721268104607574</c:v>
                </c:pt>
                <c:pt idx="16">
                  <c:v>0.06992694939795181</c:v>
                </c:pt>
                <c:pt idx="17">
                  <c:v>0.07263506826606185</c:v>
                </c:pt>
                <c:pt idx="18">
                  <c:v>0.07533681424576734</c:v>
                </c:pt>
                <c:pt idx="19">
                  <c:v>0.07803196613350614</c:v>
                </c:pt>
                <c:pt idx="20">
                  <c:v>0.08072030499487333</c:v>
                </c:pt>
                <c:pt idx="21">
                  <c:v>0.08340161423107313</c:v>
                </c:pt>
                <c:pt idx="22">
                  <c:v>0.08607567964370531</c:v>
                </c:pt>
                <c:pt idx="23">
                  <c:v>0.08874228949784703</c:v>
                </c:pt>
                <c:pt idx="24">
                  <c:v>0.09140123458339715</c:v>
                </c:pt>
                <c:pt idx="25">
                  <c:v>0.09405230827464933</c:v>
                </c:pt>
                <c:pt idx="26">
                  <c:v>0.09669530658806329</c:v>
                </c:pt>
                <c:pt idx="27">
                  <c:v>0.09933002823820629</c:v>
                </c:pt>
                <c:pt idx="28">
                  <c:v>0.10195627469183778</c:v>
                </c:pt>
                <c:pt idx="29">
                  <c:v>0.10457385022011305</c:v>
                </c:pt>
                <c:pt idx="30">
                  <c:v>0.10718256194888354</c:v>
                </c:pt>
                <c:pt idx="31">
                  <c:v>0.10978221990707451</c:v>
                </c:pt>
                <c:pt idx="32">
                  <c:v>0.11237263707312073</c:v>
                </c:pt>
                <c:pt idx="33">
                  <c:v>0.11495362941944551</c:v>
                </c:pt>
                <c:pt idx="34">
                  <c:v>0.11752501595496898</c:v>
                </c:pt>
                <c:pt idx="35">
                  <c:v>0.12008661876563395</c:v>
                </c:pt>
                <c:pt idx="36">
                  <c:v>0.12263826305293984</c:v>
                </c:pt>
                <c:pt idx="37">
                  <c:v>0.1251797771704773</c:v>
                </c:pt>
                <c:pt idx="38">
                  <c:v>0.12771099265845842</c:v>
                </c:pt>
                <c:pt idx="39">
                  <c:v>0.1302317442762387</c:v>
                </c:pt>
                <c:pt idx="40">
                  <c:v>0.13274187003282972</c:v>
                </c:pt>
                <c:pt idx="41">
                  <c:v>0.13524121121540356</c:v>
                </c:pt>
                <c:pt idx="42">
                  <c:v>0.1377296124157911</c:v>
                </c:pt>
                <c:pt idx="43">
                  <c:v>0.1402069215549787</c:v>
                </c:pt>
                <c:pt idx="44">
                  <c:v>0.14267298990561025</c:v>
                </c:pt>
                <c:pt idx="45">
                  <c:v>0.14512767211250285</c:v>
                </c:pt>
                <c:pt idx="46">
                  <c:v>0.14757082621118553</c:v>
                </c:pt>
                <c:pt idx="47">
                  <c:v>0.15000231364447342</c:v>
                </c:pt>
                <c:pt idx="48">
                  <c:v>0.15242199927709155</c:v>
                </c:pt>
                <c:pt idx="49">
                  <c:v>0.1548297514083626</c:v>
                </c:pt>
                <c:pt idx="50">
                  <c:v>0.1572254417829757</c:v>
                </c:pt>
                <c:pt idx="51">
                  <c:v>0.15960894559985567</c:v>
                </c:pt>
                <c:pt idx="52">
                  <c:v>0.1619801415191516</c:v>
                </c:pt>
                <c:pt idx="53">
                  <c:v>0.16433891166736753</c:v>
                </c:pt>
                <c:pt idx="54">
                  <c:v>0.1666851416406566</c:v>
                </c:pt>
                <c:pt idx="55">
                  <c:v>0.16901872050630457</c:v>
                </c:pt>
                <c:pt idx="56">
                  <c:v>0.1713395408024282</c:v>
                </c:pt>
                <c:pt idx="57">
                  <c:v>0.17364749853591338</c:v>
                </c:pt>
                <c:pt idx="58">
                  <c:v>0.1759424931786247</c:v>
                </c:pt>
                <c:pt idx="59">
                  <c:v>0.1782244276619123</c:v>
                </c:pt>
                <c:pt idx="60">
                  <c:v>0.18049320836944835</c:v>
                </c:pt>
                <c:pt idx="61">
                  <c:v>0.1827487451284242</c:v>
                </c:pt>
                <c:pt idx="62">
                  <c:v>0.18499095119914002</c:v>
                </c:pt>
                <c:pt idx="63">
                  <c:v>0.1872197432630213</c:v>
                </c:pt>
                <c:pt idx="64">
                  <c:v>0.18943504140909437</c:v>
                </c:pt>
                <c:pt idx="65">
                  <c:v>0.1916367691189587</c:v>
                </c:pt>
                <c:pt idx="66">
                  <c:v>0.19382485325028903</c:v>
                </c:pt>
                <c:pt idx="67">
                  <c:v>0.1959992240189052</c:v>
                </c:pt>
                <c:pt idx="68">
                  <c:v>0.19815981497944612</c:v>
                </c:pt>
                <c:pt idx="69">
                  <c:v>0.20030656300468555</c:v>
                </c:pt>
                <c:pt idx="70">
                  <c:v>0.20243940826352763</c:v>
                </c:pt>
                <c:pt idx="71">
                  <c:v>0.20455829419772079</c:v>
                </c:pt>
                <c:pt idx="72">
                  <c:v>0.20666316749732902</c:v>
                </c:pt>
                <c:pt idx="73">
                  <c:v>0.20875397807499896</c:v>
                </c:pt>
                <c:pt idx="74">
                  <c:v>0.21083067903906383</c:v>
                </c:pt>
                <c:pt idx="75">
                  <c:v>0.21289322666552205</c:v>
                </c:pt>
                <c:pt idx="76">
                  <c:v>0.2149415803689326</c:v>
                </c:pt>
                <c:pt idx="77">
                  <c:v>0.21697570267226501</c:v>
                </c:pt>
                <c:pt idx="78">
                  <c:v>0.2189955591757453</c:v>
                </c:pt>
                <c:pt idx="79">
                  <c:v>0.22100111852473903</c:v>
                </c:pt>
                <c:pt idx="80">
                  <c:v>0.22299235237670897</c:v>
                </c:pt>
                <c:pt idx="81">
                  <c:v>0.22496923536728983</c:v>
                </c:pt>
                <c:pt idx="82">
                  <c:v>0.22693174507551916</c:v>
                </c:pt>
                <c:pt idx="83">
                  <c:v>0.22887986198826452</c:v>
                </c:pt>
                <c:pt idx="84">
                  <c:v>0.23081356946388548</c:v>
                </c:pt>
                <c:pt idx="85">
                  <c:v>0.232732853695172</c:v>
                </c:pt>
                <c:pt idx="86">
                  <c:v>0.23463770367159648</c:v>
                </c:pt>
                <c:pt idx="87">
                  <c:v>0.23652811114091865</c:v>
                </c:pt>
                <c:pt idx="88">
                  <c:v>0.2384040705701834</c:v>
                </c:pt>
                <c:pt idx="89">
                  <c:v>0.2402655791061467</c:v>
                </c:pt>
                <c:pt idx="90">
                  <c:v>0.24211263653517087</c:v>
                </c:pt>
                <c:pt idx="91">
                  <c:v>0.2439452452426233</c:v>
                </c:pt>
                <c:pt idx="92">
                  <c:v>0.24576341017181746</c:v>
                </c:pt>
                <c:pt idx="93">
                  <c:v>0.24756713878253217</c:v>
                </c:pt>
                <c:pt idx="94">
                  <c:v>0.2493564410091441</c:v>
                </c:pt>
                <c:pt idx="95">
                  <c:v>0.2511313292184095</c:v>
                </c:pt>
                <c:pt idx="96">
                  <c:v>0.2528918181669302</c:v>
                </c:pt>
                <c:pt idx="97">
                  <c:v>0.25463792495833626</c:v>
                </c:pt>
                <c:pt idx="98">
                  <c:v>0.25636966900022146</c:v>
                </c:pt>
                <c:pt idx="99">
                  <c:v>0.25808707196086156</c:v>
                </c:pt>
                <c:pt idx="100">
                  <c:v>0.2597901577257494</c:v>
                </c:pt>
                <c:pt idx="101">
                  <c:v>0.2614789523539783</c:v>
                </c:pt>
                <c:pt idx="102">
                  <c:v>0.26315348403450345</c:v>
                </c:pt>
                <c:pt idx="103">
                  <c:v>0.26481378304231196</c:v>
                </c:pt>
                <c:pt idx="104">
                  <c:v>0.26645988169453266</c:v>
                </c:pt>
                <c:pt idx="105">
                  <c:v>0.2680918143065105</c:v>
                </c:pt>
                <c:pt idx="106">
                  <c:v>0.2697096171478784</c:v>
                </c:pt>
                <c:pt idx="107">
                  <c:v>0.27131332839864913</c:v>
                </c:pt>
                <c:pt idx="108">
                  <c:v>0.27290298810535757</c:v>
                </c:pt>
                <c:pt idx="109">
                  <c:v>0.27447863813727635</c:v>
                </c:pt>
                <c:pt idx="110">
                  <c:v>0.276040322142732</c:v>
                </c:pt>
                <c:pt idx="111">
                  <c:v>0.27758808550554365</c:v>
                </c:pt>
                <c:pt idx="112">
                  <c:v>0.27912197530160976</c:v>
                </c:pt>
                <c:pt idx="113">
                  <c:v>0.2806420402556651</c:v>
                </c:pt>
                <c:pt idx="114">
                  <c:v>0.28214833069822853</c:v>
                </c:pt>
                <c:pt idx="115">
                  <c:v>0.2836408985227656</c:v>
                </c:pt>
                <c:pt idx="116">
                  <c:v>0.2851197971430827</c:v>
                </c:pt>
                <c:pt idx="117">
                  <c:v>0.2865850814509771</c:v>
                </c:pt>
                <c:pt idx="118">
                  <c:v>0.2880368077741569</c:v>
                </c:pt>
                <c:pt idx="119">
                  <c:v>0.2894750338344526</c:v>
                </c:pt>
                <c:pt idx="120">
                  <c:v>0.29089981870633697</c:v>
                </c:pt>
                <c:pt idx="121">
                  <c:v>0.292311222775769</c:v>
                </c:pt>
                <c:pt idx="122">
                  <c:v>0.2937093076993785</c:v>
                </c:pt>
                <c:pt idx="123">
                  <c:v>0.29509413636400716</c:v>
                </c:pt>
                <c:pt idx="124">
                  <c:v>0.29646577284662007</c:v>
                </c:pt>
                <c:pt idx="125">
                  <c:v>0.2978242823746012</c:v>
                </c:pt>
                <c:pt idx="126">
                  <c:v>0.29916973128644686</c:v>
                </c:pt>
                <c:pt idx="127">
                  <c:v>0.30050218699286935</c:v>
                </c:pt>
                <c:pt idx="128">
                  <c:v>0.30182171793832185</c:v>
                </c:pt>
                <c:pt idx="129">
                  <c:v>0.3031283935629573</c:v>
                </c:pt>
                <c:pt idx="130">
                  <c:v>0.3044222842650293</c:v>
                </c:pt>
                <c:pt idx="131">
                  <c:v>0.3057034613637483</c:v>
                </c:pt>
                <c:pt idx="132">
                  <c:v>0.30697199706259826</c:v>
                </c:pt>
                <c:pt idx="133">
                  <c:v>0.30822796441312567</c:v>
                </c:pt>
                <c:pt idx="134">
                  <c:v>0.3094714372792076</c:v>
                </c:pt>
                <c:pt idx="135">
                  <c:v>0.3107024903018058</c:v>
                </c:pt>
                <c:pt idx="136">
                  <c:v>0.31192119886421443</c:v>
                </c:pt>
                <c:pt idx="137">
                  <c:v>0.3131276390578066</c:v>
                </c:pt>
                <c:pt idx="138">
                  <c:v>0.31432188764828767</c:v>
                </c:pt>
                <c:pt idx="139">
                  <c:v>0.31550402204245703</c:v>
                </c:pt>
                <c:pt idx="140">
                  <c:v>0.31667412025548597</c:v>
                </c:pt>
                <c:pt idx="141">
                  <c:v>0.31783226087871425</c:v>
                </c:pt>
                <c:pt idx="142">
                  <c:v>0.31897852304796975</c:v>
                </c:pt>
                <c:pt idx="143">
                  <c:v>0.320112986412413</c:v>
                </c:pt>
                <c:pt idx="144">
                  <c:v>0.3212357311039105</c:v>
                </c:pt>
                <c:pt idx="145">
                  <c:v>0.3223468377069394</c:v>
                </c:pt>
                <c:pt idx="146">
                  <c:v>0.32344638722902314</c:v>
                </c:pt>
                <c:pt idx="147">
                  <c:v>0.3245344610717015</c:v>
                </c:pt>
                <c:pt idx="148">
                  <c:v>0.3256111410020347</c:v>
                </c:pt>
                <c:pt idx="149">
                  <c:v>0.32667650912464313</c:v>
                </c:pt>
                <c:pt idx="150">
                  <c:v>0.3277306478542813</c:v>
                </c:pt>
                <c:pt idx="151">
                  <c:v>0.3287736398889468</c:v>
                </c:pt>
                <c:pt idx="152">
                  <c:v>0.329805568183524</c:v>
                </c:pt>
                <c:pt idx="153">
                  <c:v>0.33082651592395973</c:v>
                </c:pt>
                <c:pt idx="154">
                  <c:v>0.33183656650197124</c:v>
                </c:pt>
                <c:pt idx="155">
                  <c:v>0.33283580349028496</c:v>
                </c:pt>
                <c:pt idx="156">
                  <c:v>0.33382431061840184</c:v>
                </c:pt>
                <c:pt idx="157">
                  <c:v>0.33480217174889004</c:v>
                </c:pt>
                <c:pt idx="158">
                  <c:v>0.33576947085419984</c:v>
                </c:pt>
                <c:pt idx="159">
                  <c:v>0.33672629199399984</c:v>
                </c:pt>
                <c:pt idx="160">
                  <c:v>0.3376727192930296</c:v>
                </c:pt>
                <c:pt idx="161">
                  <c:v>0.338608836919467</c:v>
                </c:pt>
                <c:pt idx="162">
                  <c:v>0.3395347290638063</c:v>
                </c:pt>
                <c:pt idx="163">
                  <c:v>0.34045047991824157</c:v>
                </c:pt>
                <c:pt idx="164">
                  <c:v>0.3413561736565543</c:v>
                </c:pt>
                <c:pt idx="165">
                  <c:v>0.34225189441449827</c:v>
                </c:pt>
                <c:pt idx="166">
                  <c:v>0.34313772627067907</c:v>
                </c:pt>
                <c:pt idx="167">
                  <c:v>0.34401375322792266</c:v>
                </c:pt>
                <c:pt idx="168">
                  <c:v>0.3448800591951287</c:v>
                </c:pt>
                <c:pt idx="169">
                  <c:v>0.34573672796960375</c:v>
                </c:pt>
                <c:pt idx="170">
                  <c:v>0.3465838432198687</c:v>
                </c:pt>
                <c:pt idx="171">
                  <c:v>0.347421488468936</c:v>
                </c:pt>
                <c:pt idx="172">
                  <c:v>0.3482497470780509</c:v>
                </c:pt>
                <c:pt idx="173">
                  <c:v>0.349068702230891</c:v>
                </c:pt>
                <c:pt idx="174">
                  <c:v>0.3498784369182191</c:v>
                </c:pt>
                <c:pt idx="175">
                  <c:v>0.3506790339229835</c:v>
                </c:pt>
                <c:pt idx="176">
                  <c:v>0.35147057580585916</c:v>
                </c:pt>
                <c:pt idx="177">
                  <c:v>0.3522531448912256</c:v>
                </c:pt>
                <c:pt idx="178">
                  <c:v>0.3530268232535731</c:v>
                </c:pt>
                <c:pt idx="179">
                  <c:v>0.3537916927043341</c:v>
                </c:pt>
                <c:pt idx="180">
                  <c:v>0.35454783477913066</c:v>
                </c:pt>
                <c:pt idx="181">
                  <c:v>0.3552953307254352</c:v>
                </c:pt>
                <c:pt idx="182">
                  <c:v>0.356034261490634</c:v>
                </c:pt>
                <c:pt idx="183">
                  <c:v>0.3567647077104922</c:v>
                </c:pt>
                <c:pt idx="184">
                  <c:v>0.35748674969800975</c:v>
                </c:pt>
                <c:pt idx="185">
                  <c:v>0.3582004674326647</c:v>
                </c:pt>
                <c:pt idx="186">
                  <c:v>0.3589059405500355</c:v>
                </c:pt>
                <c:pt idx="187">
                  <c:v>0.35960324833179874</c:v>
                </c:pt>
                <c:pt idx="188">
                  <c:v>0.36029246969609185</c:v>
                </c:pt>
                <c:pt idx="189">
                  <c:v>0.360973683188239</c:v>
                </c:pt>
                <c:pt idx="190">
                  <c:v>0.36164696697183</c:v>
                </c:pt>
                <c:pt idx="191">
                  <c:v>0.3623123988201479</c:v>
                </c:pt>
                <c:pt idx="192">
                  <c:v>0.36297005610793837</c:v>
                </c:pt>
                <c:pt idx="193">
                  <c:v>0.36362001580351466</c:v>
                </c:pt>
                <c:pt idx="194">
                  <c:v>0.3642623544611912</c:v>
                </c:pt>
                <c:pt idx="195">
                  <c:v>0.3648971482140401</c:v>
                </c:pt>
                <c:pt idx="196">
                  <c:v>0.36552447276696426</c:v>
                </c:pt>
                <c:pt idx="197">
                  <c:v>0.36614440339008075</c:v>
                </c:pt>
                <c:pt idx="198">
                  <c:v>0.3667570149124072</c:v>
                </c:pt>
                <c:pt idx="199">
                  <c:v>0.3673623817158472</c:v>
                </c:pt>
                <c:pt idx="200">
                  <c:v>0.367960577729466</c:v>
                </c:pt>
                <c:pt idx="201">
                  <c:v>0.36855167642405245</c:v>
                </c:pt>
                <c:pt idx="202">
                  <c:v>0.3691357508069599</c:v>
                </c:pt>
                <c:pt idx="203">
                  <c:v>0.36971287341722003</c:v>
                </c:pt>
                <c:pt idx="204">
                  <c:v>0.37028311632092453</c:v>
                </c:pt>
                <c:pt idx="205">
                  <c:v>0.3708465511068677</c:v>
                </c:pt>
                <c:pt idx="206">
                  <c:v>0.3714032488824445</c:v>
                </c:pt>
                <c:pt idx="207">
                  <c:v>0.3719532802697984</c:v>
                </c:pt>
                <c:pt idx="208">
                  <c:v>0.3724967154022125</c:v>
                </c:pt>
                <c:pt idx="209">
                  <c:v>0.3730336239207396</c:v>
                </c:pt>
                <c:pt idx="210">
                  <c:v>0.373564074971064</c:v>
                </c:pt>
                <c:pt idx="211">
                  <c:v>0.37408813720059003</c:v>
                </c:pt>
                <c:pt idx="212">
                  <c:v>0.374605878755753</c:v>
                </c:pt>
                <c:pt idx="213">
                  <c:v>0.37511736727954453</c:v>
                </c:pt>
                <c:pt idx="214">
                  <c:v>0.3756226699092493</c:v>
                </c:pt>
                <c:pt idx="215">
                  <c:v>0.37612185327438724</c:v>
                </c:pt>
                <c:pt idx="216">
                  <c:v>0.376614983494854</c:v>
                </c:pt>
                <c:pt idx="217">
                  <c:v>0.37710212617925853</c:v>
                </c:pt>
                <c:pt idx="218">
                  <c:v>0.3775833464234478</c:v>
                </c:pt>
                <c:pt idx="219">
                  <c:v>0.37805870880921827</c:v>
                </c:pt>
                <c:pt idx="220">
                  <c:v>0.3785282774032051</c:v>
                </c:pt>
                <c:pt idx="221">
                  <c:v>0.3789921157559476</c:v>
                </c:pt>
                <c:pt idx="222">
                  <c:v>0.3794502869011234</c:v>
                </c:pt>
                <c:pt idx="223">
                  <c:v>0.3799028533549484</c:v>
                </c:pt>
                <c:pt idx="224">
                  <c:v>0.38034987711573726</c:v>
                </c:pt>
                <c:pt idx="225">
                  <c:v>0.3807914196636194</c:v>
                </c:pt>
                <c:pt idx="226">
                  <c:v>0.38122754196040654</c:v>
                </c:pt>
                <c:pt idx="227">
                  <c:v>0.3816583044496071</c:v>
                </c:pt>
                <c:pt idx="228">
                  <c:v>0.38208376705658337</c:v>
                </c:pt>
                <c:pt idx="229">
                  <c:v>0.3825039891888467</c:v>
                </c:pt>
                <c:pt idx="230">
                  <c:v>0.3829190297364869</c:v>
                </c:pt>
                <c:pt idx="231">
                  <c:v>0.3833289470727313</c:v>
                </c:pt>
                <c:pt idx="232">
                  <c:v>0.3837337990546303</c:v>
                </c:pt>
                <c:pt idx="233">
                  <c:v>0.3841336430238634</c:v>
                </c:pt>
                <c:pt idx="234">
                  <c:v>0.3845285358076647</c:v>
                </c:pt>
                <c:pt idx="235">
                  <c:v>0.384918533719862</c:v>
                </c:pt>
                <c:pt idx="236">
                  <c:v>0.3853036925620255</c:v>
                </c:pt>
                <c:pt idx="237">
                  <c:v>0.38568406762472385</c:v>
                </c:pt>
                <c:pt idx="238">
                  <c:v>0.3860597136888828</c:v>
                </c:pt>
                <c:pt idx="239">
                  <c:v>0.3864306850272439</c:v>
                </c:pt>
                <c:pt idx="240">
                  <c:v>0.38679703540591853</c:v>
                </c:pt>
                <c:pt idx="241">
                  <c:v>0.3871588180860341</c:v>
                </c:pt>
                <c:pt idx="242">
                  <c:v>0.38751608582547115</c:v>
                </c:pt>
                <c:pt idx="243">
                  <c:v>0.3878688908806842</c:v>
                </c:pt>
                <c:pt idx="244">
                  <c:v>0.388217285008607</c:v>
                </c:pt>
                <c:pt idx="245">
                  <c:v>0.3885613194686366</c:v>
                </c:pt>
                <c:pt idx="246">
                  <c:v>0.38890104502469414</c:v>
                </c:pt>
                <c:pt idx="247">
                  <c:v>0.3892365119473593</c:v>
                </c:pt>
                <c:pt idx="248">
                  <c:v>0.38956777001607507</c:v>
                </c:pt>
                <c:pt idx="249">
                  <c:v>0.3898948685214206</c:v>
                </c:pt>
                <c:pt idx="250">
                  <c:v>0.39021785626744904</c:v>
                </c:pt>
                <c:pt idx="251">
                  <c:v>0.39053678157408717</c:v>
                </c:pt>
                <c:pt idx="252">
                  <c:v>0.39085169227959476</c:v>
                </c:pt>
                <c:pt idx="253">
                  <c:v>0.3911626357430816</c:v>
                </c:pt>
                <c:pt idx="254">
                  <c:v>0.39146965884707724</c:v>
                </c:pt>
                <c:pt idx="255">
                  <c:v>0.39177280800015474</c:v>
                </c:pt>
                <c:pt idx="256">
                  <c:v>0.39207212913960204</c:v>
                </c:pt>
                <c:pt idx="257">
                  <c:v>0.3923676677341418</c:v>
                </c:pt>
                <c:pt idx="258">
                  <c:v>0.3926594687866951</c:v>
                </c:pt>
                <c:pt idx="259">
                  <c:v>0.39294757683718834</c:v>
                </c:pt>
                <c:pt idx="260">
                  <c:v>0.39323203596539974</c:v>
                </c:pt>
                <c:pt idx="261">
                  <c:v>0.39351288979384547</c:v>
                </c:pt>
                <c:pt idx="262">
                  <c:v>0.39379018149069994</c:v>
                </c:pt>
                <c:pt idx="263">
                  <c:v>0.39406395377275205</c:v>
                </c:pt>
                <c:pt idx="264">
                  <c:v>0.3943342489083921</c:v>
                </c:pt>
                <c:pt idx="265">
                  <c:v>0.39460110872063014</c:v>
                </c:pt>
                <c:pt idx="266">
                  <c:v>0.39486457459014174</c:v>
                </c:pt>
                <c:pt idx="267">
                  <c:v>0.3951246874583404</c:v>
                </c:pt>
                <c:pt idx="268">
                  <c:v>0.39538148783047516</c:v>
                </c:pt>
                <c:pt idx="269">
                  <c:v>0.39563501577875093</c:v>
                </c:pt>
                <c:pt idx="270">
                  <c:v>0.39588531094546964</c:v>
                </c:pt>
                <c:pt idx="271">
                  <c:v>0.3961324125461919</c:v>
                </c:pt>
                <c:pt idx="272">
                  <c:v>0.39637635937291643</c:v>
                </c:pt>
                <c:pt idx="273">
                  <c:v>0.3966171897972757</c:v>
                </c:pt>
                <c:pt idx="274">
                  <c:v>0.39685494177374736</c:v>
                </c:pt>
                <c:pt idx="275">
                  <c:v>0.3970896528428783</c:v>
                </c:pt>
                <c:pt idx="276">
                  <c:v>0.397321360134522</c:v>
                </c:pt>
                <c:pt idx="277">
                  <c:v>0.39755010037108585</c:v>
                </c:pt>
                <c:pt idx="278">
                  <c:v>0.3977759098707883</c:v>
                </c:pt>
                <c:pt idx="279">
                  <c:v>0.39799882455092456</c:v>
                </c:pt>
                <c:pt idx="280">
                  <c:v>0.3982188799311382</c:v>
                </c:pt>
                <c:pt idx="281">
                  <c:v>0.3984361111367</c:v>
                </c:pt>
                <c:pt idx="282">
                  <c:v>0.3986505529017902</c:v>
                </c:pt>
                <c:pt idx="283">
                  <c:v>0.39886223957278444</c:v>
                </c:pt>
                <c:pt idx="284">
                  <c:v>0.3990712051115426</c:v>
                </c:pt>
                <c:pt idx="285">
                  <c:v>0.3992774830986983</c:v>
                </c:pt>
                <c:pt idx="286">
                  <c:v>0.399481106736949</c:v>
                </c:pt>
                <c:pt idx="287">
                  <c:v>0.39968210885434463</c:v>
                </c:pt>
                <c:pt idx="288">
                  <c:v>0.3998805219075762</c:v>
                </c:pt>
                <c:pt idx="289">
                  <c:v>0.40007637798525975</c:v>
                </c:pt>
                <c:pt idx="290">
                  <c:v>0.4002697088112182</c:v>
                </c:pt>
                <c:pt idx="291">
                  <c:v>0.40046054574775786</c:v>
                </c:pt>
                <c:pt idx="292">
                  <c:v>0.4006489197989406</c:v>
                </c:pt>
                <c:pt idx="293">
                  <c:v>0.40083486161384935</c:v>
                </c:pt>
                <c:pt idx="294">
                  <c:v>0.40101840148984663</c:v>
                </c:pt>
                <c:pt idx="295">
                  <c:v>0.4011995693758261</c:v>
                </c:pt>
                <c:pt idx="296">
                  <c:v>0.40137839487545546</c:v>
                </c:pt>
                <c:pt idx="297">
                  <c:v>0.4015549072504103</c:v>
                </c:pt>
                <c:pt idx="298">
                  <c:v>0.40172913542359834</c:v>
                </c:pt>
                <c:pt idx="299">
                  <c:v>0.4019011079823734</c:v>
                </c:pt>
              </c:numCache>
            </c:numRef>
          </c:yVal>
          <c:smooth val="0"/>
        </c:ser>
        <c:ser>
          <c:idx val="2"/>
          <c:order val="2"/>
          <c:tx>
            <c:strRef>
              <c:f>Sheet1!$B$605</c:f>
              <c:strCache>
                <c:ptCount val="1"/>
                <c:pt idx="0">
                  <c:v>previous (SiO₂ lift)</c:v>
                </c:pt>
              </c:strCache>
            </c:strRef>
          </c:tx>
          <c:spPr>
            <a:ln w="15875">
              <a:solidFill>
                <a:srgbClr val="7F8C8D"/>
              </a:solidFill>
            </a:ln>
          </c:spPr>
          <c:marker>
            <c:symbol val="none"/>
          </c:marker>
          <c:xVal>
            <c:numRef>
              <c:f>Sheet1!$A$606:$A$751</c:f>
              <c:numCache>
                <c:formatCode>General</c:formatCode>
                <c:ptCount val="146"/>
                <c:pt idx="0">
                  <c:v>4.0</c:v>
                </c:pt>
                <c:pt idx="1">
                  <c:v>4.1</c:v>
                </c:pt>
                <c:pt idx="2">
                  <c:v>4.15</c:v>
                </c:pt>
                <c:pt idx="3">
                  <c:v>4.2</c:v>
                </c:pt>
                <c:pt idx="4">
                  <c:v>4.25</c:v>
                </c:pt>
                <c:pt idx="5">
                  <c:v>4.3</c:v>
                </c:pt>
                <c:pt idx="6">
                  <c:v>4.4</c:v>
                </c:pt>
                <c:pt idx="7">
                  <c:v>4.5</c:v>
                </c:pt>
                <c:pt idx="8">
                  <c:v>4.6</c:v>
                </c:pt>
                <c:pt idx="9">
                  <c:v>4.7</c:v>
                </c:pt>
                <c:pt idx="10">
                  <c:v>4.75</c:v>
                </c:pt>
                <c:pt idx="11">
                  <c:v>4.8</c:v>
                </c:pt>
                <c:pt idx="12">
                  <c:v>4.85</c:v>
                </c:pt>
                <c:pt idx="13">
                  <c:v>4.9</c:v>
                </c:pt>
                <c:pt idx="14">
                  <c:v>4.95</c:v>
                </c:pt>
                <c:pt idx="15">
                  <c:v>5.0</c:v>
                </c:pt>
                <c:pt idx="16">
                  <c:v>5.05</c:v>
                </c:pt>
                <c:pt idx="17">
                  <c:v>5.1</c:v>
                </c:pt>
                <c:pt idx="18">
                  <c:v>5.15</c:v>
                </c:pt>
                <c:pt idx="19">
                  <c:v>5.2</c:v>
                </c:pt>
                <c:pt idx="20">
                  <c:v>5.4</c:v>
                </c:pt>
                <c:pt idx="21">
                  <c:v>5.6</c:v>
                </c:pt>
                <c:pt idx="22">
                  <c:v>5.8</c:v>
                </c:pt>
                <c:pt idx="23">
                  <c:v>6.0</c:v>
                </c:pt>
                <c:pt idx="24">
                  <c:v>6.2</c:v>
                </c:pt>
                <c:pt idx="25">
                  <c:v>6.4</c:v>
                </c:pt>
                <c:pt idx="26">
                  <c:v>6.45</c:v>
                </c:pt>
                <c:pt idx="27">
                  <c:v>6.5</c:v>
                </c:pt>
                <c:pt idx="28">
                  <c:v>6.55</c:v>
                </c:pt>
                <c:pt idx="29">
                  <c:v>6.6</c:v>
                </c:pt>
                <c:pt idx="30">
                  <c:v>6.65</c:v>
                </c:pt>
                <c:pt idx="31">
                  <c:v>6.7</c:v>
                </c:pt>
                <c:pt idx="32">
                  <c:v>6.75</c:v>
                </c:pt>
                <c:pt idx="33">
                  <c:v>6.8</c:v>
                </c:pt>
                <c:pt idx="34">
                  <c:v>6.85</c:v>
                </c:pt>
                <c:pt idx="35">
                  <c:v>6.9</c:v>
                </c:pt>
                <c:pt idx="36">
                  <c:v>6.95</c:v>
                </c:pt>
                <c:pt idx="37">
                  <c:v>7.0</c:v>
                </c:pt>
                <c:pt idx="38">
                  <c:v>7.05</c:v>
                </c:pt>
                <c:pt idx="39">
                  <c:v>7.2</c:v>
                </c:pt>
                <c:pt idx="40">
                  <c:v>7.4</c:v>
                </c:pt>
                <c:pt idx="41">
                  <c:v>7.6</c:v>
                </c:pt>
                <c:pt idx="42">
                  <c:v>7.8</c:v>
                </c:pt>
                <c:pt idx="43">
                  <c:v>8.0</c:v>
                </c:pt>
                <c:pt idx="44">
                  <c:v>8.2</c:v>
                </c:pt>
                <c:pt idx="45">
                  <c:v>8.25</c:v>
                </c:pt>
                <c:pt idx="46">
                  <c:v>8.3</c:v>
                </c:pt>
                <c:pt idx="47">
                  <c:v>8.35</c:v>
                </c:pt>
                <c:pt idx="48">
                  <c:v>8.4</c:v>
                </c:pt>
                <c:pt idx="49">
                  <c:v>8.45</c:v>
                </c:pt>
                <c:pt idx="50">
                  <c:v>8.5</c:v>
                </c:pt>
                <c:pt idx="51">
                  <c:v>8.55</c:v>
                </c:pt>
                <c:pt idx="52">
                  <c:v>8.6</c:v>
                </c:pt>
                <c:pt idx="53">
                  <c:v>8.65</c:v>
                </c:pt>
                <c:pt idx="54">
                  <c:v>8.7</c:v>
                </c:pt>
                <c:pt idx="55">
                  <c:v>8.75</c:v>
                </c:pt>
                <c:pt idx="56">
                  <c:v>8.8</c:v>
                </c:pt>
                <c:pt idx="57">
                  <c:v>8.85</c:v>
                </c:pt>
                <c:pt idx="58">
                  <c:v>9.0</c:v>
                </c:pt>
                <c:pt idx="59">
                  <c:v>9.2</c:v>
                </c:pt>
                <c:pt idx="60">
                  <c:v>9.4</c:v>
                </c:pt>
                <c:pt idx="61">
                  <c:v>9.6</c:v>
                </c:pt>
                <c:pt idx="62">
                  <c:v>9.8</c:v>
                </c:pt>
                <c:pt idx="63">
                  <c:v>10.0</c:v>
                </c:pt>
                <c:pt idx="64">
                  <c:v>10.05</c:v>
                </c:pt>
                <c:pt idx="65">
                  <c:v>10.1</c:v>
                </c:pt>
                <c:pt idx="66">
                  <c:v>10.15</c:v>
                </c:pt>
                <c:pt idx="67">
                  <c:v>10.2</c:v>
                </c:pt>
                <c:pt idx="68">
                  <c:v>10.25</c:v>
                </c:pt>
                <c:pt idx="69">
                  <c:v>10.3</c:v>
                </c:pt>
                <c:pt idx="70">
                  <c:v>10.35</c:v>
                </c:pt>
                <c:pt idx="71">
                  <c:v>10.4</c:v>
                </c:pt>
                <c:pt idx="72">
                  <c:v>10.45</c:v>
                </c:pt>
                <c:pt idx="73">
                  <c:v>10.5</c:v>
                </c:pt>
                <c:pt idx="74">
                  <c:v>10.55</c:v>
                </c:pt>
                <c:pt idx="75">
                  <c:v>10.6</c:v>
                </c:pt>
                <c:pt idx="76">
                  <c:v>10.65</c:v>
                </c:pt>
                <c:pt idx="77">
                  <c:v>10.8</c:v>
                </c:pt>
                <c:pt idx="78">
                  <c:v>11.0</c:v>
                </c:pt>
                <c:pt idx="79">
                  <c:v>11.2</c:v>
                </c:pt>
                <c:pt idx="80">
                  <c:v>11.4</c:v>
                </c:pt>
                <c:pt idx="81">
                  <c:v>11.6</c:v>
                </c:pt>
                <c:pt idx="82">
                  <c:v>11.8</c:v>
                </c:pt>
                <c:pt idx="83">
                  <c:v>11.85</c:v>
                </c:pt>
                <c:pt idx="84">
                  <c:v>11.9</c:v>
                </c:pt>
                <c:pt idx="85">
                  <c:v>11.95</c:v>
                </c:pt>
                <c:pt idx="86">
                  <c:v>12.0</c:v>
                </c:pt>
                <c:pt idx="87">
                  <c:v>12.05</c:v>
                </c:pt>
                <c:pt idx="88">
                  <c:v>12.1</c:v>
                </c:pt>
                <c:pt idx="89">
                  <c:v>12.15</c:v>
                </c:pt>
                <c:pt idx="90">
                  <c:v>12.2</c:v>
                </c:pt>
                <c:pt idx="91">
                  <c:v>12.25</c:v>
                </c:pt>
                <c:pt idx="92">
                  <c:v>12.3</c:v>
                </c:pt>
                <c:pt idx="93">
                  <c:v>12.35</c:v>
                </c:pt>
                <c:pt idx="94">
                  <c:v>12.4</c:v>
                </c:pt>
                <c:pt idx="95">
                  <c:v>12.45</c:v>
                </c:pt>
                <c:pt idx="96">
                  <c:v>12.6</c:v>
                </c:pt>
                <c:pt idx="97">
                  <c:v>12.8</c:v>
                </c:pt>
                <c:pt idx="98">
                  <c:v>13.0</c:v>
                </c:pt>
                <c:pt idx="99">
                  <c:v>13.2</c:v>
                </c:pt>
                <c:pt idx="100">
                  <c:v>13.4</c:v>
                </c:pt>
                <c:pt idx="101">
                  <c:v>13.6</c:v>
                </c:pt>
                <c:pt idx="102">
                  <c:v>13.65</c:v>
                </c:pt>
                <c:pt idx="103">
                  <c:v>13.7</c:v>
                </c:pt>
                <c:pt idx="104">
                  <c:v>13.75</c:v>
                </c:pt>
                <c:pt idx="105">
                  <c:v>13.8</c:v>
                </c:pt>
                <c:pt idx="106">
                  <c:v>13.85</c:v>
                </c:pt>
                <c:pt idx="107">
                  <c:v>13.9</c:v>
                </c:pt>
                <c:pt idx="108">
                  <c:v>13.95</c:v>
                </c:pt>
                <c:pt idx="109">
                  <c:v>14.0</c:v>
                </c:pt>
                <c:pt idx="110">
                  <c:v>14.05</c:v>
                </c:pt>
                <c:pt idx="111">
                  <c:v>14.1</c:v>
                </c:pt>
                <c:pt idx="112">
                  <c:v>14.2</c:v>
                </c:pt>
                <c:pt idx="113">
                  <c:v>14.3</c:v>
                </c:pt>
                <c:pt idx="114">
                  <c:v>14.4</c:v>
                </c:pt>
                <c:pt idx="115">
                  <c:v>14.5</c:v>
                </c:pt>
                <c:pt idx="116">
                  <c:v>14.6</c:v>
                </c:pt>
                <c:pt idx="117">
                  <c:v>14.7</c:v>
                </c:pt>
                <c:pt idx="118">
                  <c:v>14.8</c:v>
                </c:pt>
                <c:pt idx="119">
                  <c:v>14.9</c:v>
                </c:pt>
                <c:pt idx="120">
                  <c:v>15.0</c:v>
                </c:pt>
                <c:pt idx="121">
                  <c:v>15.2</c:v>
                </c:pt>
                <c:pt idx="122">
                  <c:v>15.4</c:v>
                </c:pt>
                <c:pt idx="123">
                  <c:v>15.6</c:v>
                </c:pt>
                <c:pt idx="124">
                  <c:v>15.8</c:v>
                </c:pt>
                <c:pt idx="125">
                  <c:v>16.0</c:v>
                </c:pt>
                <c:pt idx="126">
                  <c:v>16.4</c:v>
                </c:pt>
                <c:pt idx="127">
                  <c:v>16.8</c:v>
                </c:pt>
                <c:pt idx="128">
                  <c:v>17.2</c:v>
                </c:pt>
                <c:pt idx="129">
                  <c:v>17.6</c:v>
                </c:pt>
                <c:pt idx="130">
                  <c:v>18.0</c:v>
                </c:pt>
                <c:pt idx="131">
                  <c:v>18.4</c:v>
                </c:pt>
                <c:pt idx="132">
                  <c:v>18.8</c:v>
                </c:pt>
                <c:pt idx="133">
                  <c:v>19.2</c:v>
                </c:pt>
                <c:pt idx="134">
                  <c:v>19.6</c:v>
                </c:pt>
                <c:pt idx="135">
                  <c:v>20.0</c:v>
                </c:pt>
                <c:pt idx="136">
                  <c:v>20.4</c:v>
                </c:pt>
                <c:pt idx="137">
                  <c:v>20.8</c:v>
                </c:pt>
                <c:pt idx="138">
                  <c:v>21.2</c:v>
                </c:pt>
                <c:pt idx="139">
                  <c:v>21.6</c:v>
                </c:pt>
                <c:pt idx="140">
                  <c:v>22.0</c:v>
                </c:pt>
                <c:pt idx="141">
                  <c:v>22.4</c:v>
                </c:pt>
                <c:pt idx="142">
                  <c:v>22.8</c:v>
                </c:pt>
                <c:pt idx="143">
                  <c:v>23.2</c:v>
                </c:pt>
                <c:pt idx="144">
                  <c:v>23.6</c:v>
                </c:pt>
                <c:pt idx="145">
                  <c:v>24.0</c:v>
                </c:pt>
              </c:numCache>
            </c:numRef>
          </c:xVal>
          <c:yVal>
            <c:numRef>
              <c:f>Sheet1!$B$606:$B$751</c:f>
              <c:numCache>
                <c:formatCode>General</c:formatCode>
                <c:ptCount val="146"/>
                <c:pt idx="0">
                  <c:v>0.0029238</c:v>
                </c:pt>
                <c:pt idx="1">
                  <c:v>0.0068435</c:v>
                </c:pt>
                <c:pt idx="2">
                  <c:v>0.016259</c:v>
                </c:pt>
                <c:pt idx="3">
                  <c:v>0.39921</c:v>
                </c:pt>
                <c:pt idx="4">
                  <c:v>0.27519</c:v>
                </c:pt>
                <c:pt idx="5">
                  <c:v>0.20289</c:v>
                </c:pt>
                <c:pt idx="6">
                  <c:v>0.12714</c:v>
                </c:pt>
                <c:pt idx="7">
                  <c:v>0.099458</c:v>
                </c:pt>
                <c:pt idx="8">
                  <c:v>0.10403</c:v>
                </c:pt>
                <c:pt idx="9">
                  <c:v>0.15987</c:v>
                </c:pt>
                <c:pt idx="10">
                  <c:v>0.23638</c:v>
                </c:pt>
                <c:pt idx="11">
                  <c:v>0.40673</c:v>
                </c:pt>
                <c:pt idx="12">
                  <c:v>0.87285</c:v>
                </c:pt>
                <c:pt idx="13">
                  <c:v>2.6909</c:v>
                </c:pt>
                <c:pt idx="14">
                  <c:v>7.4014</c:v>
                </c:pt>
                <c:pt idx="15">
                  <c:v>2.6137</c:v>
                </c:pt>
                <c:pt idx="16">
                  <c:v>0.94995</c:v>
                </c:pt>
                <c:pt idx="17">
                  <c:v>0.47863</c:v>
                </c:pt>
                <c:pt idx="18">
                  <c:v>0.29344</c:v>
                </c:pt>
                <c:pt idx="19">
                  <c:v>0.20098</c:v>
                </c:pt>
                <c:pt idx="20">
                  <c:v>0.07812</c:v>
                </c:pt>
                <c:pt idx="21">
                  <c:v>0.047693</c:v>
                </c:pt>
                <c:pt idx="22">
                  <c:v>0.038338</c:v>
                </c:pt>
                <c:pt idx="23">
                  <c:v>0.040597</c:v>
                </c:pt>
                <c:pt idx="24">
                  <c:v>0.05943</c:v>
                </c:pt>
                <c:pt idx="25">
                  <c:v>0.13186</c:v>
                </c:pt>
                <c:pt idx="26">
                  <c:v>0.17595</c:v>
                </c:pt>
                <c:pt idx="27">
                  <c:v>0.24574</c:v>
                </c:pt>
                <c:pt idx="28">
                  <c:v>0.36588</c:v>
                </c:pt>
                <c:pt idx="29">
                  <c:v>0.5908</c:v>
                </c:pt>
                <c:pt idx="30">
                  <c:v>1.0475</c:v>
                </c:pt>
                <c:pt idx="31">
                  <c:v>1.9426</c:v>
                </c:pt>
                <c:pt idx="32">
                  <c:v>2.8834</c:v>
                </c:pt>
                <c:pt idx="33">
                  <c:v>2.3294</c:v>
                </c:pt>
                <c:pt idx="34">
                  <c:v>1.3523</c:v>
                </c:pt>
                <c:pt idx="35">
                  <c:v>0.79579</c:v>
                </c:pt>
                <c:pt idx="36">
                  <c:v>0.51346</c:v>
                </c:pt>
                <c:pt idx="37">
                  <c:v>0.35857</c:v>
                </c:pt>
                <c:pt idx="38">
                  <c:v>0.2676</c:v>
                </c:pt>
                <c:pt idx="39">
                  <c:v>0.14145</c:v>
                </c:pt>
                <c:pt idx="40">
                  <c:v>0.087431</c:v>
                </c:pt>
                <c:pt idx="41">
                  <c:v>0.07145</c:v>
                </c:pt>
                <c:pt idx="42">
                  <c:v>0.076405</c:v>
                </c:pt>
                <c:pt idx="43">
                  <c:v>0.10839</c:v>
                </c:pt>
                <c:pt idx="44">
                  <c:v>0.22249</c:v>
                </c:pt>
                <c:pt idx="45">
                  <c:v>0.28742</c:v>
                </c:pt>
                <c:pt idx="46">
                  <c:v>0.38712</c:v>
                </c:pt>
                <c:pt idx="47">
                  <c:v>0.54357</c:v>
                </c:pt>
                <c:pt idx="48">
                  <c:v>0.78893</c:v>
                </c:pt>
                <c:pt idx="49">
                  <c:v>1.176</c:v>
                </c:pt>
                <c:pt idx="50">
                  <c:v>1.6516</c:v>
                </c:pt>
                <c:pt idx="51">
                  <c:v>1.8869</c:v>
                </c:pt>
                <c:pt idx="52">
                  <c:v>1.6364</c:v>
                </c:pt>
                <c:pt idx="53">
                  <c:v>1.1974</c:v>
                </c:pt>
                <c:pt idx="54">
                  <c:v>0.83269</c:v>
                </c:pt>
                <c:pt idx="55">
                  <c:v>0.59773</c:v>
                </c:pt>
                <c:pt idx="56">
                  <c:v>0.4444</c:v>
                </c:pt>
                <c:pt idx="57">
                  <c:v>0.34446</c:v>
                </c:pt>
                <c:pt idx="58">
                  <c:v>0.19321</c:v>
                </c:pt>
                <c:pt idx="59">
                  <c:v>0.12381</c:v>
                </c:pt>
                <c:pt idx="60">
                  <c:v>0.10406</c:v>
                </c:pt>
                <c:pt idx="61">
                  <c:v>0.11143</c:v>
                </c:pt>
                <c:pt idx="62">
                  <c:v>0.15637</c:v>
                </c:pt>
                <c:pt idx="63">
                  <c:v>0.30755</c:v>
                </c:pt>
                <c:pt idx="64">
                  <c:v>0.38598</c:v>
                </c:pt>
                <c:pt idx="65">
                  <c:v>0.49568</c:v>
                </c:pt>
                <c:pt idx="66">
                  <c:v>0.65265</c:v>
                </c:pt>
                <c:pt idx="67">
                  <c:v>0.86814</c:v>
                </c:pt>
                <c:pt idx="68">
                  <c:v>1.1297</c:v>
                </c:pt>
                <c:pt idx="69">
                  <c:v>1.3567</c:v>
                </c:pt>
                <c:pt idx="70">
                  <c:v>1.401</c:v>
                </c:pt>
                <c:pt idx="71">
                  <c:v>1.2539</c:v>
                </c:pt>
                <c:pt idx="72">
                  <c:v>1.012</c:v>
                </c:pt>
                <c:pt idx="73">
                  <c:v>0.79194</c:v>
                </c:pt>
                <c:pt idx="74">
                  <c:v>0.61665</c:v>
                </c:pt>
                <c:pt idx="75">
                  <c:v>0.48684</c:v>
                </c:pt>
                <c:pt idx="76">
                  <c:v>0.39263</c:v>
                </c:pt>
                <c:pt idx="77">
                  <c:v>0.23703</c:v>
                </c:pt>
                <c:pt idx="78">
                  <c:v>0.15775</c:v>
                </c:pt>
                <c:pt idx="79">
                  <c:v>0.1349</c:v>
                </c:pt>
                <c:pt idx="80">
                  <c:v>0.1457</c:v>
                </c:pt>
                <c:pt idx="81">
                  <c:v>0.20227</c:v>
                </c:pt>
                <c:pt idx="82">
                  <c:v>0.3718</c:v>
                </c:pt>
                <c:pt idx="83">
                  <c:v>0.45102</c:v>
                </c:pt>
                <c:pt idx="84">
                  <c:v>0.56349</c:v>
                </c:pt>
                <c:pt idx="85">
                  <c:v>0.70054</c:v>
                </c:pt>
                <c:pt idx="86">
                  <c:v>0.85705</c:v>
                </c:pt>
                <c:pt idx="87">
                  <c:v>1.0124</c:v>
                </c:pt>
                <c:pt idx="88">
                  <c:v>1.1173</c:v>
                </c:pt>
                <c:pt idx="89">
                  <c:v>1.1232</c:v>
                </c:pt>
                <c:pt idx="90">
                  <c:v>1.0285</c:v>
                </c:pt>
                <c:pt idx="91">
                  <c:v>0.88238</c:v>
                </c:pt>
                <c:pt idx="92">
                  <c:v>0.72937</c:v>
                </c:pt>
                <c:pt idx="93">
                  <c:v>0.59735</c:v>
                </c:pt>
                <c:pt idx="94">
                  <c:v>0.49693</c:v>
                </c:pt>
                <c:pt idx="95">
                  <c:v>0.41352</c:v>
                </c:pt>
                <c:pt idx="96">
                  <c:v>0.2679</c:v>
                </c:pt>
                <c:pt idx="97">
                  <c:v>0.18706</c:v>
                </c:pt>
                <c:pt idx="98">
                  <c:v>0.1641</c:v>
                </c:pt>
                <c:pt idx="99">
                  <c:v>0.17824</c:v>
                </c:pt>
                <c:pt idx="100">
                  <c:v>0.24572</c:v>
                </c:pt>
                <c:pt idx="101">
                  <c:v>0.42104</c:v>
                </c:pt>
                <c:pt idx="102">
                  <c:v>0.49707</c:v>
                </c:pt>
                <c:pt idx="103">
                  <c:v>0.59762</c:v>
                </c:pt>
                <c:pt idx="104">
                  <c:v>0.70092</c:v>
                </c:pt>
                <c:pt idx="105">
                  <c:v>0.81596</c:v>
                </c:pt>
                <c:pt idx="106">
                  <c:v>0.90723</c:v>
                </c:pt>
                <c:pt idx="107">
                  <c:v>0.9557</c:v>
                </c:pt>
                <c:pt idx="108">
                  <c:v>0.92507</c:v>
                </c:pt>
                <c:pt idx="109">
                  <c:v>0.25021</c:v>
                </c:pt>
                <c:pt idx="110">
                  <c:v>0.21182</c:v>
                </c:pt>
                <c:pt idx="111">
                  <c:v>0.19435</c:v>
                </c:pt>
                <c:pt idx="112">
                  <c:v>0.18796</c:v>
                </c:pt>
                <c:pt idx="113">
                  <c:v>0.19386</c:v>
                </c:pt>
                <c:pt idx="114">
                  <c:v>0.20109</c:v>
                </c:pt>
                <c:pt idx="115">
                  <c:v>0.20655</c:v>
                </c:pt>
                <c:pt idx="116">
                  <c:v>0.21206</c:v>
                </c:pt>
                <c:pt idx="117">
                  <c:v>0.21629</c:v>
                </c:pt>
                <c:pt idx="118">
                  <c:v>0.21797</c:v>
                </c:pt>
                <c:pt idx="119">
                  <c:v>0.2208</c:v>
                </c:pt>
                <c:pt idx="120">
                  <c:v>0.2227</c:v>
                </c:pt>
                <c:pt idx="121">
                  <c:v>0.2246</c:v>
                </c:pt>
                <c:pt idx="122">
                  <c:v>0.22618</c:v>
                </c:pt>
                <c:pt idx="123">
                  <c:v>0.22705</c:v>
                </c:pt>
                <c:pt idx="124">
                  <c:v>0.22748</c:v>
                </c:pt>
                <c:pt idx="125">
                  <c:v>0.2288</c:v>
                </c:pt>
                <c:pt idx="126">
                  <c:v>0.2269</c:v>
                </c:pt>
                <c:pt idx="127">
                  <c:v>0.22685</c:v>
                </c:pt>
                <c:pt idx="128">
                  <c:v>0.22708</c:v>
                </c:pt>
                <c:pt idx="129">
                  <c:v>0.22721</c:v>
                </c:pt>
                <c:pt idx="130">
                  <c:v>0.22725</c:v>
                </c:pt>
                <c:pt idx="131">
                  <c:v>0.22703</c:v>
                </c:pt>
                <c:pt idx="132">
                  <c:v>0.22785</c:v>
                </c:pt>
                <c:pt idx="133">
                  <c:v>0.22713</c:v>
                </c:pt>
                <c:pt idx="134">
                  <c:v>0.22736</c:v>
                </c:pt>
                <c:pt idx="135">
                  <c:v>0.22745</c:v>
                </c:pt>
                <c:pt idx="136">
                  <c:v>0.22923</c:v>
                </c:pt>
                <c:pt idx="137">
                  <c:v>0.22929</c:v>
                </c:pt>
                <c:pt idx="138">
                  <c:v>0.22721</c:v>
                </c:pt>
                <c:pt idx="139">
                  <c:v>0.22694</c:v>
                </c:pt>
                <c:pt idx="140">
                  <c:v>0.22744</c:v>
                </c:pt>
                <c:pt idx="141">
                  <c:v>0.22871</c:v>
                </c:pt>
                <c:pt idx="142">
                  <c:v>0.22729</c:v>
                </c:pt>
                <c:pt idx="143">
                  <c:v>0.22864</c:v>
                </c:pt>
                <c:pt idx="144">
                  <c:v>0.22935</c:v>
                </c:pt>
                <c:pt idx="145">
                  <c:v>0.22925</c:v>
                </c:pt>
              </c:numCache>
            </c:numRef>
          </c:yVal>
          <c:smooth val="0"/>
        </c:ser>
        <c:ser>
          <c:idx val="3"/>
          <c:order val="3"/>
          <c:tx>
            <c:strRef>
              <c:f>Sheet1!$B$753</c:f>
              <c:strCache>
                <c:ptCount val="1"/>
                <c:pt idx="0">
                  <c:v>SiO₂ removed</c:v>
                </c:pt>
              </c:strCache>
            </c:strRef>
          </c:tx>
          <c:spPr>
            <a:ln w="12700">
              <a:solidFill>
                <a:srgbClr val="EB6834"/>
              </a:solidFill>
            </a:ln>
          </c:spPr>
          <c:marker>
            <c:symbol val="circle"/>
            <c:size val="3"/>
            <c:spPr>
              <a:solidFill>
                <a:srgbClr val="EB6834"/>
              </a:solidFill>
              <a:ln>
                <a:solidFill>
                  <a:srgbClr val="EB6834"/>
                </a:solidFill>
              </a:ln>
            </c:spPr>
          </c:marker>
          <c:xVal>
            <c:numRef>
              <c:f>Sheet1!$A$754:$A$857</c:f>
              <c:numCache>
                <c:formatCode>General</c:formatCode>
                <c:ptCount val="104"/>
                <c:pt idx="0">
                  <c:v>4.0</c:v>
                </c:pt>
                <c:pt idx="1">
                  <c:v>4.6</c:v>
                </c:pt>
                <c:pt idx="2">
                  <c:v>4.85</c:v>
                </c:pt>
                <c:pt idx="3">
                  <c:v>5.05</c:v>
                </c:pt>
                <c:pt idx="4">
                  <c:v>5.4</c:v>
                </c:pt>
                <c:pt idx="5">
                  <c:v>6.2</c:v>
                </c:pt>
                <c:pt idx="6">
                  <c:v>6.55</c:v>
                </c:pt>
                <c:pt idx="7">
                  <c:v>6.75</c:v>
                </c:pt>
                <c:pt idx="8">
                  <c:v>6.95</c:v>
                </c:pt>
                <c:pt idx="9">
                  <c:v>7.4</c:v>
                </c:pt>
                <c:pt idx="10">
                  <c:v>8.2</c:v>
                </c:pt>
                <c:pt idx="11">
                  <c:v>8.4</c:v>
                </c:pt>
                <c:pt idx="12">
                  <c:v>8.6</c:v>
                </c:pt>
                <c:pt idx="13">
                  <c:v>8.8</c:v>
                </c:pt>
                <c:pt idx="14">
                  <c:v>9.4</c:v>
                </c:pt>
                <c:pt idx="15">
                  <c:v>10.05</c:v>
                </c:pt>
                <c:pt idx="16">
                  <c:v>10.25</c:v>
                </c:pt>
                <c:pt idx="17">
                  <c:v>10.45</c:v>
                </c:pt>
                <c:pt idx="18">
                  <c:v>10.65</c:v>
                </c:pt>
                <c:pt idx="19">
                  <c:v>11.4</c:v>
                </c:pt>
                <c:pt idx="20">
                  <c:v>11.9</c:v>
                </c:pt>
                <c:pt idx="21">
                  <c:v>12.1</c:v>
                </c:pt>
                <c:pt idx="22">
                  <c:v>12.3</c:v>
                </c:pt>
                <c:pt idx="23">
                  <c:v>12.6</c:v>
                </c:pt>
                <c:pt idx="24">
                  <c:v>13.4</c:v>
                </c:pt>
                <c:pt idx="25">
                  <c:v>13.75</c:v>
                </c:pt>
                <c:pt idx="26">
                  <c:v>13.95</c:v>
                </c:pt>
                <c:pt idx="27">
                  <c:v>14.2</c:v>
                </c:pt>
                <c:pt idx="28">
                  <c:v>14.4</c:v>
                </c:pt>
                <c:pt idx="29">
                  <c:v>14.6</c:v>
                </c:pt>
                <c:pt idx="30">
                  <c:v>14.8</c:v>
                </c:pt>
                <c:pt idx="31">
                  <c:v>15.0</c:v>
                </c:pt>
                <c:pt idx="32">
                  <c:v>15.2</c:v>
                </c:pt>
                <c:pt idx="33">
                  <c:v>15.4</c:v>
                </c:pt>
                <c:pt idx="34">
                  <c:v>15.6</c:v>
                </c:pt>
                <c:pt idx="35">
                  <c:v>15.8</c:v>
                </c:pt>
                <c:pt idx="36">
                  <c:v>16.0</c:v>
                </c:pt>
                <c:pt idx="37">
                  <c:v>16.2</c:v>
                </c:pt>
                <c:pt idx="38">
                  <c:v>16.4</c:v>
                </c:pt>
                <c:pt idx="39">
                  <c:v>16.6</c:v>
                </c:pt>
                <c:pt idx="40">
                  <c:v>16.8</c:v>
                </c:pt>
                <c:pt idx="41">
                  <c:v>17.0</c:v>
                </c:pt>
                <c:pt idx="42">
                  <c:v>17.2</c:v>
                </c:pt>
                <c:pt idx="43">
                  <c:v>17.4</c:v>
                </c:pt>
                <c:pt idx="44">
                  <c:v>17.6</c:v>
                </c:pt>
                <c:pt idx="45">
                  <c:v>17.8</c:v>
                </c:pt>
                <c:pt idx="46">
                  <c:v>18.0</c:v>
                </c:pt>
                <c:pt idx="47">
                  <c:v>18.2</c:v>
                </c:pt>
                <c:pt idx="48">
                  <c:v>18.4</c:v>
                </c:pt>
                <c:pt idx="49">
                  <c:v>18.6</c:v>
                </c:pt>
                <c:pt idx="50">
                  <c:v>18.8</c:v>
                </c:pt>
                <c:pt idx="51">
                  <c:v>19.0</c:v>
                </c:pt>
                <c:pt idx="52">
                  <c:v>19.2</c:v>
                </c:pt>
                <c:pt idx="53">
                  <c:v>19.4</c:v>
                </c:pt>
                <c:pt idx="54">
                  <c:v>19.6</c:v>
                </c:pt>
                <c:pt idx="55">
                  <c:v>19.8</c:v>
                </c:pt>
                <c:pt idx="56">
                  <c:v>20.0</c:v>
                </c:pt>
                <c:pt idx="57">
                  <c:v>20.2</c:v>
                </c:pt>
                <c:pt idx="58">
                  <c:v>20.4</c:v>
                </c:pt>
                <c:pt idx="59">
                  <c:v>20.6</c:v>
                </c:pt>
                <c:pt idx="60">
                  <c:v>20.8</c:v>
                </c:pt>
                <c:pt idx="61">
                  <c:v>21.0</c:v>
                </c:pt>
                <c:pt idx="62">
                  <c:v>21.2</c:v>
                </c:pt>
                <c:pt idx="63">
                  <c:v>21.4</c:v>
                </c:pt>
                <c:pt idx="64">
                  <c:v>21.6</c:v>
                </c:pt>
                <c:pt idx="65">
                  <c:v>21.8</c:v>
                </c:pt>
                <c:pt idx="66">
                  <c:v>22.0</c:v>
                </c:pt>
                <c:pt idx="67">
                  <c:v>22.2</c:v>
                </c:pt>
                <c:pt idx="68">
                  <c:v>22.4</c:v>
                </c:pt>
                <c:pt idx="69">
                  <c:v>22.6</c:v>
                </c:pt>
                <c:pt idx="70">
                  <c:v>22.8</c:v>
                </c:pt>
                <c:pt idx="71">
                  <c:v>23.0</c:v>
                </c:pt>
                <c:pt idx="72">
                  <c:v>23.2</c:v>
                </c:pt>
                <c:pt idx="73">
                  <c:v>23.4</c:v>
                </c:pt>
                <c:pt idx="74">
                  <c:v>23.6</c:v>
                </c:pt>
                <c:pt idx="75">
                  <c:v>23.8</c:v>
                </c:pt>
                <c:pt idx="76">
                  <c:v>24.0</c:v>
                </c:pt>
                <c:pt idx="77">
                  <c:v>24.4</c:v>
                </c:pt>
                <c:pt idx="78">
                  <c:v>24.8</c:v>
                </c:pt>
                <c:pt idx="79">
                  <c:v>25.2</c:v>
                </c:pt>
                <c:pt idx="80">
                  <c:v>25.6</c:v>
                </c:pt>
                <c:pt idx="81">
                  <c:v>26.0</c:v>
                </c:pt>
                <c:pt idx="82">
                  <c:v>26.4</c:v>
                </c:pt>
                <c:pt idx="83">
                  <c:v>26.8</c:v>
                </c:pt>
                <c:pt idx="84">
                  <c:v>27.2</c:v>
                </c:pt>
                <c:pt idx="85">
                  <c:v>27.6</c:v>
                </c:pt>
                <c:pt idx="86">
                  <c:v>28.0</c:v>
                </c:pt>
                <c:pt idx="87">
                  <c:v>28.4</c:v>
                </c:pt>
                <c:pt idx="88">
                  <c:v>28.8</c:v>
                </c:pt>
                <c:pt idx="89">
                  <c:v>29.2</c:v>
                </c:pt>
                <c:pt idx="90">
                  <c:v>29.6</c:v>
                </c:pt>
                <c:pt idx="91">
                  <c:v>30.0</c:v>
                </c:pt>
                <c:pt idx="92">
                  <c:v>31.6</c:v>
                </c:pt>
                <c:pt idx="93">
                  <c:v>33.2</c:v>
                </c:pt>
                <c:pt idx="94">
                  <c:v>34.8</c:v>
                </c:pt>
                <c:pt idx="95">
                  <c:v>36.4</c:v>
                </c:pt>
                <c:pt idx="96">
                  <c:v>38.0</c:v>
                </c:pt>
                <c:pt idx="97">
                  <c:v>39.6</c:v>
                </c:pt>
                <c:pt idx="98">
                  <c:v>41.2</c:v>
                </c:pt>
                <c:pt idx="99">
                  <c:v>42.8</c:v>
                </c:pt>
                <c:pt idx="100">
                  <c:v>44.4</c:v>
                </c:pt>
                <c:pt idx="101">
                  <c:v>46.0</c:v>
                </c:pt>
                <c:pt idx="102">
                  <c:v>47.6</c:v>
                </c:pt>
                <c:pt idx="103">
                  <c:v>49.2</c:v>
                </c:pt>
              </c:numCache>
            </c:numRef>
          </c:xVal>
          <c:yVal>
            <c:numRef>
              <c:f>Sheet1!$B$754:$B$857</c:f>
              <c:numCache>
                <c:formatCode>General</c:formatCode>
                <c:ptCount val="104"/>
                <c:pt idx="0">
                  <c:v>0.00293</c:v>
                </c:pt>
                <c:pt idx="1">
                  <c:v>0.10403</c:v>
                </c:pt>
                <c:pt idx="2">
                  <c:v>0.87282</c:v>
                </c:pt>
                <c:pt idx="3">
                  <c:v>0.94988</c:v>
                </c:pt>
                <c:pt idx="4">
                  <c:v>0.07812</c:v>
                </c:pt>
                <c:pt idx="5">
                  <c:v>0.05943</c:v>
                </c:pt>
                <c:pt idx="6">
                  <c:v>0.36584</c:v>
                </c:pt>
                <c:pt idx="7">
                  <c:v>2.88375</c:v>
                </c:pt>
                <c:pt idx="8">
                  <c:v>0.51328</c:v>
                </c:pt>
                <c:pt idx="9">
                  <c:v>0.08744</c:v>
                </c:pt>
                <c:pt idx="10">
                  <c:v>0.2226</c:v>
                </c:pt>
                <c:pt idx="11">
                  <c:v>0.78886</c:v>
                </c:pt>
                <c:pt idx="12">
                  <c:v>1.63663</c:v>
                </c:pt>
                <c:pt idx="13">
                  <c:v>0.4444</c:v>
                </c:pt>
                <c:pt idx="14">
                  <c:v>0.10409</c:v>
                </c:pt>
                <c:pt idx="15">
                  <c:v>0.38698</c:v>
                </c:pt>
                <c:pt idx="16">
                  <c:v>1.13086</c:v>
                </c:pt>
                <c:pt idx="17">
                  <c:v>1.01059</c:v>
                </c:pt>
                <c:pt idx="18">
                  <c:v>0.39266</c:v>
                </c:pt>
                <c:pt idx="19">
                  <c:v>0.14579</c:v>
                </c:pt>
                <c:pt idx="20">
                  <c:v>0.56211</c:v>
                </c:pt>
                <c:pt idx="21">
                  <c:v>1.11867</c:v>
                </c:pt>
                <c:pt idx="22">
                  <c:v>0.73079</c:v>
                </c:pt>
                <c:pt idx="23">
                  <c:v>0.26777</c:v>
                </c:pt>
                <c:pt idx="24">
                  <c:v>0.24233</c:v>
                </c:pt>
                <c:pt idx="25">
                  <c:v>0.69835</c:v>
                </c:pt>
                <c:pt idx="26">
                  <c:v>0.94475</c:v>
                </c:pt>
                <c:pt idx="27">
                  <c:v>0.49783</c:v>
                </c:pt>
                <c:pt idx="28">
                  <c:v>0.29644</c:v>
                </c:pt>
                <c:pt idx="29">
                  <c:v>0.21473</c:v>
                </c:pt>
                <c:pt idx="30">
                  <c:v>0.19168</c:v>
                </c:pt>
                <c:pt idx="31">
                  <c:v>0.20827</c:v>
                </c:pt>
                <c:pt idx="32">
                  <c:v>0.27696</c:v>
                </c:pt>
                <c:pt idx="33">
                  <c:v>0.44949</c:v>
                </c:pt>
                <c:pt idx="34">
                  <c:v>0.75057</c:v>
                </c:pt>
                <c:pt idx="35">
                  <c:v>0.77774</c:v>
                </c:pt>
                <c:pt idx="36">
                  <c:v>0.4926</c:v>
                </c:pt>
                <c:pt idx="37">
                  <c:v>0.31422</c:v>
                </c:pt>
                <c:pt idx="38">
                  <c:v>0.2395</c:v>
                </c:pt>
                <c:pt idx="39">
                  <c:v>0.2168</c:v>
                </c:pt>
                <c:pt idx="40">
                  <c:v>0.23568</c:v>
                </c:pt>
                <c:pt idx="41">
                  <c:v>0.30926</c:v>
                </c:pt>
                <c:pt idx="42">
                  <c:v>0.4752</c:v>
                </c:pt>
                <c:pt idx="43">
                  <c:v>0.70521</c:v>
                </c:pt>
                <c:pt idx="44">
                  <c:v>0.69898</c:v>
                </c:pt>
                <c:pt idx="45">
                  <c:v>0.48438</c:v>
                </c:pt>
                <c:pt idx="46">
                  <c:v>0.3311</c:v>
                </c:pt>
                <c:pt idx="47">
                  <c:v>0.26004</c:v>
                </c:pt>
                <c:pt idx="48">
                  <c:v>0.23998</c:v>
                </c:pt>
                <c:pt idx="49">
                  <c:v>0.26133</c:v>
                </c:pt>
                <c:pt idx="50">
                  <c:v>0.33659</c:v>
                </c:pt>
                <c:pt idx="51">
                  <c:v>0.48376</c:v>
                </c:pt>
                <c:pt idx="52">
                  <c:v>0.65369</c:v>
                </c:pt>
                <c:pt idx="53">
                  <c:v>0.6436</c:v>
                </c:pt>
                <c:pt idx="54">
                  <c:v>0.47364</c:v>
                </c:pt>
                <c:pt idx="55">
                  <c:v>0.34256</c:v>
                </c:pt>
                <c:pt idx="56">
                  <c:v>0.27863</c:v>
                </c:pt>
                <c:pt idx="57">
                  <c:v>0.26097</c:v>
                </c:pt>
                <c:pt idx="58">
                  <c:v>0.28476</c:v>
                </c:pt>
                <c:pt idx="59">
                  <c:v>0.35912</c:v>
                </c:pt>
                <c:pt idx="60">
                  <c:v>0.4917</c:v>
                </c:pt>
                <c:pt idx="61">
                  <c:v>0.61987</c:v>
                </c:pt>
                <c:pt idx="62">
                  <c:v>0.59409</c:v>
                </c:pt>
                <c:pt idx="63">
                  <c:v>0.45465</c:v>
                </c:pt>
                <c:pt idx="64">
                  <c:v>0.34524</c:v>
                </c:pt>
                <c:pt idx="65">
                  <c:v>0.2923</c:v>
                </c:pt>
                <c:pt idx="66">
                  <c:v>0.28044</c:v>
                </c:pt>
                <c:pt idx="67">
                  <c:v>0.30603</c:v>
                </c:pt>
                <c:pt idx="68">
                  <c:v>0.37499</c:v>
                </c:pt>
                <c:pt idx="69">
                  <c:v>0.49086</c:v>
                </c:pt>
                <c:pt idx="70">
                  <c:v>0.58893</c:v>
                </c:pt>
                <c:pt idx="71">
                  <c:v>0.55594</c:v>
                </c:pt>
                <c:pt idx="72">
                  <c:v>0.43861</c:v>
                </c:pt>
                <c:pt idx="73">
                  <c:v>0.35916</c:v>
                </c:pt>
                <c:pt idx="74">
                  <c:v>0.30893</c:v>
                </c:pt>
                <c:pt idx="75">
                  <c:v>0.29903</c:v>
                </c:pt>
                <c:pt idx="76">
                  <c:v>0.32687</c:v>
                </c:pt>
                <c:pt idx="77">
                  <c:v>0.48473</c:v>
                </c:pt>
                <c:pt idx="78">
                  <c:v>0.53099</c:v>
                </c:pt>
                <c:pt idx="79">
                  <c:v>0.36217</c:v>
                </c:pt>
                <c:pt idx="80">
                  <c:v>0.31455</c:v>
                </c:pt>
                <c:pt idx="81">
                  <c:v>0.40063</c:v>
                </c:pt>
                <c:pt idx="82">
                  <c:v>0.53598</c:v>
                </c:pt>
                <c:pt idx="83">
                  <c:v>0.42998</c:v>
                </c:pt>
                <c:pt idx="84">
                  <c:v>0.33117</c:v>
                </c:pt>
                <c:pt idx="85">
                  <c:v>0.35774</c:v>
                </c:pt>
                <c:pt idx="86">
                  <c:v>0.48428</c:v>
                </c:pt>
                <c:pt idx="87">
                  <c:v>0.49128</c:v>
                </c:pt>
                <c:pt idx="88">
                  <c:v>0.36768</c:v>
                </c:pt>
                <c:pt idx="89">
                  <c:v>0.34201</c:v>
                </c:pt>
                <c:pt idx="90">
                  <c:v>0.42291</c:v>
                </c:pt>
                <c:pt idx="91">
                  <c:v>0.50012</c:v>
                </c:pt>
                <c:pt idx="92">
                  <c:v>0.46903</c:v>
                </c:pt>
                <c:pt idx="93">
                  <c:v>0.43074</c:v>
                </c:pt>
                <c:pt idx="94">
                  <c:v>0.39474</c:v>
                </c:pt>
                <c:pt idx="95">
                  <c:v>0.37977</c:v>
                </c:pt>
                <c:pt idx="96">
                  <c:v>0.37759</c:v>
                </c:pt>
                <c:pt idx="97">
                  <c:v>0.39124</c:v>
                </c:pt>
                <c:pt idx="98">
                  <c:v>0.40753</c:v>
                </c:pt>
                <c:pt idx="99">
                  <c:v>0.42402</c:v>
                </c:pt>
                <c:pt idx="100">
                  <c:v>0.43667</c:v>
                </c:pt>
                <c:pt idx="101">
                  <c:v>0.43397</c:v>
                </c:pt>
                <c:pt idx="102">
                  <c:v>0.42638</c:v>
                </c:pt>
                <c:pt idx="103">
                  <c:v>0.41609</c:v>
                </c:pt>
              </c:numCache>
            </c:numRef>
          </c:yVal>
          <c:smooth val="0"/>
        </c:ser>
        <c:ser>
          <c:idx val="4"/>
          <c:order val="4"/>
          <c:tx>
            <c:strRef>
              <c:f>Sheet1!$B$859</c:f>
              <c:strCache>
                <c:ptCount val="1"/>
                <c:pt idx="0">
                  <c:v>IL∞ = 0.415 dB/cm</c:v>
                </c:pt>
              </c:strCache>
            </c:strRef>
          </c:tx>
          <c:spPr>
            <a:ln w="12700">
              <a:solidFill>
                <a:srgbClr val="EB6834"/>
              </a:solidFill>
              <a:prstDash val="dash"/>
            </a:ln>
          </c:spPr>
          <c:marker>
            <c:symbol val="none"/>
          </c:marker>
          <c:xVal>
            <c:numRef>
              <c:f>Sheet1!$A$860:$A$861</c:f>
              <c:numCache>
                <c:formatCode>General</c:formatCode>
                <c:ptCount val="2"/>
                <c:pt idx="0">
                  <c:v>4.2</c:v>
                </c:pt>
                <c:pt idx="1">
                  <c:v>50</c:v>
                </c:pt>
              </c:numCache>
            </c:numRef>
          </c:xVal>
          <c:yVal>
            <c:numRef>
              <c:f>Sheet1!$B$860:$B$861</c:f>
              <c:numCache>
                <c:formatCode>General</c:formatCode>
                <c:ptCount val="2"/>
                <c:pt idx="0">
                  <c:v>0.4148</c:v>
                </c:pt>
                <c:pt idx="1">
                  <c:v>0.4148</c:v>
                </c:pt>
              </c:numCache>
            </c:numRef>
          </c:yVal>
          <c:smooth val="0"/>
        </c:ser>
        <c:ser>
          <c:idx val="5"/>
          <c:order val="5"/>
          <c:tx>
            <c:strRef>
              <c:f>Sheet1!$B$863</c:f>
              <c:strCache>
                <c:ptCount val="1"/>
                <c:pt idx="0">
                  <c:v>_v14.0</c:v>
                </c:pt>
              </c:strCache>
            </c:strRef>
          </c:tx>
          <c:spPr>
            <a:ln w="12700">
              <a:solidFill>
                <a:srgbClr val="2A78D6"/>
              </a:solidFill>
              <a:prstDash val="dash"/>
            </a:ln>
          </c:spPr>
          <c:marker>
            <c:symbol val="none"/>
          </c:marker>
          <c:xVal>
            <c:numRef>
              <c:f>Sheet1!$A$864:$A$865</c:f>
              <c:numCache>
                <c:formatCode>General</c:formatCode>
                <c:ptCount val="2"/>
                <c:pt idx="0">
                  <c:v>14.0</c:v>
                </c:pt>
                <c:pt idx="1">
                  <c:v>14.0</c:v>
                </c:pt>
              </c:numCache>
            </c:numRef>
          </c:xVal>
          <c:yVal>
            <c:numRef>
              <c:f>Sheet1!$B$864:$B$865</c:f>
              <c:numCache>
                <c:formatCode>General</c:formatCode>
                <c:ptCount val="2"/>
                <c:pt idx="0">
                  <c:v>0.001</c:v>
                </c:pt>
                <c:pt idx="1">
                  <c:v>10</c:v>
                </c:pt>
              </c:numCache>
            </c:numRef>
          </c:yVal>
          <c:smooth val="0"/>
        </c:ser>
        <c:axId val="-2128940872"/>
        <c:axId val="-2129643912"/>
      </c:scatterChart>
      <c:valAx>
        <c:axId val="-2128940872"/>
        <c:scaling>
          <c:orientation val="minMax"/>
          <c:max val="50.0"/>
          <c:min val="2.0"/>
        </c:scaling>
        <c:delete val="0"/>
        <c:axPos val="b"/>
        <c:title>
          <c:tx>
            <c:rich>
              <a:bodyPr/>
              <a:lstStyle/>
              <a:p>
                <a:r>
                  <a:rPr sz="1100" b="0">
                    <a:latin typeface="Arial"/>
                  </a:rPr>
                  <a:t>slab_w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4.0"/>
      </c:valAx>
      <c:valAx>
        <c:axId val="-2129643912"/>
        <c:scaling>
          <c:logBase val="10"/>
          <c:orientation val="minMax"/>
          <c:max val="10.0"/>
          <c:min val="0.001"/>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egendEntry>
        <c:idx val="5"/>
        <c:delete val="1"/>
      </c:legendEntry>
      <c:legendEntry>
        <c:idx val="1"/>
        <c:delete val="1"/>
      </c:legendEntry>
      <c:legendEntry>
        <c:idx val="0"/>
        <c:delete val="1"/>
      </c:legendEntry>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4B894-4718-4C4D-B942-55BEF7CC3F90}"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BACFE-D1E4-4E9E-9D2A-07301B51FADE}" type="slidenum">
              <a:rPr lang="en-US" smtClean="0"/>
              <a:t>‹#›</a:t>
            </a:fld>
            <a:endParaRPr lang="en-US"/>
          </a:p>
        </p:txBody>
      </p:sp>
    </p:spTree>
    <p:extLst>
      <p:ext uri="{BB962C8B-B14F-4D97-AF65-F5344CB8AC3E}">
        <p14:creationId xmlns:p14="http://schemas.microsoft.com/office/powerpoint/2010/main" val="2653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Lisbon lifted electrodes show an insertion loss that oscillates with the lift position. We show where it comes from, how a 200 nm SiO2 buffer removes it, what it costs in Vpi*L, and the final buffer/gap choice.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Cross-sections drawn from the model polygons, same scale; dimensions in um. x_lift = distance from the rib centre to the point where the gold leaves the LN slab and climbs onto the SiO2 lift. Vpi*L: Cordoba 2.260, Lisbon 2.265 V*cm at the same 4.2 um gap. IL of Lisbon oscillates with a 0.9 um period around the Cordoba value; the steepest 100 nm step is 7.1 -&gt; 7.2 um (0.33 -&gt; 0.60 dB/cm), so the IL of a fabricated device is not predictable. Envelopes: the rib mode leaks into the wave guided under the gold, which bounces between two cut-off regions (gap edge and lift). The leakage rate is that of a source inside a Fabry-Perot cavity (Airy function), with round-trip factor rho = rho0*exp(-2*alpha*L), where alpha = Im(k_x) is the gold absorption of the lateral wave. Peaks (1+rho)/(1-rho) and dips (1-rho)/(1+rho) times IL_inf, so peak*dip = IL_inf^2 (measured sqrt(P*D) = 0.40-0.41 at every period) and both converge to IL_inf when the step is far. Free fit of all 46 points 6.5-11 um: IL_inf 0.412, rho0 0.91, 2*alpha 0.175 1/um, period 0.895 um. Independent 1D prediction from the complex index of the gold-guided wave (2.072 - 0.0095i) and n_rib 1.8834: 2*alpha 0.181 1/um, period 0.91 um. Data: results/lift_sweep.csv (beyond 11 um only sparse points, not shown).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Top left: |E|^2 at slab mid-height vs x. Dip (</a:t>
            </a:r>
            <a:r>
              <a:rPr dirty="0" err="1"/>
              <a:t>x_lift</a:t>
            </a:r>
            <a:r>
              <a:rPr dirty="0"/>
              <a:t> 6.9 um, IL 0.18) and peak (7.3 um, IL 0.88) show ripples between the gap edge and the lift; Cordoba shows a smooth, slowly decaying travelling wave. Right: field maps, same dB scale. Indices: 1D mode solve of each vertical stack (TM-like wave under the gold: Au / 275 nm LN slab / SiO2 BOX, n = 2.065-2.080 depending on the in-plane LN permittivity; gold-free slab with air or SiO2 on top: TE 1.70-1.80, TM 1.48-1.60). Rib mode: 2D FEM </a:t>
            </a:r>
            <a:r>
              <a:rPr dirty="0" err="1"/>
              <a:t>n_eff</a:t>
            </a:r>
            <a:r>
              <a:rPr dirty="0"/>
              <a:t> 1.8834. n &gt; </a:t>
            </a:r>
            <a:r>
              <a:rPr dirty="0" err="1"/>
              <a:t>n_rib</a:t>
            </a:r>
            <a:r>
              <a:rPr dirty="0"/>
              <a:t> alone gives lateral leakage (a travelling wave, as in Cordoba, where 30 um of gold absorbs it: round trip attenuation e^-5). The standing wave needs the second mirror: in Lisbon the slab beyond </a:t>
            </a:r>
            <a:r>
              <a:rPr dirty="0" err="1"/>
              <a:t>x_lift</a:t>
            </a:r>
            <a:r>
              <a:rPr dirty="0"/>
              <a:t> has no gold, so the wave is cut off there and reflected. The gap edge is also cut off, so the wave bounces between two mirrors. Interference: at the dip the reflected wave returns out of phase at the gap edge and suppresses the leakage (destructive); at the peak it returns in phase and enhances it (constructive). Fringe period inside the cavity and IL period vs </a:t>
            </a:r>
            <a:r>
              <a:rPr dirty="0" err="1"/>
              <a:t>x_lift</a:t>
            </a:r>
            <a:r>
              <a:rPr dirty="0"/>
              <a:t> are both pi/</a:t>
            </a:r>
            <a:r>
              <a:rPr dirty="0" err="1"/>
              <a:t>k_x</a:t>
            </a:r>
            <a:r>
              <a:rPr dirty="0"/>
              <a:t>: the cavity length fixes the order m, not the spacing (as in a Fabry-Perot, where resonances are spaced by half a wavelength in length).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top right: 1D effective index of the wave guided under the gold vs buffer thickness (mean of the two in-plane LN permittivities; cutoff 37-39 nm). Below the rib index the wave cannot be phase matched, so the rib mode cannot couple into a propagating wave: there is no standing wave to form, whatever x_lift. The 1D model matches the 2D simulations (period 0.90 vs 0.91 um at 0 nm; decay 28.98 vs 28.95 dB/um at 200 nm). Bottom: 200 nm buffer, 88 lift positions 3.8-30.1 um, IL 0.0480-0.0481 dB/cm. Chart shows up to 11 um; flat also at 12-30 um. Without buffer at gap 3.2 IL would be 4-30 dB/cm and still oscillating.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Left: </a:t>
            </a:r>
            <a:r>
              <a:rPr dirty="0" err="1"/>
              <a:t>Vpi</a:t>
            </a:r>
            <a:r>
              <a:rPr dirty="0"/>
              <a:t>*L vs buffer thickness at gap 3.2 um, </a:t>
            </a:r>
            <a:r>
              <a:rPr dirty="0" err="1"/>
              <a:t>x_lift</a:t>
            </a:r>
            <a:r>
              <a:rPr dirty="0"/>
              <a:t> 7 um (150, 250 nm added for this deck). 150 nm: </a:t>
            </a:r>
            <a:r>
              <a:rPr dirty="0" err="1"/>
              <a:t>Vpi</a:t>
            </a:r>
            <a:r>
              <a:rPr dirty="0"/>
              <a:t>*L 2.077 vs 2.148 V*cm (-3.3 %), IL 0.068 vs 0.048 dB/cm. Centre/right: gap scan at 200 nm (GAP_TOP fixed at 10 um). </a:t>
            </a:r>
            <a:r>
              <a:rPr dirty="0" err="1"/>
              <a:t>Vpi</a:t>
            </a:r>
            <a:r>
              <a:rPr dirty="0"/>
              <a:t>*L grows linearly with the gap, IL falls exponentially. Gap 3.4 um: </a:t>
            </a:r>
            <a:r>
              <a:rPr dirty="0" err="1"/>
              <a:t>Vpi</a:t>
            </a:r>
            <a:r>
              <a:rPr dirty="0"/>
              <a:t>*L 2.2707 V*cm, IL 0.0260 dB/cm, flat for </a:t>
            </a:r>
            <a:r>
              <a:rPr dirty="0" err="1"/>
              <a:t>x_lift</a:t>
            </a:r>
            <a:r>
              <a:rPr dirty="0"/>
              <a:t> 4.5-16 um (2.270-2.275 V*cm). On the 14.84 mm line with duty cycle 0.925: </a:t>
            </a:r>
            <a:r>
              <a:rPr dirty="0" err="1"/>
              <a:t>Vpi</a:t>
            </a:r>
            <a:r>
              <a:rPr dirty="0"/>
              <a:t> = 1.654 V. The 1.7 V limit allows </a:t>
            </a:r>
            <a:r>
              <a:rPr dirty="0" err="1"/>
              <a:t>Vpi</a:t>
            </a:r>
            <a:r>
              <a:rPr dirty="0"/>
              <a:t>*L up to 2.334 V*cm (gap about 3.5 um), so 3.4 um keeps about 0.05 V of margin. Gold loss over the line: 0.039 </a:t>
            </a:r>
            <a:r>
              <a:rPr dirty="0" err="1"/>
              <a:t>dB.</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Follow-up of the lifted-electrode study: does a full etch of the LN slab remove the standing wave, how does it compare with the standard lifted and the buffered designs, and why the ripple behaves the way it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Etched slab: the slab is removed outside slab_w; gold fills the etched zone under the lower blocks, SiO2 under the pads, air in the gap. The spacer variant puts a SiO2 block between the slab end and the gold.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regimes. (1) slab_w &lt; gap: no slab under the gold, no leak, IL ~0, but Vpi*L rises because the DC field crosses the air pocket. (2) slab ends in the gold: the gold-wrapped slab end is a mirror, ripples up to 7 dB/cm, first resonance at slab_w 4.95 um. (3) slab past the gold/SiO2 edge: identical to the standard lifted design; the cavity is clamped by x_lift. The orange curve uses a longer gold lower block (x_lift = 11 um) so the slab still ends in the gold up to slab_w 20: the ripple keeps decaying toward IL_inf. Check: at slab_w 8.6 / 10.4 / 12.2 the x_lift = 11 model gives the same IL as the nominal one within 0.2 %.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Slab in the gap: the field never reaches the gold. Slab in the gold: a standing wave between the gold inner edge and the slab end. Slab past the edge: the standing wave stops at x_lift; beyond it the slab is under SiO2 and the field decays evanescently, so the slab end is invisible.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gold the wave can only be absorbed or reflected: beta of the rib mode exceeds k0*n of every cladding, so nothing can radiate away. A SiO2 spacer replaces the hard metal wall with a soft (evanescent) mirror: the peaks move by ~0.25 um in slab_w, their height does not drop (100, 300, 600 nm simulated). Wider spacers were not simulated: the spacer was judged not viable for fabrication, and from 300 to 600 nm the curve no longer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gold-bound wave under the electrodes needs enough LN: below ~180 nm its index drops under the rib-mode index and the lateral wave is cut off, exactly like the SiO2 buffer does. Two ways to get there without new materials: etch the rib deeper (one etch step, thin slab everywhere), or a second partial etch that thins the slab only outside slab_w, keeping the nominal 275 nm slab around the rib.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Deeper rib etch: one process step, no new material. The ripple disappears (flat IL vs x_lift at 150 nm, nearly flat at 175 nm, close to the cutoff). But Vpi*L rises because less LN carries the DC field and the mode, and recovering it with a smaller gap puts the metal close to the mode.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Partial second etch: the slab is thinned to 125 nm from slab_w outward, so the gold sits on LN that cannot carry the lateral wave. IL is flat in x_lift. The DC field still crosses LN instead of air, so the Vpi*L penalty of the full etch is much smaller. Requirement: the thickness step must lie in the gap with margin for the litho overlay; if it falls under the gold, a short cavity forms.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Trade-off between loss and drive voltage. The buffered curve is its gap scan (2.4 to 3.6 um, 200 nm SiO2; computed with the previous SiO2 constant, ~2 % lower IL). Every alternative point lies above the buffered curve: for the same Vpi*L the alternatives absorb more, because thin LN under the gold still brings the metal closer to the mode, or the rib mode is less confined. The standard lifted design is a vertical bar: its IL depends on x_lift.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last sweeps: over-etch robustness of the buffered design, gap dependence of the standard lifted ripple, and the full-etch geometry with no SiO2 inside the electrodes; then why the two mirrors are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Etch-robustness study of the buffered design (gap 3.4 um, x_lift 7 um). The film stays 550 nm and the rib top 1.0 um with 60 deg sidewalls, so deeper etch thins the slab and widens the rib base. slab 275 nm: IL 0.0260 dB/cm, VpiL 2.271 V*cm; slab 260 nm: IL 0.0191 dB/cm, VpiL 2.329 V*cm; slab 245 nm: IL 0.0140 dB/cm, VpiL 2.391 V*cm; slab 230 nm: IL 0.0104 dB/cm, VpiL 2.457 V*cm; slab 215 nm: IL 0.0077 dB/cm, VpiL 2.527 V*cm; slab 200 nm: IL 0.0058 dB/cm, VpiL 2.601 V*cm; slab 185 nm: IL 0.0044 dB/cm, VpiL 2.681 V*cm; slab 170 nm: IL 0.0034 dB/cm, VpiL 2.766 V*cm; slab 155 nm: IL 0.0026 dB/cm, VpiL 2.858 V*cm; slab 150 nm: IL 0.0024 dB/cm, VpiL 2.890 V*cm. Vpi*L rises 2.6% for the first 15 nm and +27% at 150 nm: thinner slab, weaker EO overlap. IL keeps falling and stays flat in x_lift (the buffer keeps the wave under the gold cut off). Optically robust; the over-etch tolerance is set by Vpi*L.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lifted design, no buffer, 1575 nm. x_lift 6.5-11 um (0.1 um step) plus far points to 30 um; the 4.2 um gap is the earlier sweep, same code and constants. Right: IL normalised to its fitted IL_inf and plotted against the cavity length L = x_lift - gap/2 (gold inner edge to the gold/SiO2 edge): the three curves collapse, same period (0.895 um), envelope decay and phase. Only IL_inf changes: 1.10 / 0.41 / 0.030 dB/cm, i.e. exp(-3.3 um^-1 x gap), the overlap of the rib-mode tail with the gold edge. Far points (12-30 um) settle on IL_inf for every gap. Vpi*L 2.08 / 2.26 / 2.76 V*cm.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etch, gap 4.2 um, x_lift 7 um. Coworker's test: remove all SiO2 from the electrodes (lower block, column and pad fused in one solid gold body out to 32 um, air outside), so the slab can only end inside the gold. Slab ending between the gap and 14 um: identical to the previous sweep (median 0.03 %, max 2.1 % at slab_w 13.95, next to where the SiO2 used to start). Past 14 um the flat 0.228 dB/cm line is gone: the slab end remains the only mirror and the ripple decays slowly to IL_inf = 0.415 dB/cm (Airy fit: period 0.894 um of slab-end position, 2alpha 0.179/um, rho0 0.948), the Cordoba (no reflection) level. Dotted: Airy envelope. Above 30 um the 1.6 um step aliases the 1.79 um ripple period. A full etch ending in the gold therefore makes IL depend on the etch-edge position with a 0.9 um period, consistent with the messy IL measured on the earlier full-etch tapeout.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lateral wave is a hybrid (plasmon-assisted) mode of the vertical stack gold / LN slab / BOX. It needs both: the metal pulls the field to the top of the slab and raises its index to 2.07, above the rib mode (1.884), so it can be phase matched and propagate sideways (kx real, lateral wavelength 1.79 um, ripple period 0.9 um). Remove the LN (slab end inside the gold): the stack becomes gold on BOX, a gold/SiO2 surface plasmon with index 1.46. Remove the gold (gold edge, slab continues under SiO2): the stack becomes an oxide-clad LN slab, index 1.61. Both are below 1.884: kx becomes imaginary, the wave cannot continue and is reflected. So the mirror is simply the end of the gold-LN overlap; its height, the material that replaces the stack and the length of the overlap do not matter for the period, the decay and IL_inf, which belong to the overlap region. The termination only sets the reflection strength and phase: the gold-wrapped slab end is a hard mirror (node at the wall, rho0 0.957), the gold edge a soft one (evanescent tail into the oxide-clad slab, rho0 0.922; effective planes 0.3 um apart, hence the 0.34 um shift between the two IL curves). Indices: 1D TM model of each stack, average of the two in-plane LN permittivities, Sellmeier SiO2 and Johnson &amp; Christy gold.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recommendation: 200 nm SiO2 buffer, bottom gap 3.4 um: IL 0.026 dB/cm flat in x_lift, Vpi*L 2.27 V*cm. Over-etch: IL keeps decreasing and stays flat; Vpi*L +2.6% per 15 nm (+27% at 150 nm slab). The full-etch geometry ending in the gold reproduces the ripple whatever surrounds the electrodes; the messy IL of the earlier full-etch tapeout is consistent with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2A20-D9C5-BEC1-A331-516D50C93A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255FB-8776-2600-FB0D-D37C26A92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FB4982-190C-6C07-7215-C2698E3AA75F}"/>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2987267E-3FDA-B66E-4AD8-C6CE92D5E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F8C8B-ACEA-A9A3-B4F0-BCD03B8FF702}"/>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17714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482B-292E-DBE7-F2D3-E10B4F58E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E01C4E-1EAF-9AB5-5CC4-FC701A978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75CCB-9B55-2936-B303-10802E385EAB}"/>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90AFC055-00ED-86ED-9C00-23DE18ECA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B0205-9236-F40A-0142-178DCCE8C33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350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4F1D0-DAB1-67E8-1B2F-73E26B789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51E0F4-EFC3-E680-F6BE-0E77EFE3E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3D891C-D277-DFAA-497C-2B8823A52BCA}"/>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6F63FF4E-20C2-F541-1DAB-613C759BA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AB07-57B8-0995-EE56-BB900832FFB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088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A6F8-85E3-4B22-2629-A5CD88BCA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67E19-2A08-183A-315B-2C68CBD48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04FEB9-11F8-683F-4BCD-D299C05A43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7671DF-0476-B756-5E54-A09AD8F8BAE7}"/>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4AC4C4BB-5CDA-73D0-C1DA-C42A6DE9F4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1ABC2-6DE1-3D69-6A5D-C3CA3F61EB8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1466857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1152-8B57-3EF5-D4C6-0E68766625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EA3013-0656-B7EA-B887-6A7B2A857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63B16-884B-1811-7BAE-21CA8A6B7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255C07-A3DB-F6DA-0F4A-E9B970AC6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7223D-1F4E-936C-E584-1AAB09D0A3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643326-229D-65B9-2C15-C2124F231C78}"/>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8" name="Footer Placeholder 7">
            <a:extLst>
              <a:ext uri="{FF2B5EF4-FFF2-40B4-BE49-F238E27FC236}">
                <a16:creationId xmlns:a16="http://schemas.microsoft.com/office/drawing/2014/main" id="{E5F5B61B-ED00-86A7-6ACD-C43B67ACF9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119906-6F6F-6917-EF5E-B774E6919AA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03665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6A1B-B2AF-E050-ECF5-ACC5B7AF4F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D89E8-F0D6-0E88-9769-D89E6292FE8A}"/>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4" name="Footer Placeholder 3">
            <a:extLst>
              <a:ext uri="{FF2B5EF4-FFF2-40B4-BE49-F238E27FC236}">
                <a16:creationId xmlns:a16="http://schemas.microsoft.com/office/drawing/2014/main" id="{892829C5-1B60-2268-F333-5B76066F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AF9A2B-0D7A-2052-FFC8-8CBE90A14DEA}"/>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6698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624D48-6995-0099-CD08-7A3FDDC78293}"/>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3" name="Footer Placeholder 2">
            <a:extLst>
              <a:ext uri="{FF2B5EF4-FFF2-40B4-BE49-F238E27FC236}">
                <a16:creationId xmlns:a16="http://schemas.microsoft.com/office/drawing/2014/main" id="{C8EEC935-6C37-2907-F27F-AE46F371B8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2E360F-90C3-AD14-2358-FDAA383A91E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23614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57D0-E028-0FEC-8108-C43C00030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222123-834D-B3B6-8655-4F727434A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6483FF-5EC4-3A43-0CAD-1E9C63C280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6F5EC1-48F3-74F5-A266-43E5E2B174E4}"/>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F155FD67-83F7-52BD-E689-83B4411AC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C7BE6-67AB-39DB-47FB-E76563134D7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913708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4AD1-9B1D-6A0E-B035-2A091F8FBA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C267C1-026F-6542-5C48-B04F16F3C2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653625-A727-A9FB-C543-6910AD686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CE3EF-FE07-E44D-9BEE-561AE12BC6B1}"/>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09148578-8457-617E-26C8-83CBD42AA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0716A0-6376-1E8B-ACC0-3E99A468AAD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84785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1CB6B-B40F-CD9E-5050-E8332EEE0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861BA-32AA-F138-FF9C-253448691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BC3F75-3492-7080-C63D-3983901FBA19}"/>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A161E4EE-94A7-4D60-6219-FE9FAEED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9FFF6-B663-682E-609B-32623E2A883E}"/>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72380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E4FA9-B5B0-671D-FF03-B5210A3B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3531C-997D-F3F0-03A8-0A36E3B8A4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CAC5E-DA02-76B9-65D8-7F5388545F99}"/>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85B902A9-7AB1-C1FB-9260-FEB9B49CA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2E534-F0BB-DE3C-8762-F36B2DE8270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01919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290299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9211454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7BB2C-76DC-90AF-74E8-5CA2C51AF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12E614-5C6F-DC4C-07CD-F948CDE4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B5F60-52FA-13B8-32F6-4BFCF5859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4F57BDF0-920C-8B79-6328-4F4CFFA1E3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440653-7ED0-A2A9-6425-DC06C7BEE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FC66D7-084B-4B9E-8AAC-516FE602CE91}" type="slidenum">
              <a:rPr lang="en-US" smtClean="0"/>
              <a:t>‹#›</a:t>
            </a:fld>
            <a:endParaRPr lang="en-US"/>
          </a:p>
        </p:txBody>
      </p:sp>
    </p:spTree>
    <p:extLst>
      <p:ext uri="{BB962C8B-B14F-4D97-AF65-F5344CB8AC3E}">
        <p14:creationId xmlns:p14="http://schemas.microsoft.com/office/powerpoint/2010/main" val="71841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chart" Target="../charts/chart2.xml"/><Relationship Id="rId5"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 Id="rId3" Type="http://schemas.openxmlformats.org/officeDocument/2006/relationships/chart" Target="../charts/chart9.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0.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chart" Target="../charts/chart1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chart" Target="../charts/chart17.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0160" y="2148840"/>
            <a:ext cx="9601200" cy="2194560"/>
          </a:xfrm>
          <a:prstGeom prst="rect">
            <a:avLst/>
          </a:prstGeom>
          <a:noFill/>
        </p:spPr>
        <p:txBody>
          <a:bodyPr wrap="square" lIns="45720" tIns="27432" rIns="45720" bIns="27432" anchor="t">
            <a:spAutoFit/>
          </a:bodyPr>
          <a:lstStyle/>
          <a:p>
            <a:pPr algn="ctr">
              <a:spcAft>
                <a:spcPts val="600"/>
              </a:spcAft>
            </a:pPr>
            <a:r>
              <a:rPr sz="3200" b="1" i="0">
                <a:solidFill>
                  <a:srgbClr val="222222"/>
                </a:solidFill>
                <a:latin typeface="Arial"/>
              </a:rPr>
              <a:t>Lifted electrodes on a SiO₂ buffer:</a:t>
            </a:r>
          </a:p>
          <a:p>
            <a:pPr algn="ctr">
              <a:spcAft>
                <a:spcPts val="600"/>
              </a:spcAft>
            </a:pPr>
            <a:r>
              <a:rPr sz="2800" b="1" i="0">
                <a:solidFill>
                  <a:srgbClr val="222222"/>
                </a:solidFill>
                <a:latin typeface="Arial"/>
              </a:rPr>
              <a:t>removing the lift-position standing wave</a:t>
            </a:r>
          </a:p>
          <a:p>
            <a:pPr algn="ctr">
              <a:spcAft>
                <a:spcPts val="600"/>
              </a:spcAft>
            </a:pPr>
            <a:r>
              <a:rPr sz="2000" b="0" i="0">
                <a:solidFill>
                  <a:srgbClr val="595959"/>
                </a:solidFill>
                <a:latin typeface="Arial"/>
              </a:rPr>
              <a:t>femwell / scikit-fem eigenmode study at λ = 1575 nm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Lifting the gold: same Vπ·L, but IL oscillates with x_lift</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Cordoba (gold flat on the LN slab) vs Lisbon (gold lifted onto SiO₂ at x_lift), both with a 4.2 µm gap</a:t>
            </a:r>
          </a:p>
        </p:txBody>
      </p:sp>
      <p:sp>
        <p:nvSpPr>
          <p:cNvPr id="4" name="TextBox 3"/>
          <p:cNvSpPr txBox="1"/>
          <p:nvPr/>
        </p:nvSpPr>
        <p:spPr>
          <a:xfrm>
            <a:off x="411480" y="1536192"/>
            <a:ext cx="5943600" cy="292608"/>
          </a:xfrm>
          <a:prstGeom prst="rect">
            <a:avLst/>
          </a:prstGeom>
          <a:noFill/>
        </p:spPr>
        <p:txBody>
          <a:bodyPr wrap="square" lIns="45720" tIns="27432" rIns="45720" bIns="27432" anchor="t">
            <a:spAutoFit/>
          </a:bodyPr>
          <a:lstStyle/>
          <a:p>
            <a:pPr algn="l">
              <a:spcAft>
                <a:spcPts val="0"/>
              </a:spcAft>
            </a:pPr>
            <a:r>
              <a:rPr sz="1300" b="1" i="0">
                <a:solidFill>
                  <a:srgbClr val="1F4E79"/>
                </a:solidFill>
                <a:latin typeface="Arial"/>
              </a:rPr>
              <a:t>Cordoba (legacy)</a:t>
            </a:r>
          </a:p>
        </p:txBody>
      </p:sp>
      <p:pic>
        <p:nvPicPr>
          <p:cNvPr id="5" name="Picture 4" descr="geomd_legacy.png"/>
          <p:cNvPicPr>
            <a:picLocks noChangeAspect="1"/>
          </p:cNvPicPr>
          <p:nvPr/>
        </p:nvPicPr>
        <p:blipFill>
          <a:blip r:embed="rId3"/>
          <a:stretch>
            <a:fillRect/>
          </a:stretch>
        </p:blipFill>
        <p:spPr>
          <a:xfrm>
            <a:off x="411480" y="1810512"/>
            <a:ext cx="5943600" cy="984504"/>
          </a:xfrm>
          <a:prstGeom prst="rect">
            <a:avLst/>
          </a:prstGeom>
        </p:spPr>
      </p:pic>
      <p:sp>
        <p:nvSpPr>
          <p:cNvPr id="6" name="TextBox 5"/>
          <p:cNvSpPr txBox="1"/>
          <p:nvPr/>
        </p:nvSpPr>
        <p:spPr>
          <a:xfrm>
            <a:off x="411480" y="2852928"/>
            <a:ext cx="5943600" cy="292608"/>
          </a:xfrm>
          <a:prstGeom prst="rect">
            <a:avLst/>
          </a:prstGeom>
          <a:noFill/>
        </p:spPr>
        <p:txBody>
          <a:bodyPr wrap="square" lIns="45720" tIns="27432" rIns="45720" bIns="27432" anchor="t">
            <a:spAutoFit/>
          </a:bodyPr>
          <a:lstStyle/>
          <a:p>
            <a:pPr algn="l">
              <a:spcAft>
                <a:spcPts val="0"/>
              </a:spcAft>
            </a:pPr>
            <a:r>
              <a:rPr sz="1300" b="1" i="0" dirty="0">
                <a:solidFill>
                  <a:srgbClr val="1F4E79"/>
                </a:solidFill>
                <a:latin typeface="Arial"/>
              </a:rPr>
              <a:t>Lisbon (lifted)</a:t>
            </a:r>
          </a:p>
        </p:txBody>
      </p:sp>
      <p:pic>
        <p:nvPicPr>
          <p:cNvPr id="7" name="Picture 6" descr="geomd_lifted.png"/>
          <p:cNvPicPr>
            <a:picLocks noChangeAspect="1"/>
          </p:cNvPicPr>
          <p:nvPr/>
        </p:nvPicPr>
        <p:blipFill>
          <a:blip r:embed="rId4"/>
          <a:stretch>
            <a:fillRect/>
          </a:stretch>
        </p:blipFill>
        <p:spPr>
          <a:xfrm>
            <a:off x="411480" y="3108960"/>
            <a:ext cx="5943600" cy="1996440"/>
          </a:xfrm>
          <a:prstGeom prst="rect">
            <a:avLst/>
          </a:prstGeom>
        </p:spPr>
      </p:pic>
      <p:sp>
        <p:nvSpPr>
          <p:cNvPr id="8" name="Rounded Rectangle 7"/>
          <p:cNvSpPr/>
          <p:nvPr/>
        </p:nvSpPr>
        <p:spPr>
          <a:xfrm>
            <a:off x="411480" y="5285232"/>
            <a:ext cx="2880360" cy="10972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5379346"/>
            <a:ext cx="2880360" cy="455509"/>
          </a:xfrm>
          <a:prstGeom prst="rect">
            <a:avLst/>
          </a:prstGeom>
          <a:noFill/>
        </p:spPr>
        <p:txBody>
          <a:bodyPr wrap="square" lIns="45720" tIns="27432" rIns="45720" bIns="27432" anchor="ctr">
            <a:spAutoFit/>
          </a:bodyPr>
          <a:lstStyle/>
          <a:p>
            <a:pPr algn="ctr">
              <a:spcAft>
                <a:spcPts val="0"/>
              </a:spcAft>
            </a:pPr>
            <a:r>
              <a:rPr sz="2600" b="1" i="0" dirty="0">
                <a:solidFill>
                  <a:srgbClr val="1F4E79"/>
                </a:solidFill>
                <a:latin typeface="Arial"/>
              </a:rPr>
              <a:t>2.26 | 2.26</a:t>
            </a:r>
          </a:p>
        </p:txBody>
      </p:sp>
      <p:sp>
        <p:nvSpPr>
          <p:cNvPr id="10" name="TextBox 9"/>
          <p:cNvSpPr txBox="1"/>
          <p:nvPr/>
        </p:nvSpPr>
        <p:spPr>
          <a:xfrm>
            <a:off x="484632" y="5877763"/>
            <a:ext cx="2734056" cy="393954"/>
          </a:xfrm>
          <a:prstGeom prst="rect">
            <a:avLst/>
          </a:prstGeom>
          <a:noFill/>
        </p:spPr>
        <p:txBody>
          <a:bodyPr wrap="square" lIns="45720" tIns="27432" rIns="45720" bIns="27432" anchor="t">
            <a:spAutoFit/>
          </a:bodyPr>
          <a:lstStyle/>
          <a:p>
            <a:pPr algn="ctr">
              <a:spcAft>
                <a:spcPts val="0"/>
              </a:spcAft>
            </a:pPr>
            <a:r>
              <a:rPr sz="1100" b="0" i="0" dirty="0">
                <a:solidFill>
                  <a:srgbClr val="595959"/>
                </a:solidFill>
                <a:latin typeface="Arial"/>
              </a:rPr>
              <a:t>Vπ·L [</a:t>
            </a:r>
            <a:r>
              <a:rPr sz="1100" b="0" i="0" dirty="0" err="1">
                <a:solidFill>
                  <a:srgbClr val="595959"/>
                </a:solidFill>
                <a:latin typeface="Arial"/>
              </a:rPr>
              <a:t>V·cm</a:t>
            </a:r>
            <a:r>
              <a:rPr sz="1100" b="0" i="0" dirty="0">
                <a:solidFill>
                  <a:srgbClr val="595959"/>
                </a:solidFill>
                <a:latin typeface="Arial"/>
              </a:rPr>
              <a:t>], Cordoba | Lisbon</a:t>
            </a:r>
          </a:p>
          <a:p>
            <a:pPr algn="ctr">
              <a:spcAft>
                <a:spcPts val="0"/>
              </a:spcAft>
            </a:pPr>
            <a:r>
              <a:rPr sz="1100" b="0" i="0" dirty="0">
                <a:solidFill>
                  <a:srgbClr val="595959"/>
                </a:solidFill>
                <a:latin typeface="Arial"/>
              </a:rPr>
              <a:t>identical</a:t>
            </a:r>
          </a:p>
        </p:txBody>
      </p:sp>
      <p:sp>
        <p:nvSpPr>
          <p:cNvPr id="11" name="Rounded Rectangle 10"/>
          <p:cNvSpPr/>
          <p:nvPr/>
        </p:nvSpPr>
        <p:spPr>
          <a:xfrm>
            <a:off x="3474720" y="5285232"/>
            <a:ext cx="2880360" cy="10972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5321808"/>
            <a:ext cx="2880360" cy="570585"/>
          </a:xfrm>
          <a:prstGeom prst="rect">
            <a:avLst/>
          </a:prstGeom>
          <a:noFill/>
        </p:spPr>
        <p:txBody>
          <a:bodyPr wrap="square" lIns="45720" tIns="27432" rIns="45720" bIns="27432" anchor="ctr">
            <a:spAutoFit/>
          </a:bodyPr>
          <a:lstStyle/>
          <a:p>
            <a:pPr algn="ctr">
              <a:spcAft>
                <a:spcPts val="0"/>
              </a:spcAft>
            </a:pPr>
            <a:r>
              <a:rPr sz="2600" b="1" i="0">
                <a:solidFill>
                  <a:srgbClr val="C0262D"/>
                </a:solidFill>
                <a:latin typeface="Arial"/>
              </a:rPr>
              <a:t>+80 %</a:t>
            </a:r>
          </a:p>
        </p:txBody>
      </p:sp>
      <p:sp>
        <p:nvSpPr>
          <p:cNvPr id="13" name="TextBox 12"/>
          <p:cNvSpPr txBox="1"/>
          <p:nvPr/>
        </p:nvSpPr>
        <p:spPr>
          <a:xfrm>
            <a:off x="3547872" y="5877763"/>
            <a:ext cx="2734056" cy="482803"/>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IL for a 100 nm shift of x_lift</a:t>
            </a:r>
          </a:p>
          <a:p>
            <a:pPr algn="ctr">
              <a:spcAft>
                <a:spcPts val="0"/>
              </a:spcAft>
            </a:pPr>
            <a:r>
              <a:rPr sz="1100" b="0" i="0">
                <a:solidFill>
                  <a:srgbClr val="595959"/>
                </a:solidFill>
                <a:latin typeface="Arial"/>
              </a:rPr>
              <a:t>(7.1 → 7.2 µm: 0.33 → 0.60 dB/cm)</a:t>
            </a:r>
          </a:p>
        </p:txBody>
      </p:sp>
      <p:graphicFrame>
        <p:nvGraphicFramePr>
          <p:cNvPr id="14" name="Chart 13"/>
          <p:cNvGraphicFramePr>
            <a:graphicFrameLocks noGrp="1"/>
          </p:cNvGraphicFramePr>
          <p:nvPr/>
        </p:nvGraphicFramePr>
        <p:xfrm>
          <a:off x="6537960" y="1481328"/>
          <a:ext cx="5303520" cy="3063240"/>
        </p:xfrm>
        <a:graphic>
          <a:graphicData uri="http://schemas.openxmlformats.org/drawingml/2006/chart">
            <c:chart xmlns:c="http://schemas.openxmlformats.org/drawingml/2006/chart" xmlns:r="http://schemas.openxmlformats.org/officeDocument/2006/relationships" r:id="rId5"/>
          </a:graphicData>
        </a:graphic>
      </p:graphicFrame>
      <p:sp>
        <p:nvSpPr>
          <p:cNvPr id="15" name="Rounded Rectangle 14"/>
          <p:cNvSpPr/>
          <p:nvPr/>
        </p:nvSpPr>
        <p:spPr>
          <a:xfrm>
            <a:off x="6537960" y="4617720"/>
            <a:ext cx="5303520" cy="1810512"/>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100" b="1" i="0">
                <a:solidFill>
                  <a:srgbClr val="1F4E79"/>
                </a:solidFill>
                <a:latin typeface="Arial"/>
              </a:rPr>
              <a:t>Lateral Fabry–Pérot cavity </a:t>
            </a:r>
            <a:r>
              <a:rPr sz="1100" b="0" i="0">
                <a:solidFill>
                  <a:srgbClr val="222222"/>
                </a:solidFill>
                <a:latin typeface="Arial"/>
              </a:rPr>
              <a:t>(gap edge ↔ gold/oxide step), L = x_lift − gap/2:</a:t>
            </a:r>
          </a:p>
          <a:p>
            <a:pPr algn="l">
              <a:spcAft>
                <a:spcPts val="500"/>
              </a:spcAft>
            </a:pPr>
            <a:r>
              <a:rPr sz="1100" b="0" i="0">
                <a:solidFill>
                  <a:srgbClr val="222222"/>
                </a:solidFill>
                <a:latin typeface="Arial"/>
              </a:rPr>
              <a:t>IL = IL</a:t>
            </a:r>
            <a:r>
              <a:rPr sz="1100" b="0" i="0" baseline="-25000">
                <a:solidFill>
                  <a:srgbClr val="222222"/>
                </a:solidFill>
                <a:latin typeface="Arial"/>
              </a:rPr>
              <a:t>∞</a:t>
            </a:r>
            <a:r>
              <a:rPr sz="1100" b="0" i="0">
                <a:solidFill>
                  <a:srgbClr val="222222"/>
                </a:solidFill>
                <a:latin typeface="Arial"/>
              </a:rPr>
              <a:t> (1 − ρ²) / (1 − 2ρ cos(2k</a:t>
            </a:r>
            <a:r>
              <a:rPr sz="1100" b="0" i="0" baseline="-25000">
                <a:solidFill>
                  <a:srgbClr val="222222"/>
                </a:solidFill>
                <a:latin typeface="Arial"/>
              </a:rPr>
              <a:t>x</a:t>
            </a:r>
            <a:r>
              <a:rPr sz="1100" b="0" i="0">
                <a:solidFill>
                  <a:srgbClr val="222222"/>
                </a:solidFill>
                <a:latin typeface="Arial"/>
              </a:rPr>
              <a:t>L + φ) + ρ²),   ρ = ρ</a:t>
            </a:r>
            <a:r>
              <a:rPr sz="1100" b="0" i="0" baseline="-25000">
                <a:solidFill>
                  <a:srgbClr val="222222"/>
                </a:solidFill>
                <a:latin typeface="Arial"/>
              </a:rPr>
              <a:t>0</a:t>
            </a:r>
            <a:r>
              <a:rPr sz="1100" b="0" i="0">
                <a:solidFill>
                  <a:srgbClr val="222222"/>
                </a:solidFill>
                <a:latin typeface="Arial"/>
              </a:rPr>
              <a:t> e^(−2α</a:t>
            </a:r>
            <a:r>
              <a:rPr sz="1100" b="0" i="0" baseline="-25000">
                <a:solidFill>
                  <a:srgbClr val="222222"/>
                </a:solidFill>
                <a:latin typeface="Arial"/>
              </a:rPr>
              <a:t>x</a:t>
            </a:r>
            <a:r>
              <a:rPr sz="1100" b="0" i="0">
                <a:solidFill>
                  <a:srgbClr val="222222"/>
                </a:solidFill>
                <a:latin typeface="Arial"/>
              </a:rPr>
              <a:t>L)</a:t>
            </a:r>
          </a:p>
          <a:p>
            <a:pPr algn="l">
              <a:spcAft>
                <a:spcPts val="500"/>
              </a:spcAft>
            </a:pPr>
            <a:r>
              <a:rPr sz="1100" b="0" i="0">
                <a:solidFill>
                  <a:srgbClr val="222222"/>
                </a:solidFill>
                <a:latin typeface="Arial"/>
              </a:rPr>
              <a:t>k</a:t>
            </a:r>
            <a:r>
              <a:rPr sz="1100" b="0" i="0" baseline="-25000">
                <a:solidFill>
                  <a:srgbClr val="222222"/>
                </a:solidFill>
                <a:latin typeface="Arial"/>
              </a:rPr>
              <a:t>x</a:t>
            </a:r>
            <a:r>
              <a:rPr sz="1100" b="0" i="0">
                <a:solidFill>
                  <a:srgbClr val="222222"/>
                </a:solidFill>
                <a:latin typeface="Arial"/>
              </a:rPr>
              <a:t>, α</a:t>
            </a:r>
            <a:r>
              <a:rPr sz="1100" b="0" i="0" baseline="-25000">
                <a:solidFill>
                  <a:srgbClr val="222222"/>
                </a:solidFill>
                <a:latin typeface="Arial"/>
              </a:rPr>
              <a:t>x</a:t>
            </a:r>
            <a:r>
              <a:rPr sz="1100" b="0" i="0">
                <a:solidFill>
                  <a:srgbClr val="222222"/>
                </a:solidFill>
                <a:latin typeface="Arial"/>
              </a:rPr>
              <a:t>: lateral wavenumber and gold absorption of the wave under the gold. Envelopes IL</a:t>
            </a:r>
            <a:r>
              <a:rPr sz="1100" b="0" i="0" baseline="-25000">
                <a:solidFill>
                  <a:srgbClr val="222222"/>
                </a:solidFill>
                <a:latin typeface="Arial"/>
              </a:rPr>
              <a:t>∞</a:t>
            </a:r>
            <a:r>
              <a:rPr sz="1100" b="0" i="0">
                <a:solidFill>
                  <a:srgbClr val="222222"/>
                </a:solidFill>
                <a:latin typeface="Arial"/>
              </a:rPr>
              <a:t>(1 ± ρ)/(1 ∓ ρ) converge to IL</a:t>
            </a:r>
            <a:r>
              <a:rPr sz="1100" b="0" i="0" baseline="-25000">
                <a:solidFill>
                  <a:srgbClr val="222222"/>
                </a:solidFill>
                <a:latin typeface="Arial"/>
              </a:rPr>
              <a:t>∞</a:t>
            </a:r>
            <a:r>
              <a:rPr sz="1100" b="0" i="0">
                <a:solidFill>
                  <a:srgbClr val="222222"/>
                </a:solidFill>
                <a:latin typeface="Arial"/>
              </a:rPr>
              <a:t>.</a:t>
            </a:r>
          </a:p>
          <a:p>
            <a:pPr algn="l">
              <a:spcAft>
                <a:spcPts val="500"/>
              </a:spcAft>
            </a:pPr>
            <a:r>
              <a:rPr sz="1100" b="1" i="0">
                <a:solidFill>
                  <a:srgbClr val="1F4E79"/>
                </a:solidFill>
                <a:latin typeface="Arial"/>
              </a:rPr>
              <a:t>Fit (rms 0.002 dB/cm): </a:t>
            </a:r>
            <a:r>
              <a:rPr sz="1100" b="0" i="0">
                <a:solidFill>
                  <a:srgbClr val="222222"/>
                </a:solidFill>
                <a:latin typeface="Arial"/>
              </a:rPr>
              <a:t>IL</a:t>
            </a:r>
            <a:r>
              <a:rPr sz="1100" b="0" i="0" baseline="-25000">
                <a:solidFill>
                  <a:srgbClr val="222222"/>
                </a:solidFill>
                <a:latin typeface="Arial"/>
              </a:rPr>
              <a:t>∞</a:t>
            </a:r>
            <a:r>
              <a:rPr sz="1100" b="0" i="0">
                <a:solidFill>
                  <a:srgbClr val="222222"/>
                </a:solidFill>
                <a:latin typeface="Arial"/>
              </a:rPr>
              <a:t> = 0.41 dB/cm (Cordoba 0.42); 2α</a:t>
            </a:r>
            <a:r>
              <a:rPr sz="1100" b="0" i="0" baseline="-25000">
                <a:solidFill>
                  <a:srgbClr val="222222"/>
                </a:solidFill>
                <a:latin typeface="Arial"/>
              </a:rPr>
              <a:t>x</a:t>
            </a:r>
            <a:r>
              <a:rPr sz="1100" b="0" i="0">
                <a:solidFill>
                  <a:srgbClr val="222222"/>
                </a:solidFill>
                <a:latin typeface="Arial"/>
              </a:rPr>
              <a:t> = 0.175 µm⁻¹, π/k</a:t>
            </a:r>
            <a:r>
              <a:rPr sz="1100" b="0" i="0" baseline="-25000">
                <a:solidFill>
                  <a:srgbClr val="222222"/>
                </a:solidFill>
                <a:latin typeface="Arial"/>
              </a:rPr>
              <a:t>x</a:t>
            </a:r>
            <a:r>
              <a:rPr sz="1100" b="0" i="0">
                <a:solidFill>
                  <a:srgbClr val="222222"/>
                </a:solidFill>
                <a:latin typeface="Arial"/>
              </a:rPr>
              <a:t> = 0.895 µm, vs 0.181 µm⁻¹ and 0.91 µm predicted by its 1D 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Origin: a standing wave in a lateral cavity under the gold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Only the gold-covered slab carries a lateral wave faster than the rib mode; the lift closes the cavity</a:t>
            </a:r>
          </a:p>
        </p:txBody>
      </p:sp>
      <p:pic>
        <p:nvPicPr>
          <p:cNvPr id="4" name="Picture 3" descr="image5.png"/>
          <p:cNvPicPr>
            <a:picLocks noChangeAspect="1"/>
          </p:cNvPicPr>
          <p:nvPr/>
        </p:nvPicPr>
        <p:blipFill>
          <a:blip r:embed="rId3"/>
          <a:stretch>
            <a:fillRect/>
          </a:stretch>
        </p:blipFill>
        <p:spPr>
          <a:xfrm>
            <a:off x="365760" y="1481328"/>
            <a:ext cx="5486400" cy="2231699"/>
          </a:xfrm>
          <a:prstGeom prst="rect">
            <a:avLst/>
          </a:prstGeom>
        </p:spPr>
      </p:pic>
      <p:pic>
        <p:nvPicPr>
          <p:cNvPr id="7" name="Picture 6" descr="fieldmaps2.png"/>
          <p:cNvPicPr>
            <a:picLocks noChangeAspect="1"/>
          </p:cNvPicPr>
          <p:nvPr/>
        </p:nvPicPr>
        <p:blipFill>
          <a:blip r:embed="rId4"/>
          <a:stretch>
            <a:fillRect/>
          </a:stretch>
        </p:blipFill>
        <p:spPr>
          <a:xfrm>
            <a:off x="6339840" y="1801368"/>
            <a:ext cx="5486400" cy="3670578"/>
          </a:xfrm>
          <a:prstGeom prst="rect">
            <a:avLst/>
          </a:prstGeom>
        </p:spPr>
      </p:pic>
      <p:sp>
        <p:nvSpPr>
          <p:cNvPr id="8" name="Rounded Rectangle 7"/>
          <p:cNvSpPr/>
          <p:nvPr/>
        </p:nvSpPr>
        <p:spPr>
          <a:xfrm>
            <a:off x="502920" y="4352544"/>
            <a:ext cx="5486400" cy="1298448"/>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200" b="1" i="0" dirty="0">
                <a:solidFill>
                  <a:srgbClr val="1F4E79"/>
                </a:solidFill>
                <a:latin typeface="Arial"/>
              </a:rPr>
              <a:t>Why 0.9 µm? </a:t>
            </a:r>
            <a:r>
              <a:rPr sz="1200" b="0" i="0" dirty="0">
                <a:solidFill>
                  <a:srgbClr val="222222"/>
                </a:solidFill>
                <a:latin typeface="Arial"/>
              </a:rPr>
              <a:t>Λ = λ / (2√(n</a:t>
            </a:r>
            <a:r>
              <a:rPr sz="1200" b="0" i="0" baseline="-25000" dirty="0">
                <a:solidFill>
                  <a:srgbClr val="222222"/>
                </a:solidFill>
                <a:latin typeface="Arial"/>
              </a:rPr>
              <a:t>Au</a:t>
            </a:r>
            <a:r>
              <a:rPr sz="1200" b="0" i="0" dirty="0">
                <a:solidFill>
                  <a:srgbClr val="222222"/>
                </a:solidFill>
                <a:latin typeface="Arial"/>
              </a:rPr>
              <a:t>² − n</a:t>
            </a:r>
            <a:r>
              <a:rPr sz="1200" b="0" i="0" baseline="-25000" dirty="0">
                <a:solidFill>
                  <a:srgbClr val="222222"/>
                </a:solidFill>
                <a:latin typeface="Arial"/>
              </a:rPr>
              <a:t>rib</a:t>
            </a:r>
            <a:r>
              <a:rPr sz="1200" b="0" i="0" dirty="0">
                <a:solidFill>
                  <a:srgbClr val="222222"/>
                </a:solidFill>
                <a:latin typeface="Arial"/>
              </a:rPr>
              <a:t>²)) = 1.575 / (2 × 0.863) = 0.91 µm (simulated 0.90): half the lateral wavelength, set by the indices only.</a:t>
            </a:r>
          </a:p>
          <a:p>
            <a:pPr algn="l">
              <a:spcAft>
                <a:spcPts val="500"/>
              </a:spcAft>
            </a:pPr>
            <a:r>
              <a:rPr sz="1200" b="1" i="0" dirty="0">
                <a:solidFill>
                  <a:srgbClr val="1F4E79"/>
                </a:solidFill>
                <a:latin typeface="Arial"/>
              </a:rPr>
              <a:t>Cavity length: </a:t>
            </a:r>
            <a:r>
              <a:rPr sz="1200" b="0" i="0" dirty="0">
                <a:solidFill>
                  <a:srgbClr val="222222"/>
                </a:solidFill>
                <a:latin typeface="Arial"/>
              </a:rPr>
              <a:t>sets how many half-waves fit (≈ 5 at 7 µm). Resonance 2k</a:t>
            </a:r>
            <a:r>
              <a:rPr sz="1200" b="0" i="0" baseline="-25000" dirty="0">
                <a:solidFill>
                  <a:srgbClr val="222222"/>
                </a:solidFill>
                <a:latin typeface="Arial"/>
              </a:rPr>
              <a:t>x</a:t>
            </a:r>
            <a:r>
              <a:rPr sz="1200" b="0" i="0" dirty="0">
                <a:solidFill>
                  <a:srgbClr val="222222"/>
                </a:solidFill>
                <a:latin typeface="Arial"/>
              </a:rPr>
              <a:t>L + φ = 2πm recurs every ΔL = Λ: one more half-wave per 0.9 µm of </a:t>
            </a:r>
            <a:r>
              <a:rPr sz="1200" b="0" i="0" dirty="0" err="1">
                <a:solidFill>
                  <a:srgbClr val="222222"/>
                </a:solidFill>
                <a:latin typeface="Arial"/>
              </a:rPr>
              <a:t>x_lift</a:t>
            </a:r>
            <a:r>
              <a:rPr sz="1200" b="0" i="0" dirty="0">
                <a:solidFill>
                  <a:srgbClr val="222222"/>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559855"/>
            <a:ext cx="10241280" cy="517065"/>
          </a:xfrm>
          <a:prstGeom prst="rect">
            <a:avLst/>
          </a:prstGeom>
          <a:noFill/>
        </p:spPr>
        <p:txBody>
          <a:bodyPr wrap="square" lIns="45720" tIns="27432" rIns="45720" bIns="27432" anchor="ctr">
            <a:spAutoFit/>
          </a:bodyPr>
          <a:lstStyle/>
          <a:p>
            <a:pPr algn="l">
              <a:spcAft>
                <a:spcPts val="600"/>
              </a:spcAft>
            </a:pPr>
            <a:r>
              <a:rPr lang="en-US" sz="3000" b="0" i="0" dirty="0">
                <a:solidFill>
                  <a:srgbClr val="222222"/>
                </a:solidFill>
                <a:latin typeface="Arial"/>
              </a:rPr>
              <a:t>Possible solution: </a:t>
            </a:r>
            <a:r>
              <a:rPr sz="3000" b="0" i="0" dirty="0">
                <a:solidFill>
                  <a:srgbClr val="222222"/>
                </a:solidFill>
                <a:latin typeface="Arial"/>
              </a:rPr>
              <a:t>SiO₂ buffer</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200 nm SiO₂ under the whole electrode and across the gap; bottom gap 4.2 → 3.2 µm</a:t>
            </a:r>
          </a:p>
        </p:txBody>
      </p:sp>
      <p:sp>
        <p:nvSpPr>
          <p:cNvPr id="4" name="TextBox 3"/>
          <p:cNvSpPr txBox="1"/>
          <p:nvPr/>
        </p:nvSpPr>
        <p:spPr>
          <a:xfrm>
            <a:off x="457200" y="1572768"/>
            <a:ext cx="6675120" cy="292608"/>
          </a:xfrm>
          <a:prstGeom prst="rect">
            <a:avLst/>
          </a:prstGeom>
          <a:noFill/>
        </p:spPr>
        <p:txBody>
          <a:bodyPr wrap="square" lIns="45720" tIns="27432" rIns="45720" bIns="27432" anchor="t">
            <a:spAutoFit/>
          </a:bodyPr>
          <a:lstStyle/>
          <a:p>
            <a:pPr algn="l">
              <a:spcAft>
                <a:spcPts val="0"/>
              </a:spcAft>
            </a:pPr>
            <a:r>
              <a:rPr sz="1300" b="1" i="0">
                <a:solidFill>
                  <a:srgbClr val="1F4E79"/>
                </a:solidFill>
                <a:latin typeface="Arial"/>
              </a:rPr>
              <a:t>Lisbon on a SiO₂ buffer</a:t>
            </a:r>
          </a:p>
        </p:txBody>
      </p:sp>
      <p:pic>
        <p:nvPicPr>
          <p:cNvPr id="5" name="Picture 4" descr="geom_buffer.png"/>
          <p:cNvPicPr>
            <a:picLocks noChangeAspect="1"/>
          </p:cNvPicPr>
          <p:nvPr/>
        </p:nvPicPr>
        <p:blipFill>
          <a:blip r:embed="rId3"/>
          <a:stretch>
            <a:fillRect/>
          </a:stretch>
        </p:blipFill>
        <p:spPr>
          <a:xfrm>
            <a:off x="457200" y="1874519"/>
            <a:ext cx="6675120" cy="2145574"/>
          </a:xfrm>
          <a:prstGeom prst="rect">
            <a:avLst/>
          </a:prstGeom>
        </p:spPr>
      </p:pic>
      <p:graphicFrame>
        <p:nvGraphicFramePr>
          <p:cNvPr id="6" name="Chart 5"/>
          <p:cNvGraphicFramePr>
            <a:graphicFrameLocks noGrp="1"/>
          </p:cNvGraphicFramePr>
          <p:nvPr/>
        </p:nvGraphicFramePr>
        <p:xfrm>
          <a:off x="7452360" y="1508760"/>
          <a:ext cx="438912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a:graphicFrameLocks noGrp="1"/>
          </p:cNvGraphicFramePr>
          <p:nvPr/>
        </p:nvGraphicFramePr>
        <p:xfrm>
          <a:off x="365760" y="4069080"/>
          <a:ext cx="6858000" cy="25146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The price: higher Vπ·L, recovered with a narrower gap</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The DC field must cross the low-ε oxide (ε 3.75 vs 28 in LN); narrowing the gap compensates</a:t>
            </a:r>
          </a:p>
        </p:txBody>
      </p:sp>
      <p:graphicFrame>
        <p:nvGraphicFramePr>
          <p:cNvPr id="4" name="Chart 3"/>
          <p:cNvGraphicFramePr>
            <a:graphicFrameLocks noGrp="1"/>
          </p:cNvGraphicFramePr>
          <p:nvPr/>
        </p:nvGraphicFramePr>
        <p:xfrm>
          <a:off x="365760" y="1554480"/>
          <a:ext cx="370332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4206240" y="1554480"/>
          <a:ext cx="3703320" cy="26974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p:cNvGraphicFramePr>
            <a:graphicFrameLocks noGrp="1"/>
          </p:cNvGraphicFramePr>
          <p:nvPr/>
        </p:nvGraphicFramePr>
        <p:xfrm>
          <a:off x="8046720" y="1554480"/>
          <a:ext cx="3703320" cy="269748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p:cNvSpPr txBox="1"/>
          <p:nvPr/>
        </p:nvSpPr>
        <p:spPr>
          <a:xfrm>
            <a:off x="502920" y="4579037"/>
            <a:ext cx="9034272" cy="1163395"/>
          </a:xfrm>
          <a:prstGeom prst="rect">
            <a:avLst/>
          </a:prstGeom>
          <a:noFill/>
        </p:spPr>
        <p:txBody>
          <a:bodyPr wrap="square" lIns="45720" tIns="27432" rIns="45720" bIns="27432" anchor="t">
            <a:spAutoFit/>
          </a:bodyPr>
          <a:lstStyle/>
          <a:p>
            <a:pPr algn="l">
              <a:spcAft>
                <a:spcPts val="0"/>
              </a:spcAft>
            </a:pPr>
            <a:r>
              <a:rPr b="1" i="0" dirty="0">
                <a:solidFill>
                  <a:srgbClr val="00B050"/>
                </a:solidFill>
                <a:latin typeface="Arial"/>
              </a:rPr>
              <a:t>Final design</a:t>
            </a:r>
            <a:r>
              <a:rPr lang="en-US" b="1" dirty="0">
                <a:solidFill>
                  <a:srgbClr val="00B050"/>
                </a:solidFill>
                <a:latin typeface="Arial"/>
              </a:rPr>
              <a:t> – still to be frozen</a:t>
            </a:r>
            <a:endParaRPr lang="en-US" b="1" i="0" dirty="0">
              <a:solidFill>
                <a:srgbClr val="00B050"/>
              </a:solidFill>
              <a:latin typeface="Arial"/>
            </a:endParaRPr>
          </a:p>
          <a:p>
            <a:pPr algn="l">
              <a:spcAft>
                <a:spcPts val="0"/>
              </a:spcAft>
            </a:pPr>
            <a:r>
              <a:rPr b="1" i="0" dirty="0">
                <a:solidFill>
                  <a:srgbClr val="00B050"/>
                </a:solidFill>
                <a:latin typeface="Arial"/>
              </a:rPr>
              <a:t>buffer 200 nm, </a:t>
            </a:r>
            <a:r>
              <a:rPr lang="en-US" b="1" i="0" dirty="0">
                <a:solidFill>
                  <a:srgbClr val="00B050"/>
                </a:solidFill>
                <a:latin typeface="Arial"/>
              </a:rPr>
              <a:t>hp </a:t>
            </a:r>
            <a:r>
              <a:rPr b="1" i="0" dirty="0">
                <a:solidFill>
                  <a:srgbClr val="00B050"/>
                </a:solidFill>
                <a:latin typeface="Arial"/>
              </a:rPr>
              <a:t>gap 3.4 µm</a:t>
            </a:r>
            <a:r>
              <a:rPr lang="en-US" b="1" i="0" dirty="0">
                <a:solidFill>
                  <a:srgbClr val="00B050"/>
                </a:solidFill>
                <a:latin typeface="Arial"/>
              </a:rPr>
              <a:t> for variant 1 – TBD – expected </a:t>
            </a:r>
            <a:r>
              <a:rPr lang="en-US" b="1" i="0" dirty="0" err="1">
                <a:solidFill>
                  <a:srgbClr val="00B050"/>
                </a:solidFill>
                <a:latin typeface="Arial"/>
              </a:rPr>
              <a:t>Vpi</a:t>
            </a:r>
            <a:r>
              <a:rPr lang="en-US" b="1" i="0" dirty="0">
                <a:solidFill>
                  <a:srgbClr val="00B050"/>
                </a:solidFill>
                <a:latin typeface="Arial"/>
              </a:rPr>
              <a:t> &lt; 1.95 @ 1575</a:t>
            </a:r>
          </a:p>
          <a:p>
            <a:r>
              <a:rPr lang="en-US" b="1" dirty="0">
                <a:solidFill>
                  <a:srgbClr val="00B050"/>
                </a:solidFill>
                <a:latin typeface="Arial"/>
              </a:rPr>
              <a:t>buffer 200 nm, hp gap 3.4 µm for variant 2  - TBD – expected </a:t>
            </a:r>
            <a:r>
              <a:rPr lang="en-US" b="1" dirty="0" err="1">
                <a:solidFill>
                  <a:srgbClr val="00B050"/>
                </a:solidFill>
                <a:latin typeface="Arial"/>
              </a:rPr>
              <a:t>Vpi</a:t>
            </a:r>
            <a:r>
              <a:rPr lang="en-US" b="1" dirty="0">
                <a:solidFill>
                  <a:srgbClr val="00B050"/>
                </a:solidFill>
                <a:latin typeface="Arial"/>
              </a:rPr>
              <a:t> &lt; 1.95 @ 1575</a:t>
            </a:r>
          </a:p>
          <a:p>
            <a:r>
              <a:rPr lang="en-US" b="1" dirty="0">
                <a:solidFill>
                  <a:srgbClr val="00B050"/>
                </a:solidFill>
                <a:latin typeface="Arial"/>
              </a:rPr>
              <a:t>buffer 200 nm, hp gap 3.4 µm for variant 3  - TBD – expected </a:t>
            </a:r>
            <a:r>
              <a:rPr lang="en-US" b="1" dirty="0" err="1">
                <a:solidFill>
                  <a:srgbClr val="00B050"/>
                </a:solidFill>
                <a:latin typeface="Arial"/>
              </a:rPr>
              <a:t>Vpi</a:t>
            </a:r>
            <a:r>
              <a:rPr lang="en-US" b="1" dirty="0">
                <a:solidFill>
                  <a:srgbClr val="00B050"/>
                </a:solidFill>
                <a:latin typeface="Arial"/>
              </a:rPr>
              <a:t> &lt; 2.35 @ 1575</a:t>
            </a:r>
          </a:p>
        </p:txBody>
      </p:sp>
      <p:sp>
        <p:nvSpPr>
          <p:cNvPr id="13" name="TextBox 12"/>
          <p:cNvSpPr txBox="1"/>
          <p:nvPr/>
        </p:nvSpPr>
        <p:spPr>
          <a:xfrm>
            <a:off x="10277856" y="3127379"/>
            <a:ext cx="1737360" cy="301621"/>
          </a:xfrm>
          <a:prstGeom prst="rect">
            <a:avLst/>
          </a:prstGeom>
          <a:noFill/>
        </p:spPr>
        <p:txBody>
          <a:bodyPr wrap="square" lIns="45720" tIns="27432" rIns="45720" bIns="27432" anchor="ctr">
            <a:spAutoFit/>
          </a:bodyPr>
          <a:lstStyle/>
          <a:p>
            <a:pPr algn="ctr">
              <a:spcAft>
                <a:spcPts val="0"/>
              </a:spcAft>
            </a:pPr>
            <a:r>
              <a:rPr sz="1600" b="1" i="0" dirty="0">
                <a:solidFill>
                  <a:srgbClr val="1F4E79"/>
                </a:solidFill>
                <a:latin typeface="Arial"/>
              </a:rPr>
              <a:t>0.026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103120"/>
            <a:ext cx="10058400" cy="2377440"/>
          </a:xfrm>
          <a:prstGeom prst="rect">
            <a:avLst/>
          </a:prstGeom>
          <a:noFill/>
        </p:spPr>
        <p:txBody>
          <a:bodyPr wrap="square" lIns="45720" tIns="27432" rIns="45720" bIns="27432" anchor="t">
            <a:spAutoFit/>
          </a:bodyPr>
          <a:lstStyle/>
          <a:p>
            <a:pPr algn="ctr">
              <a:spcAft>
                <a:spcPts val="600"/>
              </a:spcAft>
            </a:pPr>
            <a:r>
              <a:rPr sz="3400" b="1" i="0">
                <a:solidFill>
                  <a:srgbClr val="222222"/>
                </a:solidFill>
                <a:latin typeface="Arial"/>
              </a:rPr>
              <a:t>Etching the LN slab vs a SiO₂ buffer</a:t>
            </a:r>
          </a:p>
          <a:p>
            <a:pPr algn="ctr">
              <a:spcAft>
                <a:spcPts val="600"/>
              </a:spcAft>
            </a:pPr>
            <a:r>
              <a:rPr sz="2400" b="0" i="0">
                <a:solidFill>
                  <a:srgbClr val="222222"/>
                </a:solidFill>
                <a:latin typeface="Arial"/>
              </a:rPr>
              <a:t>Can we remove the lateral standing wave of the lifted electrodes?</a:t>
            </a:r>
          </a:p>
          <a:p>
            <a:pPr algn="ctr">
              <a:spcAft>
                <a:spcPts val="600"/>
              </a:spcAft>
            </a:pPr>
            <a:r>
              <a:rPr sz="1700" b="0" i="0">
                <a:solidFill>
                  <a:srgbClr val="595959"/>
                </a:solidFill>
                <a:latin typeface="Arial"/>
              </a:rPr>
              <a:t>λ = 1575 nm · 550 nm film, 275 nm etch · gap 4.2 µm · x_lift 7 µm · 2D FEM (femwell)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Geometries compared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Same rib, cap and lifted electrodes; only what sits under the gold changes</a:t>
            </a:r>
          </a:p>
        </p:txBody>
      </p:sp>
      <p:pic>
        <p:nvPicPr>
          <p:cNvPr id="4" name="Picture 3" descr="geoms6.png"/>
          <p:cNvPicPr>
            <a:picLocks noChangeAspect="1"/>
          </p:cNvPicPr>
          <p:nvPr/>
        </p:nvPicPr>
        <p:blipFill>
          <a:blip r:embed="rId2"/>
          <a:stretch>
            <a:fillRect/>
          </a:stretch>
        </p:blipFill>
        <p:spPr>
          <a:xfrm>
            <a:off x="822960" y="1600200"/>
            <a:ext cx="10209086" cy="4343400"/>
          </a:xfrm>
          <a:prstGeom prst="rect">
            <a:avLst/>
          </a:prstGeom>
        </p:spPr>
      </p:pic>
      <p:sp>
        <p:nvSpPr>
          <p:cNvPr id="5" name="TextBox 4"/>
          <p:cNvSpPr txBox="1"/>
          <p:nvPr/>
        </p:nvSpPr>
        <p:spPr>
          <a:xfrm>
            <a:off x="822960" y="6035040"/>
            <a:ext cx="10972800" cy="457200"/>
          </a:xfrm>
          <a:prstGeom prst="rect">
            <a:avLst/>
          </a:prstGeom>
          <a:noFill/>
        </p:spPr>
        <p:txBody>
          <a:bodyPr wrap="square" lIns="45720" tIns="27432" rIns="45720" bIns="27432" anchor="t">
            <a:spAutoFit/>
          </a:bodyPr>
          <a:lstStyle/>
          <a:p>
            <a:pPr algn="l">
              <a:spcAft>
                <a:spcPts val="600"/>
              </a:spcAft>
            </a:pPr>
            <a:r>
              <a:rPr sz="1300" b="1" i="0">
                <a:solidFill>
                  <a:srgbClr val="6B7582"/>
                </a:solidFill>
                <a:latin typeface="Arial"/>
              </a:rPr>
              <a:t>LN </a:t>
            </a:r>
            <a:r>
              <a:rPr sz="1300" b="0" i="0">
                <a:solidFill>
                  <a:srgbClr val="595959"/>
                </a:solidFill>
                <a:latin typeface="Arial"/>
              </a:rPr>
              <a:t>slab   </a:t>
            </a:r>
            <a:r>
              <a:rPr sz="1300" b="1" i="0">
                <a:solidFill>
                  <a:srgbClr val="4C8FD0"/>
                </a:solidFill>
                <a:latin typeface="Arial"/>
              </a:rPr>
              <a:t>SiO₂ </a:t>
            </a:r>
            <a:r>
              <a:rPr sz="1300" b="0" i="0">
                <a:solidFill>
                  <a:srgbClr val="595959"/>
                </a:solidFill>
                <a:latin typeface="Arial"/>
              </a:rPr>
              <a:t>buffer / lift / BOX   </a:t>
            </a:r>
            <a:r>
              <a:rPr sz="1300" b="1" i="0">
                <a:solidFill>
                  <a:srgbClr val="C99310"/>
                </a:solidFill>
                <a:latin typeface="Arial"/>
              </a:rPr>
              <a:t>Au </a:t>
            </a:r>
            <a:r>
              <a:rPr sz="1300" b="0" i="0">
                <a:solidFill>
                  <a:srgbClr val="595959"/>
                </a:solidFill>
                <a:latin typeface="Arial"/>
              </a:rPr>
              <a:t>electrodes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Etched slab: IL and Vπ·L vs slab width</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λ = 1575 nm, gap 4.2 µm. slab_w = gap + 2d (d: slab edge beyond the gold inner edge)</a:t>
            </a:r>
          </a:p>
        </p:txBody>
      </p:sp>
      <p:graphicFrame>
        <p:nvGraphicFramePr>
          <p:cNvPr id="4" name="Chart 3"/>
          <p:cNvGraphicFramePr>
            <a:graphicFrameLocks noGrp="1"/>
          </p:cNvGraphicFramePr>
          <p:nvPr/>
        </p:nvGraphicFramePr>
        <p:xfrm>
          <a:off x="411480" y="1600200"/>
          <a:ext cx="7863840" cy="333756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411480" y="4892040"/>
          <a:ext cx="7863840" cy="1783080"/>
        </p:xfrm>
        <a:graphic>
          <a:graphicData uri="http://schemas.openxmlformats.org/drawingml/2006/chart">
            <c:chart xmlns:c="http://schemas.openxmlformats.org/drawingml/2006/chart" r:id="rId3"/>
          </a:graphicData>
        </a:graphic>
      </p:graphicFrame>
      <p:sp>
        <p:nvSpPr>
          <p:cNvPr id="6" name="Rounded Rectangle 5"/>
          <p:cNvSpPr/>
          <p:nvPr/>
        </p:nvSpPr>
        <p:spPr>
          <a:xfrm>
            <a:off x="8549640" y="169164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49640" y="180136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1BAF7A"/>
                </a:solidFill>
                <a:latin typeface="Arial"/>
              </a:rPr>
              <a:t>≤ 0.003 dB/cm</a:t>
            </a:r>
          </a:p>
        </p:txBody>
      </p:sp>
      <p:sp>
        <p:nvSpPr>
          <p:cNvPr id="8" name="TextBox 7"/>
          <p:cNvSpPr txBox="1"/>
          <p:nvPr/>
        </p:nvSpPr>
        <p:spPr>
          <a:xfrm>
            <a:off x="8641080" y="2542032"/>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slab ends in the gap</a:t>
            </a:r>
          </a:p>
          <a:p>
            <a:pPr algn="ctr">
              <a:spcAft>
                <a:spcPts val="0"/>
              </a:spcAft>
            </a:pPr>
            <a:r>
              <a:rPr sz="1100" b="0" i="0">
                <a:solidFill>
                  <a:srgbClr val="595959"/>
                </a:solidFill>
                <a:latin typeface="Arial"/>
              </a:rPr>
              <a:t>but Vπ·L 3.1 – 5.4 V·cm</a:t>
            </a:r>
          </a:p>
        </p:txBody>
      </p:sp>
      <p:sp>
        <p:nvSpPr>
          <p:cNvPr id="9" name="Rounded Rectangle 8"/>
          <p:cNvSpPr/>
          <p:nvPr/>
        </p:nvSpPr>
        <p:spPr>
          <a:xfrm>
            <a:off x="8549640" y="324612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49640" y="335584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EB6834"/>
                </a:solidFill>
                <a:latin typeface="Arial"/>
              </a:rPr>
              <a:t>0.04 – 7.4</a:t>
            </a:r>
          </a:p>
        </p:txBody>
      </p:sp>
      <p:sp>
        <p:nvSpPr>
          <p:cNvPr id="11" name="TextBox 10"/>
          <p:cNvSpPr txBox="1"/>
          <p:nvPr/>
        </p:nvSpPr>
        <p:spPr>
          <a:xfrm>
            <a:off x="8641080" y="4096511"/>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dB/cm, slab ends in the gold</a:t>
            </a:r>
          </a:p>
          <a:p>
            <a:pPr algn="ctr">
              <a:spcAft>
                <a:spcPts val="0"/>
              </a:spcAft>
            </a:pPr>
            <a:r>
              <a:rPr sz="1100" b="0" i="0">
                <a:solidFill>
                  <a:srgbClr val="595959"/>
                </a:solidFill>
                <a:latin typeface="Arial"/>
              </a:rPr>
              <a:t>ripple period 1.79 µm in slab_w</a:t>
            </a:r>
          </a:p>
        </p:txBody>
      </p:sp>
      <p:sp>
        <p:nvSpPr>
          <p:cNvPr id="12" name="Rounded Rectangle 11"/>
          <p:cNvSpPr/>
          <p:nvPr/>
        </p:nvSpPr>
        <p:spPr>
          <a:xfrm>
            <a:off x="8549640" y="480060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49640" y="491032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 standard</a:t>
            </a:r>
          </a:p>
        </p:txBody>
      </p:sp>
      <p:sp>
        <p:nvSpPr>
          <p:cNvPr id="14" name="TextBox 13"/>
          <p:cNvSpPr txBox="1"/>
          <p:nvPr/>
        </p:nvSpPr>
        <p:spPr>
          <a:xfrm>
            <a:off x="8641080" y="5650992"/>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slab past the gold/SiO₂ edge</a:t>
            </a:r>
          </a:p>
          <a:p>
            <a:pPr algn="ctr">
              <a:spcAft>
                <a:spcPts val="0"/>
              </a:spcAft>
            </a:pPr>
            <a:r>
              <a:rPr sz="1100" b="0" i="0">
                <a:solidFill>
                  <a:srgbClr val="595959"/>
                </a:solidFill>
                <a:latin typeface="Arial"/>
              </a:rPr>
              <a:t>IL 0.228 dB/cm at x_lift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Where the light goes</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|E|² along the slab mid-height; shaded = gold on the slab region, dotted = slab end</a:t>
            </a:r>
          </a:p>
        </p:txBody>
      </p:sp>
      <p:pic>
        <p:nvPicPr>
          <p:cNvPr id="4" name="Picture 3" descr="fieldcuts.png"/>
          <p:cNvPicPr>
            <a:picLocks noChangeAspect="1"/>
          </p:cNvPicPr>
          <p:nvPr/>
        </p:nvPicPr>
        <p:blipFill>
          <a:blip r:embed="rId2"/>
          <a:stretch>
            <a:fillRect/>
          </a:stretch>
        </p:blipFill>
        <p:spPr>
          <a:xfrm>
            <a:off x="822960" y="1600200"/>
            <a:ext cx="9844709"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Countermeasure 1: SiO₂ spacer at the slab end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Slab ending in the gold, SiO₂ spacer of width w between slab end and gold (fabrication: not viable)</a:t>
            </a:r>
          </a:p>
        </p:txBody>
      </p:sp>
      <p:pic>
        <p:nvPicPr>
          <p:cNvPr id="4" name="Picture 3" descr="geom_spacer.png"/>
          <p:cNvPicPr>
            <a:picLocks noChangeAspect="1"/>
          </p:cNvPicPr>
          <p:nvPr/>
        </p:nvPicPr>
        <p:blipFill>
          <a:blip r:embed="rId2"/>
          <a:stretch>
            <a:fillRect/>
          </a:stretch>
        </p:blipFill>
        <p:spPr>
          <a:xfrm>
            <a:off x="502920" y="1645920"/>
            <a:ext cx="4206240" cy="840030"/>
          </a:xfrm>
          <a:prstGeom prst="rect">
            <a:avLst/>
          </a:prstGeom>
        </p:spPr>
      </p:pic>
      <p:graphicFrame>
        <p:nvGraphicFramePr>
          <p:cNvPr id="5" name="Chart 4"/>
          <p:cNvGraphicFramePr>
            <a:graphicFrameLocks noGrp="1"/>
          </p:cNvGraphicFramePr>
          <p:nvPr/>
        </p:nvGraphicFramePr>
        <p:xfrm>
          <a:off x="4846320" y="1600200"/>
          <a:ext cx="6949440" cy="493776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02920" y="3017520"/>
          <a:ext cx="4114800" cy="150876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01752">
                <a:tc>
                  <a:txBody>
                    <a:bodyPr/>
                    <a:lstStyle/>
                    <a:p>
                      <a:pPr algn="l"/>
                      <a:r>
                        <a:rPr sz="1200" b="1" i="0">
                          <a:solidFill>
                            <a:srgbClr val="FFFFFF"/>
                          </a:solidFill>
                          <a:latin typeface="Arial"/>
                        </a:rPr>
                        <a:t>spacer w</a:t>
                      </a:r>
                    </a:p>
                  </a:txBody>
                  <a:tcPr marL="54864" marR="54864" marT="18288" marB="18288" anchor="ctr">
                    <a:solidFill>
                      <a:srgbClr val="1F4E79"/>
                    </a:solidFill>
                  </a:tcPr>
                </a:tc>
                <a:tc>
                  <a:txBody>
                    <a:bodyPr/>
                    <a:lstStyle/>
                    <a:p>
                      <a:pPr algn="ctr"/>
                      <a:r>
                        <a:rPr sz="1200" b="1" i="0">
                          <a:solidFill>
                            <a:srgbClr val="FFFFFF"/>
                          </a:solidFill>
                          <a:latin typeface="Arial"/>
                        </a:rPr>
                        <a:t>peak IL</a:t>
                      </a:r>
                    </a:p>
                  </a:txBody>
                  <a:tcPr marL="54864" marR="54864" marT="18288" marB="18288" anchor="ctr">
                    <a:solidFill>
                      <a:srgbClr val="1F4E79"/>
                    </a:solidFill>
                  </a:tcPr>
                </a:tc>
                <a:tc>
                  <a:txBody>
                    <a:bodyPr/>
                    <a:lstStyle/>
                    <a:p>
                      <a:pPr algn="ctr"/>
                      <a:r>
                        <a:rPr sz="1200" b="1" i="0">
                          <a:solidFill>
                            <a:srgbClr val="FFFFFF"/>
                          </a:solidFill>
                          <a:latin typeface="Arial"/>
                        </a:rPr>
                        <a:t>at slab_w</a:t>
                      </a:r>
                    </a:p>
                  </a:txBody>
                  <a:tcPr marL="54864" marR="54864" marT="18288" marB="18288" anchor="ctr">
                    <a:solidFill>
                      <a:srgbClr val="1F4E79"/>
                    </a:solidFill>
                  </a:tcPr>
                </a:tc>
                <a:extLst>
                  <a:ext uri="{0D108BD9-81ED-4DB2-BD59-A6C34878D82A}">
                    <a16:rowId xmlns:a16="http://schemas.microsoft.com/office/drawing/2014/main" val="10000"/>
                  </a:ext>
                </a:extLst>
              </a:tr>
              <a:tr h="301752">
                <a:tc>
                  <a:txBody>
                    <a:bodyPr/>
                    <a:lstStyle/>
                    <a:p>
                      <a:pPr algn="l"/>
                      <a:r>
                        <a:rPr sz="1200" b="0" i="0">
                          <a:solidFill>
                            <a:srgbClr val="222222"/>
                          </a:solidFill>
                          <a:latin typeface="Arial"/>
                        </a:rPr>
                        <a:t>none</a:t>
                      </a:r>
                    </a:p>
                  </a:txBody>
                  <a:tcPr marL="54864" marR="54864" marT="18288" marB="18288" anchor="ctr">
                    <a:solidFill>
                      <a:srgbClr val="F4F6F9"/>
                    </a:solidFill>
                  </a:tcPr>
                </a:tc>
                <a:tc>
                  <a:txBody>
                    <a:bodyPr/>
                    <a:lstStyle/>
                    <a:p>
                      <a:pPr algn="ctr"/>
                      <a:r>
                        <a:rPr sz="1200" b="0" i="0">
                          <a:solidFill>
                            <a:srgbClr val="222222"/>
                          </a:solidFill>
                          <a:latin typeface="Arial"/>
                        </a:rPr>
                        <a:t>2.88</a:t>
                      </a:r>
                    </a:p>
                  </a:txBody>
                  <a:tcPr marL="54864" marR="54864" marT="18288" marB="18288" anchor="ctr">
                    <a:solidFill>
                      <a:srgbClr val="F4F6F9"/>
                    </a:solidFill>
                  </a:tcPr>
                </a:tc>
                <a:tc>
                  <a:txBody>
                    <a:bodyPr/>
                    <a:lstStyle/>
                    <a:p>
                      <a:pPr algn="ctr"/>
                      <a:r>
                        <a:rPr sz="1200" b="0" i="0">
                          <a:solidFill>
                            <a:srgbClr val="222222"/>
                          </a:solidFill>
                          <a:latin typeface="Arial"/>
                        </a:rPr>
                        <a:t>6.75</a:t>
                      </a:r>
                    </a:p>
                  </a:txBody>
                  <a:tcPr marL="54864" marR="54864" marT="18288" marB="18288" anchor="ctr">
                    <a:solidFill>
                      <a:srgbClr val="F4F6F9"/>
                    </a:solidFill>
                  </a:tcPr>
                </a:tc>
                <a:extLst>
                  <a:ext uri="{0D108BD9-81ED-4DB2-BD59-A6C34878D82A}">
                    <a16:rowId xmlns:a16="http://schemas.microsoft.com/office/drawing/2014/main" val="10001"/>
                  </a:ext>
                </a:extLst>
              </a:tr>
              <a:tr h="301752">
                <a:tc>
                  <a:txBody>
                    <a:bodyPr/>
                    <a:lstStyle/>
                    <a:p>
                      <a:pPr algn="l"/>
                      <a:r>
                        <a:rPr sz="1200" b="0" i="0">
                          <a:solidFill>
                            <a:srgbClr val="222222"/>
                          </a:solidFill>
                          <a:latin typeface="Arial"/>
                        </a:rPr>
                        <a:t>100 nm</a:t>
                      </a:r>
                    </a:p>
                  </a:txBody>
                  <a:tcPr marL="54864" marR="54864" marT="18288" marB="18288" anchor="ctr">
                    <a:solidFill>
                      <a:srgbClr val="DDE3EA"/>
                    </a:solidFill>
                  </a:tcPr>
                </a:tc>
                <a:tc>
                  <a:txBody>
                    <a:bodyPr/>
                    <a:lstStyle/>
                    <a:p>
                      <a:pPr algn="ctr"/>
                      <a:r>
                        <a:rPr sz="1200" b="0" i="0">
                          <a:solidFill>
                            <a:srgbClr val="222222"/>
                          </a:solidFill>
                          <a:latin typeface="Arial"/>
                        </a:rPr>
                        <a:t>2.88</a:t>
                      </a:r>
                    </a:p>
                  </a:txBody>
                  <a:tcPr marL="54864" marR="54864" marT="18288" marB="18288" anchor="ctr">
                    <a:solidFill>
                      <a:srgbClr val="DDE3EA"/>
                    </a:solidFill>
                  </a:tcPr>
                </a:tc>
                <a:tc>
                  <a:txBody>
                    <a:bodyPr/>
                    <a:lstStyle/>
                    <a:p>
                      <a:pPr algn="ctr"/>
                      <a:r>
                        <a:rPr sz="1200" b="0" i="0">
                          <a:solidFill>
                            <a:srgbClr val="222222"/>
                          </a:solidFill>
                          <a:latin typeface="Arial"/>
                        </a:rPr>
                        <a:t>6.60</a:t>
                      </a:r>
                    </a:p>
                  </a:txBody>
                  <a:tcPr marL="54864" marR="54864" marT="18288" marB="18288" anchor="ctr">
                    <a:solidFill>
                      <a:srgbClr val="DDE3EA"/>
                    </a:solidFill>
                  </a:tcPr>
                </a:tc>
                <a:extLst>
                  <a:ext uri="{0D108BD9-81ED-4DB2-BD59-A6C34878D82A}">
                    <a16:rowId xmlns:a16="http://schemas.microsoft.com/office/drawing/2014/main" val="10002"/>
                  </a:ext>
                </a:extLst>
              </a:tr>
              <a:tr h="301752">
                <a:tc>
                  <a:txBody>
                    <a:bodyPr/>
                    <a:lstStyle/>
                    <a:p>
                      <a:pPr algn="l"/>
                      <a:r>
                        <a:rPr sz="1200" b="0" i="0">
                          <a:solidFill>
                            <a:srgbClr val="222222"/>
                          </a:solidFill>
                          <a:latin typeface="Arial"/>
                        </a:rPr>
                        <a:t>300 nm</a:t>
                      </a:r>
                    </a:p>
                  </a:txBody>
                  <a:tcPr marL="54864" marR="54864" marT="18288" marB="18288" anchor="ctr">
                    <a:solidFill>
                      <a:srgbClr val="F4F6F9"/>
                    </a:solidFill>
                  </a:tcPr>
                </a:tc>
                <a:tc>
                  <a:txBody>
                    <a:bodyPr/>
                    <a:lstStyle/>
                    <a:p>
                      <a:pPr algn="ctr"/>
                      <a:r>
                        <a:rPr sz="1200" b="0" i="0">
                          <a:solidFill>
                            <a:srgbClr val="222222"/>
                          </a:solidFill>
                          <a:latin typeface="Arial"/>
                        </a:rPr>
                        <a:t>2.93</a:t>
                      </a:r>
                    </a:p>
                  </a:txBody>
                  <a:tcPr marL="54864" marR="54864" marT="18288" marB="18288" anchor="ctr">
                    <a:solidFill>
                      <a:srgbClr val="F4F6F9"/>
                    </a:solidFill>
                  </a:tcPr>
                </a:tc>
                <a:tc>
                  <a:txBody>
                    <a:bodyPr/>
                    <a:lstStyle/>
                    <a:p>
                      <a:pPr algn="ctr"/>
                      <a:r>
                        <a:rPr sz="1200" b="0" i="0">
                          <a:solidFill>
                            <a:srgbClr val="222222"/>
                          </a:solidFill>
                          <a:latin typeface="Arial"/>
                        </a:rPr>
                        <a:t>6.50</a:t>
                      </a:r>
                    </a:p>
                  </a:txBody>
                  <a:tcPr marL="54864" marR="54864" marT="18288" marB="18288" anchor="ctr">
                    <a:solidFill>
                      <a:srgbClr val="F4F6F9"/>
                    </a:solidFill>
                  </a:tcPr>
                </a:tc>
                <a:extLst>
                  <a:ext uri="{0D108BD9-81ED-4DB2-BD59-A6C34878D82A}">
                    <a16:rowId xmlns:a16="http://schemas.microsoft.com/office/drawing/2014/main" val="10003"/>
                  </a:ext>
                </a:extLst>
              </a:tr>
              <a:tr h="301752">
                <a:tc>
                  <a:txBody>
                    <a:bodyPr/>
                    <a:lstStyle/>
                    <a:p>
                      <a:pPr algn="l"/>
                      <a:r>
                        <a:rPr sz="1200" b="0" i="0">
                          <a:solidFill>
                            <a:srgbClr val="222222"/>
                          </a:solidFill>
                          <a:latin typeface="Arial"/>
                        </a:rPr>
                        <a:t>600 nm</a:t>
                      </a:r>
                    </a:p>
                  </a:txBody>
                  <a:tcPr marL="54864" marR="54864" marT="18288" marB="18288" anchor="ctr">
                    <a:solidFill>
                      <a:srgbClr val="DDE3EA"/>
                    </a:solidFill>
                  </a:tcPr>
                </a:tc>
                <a:tc>
                  <a:txBody>
                    <a:bodyPr/>
                    <a:lstStyle/>
                    <a:p>
                      <a:pPr algn="ctr"/>
                      <a:r>
                        <a:rPr sz="1200" b="0" i="0">
                          <a:solidFill>
                            <a:srgbClr val="222222"/>
                          </a:solidFill>
                          <a:latin typeface="Arial"/>
                        </a:rPr>
                        <a:t>3.04</a:t>
                      </a:r>
                    </a:p>
                  </a:txBody>
                  <a:tcPr marL="54864" marR="54864" marT="18288" marB="18288" anchor="ctr">
                    <a:solidFill>
                      <a:srgbClr val="DDE3EA"/>
                    </a:solidFill>
                  </a:tcPr>
                </a:tc>
                <a:tc>
                  <a:txBody>
                    <a:bodyPr/>
                    <a:lstStyle/>
                    <a:p>
                      <a:pPr algn="ctr"/>
                      <a:r>
                        <a:rPr sz="1200" b="0" i="0">
                          <a:solidFill>
                            <a:srgbClr val="222222"/>
                          </a:solidFill>
                          <a:latin typeface="Arial"/>
                        </a:rPr>
                        <a:t>6.50</a:t>
                      </a:r>
                    </a:p>
                  </a:txBody>
                  <a:tcPr marL="54864" marR="54864" marT="18288" marB="18288" anchor="ctr">
                    <a:solidFill>
                      <a:srgbClr val="DDE3E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4663440"/>
            <a:ext cx="4114800" cy="1280160"/>
          </a:xfrm>
          <a:prstGeom prst="rect">
            <a:avLst/>
          </a:prstGeom>
          <a:noFill/>
        </p:spPr>
        <p:txBody>
          <a:bodyPr wrap="square" lIns="45720" tIns="27432" rIns="45720" bIns="27432" anchor="t">
            <a:spAutoFit/>
          </a:bodyPr>
          <a:lstStyle/>
          <a:p>
            <a:pPr algn="l">
              <a:spcAft>
                <a:spcPts val="600"/>
              </a:spcAft>
            </a:pPr>
            <a:r>
              <a:rPr sz="1400" b="1" i="0">
                <a:solidFill>
                  <a:srgbClr val="1F4E79"/>
                </a:solidFill>
                <a:latin typeface="Arial"/>
              </a:rPr>
              <a:t>The ripple survives at every width</a:t>
            </a:r>
          </a:p>
          <a:p>
            <a:pPr algn="l">
              <a:spcAft>
                <a:spcPts val="600"/>
              </a:spcAft>
            </a:pPr>
            <a:r>
              <a:rPr sz="1250" b="0" i="0">
                <a:solidFill>
                  <a:srgbClr val="222222"/>
                </a:solidFill>
                <a:latin typeface="Arial"/>
              </a:rPr>
              <a:t>Gold over SiO₂ cannot carry the wave (n &lt; n_rib): the spacer is just another mirror, it only shifts the peaks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Countermeasure 2: no wave under the gold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A slab thinner than ~180 nm under the gold cannot carry the wave (1D model, 1575 nm)</a:t>
            </a:r>
          </a:p>
        </p:txBody>
      </p:sp>
      <p:pic>
        <p:nvPicPr>
          <p:cNvPr id="4" name="Picture 3" descr="nsw_vs_thickness.png"/>
          <p:cNvPicPr>
            <a:picLocks noChangeAspect="1"/>
          </p:cNvPicPr>
          <p:nvPr/>
        </p:nvPicPr>
        <p:blipFill>
          <a:blip r:embed="rId2"/>
          <a:stretch>
            <a:fillRect/>
          </a:stretch>
        </p:blipFill>
        <p:spPr>
          <a:xfrm>
            <a:off x="502920" y="1645920"/>
            <a:ext cx="6970120" cy="4572000"/>
          </a:xfrm>
          <a:prstGeom prst="rect">
            <a:avLst/>
          </a:prstGeom>
        </p:spPr>
      </p:pic>
      <p:pic>
        <p:nvPicPr>
          <p:cNvPr id="5" name="Picture 4" descr="geom_deep.png"/>
          <p:cNvPicPr>
            <a:picLocks noChangeAspect="1"/>
          </p:cNvPicPr>
          <p:nvPr/>
        </p:nvPicPr>
        <p:blipFill>
          <a:blip r:embed="rId4"/>
          <a:stretch>
            <a:fillRect/>
          </a:stretch>
        </p:blipFill>
        <p:spPr>
          <a:xfrm>
            <a:off x="7818120" y="1965960"/>
            <a:ext cx="3931920" cy="1024038"/>
          </a:xfrm>
          <a:prstGeom prst="rect">
            <a:avLst/>
          </a:prstGeom>
        </p:spPr>
      </p:pic>
      <p:sp>
        <p:nvSpPr>
          <p:cNvPr id="6" name="TextBox 5"/>
          <p:cNvSpPr txBox="1"/>
          <p:nvPr/>
        </p:nvSpPr>
        <p:spPr>
          <a:xfrm>
            <a:off x="7818120" y="1645920"/>
            <a:ext cx="3931920" cy="320040"/>
          </a:xfrm>
          <a:prstGeom prst="rect">
            <a:avLst/>
          </a:prstGeom>
          <a:noFill/>
        </p:spPr>
        <p:txBody>
          <a:bodyPr wrap="square" lIns="45720" tIns="27432" rIns="45720" bIns="27432" anchor="t">
            <a:spAutoFit/>
          </a:bodyPr>
          <a:lstStyle/>
          <a:p>
            <a:pPr algn="l">
              <a:spcAft>
                <a:spcPts val="600"/>
              </a:spcAft>
            </a:pPr>
            <a:r>
              <a:rPr sz="1300" b="1" i="0">
                <a:solidFill>
                  <a:srgbClr val="222222"/>
                </a:solidFill>
                <a:latin typeface="Arial"/>
              </a:rPr>
              <a:t>A. deeper rib etch (one etch, 150 nm slab)</a:t>
            </a:r>
          </a:p>
        </p:txBody>
      </p:sp>
      <p:pic>
        <p:nvPicPr>
          <p:cNvPr id="7" name="Picture 6" descr="geom_partial.png"/>
          <p:cNvPicPr>
            <a:picLocks noChangeAspect="1"/>
          </p:cNvPicPr>
          <p:nvPr/>
        </p:nvPicPr>
        <p:blipFill>
          <a:blip r:embed="rId3"/>
          <a:stretch>
            <a:fillRect/>
          </a:stretch>
        </p:blipFill>
        <p:spPr>
          <a:xfrm>
            <a:off x="7818120" y="3977639"/>
            <a:ext cx="3931920" cy="1024038"/>
          </a:xfrm>
          <a:prstGeom prst="rect">
            <a:avLst/>
          </a:prstGeom>
        </p:spPr>
      </p:pic>
      <p:sp>
        <p:nvSpPr>
          <p:cNvPr id="8" name="TextBox 7"/>
          <p:cNvSpPr txBox="1"/>
          <p:nvPr/>
        </p:nvSpPr>
        <p:spPr>
          <a:xfrm>
            <a:off x="7818120" y="3657600"/>
            <a:ext cx="3931920" cy="320040"/>
          </a:xfrm>
          <a:prstGeom prst="rect">
            <a:avLst/>
          </a:prstGeom>
          <a:noFill/>
        </p:spPr>
        <p:txBody>
          <a:bodyPr wrap="square" lIns="45720" tIns="27432" rIns="45720" bIns="27432" anchor="t">
            <a:spAutoFit/>
          </a:bodyPr>
          <a:lstStyle/>
          <a:p>
            <a:pPr algn="l">
              <a:spcAft>
                <a:spcPts val="600"/>
              </a:spcAft>
            </a:pPr>
            <a:r>
              <a:rPr sz="1300" b="1" i="0">
                <a:solidFill>
                  <a:srgbClr val="222222"/>
                </a:solidFill>
                <a:latin typeface="Arial"/>
              </a:rPr>
              <a:t>B. partial 2nd etch outside slab_w (125 nm)</a:t>
            </a:r>
          </a:p>
        </p:txBody>
      </p:sp>
      <p:sp>
        <p:nvSpPr>
          <p:cNvPr id="9" name="TextBox 8"/>
          <p:cNvSpPr txBox="1"/>
          <p:nvPr/>
        </p:nvSpPr>
        <p:spPr>
          <a:xfrm>
            <a:off x="7818120" y="5120640"/>
            <a:ext cx="4023360" cy="1188720"/>
          </a:xfrm>
          <a:prstGeom prst="rect">
            <a:avLst/>
          </a:prstGeom>
          <a:noFill/>
        </p:spPr>
        <p:txBody>
          <a:bodyPr wrap="square" lIns="45720" tIns="27432" rIns="45720" bIns="27432" anchor="t">
            <a:spAutoFit/>
          </a:bodyPr>
          <a:lstStyle/>
          <a:p>
            <a:pPr algn="l">
              <a:spcAft>
                <a:spcPts val="600"/>
              </a:spcAft>
            </a:pPr>
            <a:r>
              <a:rPr sz="1300" b="0" i="0">
                <a:solidFill>
                  <a:srgbClr val="595959"/>
                </a:solidFill>
                <a:latin typeface="Arial"/>
              </a:rPr>
              <a:t>Same materials, lift kept, no buffer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Option A: deeper rib etch</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550 nm film, slab left after the rib etch: 275 nm (today) → 175 / 150 / 125 nm</a:t>
            </a:r>
          </a:p>
        </p:txBody>
      </p:sp>
      <p:graphicFrame>
        <p:nvGraphicFramePr>
          <p:cNvPr id="4" name="Chart 3"/>
          <p:cNvGraphicFramePr>
            <a:graphicFrameLocks noGrp="1"/>
          </p:cNvGraphicFramePr>
          <p:nvPr/>
        </p:nvGraphicFramePr>
        <p:xfrm>
          <a:off x="411480" y="1600200"/>
          <a:ext cx="5852160" cy="493776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6537960" y="1691640"/>
          <a:ext cx="5257800" cy="3621024"/>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9184">
                <a:tc>
                  <a:txBody>
                    <a:bodyPr/>
                    <a:lstStyle/>
                    <a:p>
                      <a:pPr algn="l"/>
                      <a:r>
                        <a:rPr sz="1200" b="1" i="0">
                          <a:solidFill>
                            <a:srgbClr val="FFFFFF"/>
                          </a:solidFill>
                          <a:latin typeface="Arial"/>
                        </a:rPr>
                        <a:t>slab</a:t>
                      </a:r>
                    </a:p>
                  </a:txBody>
                  <a:tcPr marL="54864" marR="54864" marT="18288" marB="18288" anchor="ctr">
                    <a:solidFill>
                      <a:srgbClr val="1F4E79"/>
                    </a:solidFill>
                  </a:tcPr>
                </a:tc>
                <a:tc>
                  <a:txBody>
                    <a:bodyPr/>
                    <a:lstStyle/>
                    <a:p>
                      <a:pPr algn="ctr"/>
                      <a:r>
                        <a:rPr sz="1200" b="1" i="0">
                          <a:solidFill>
                            <a:srgbClr val="FFFFFF"/>
                          </a:solidFill>
                          <a:latin typeface="Arial"/>
                        </a:rPr>
                        <a:t>gap (µm)</a:t>
                      </a:r>
                    </a:p>
                  </a:txBody>
                  <a:tcPr marL="54864" marR="54864" marT="18288" marB="18288" anchor="ctr">
                    <a:solidFill>
                      <a:srgbClr val="1F4E79"/>
                    </a:solidFill>
                  </a:tcPr>
                </a:tc>
                <a:tc>
                  <a:txBody>
                    <a:bodyPr/>
                    <a:lstStyle/>
                    <a:p>
                      <a:pPr algn="ctr"/>
                      <a:r>
                        <a:rPr sz="1200" b="1" i="0">
                          <a:solidFill>
                            <a:srgbClr val="FFFFFF"/>
                          </a:solidFill>
                          <a:latin typeface="Arial"/>
                        </a:rPr>
                        <a:t>IL (dB/cm)</a:t>
                      </a:r>
                    </a:p>
                  </a:txBody>
                  <a:tcPr marL="54864" marR="54864" marT="18288" marB="18288" anchor="ctr">
                    <a:solidFill>
                      <a:srgbClr val="1F4E79"/>
                    </a:solidFill>
                  </a:tcPr>
                </a:tc>
                <a:tc>
                  <a:txBody>
                    <a:bodyPr/>
                    <a:lstStyle/>
                    <a:p>
                      <a:pPr algn="ctr"/>
                      <a:r>
                        <a:rPr sz="1200" b="1" i="0">
                          <a:solidFill>
                            <a:srgbClr val="FFFFFF"/>
                          </a:solidFill>
                          <a:latin typeface="Arial"/>
                        </a:rPr>
                        <a:t>Vπ·L (V·cm)</a:t>
                      </a:r>
                    </a:p>
                  </a:txBody>
                  <a:tcPr marL="54864" marR="54864" marT="18288" marB="18288" anchor="ctr">
                    <a:solidFill>
                      <a:srgbClr val="1F4E79"/>
                    </a:solidFill>
                  </a:tcPr>
                </a:tc>
                <a:extLst>
                  <a:ext uri="{0D108BD9-81ED-4DB2-BD59-A6C34878D82A}">
                    <a16:rowId xmlns:a16="http://schemas.microsoft.com/office/drawing/2014/main" val="10000"/>
                  </a:ext>
                </a:extLst>
              </a:tr>
              <a:tr h="329184">
                <a:tc>
                  <a:txBody>
                    <a:bodyPr/>
                    <a:lstStyle/>
                    <a:p>
                      <a:pPr algn="l"/>
                      <a:r>
                        <a:rPr sz="1200" b="0" i="0">
                          <a:solidFill>
                            <a:srgbClr val="222222"/>
                          </a:solidFill>
                          <a:latin typeface="Arial"/>
                        </a:rPr>
                        <a:t>275 nm (today)</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0.18 – 0.89</a:t>
                      </a:r>
                    </a:p>
                  </a:txBody>
                  <a:tcPr marL="54864" marR="54864" marT="18288" marB="18288" anchor="ctr">
                    <a:solidFill>
                      <a:srgbClr val="F4F6F9"/>
                    </a:solidFill>
                  </a:tcPr>
                </a:tc>
                <a:tc>
                  <a:txBody>
                    <a:bodyPr/>
                    <a:lstStyle/>
                    <a:p>
                      <a:pPr algn="ctr"/>
                      <a:r>
                        <a:rPr sz="1200" b="0" i="0">
                          <a:solidFill>
                            <a:srgbClr val="222222"/>
                          </a:solidFill>
                          <a:latin typeface="Arial"/>
                        </a:rPr>
                        <a:t>2.27</a:t>
                      </a:r>
                    </a:p>
                  </a:txBody>
                  <a:tcPr marL="54864" marR="54864" marT="18288" marB="18288" anchor="ctr">
                    <a:solidFill>
                      <a:srgbClr val="F4F6F9"/>
                    </a:solidFill>
                  </a:tcPr>
                </a:tc>
                <a:extLst>
                  <a:ext uri="{0D108BD9-81ED-4DB2-BD59-A6C34878D82A}">
                    <a16:rowId xmlns:a16="http://schemas.microsoft.com/office/drawing/2014/main" val="10001"/>
                  </a:ext>
                </a:extLst>
              </a:tr>
              <a:tr h="329184">
                <a:tc>
                  <a:txBody>
                    <a:bodyPr/>
                    <a:lstStyle/>
                    <a:p>
                      <a:pPr algn="l"/>
                      <a:r>
                        <a:rPr sz="1200" b="0" i="0">
                          <a:solidFill>
                            <a:srgbClr val="222222"/>
                          </a:solidFill>
                          <a:latin typeface="Arial"/>
                        </a:rPr>
                        <a:t>200 nm</a:t>
                      </a:r>
                    </a:p>
                  </a:txBody>
                  <a:tcPr marL="54864" marR="54864" marT="18288" marB="18288" anchor="ctr">
                    <a:solidFill>
                      <a:srgbClr val="DDE3EA"/>
                    </a:solidFill>
                  </a:tcPr>
                </a:tc>
                <a:tc>
                  <a:txBody>
                    <a:bodyPr/>
                    <a:lstStyle/>
                    <a:p>
                      <a:pPr algn="ctr"/>
                      <a:r>
                        <a:rPr sz="1200" b="0" i="0">
                          <a:solidFill>
                            <a:srgbClr val="222222"/>
                          </a:solidFill>
                          <a:latin typeface="Arial"/>
                        </a:rPr>
                        <a:t>4.2</a:t>
                      </a:r>
                    </a:p>
                  </a:txBody>
                  <a:tcPr marL="54864" marR="54864" marT="18288" marB="18288" anchor="ctr">
                    <a:solidFill>
                      <a:srgbClr val="DDE3EA"/>
                    </a:solidFill>
                  </a:tcPr>
                </a:tc>
                <a:tc>
                  <a:txBody>
                    <a:bodyPr/>
                    <a:lstStyle/>
                    <a:p>
                      <a:pPr algn="ctr"/>
                      <a:r>
                        <a:rPr sz="1200" b="0" i="0">
                          <a:solidFill>
                            <a:srgbClr val="222222"/>
                          </a:solidFill>
                          <a:latin typeface="Arial"/>
                        </a:rPr>
                        <a:t>0.0658</a:t>
                      </a:r>
                    </a:p>
                  </a:txBody>
                  <a:tcPr marL="54864" marR="54864" marT="18288" marB="18288" anchor="ctr">
                    <a:solidFill>
                      <a:srgbClr val="DDE3EA"/>
                    </a:solidFill>
                  </a:tcPr>
                </a:tc>
                <a:tc>
                  <a:txBody>
                    <a:bodyPr/>
                    <a:lstStyle/>
                    <a:p>
                      <a:pPr algn="ctr"/>
                      <a:r>
                        <a:rPr sz="1200" b="0" i="0">
                          <a:solidFill>
                            <a:srgbClr val="222222"/>
                          </a:solidFill>
                          <a:latin typeface="Arial"/>
                        </a:rPr>
                        <a:t>2.72</a:t>
                      </a:r>
                    </a:p>
                  </a:txBody>
                  <a:tcPr marL="54864" marR="54864" marT="18288" marB="18288" anchor="ctr">
                    <a:solidFill>
                      <a:srgbClr val="DDE3EA"/>
                    </a:solidFill>
                  </a:tcPr>
                </a:tc>
                <a:extLst>
                  <a:ext uri="{0D108BD9-81ED-4DB2-BD59-A6C34878D82A}">
                    <a16:rowId xmlns:a16="http://schemas.microsoft.com/office/drawing/2014/main" val="10002"/>
                  </a:ext>
                </a:extLst>
              </a:tr>
              <a:tr h="329184">
                <a:tc>
                  <a:txBody>
                    <a:bodyPr/>
                    <a:lstStyle/>
                    <a:p>
                      <a:pPr algn="l"/>
                      <a:r>
                        <a:rPr sz="1200" b="0" i="0">
                          <a:solidFill>
                            <a:srgbClr val="222222"/>
                          </a:solidFill>
                          <a:latin typeface="Arial"/>
                        </a:rPr>
                        <a:t>175 nm</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0.121</a:t>
                      </a:r>
                    </a:p>
                  </a:txBody>
                  <a:tcPr marL="54864" marR="54864" marT="18288" marB="18288" anchor="ctr">
                    <a:solidFill>
                      <a:srgbClr val="F4F6F9"/>
                    </a:solidFill>
                  </a:tcPr>
                </a:tc>
                <a:tc>
                  <a:txBody>
                    <a:bodyPr/>
                    <a:lstStyle/>
                    <a:p>
                      <a:pPr algn="ctr"/>
                      <a:r>
                        <a:rPr sz="1200" b="0" i="0">
                          <a:solidFill>
                            <a:srgbClr val="222222"/>
                          </a:solidFill>
                          <a:latin typeface="Arial"/>
                        </a:rPr>
                        <a:t>2.92</a:t>
                      </a:r>
                    </a:p>
                  </a:txBody>
                  <a:tcPr marL="54864" marR="54864" marT="18288" marB="18288" anchor="ctr">
                    <a:solidFill>
                      <a:srgbClr val="F4F6F9"/>
                    </a:solidFill>
                  </a:tcPr>
                </a:tc>
                <a:extLst>
                  <a:ext uri="{0D108BD9-81ED-4DB2-BD59-A6C34878D82A}">
                    <a16:rowId xmlns:a16="http://schemas.microsoft.com/office/drawing/2014/main" val="10003"/>
                  </a:ext>
                </a:extLst>
              </a:tr>
              <a:tr h="329184">
                <a:tc>
                  <a:txBody>
                    <a:bodyPr/>
                    <a:lstStyle/>
                    <a:p>
                      <a:pPr algn="l"/>
                      <a:r>
                        <a:rPr sz="1200" b="0" i="0">
                          <a:solidFill>
                            <a:srgbClr val="222222"/>
                          </a:solidFill>
                          <a:latin typeface="Arial"/>
                        </a:rPr>
                        <a:t>150 nm</a:t>
                      </a:r>
                    </a:p>
                  </a:txBody>
                  <a:tcPr marL="54864" marR="54864" marT="18288" marB="18288" anchor="ctr">
                    <a:solidFill>
                      <a:srgbClr val="DDE3EA"/>
                    </a:solidFill>
                  </a:tcPr>
                </a:tc>
                <a:tc>
                  <a:txBody>
                    <a:bodyPr/>
                    <a:lstStyle/>
                    <a:p>
                      <a:pPr algn="ctr"/>
                      <a:r>
                        <a:rPr sz="1200" b="0" i="0">
                          <a:solidFill>
                            <a:srgbClr val="222222"/>
                          </a:solidFill>
                          <a:latin typeface="Arial"/>
                        </a:rPr>
                        <a:t>4.2</a:t>
                      </a:r>
                    </a:p>
                  </a:txBody>
                  <a:tcPr marL="54864" marR="54864" marT="18288" marB="18288" anchor="ctr">
                    <a:solidFill>
                      <a:srgbClr val="DDE3EA"/>
                    </a:solidFill>
                  </a:tcPr>
                </a:tc>
                <a:tc>
                  <a:txBody>
                    <a:bodyPr/>
                    <a:lstStyle/>
                    <a:p>
                      <a:pPr algn="ctr"/>
                      <a:r>
                        <a:rPr sz="1200" b="0" i="0">
                          <a:solidFill>
                            <a:srgbClr val="222222"/>
                          </a:solidFill>
                          <a:latin typeface="Arial"/>
                        </a:rPr>
                        <a:t>0.00344</a:t>
                      </a:r>
                    </a:p>
                  </a:txBody>
                  <a:tcPr marL="54864" marR="54864" marT="18288" marB="18288" anchor="ctr">
                    <a:solidFill>
                      <a:srgbClr val="DDE3EA"/>
                    </a:solidFill>
                  </a:tcPr>
                </a:tc>
                <a:tc>
                  <a:txBody>
                    <a:bodyPr/>
                    <a:lstStyle/>
                    <a:p>
                      <a:pPr algn="ctr"/>
                      <a:r>
                        <a:rPr sz="1200" b="0" i="0">
                          <a:solidFill>
                            <a:srgbClr val="222222"/>
                          </a:solidFill>
                          <a:latin typeface="Arial"/>
                        </a:rPr>
                        <a:t>3.15</a:t>
                      </a:r>
                    </a:p>
                  </a:txBody>
                  <a:tcPr marL="54864" marR="54864" marT="18288" marB="18288" anchor="ctr">
                    <a:solidFill>
                      <a:srgbClr val="DDE3EA"/>
                    </a:solidFill>
                  </a:tcPr>
                </a:tc>
                <a:extLst>
                  <a:ext uri="{0D108BD9-81ED-4DB2-BD59-A6C34878D82A}">
                    <a16:rowId xmlns:a16="http://schemas.microsoft.com/office/drawing/2014/main" val="10004"/>
                  </a:ext>
                </a:extLst>
              </a:tr>
              <a:tr h="329184">
                <a:tc>
                  <a:txBody>
                    <a:bodyPr/>
                    <a:lstStyle/>
                    <a:p>
                      <a:pPr algn="l"/>
                      <a:r>
                        <a:rPr sz="1200" b="0" i="0">
                          <a:solidFill>
                            <a:srgbClr val="222222"/>
                          </a:solidFill>
                          <a:latin typeface="Arial"/>
                        </a:rPr>
                        <a:t>150 nm</a:t>
                      </a:r>
                    </a:p>
                  </a:txBody>
                  <a:tcPr marL="54864" marR="54864" marT="18288" marB="18288" anchor="ctr">
                    <a:solidFill>
                      <a:srgbClr val="F4F6F9"/>
                    </a:solidFill>
                  </a:tcPr>
                </a:tc>
                <a:tc>
                  <a:txBody>
                    <a:bodyPr/>
                    <a:lstStyle/>
                    <a:p>
                      <a:pPr algn="ctr"/>
                      <a:r>
                        <a:rPr sz="1200" b="0" i="0">
                          <a:solidFill>
                            <a:srgbClr val="222222"/>
                          </a:solidFill>
                          <a:latin typeface="Arial"/>
                        </a:rPr>
                        <a:t>3.6</a:t>
                      </a:r>
                    </a:p>
                  </a:txBody>
                  <a:tcPr marL="54864" marR="54864" marT="18288" marB="18288" anchor="ctr">
                    <a:solidFill>
                      <a:srgbClr val="F4F6F9"/>
                    </a:solidFill>
                  </a:tcPr>
                </a:tc>
                <a:tc>
                  <a:txBody>
                    <a:bodyPr/>
                    <a:lstStyle/>
                    <a:p>
                      <a:pPr algn="ctr"/>
                      <a:r>
                        <a:rPr sz="1200" b="0" i="0">
                          <a:solidFill>
                            <a:srgbClr val="222222"/>
                          </a:solidFill>
                          <a:latin typeface="Arial"/>
                        </a:rPr>
                        <a:t>0.0548</a:t>
                      </a:r>
                    </a:p>
                  </a:txBody>
                  <a:tcPr marL="54864" marR="54864" marT="18288" marB="18288" anchor="ctr">
                    <a:solidFill>
                      <a:srgbClr val="F4F6F9"/>
                    </a:solidFill>
                  </a:tcPr>
                </a:tc>
                <a:tc>
                  <a:txBody>
                    <a:bodyPr/>
                    <a:lstStyle/>
                    <a:p>
                      <a:pPr algn="ctr"/>
                      <a:r>
                        <a:rPr sz="1200" b="0" i="0">
                          <a:solidFill>
                            <a:srgbClr val="222222"/>
                          </a:solidFill>
                          <a:latin typeface="Arial"/>
                        </a:rPr>
                        <a:t>2.59</a:t>
                      </a:r>
                    </a:p>
                  </a:txBody>
                  <a:tcPr marL="54864" marR="54864" marT="18288" marB="18288" anchor="ctr">
                    <a:solidFill>
                      <a:srgbClr val="F4F6F9"/>
                    </a:solidFill>
                  </a:tcPr>
                </a:tc>
                <a:extLst>
                  <a:ext uri="{0D108BD9-81ED-4DB2-BD59-A6C34878D82A}">
                    <a16:rowId xmlns:a16="http://schemas.microsoft.com/office/drawing/2014/main" val="10005"/>
                  </a:ext>
                </a:extLst>
              </a:tr>
              <a:tr h="329184">
                <a:tc>
                  <a:txBody>
                    <a:bodyPr/>
                    <a:lstStyle/>
                    <a:p>
                      <a:pPr algn="l"/>
                      <a:r>
                        <a:rPr sz="1200" b="0" i="0">
                          <a:solidFill>
                            <a:srgbClr val="222222"/>
                          </a:solidFill>
                          <a:latin typeface="Arial"/>
                        </a:rPr>
                        <a:t>150 nm</a:t>
                      </a:r>
                    </a:p>
                  </a:txBody>
                  <a:tcPr marL="54864" marR="54864" marT="18288" marB="18288" anchor="ctr">
                    <a:solidFill>
                      <a:srgbClr val="DDE3EA"/>
                    </a:solidFill>
                  </a:tcPr>
                </a:tc>
                <a:tc>
                  <a:txBody>
                    <a:bodyPr/>
                    <a:lstStyle/>
                    <a:p>
                      <a:pPr algn="ctr"/>
                      <a:r>
                        <a:rPr sz="1200" b="0" i="0">
                          <a:solidFill>
                            <a:srgbClr val="222222"/>
                          </a:solidFill>
                          <a:latin typeface="Arial"/>
                        </a:rPr>
                        <a:t>3.2</a:t>
                      </a:r>
                    </a:p>
                  </a:txBody>
                  <a:tcPr marL="54864" marR="54864" marT="18288" marB="18288" anchor="ctr">
                    <a:solidFill>
                      <a:srgbClr val="DDE3EA"/>
                    </a:solidFill>
                  </a:tcPr>
                </a:tc>
                <a:tc>
                  <a:txBody>
                    <a:bodyPr/>
                    <a:lstStyle/>
                    <a:p>
                      <a:pPr algn="ctr"/>
                      <a:r>
                        <a:rPr sz="1200" b="0" i="0">
                          <a:solidFill>
                            <a:srgbClr val="222222"/>
                          </a:solidFill>
                          <a:latin typeface="Arial"/>
                        </a:rPr>
                        <a:t>0.357</a:t>
                      </a:r>
                    </a:p>
                  </a:txBody>
                  <a:tcPr marL="54864" marR="54864" marT="18288" marB="18288" anchor="ctr">
                    <a:solidFill>
                      <a:srgbClr val="DDE3EA"/>
                    </a:solidFill>
                  </a:tcPr>
                </a:tc>
                <a:tc>
                  <a:txBody>
                    <a:bodyPr/>
                    <a:lstStyle/>
                    <a:p>
                      <a:pPr algn="ctr"/>
                      <a:r>
                        <a:rPr sz="1200" b="0" i="0">
                          <a:solidFill>
                            <a:srgbClr val="222222"/>
                          </a:solidFill>
                          <a:latin typeface="Arial"/>
                        </a:rPr>
                        <a:t>2.22</a:t>
                      </a:r>
                    </a:p>
                  </a:txBody>
                  <a:tcPr marL="54864" marR="54864" marT="18288" marB="18288" anchor="ctr">
                    <a:solidFill>
                      <a:srgbClr val="DDE3EA"/>
                    </a:solidFill>
                  </a:tcPr>
                </a:tc>
                <a:extLst>
                  <a:ext uri="{0D108BD9-81ED-4DB2-BD59-A6C34878D82A}">
                    <a16:rowId xmlns:a16="http://schemas.microsoft.com/office/drawing/2014/main" val="10006"/>
                  </a:ext>
                </a:extLst>
              </a:tr>
              <a:tr h="329184">
                <a:tc>
                  <a:txBody>
                    <a:bodyPr/>
                    <a:lstStyle/>
                    <a:p>
                      <a:pPr algn="l"/>
                      <a:r>
                        <a:rPr sz="1200" b="0" i="0">
                          <a:solidFill>
                            <a:srgbClr val="222222"/>
                          </a:solidFill>
                          <a:latin typeface="Arial"/>
                        </a:rPr>
                        <a:t>125 nm</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0.000585</a:t>
                      </a:r>
                    </a:p>
                  </a:txBody>
                  <a:tcPr marL="54864" marR="54864" marT="18288" marB="18288" anchor="ctr">
                    <a:solidFill>
                      <a:srgbClr val="F4F6F9"/>
                    </a:solidFill>
                  </a:tcPr>
                </a:tc>
                <a:tc>
                  <a:txBody>
                    <a:bodyPr/>
                    <a:lstStyle/>
                    <a:p>
                      <a:pPr algn="ctr"/>
                      <a:r>
                        <a:rPr sz="1200" b="0" i="0">
                          <a:solidFill>
                            <a:srgbClr val="222222"/>
                          </a:solidFill>
                          <a:latin typeface="Arial"/>
                        </a:rPr>
                        <a:t>3.43</a:t>
                      </a:r>
                    </a:p>
                  </a:txBody>
                  <a:tcPr marL="54864" marR="54864" marT="18288" marB="18288" anchor="ctr">
                    <a:solidFill>
                      <a:srgbClr val="F4F6F9"/>
                    </a:solidFill>
                  </a:tcPr>
                </a:tc>
                <a:extLst>
                  <a:ext uri="{0D108BD9-81ED-4DB2-BD59-A6C34878D82A}">
                    <a16:rowId xmlns:a16="http://schemas.microsoft.com/office/drawing/2014/main" val="10007"/>
                  </a:ext>
                </a:extLst>
              </a:tr>
              <a:tr h="329184">
                <a:tc>
                  <a:txBody>
                    <a:bodyPr/>
                    <a:lstStyle/>
                    <a:p>
                      <a:pPr algn="l"/>
                      <a:r>
                        <a:rPr sz="1200" b="0" i="0">
                          <a:solidFill>
                            <a:srgbClr val="222222"/>
                          </a:solidFill>
                          <a:latin typeface="Arial"/>
                        </a:rPr>
                        <a:t>125 nm</a:t>
                      </a:r>
                    </a:p>
                  </a:txBody>
                  <a:tcPr marL="54864" marR="54864" marT="18288" marB="18288" anchor="ctr">
                    <a:solidFill>
                      <a:srgbClr val="DDE3EA"/>
                    </a:solidFill>
                  </a:tcPr>
                </a:tc>
                <a:tc>
                  <a:txBody>
                    <a:bodyPr/>
                    <a:lstStyle/>
                    <a:p>
                      <a:pPr algn="ctr"/>
                      <a:r>
                        <a:rPr sz="1200" b="0" i="0">
                          <a:solidFill>
                            <a:srgbClr val="222222"/>
                          </a:solidFill>
                          <a:latin typeface="Arial"/>
                        </a:rPr>
                        <a:t>3.6</a:t>
                      </a:r>
                    </a:p>
                  </a:txBody>
                  <a:tcPr marL="54864" marR="54864" marT="18288" marB="18288" anchor="ctr">
                    <a:solidFill>
                      <a:srgbClr val="DDE3EA"/>
                    </a:solidFill>
                  </a:tcPr>
                </a:tc>
                <a:tc>
                  <a:txBody>
                    <a:bodyPr/>
                    <a:lstStyle/>
                    <a:p>
                      <a:pPr algn="ctr"/>
                      <a:r>
                        <a:rPr sz="1200" b="0" i="0">
                          <a:solidFill>
                            <a:srgbClr val="222222"/>
                          </a:solidFill>
                          <a:latin typeface="Arial"/>
                        </a:rPr>
                        <a:t>0.011</a:t>
                      </a:r>
                    </a:p>
                  </a:txBody>
                  <a:tcPr marL="54864" marR="54864" marT="18288" marB="18288" anchor="ctr">
                    <a:solidFill>
                      <a:srgbClr val="DDE3EA"/>
                    </a:solidFill>
                  </a:tcPr>
                </a:tc>
                <a:tc>
                  <a:txBody>
                    <a:bodyPr/>
                    <a:lstStyle/>
                    <a:p>
                      <a:pPr algn="ctr"/>
                      <a:r>
                        <a:rPr sz="1200" b="0" i="0">
                          <a:solidFill>
                            <a:srgbClr val="222222"/>
                          </a:solidFill>
                          <a:latin typeface="Arial"/>
                        </a:rPr>
                        <a:t>2.81</a:t>
                      </a:r>
                    </a:p>
                  </a:txBody>
                  <a:tcPr marL="54864" marR="54864" marT="18288" marB="18288" anchor="ctr">
                    <a:solidFill>
                      <a:srgbClr val="DDE3EA"/>
                    </a:solidFill>
                  </a:tcPr>
                </a:tc>
                <a:extLst>
                  <a:ext uri="{0D108BD9-81ED-4DB2-BD59-A6C34878D82A}">
                    <a16:rowId xmlns:a16="http://schemas.microsoft.com/office/drawing/2014/main" val="10008"/>
                  </a:ext>
                </a:extLst>
              </a:tr>
              <a:tr h="329184">
                <a:tc>
                  <a:txBody>
                    <a:bodyPr/>
                    <a:lstStyle/>
                    <a:p>
                      <a:pPr algn="l"/>
                      <a:r>
                        <a:rPr sz="1200" b="0" i="0">
                          <a:solidFill>
                            <a:srgbClr val="222222"/>
                          </a:solidFill>
                          <a:latin typeface="Arial"/>
                        </a:rPr>
                        <a:t>125 nm</a:t>
                      </a:r>
                    </a:p>
                  </a:txBody>
                  <a:tcPr marL="54864" marR="54864" marT="18288" marB="18288" anchor="ctr">
                    <a:solidFill>
                      <a:srgbClr val="F4F6F9"/>
                    </a:solidFill>
                  </a:tcPr>
                </a:tc>
                <a:tc>
                  <a:txBody>
                    <a:bodyPr/>
                    <a:lstStyle/>
                    <a:p>
                      <a:pPr algn="ctr"/>
                      <a:r>
                        <a:rPr sz="1200" b="0" i="0">
                          <a:solidFill>
                            <a:srgbClr val="222222"/>
                          </a:solidFill>
                          <a:latin typeface="Arial"/>
                        </a:rPr>
                        <a:t>3.2</a:t>
                      </a:r>
                    </a:p>
                  </a:txBody>
                  <a:tcPr marL="54864" marR="54864" marT="18288" marB="18288" anchor="ctr">
                    <a:solidFill>
                      <a:srgbClr val="F4F6F9"/>
                    </a:solidFill>
                  </a:tcPr>
                </a:tc>
                <a:tc>
                  <a:txBody>
                    <a:bodyPr/>
                    <a:lstStyle/>
                    <a:p>
                      <a:pPr algn="ctr"/>
                      <a:r>
                        <a:rPr sz="1200" b="0" i="0">
                          <a:solidFill>
                            <a:srgbClr val="222222"/>
                          </a:solidFill>
                          <a:latin typeface="Arial"/>
                        </a:rPr>
                        <a:t>0.0801</a:t>
                      </a:r>
                    </a:p>
                  </a:txBody>
                  <a:tcPr marL="54864" marR="54864" marT="18288" marB="18288" anchor="ctr">
                    <a:solidFill>
                      <a:srgbClr val="F4F6F9"/>
                    </a:solidFill>
                  </a:tcPr>
                </a:tc>
                <a:tc>
                  <a:txBody>
                    <a:bodyPr/>
                    <a:lstStyle/>
                    <a:p>
                      <a:pPr algn="ctr"/>
                      <a:r>
                        <a:rPr sz="1200" b="0" i="0">
                          <a:solidFill>
                            <a:srgbClr val="222222"/>
                          </a:solidFill>
                          <a:latin typeface="Arial"/>
                        </a:rPr>
                        <a:t>2.40</a:t>
                      </a:r>
                    </a:p>
                  </a:txBody>
                  <a:tcPr marL="54864" marR="54864" marT="18288" marB="18288" anchor="ctr">
                    <a:solidFill>
                      <a:srgbClr val="F4F6F9"/>
                    </a:solidFill>
                  </a:tcPr>
                </a:tc>
                <a:extLst>
                  <a:ext uri="{0D108BD9-81ED-4DB2-BD59-A6C34878D82A}">
                    <a16:rowId xmlns:a16="http://schemas.microsoft.com/office/drawing/2014/main" val="10009"/>
                  </a:ext>
                </a:extLst>
              </a:tr>
              <a:tr h="329184">
                <a:tc>
                  <a:txBody>
                    <a:bodyPr/>
                    <a:lstStyle/>
                    <a:p>
                      <a:pPr algn="l"/>
                      <a:r>
                        <a:rPr sz="1200" b="0" i="0">
                          <a:solidFill>
                            <a:srgbClr val="222222"/>
                          </a:solidFill>
                          <a:latin typeface="Arial"/>
                        </a:rPr>
                        <a:t>buffered 200 nm</a:t>
                      </a:r>
                    </a:p>
                  </a:txBody>
                  <a:tcPr marL="54864" marR="54864" marT="18288" marB="18288" anchor="ctr">
                    <a:solidFill>
                      <a:srgbClr val="FDE9D9"/>
                    </a:solidFill>
                  </a:tcPr>
                </a:tc>
                <a:tc>
                  <a:txBody>
                    <a:bodyPr/>
                    <a:lstStyle/>
                    <a:p>
                      <a:pPr algn="ctr"/>
                      <a:r>
                        <a:rPr sz="1200" b="0" i="0">
                          <a:solidFill>
                            <a:srgbClr val="222222"/>
                          </a:solidFill>
                          <a:latin typeface="Arial"/>
                        </a:rPr>
                        <a:t>3.2</a:t>
                      </a:r>
                    </a:p>
                  </a:txBody>
                  <a:tcPr marL="54864" marR="54864" marT="18288" marB="18288" anchor="ctr">
                    <a:solidFill>
                      <a:srgbClr val="FDE9D9"/>
                    </a:solidFill>
                  </a:tcPr>
                </a:tc>
                <a:tc>
                  <a:txBody>
                    <a:bodyPr/>
                    <a:lstStyle/>
                    <a:p>
                      <a:pPr algn="ctr"/>
                      <a:r>
                        <a:rPr sz="1200" b="0" i="0">
                          <a:solidFill>
                            <a:srgbClr val="222222"/>
                          </a:solidFill>
                          <a:latin typeface="Arial"/>
                        </a:rPr>
                        <a:t>0.049</a:t>
                      </a:r>
                    </a:p>
                  </a:txBody>
                  <a:tcPr marL="54864" marR="54864" marT="18288" marB="18288" anchor="ctr">
                    <a:solidFill>
                      <a:srgbClr val="FDE9D9"/>
                    </a:solidFill>
                  </a:tcPr>
                </a:tc>
                <a:tc>
                  <a:txBody>
                    <a:bodyPr/>
                    <a:lstStyle/>
                    <a:p>
                      <a:pPr algn="ctr"/>
                      <a:r>
                        <a:rPr sz="1200" b="0" i="0">
                          <a:solidFill>
                            <a:srgbClr val="222222"/>
                          </a:solidFill>
                          <a:latin typeface="Arial"/>
                        </a:rPr>
                        <a:t>2.15</a:t>
                      </a:r>
                    </a:p>
                  </a:txBody>
                  <a:tcPr marL="54864" marR="54864" marT="18288" marB="18288" anchor="ctr">
                    <a:solidFill>
                      <a:srgbClr val="FDE9D9"/>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6537960" y="5495544"/>
            <a:ext cx="5257800" cy="1097280"/>
          </a:xfrm>
          <a:prstGeom prst="rect">
            <a:avLst/>
          </a:prstGeom>
          <a:noFill/>
        </p:spPr>
        <p:txBody>
          <a:bodyPr wrap="square" lIns="45720" tIns="27432" rIns="45720" bIns="27432" anchor="t">
            <a:spAutoFit/>
          </a:bodyPr>
          <a:lstStyle/>
          <a:p>
            <a:pPr algn="l">
              <a:spcAft>
                <a:spcPts val="600"/>
              </a:spcAft>
            </a:pPr>
            <a:r>
              <a:rPr sz="1300" b="0" i="0">
                <a:solidFill>
                  <a:srgbClr val="222222"/>
                </a:solidFill>
                <a:latin typeface="Arial"/>
              </a:rPr>
              <a:t>Ripple gone at ≤ 150 nm, but the thin slab weakens the EO overlap: Vπ·L +30 … +50 %</a:t>
            </a:r>
          </a:p>
          <a:p>
            <a:pPr algn="l">
              <a:spcAft>
                <a:spcPts val="600"/>
              </a:spcAft>
            </a:pPr>
            <a:r>
              <a:rPr sz="1300" b="0" i="0">
                <a:solidFill>
                  <a:srgbClr val="222222"/>
                </a:solidFill>
                <a:latin typeface="Arial"/>
              </a:rPr>
              <a:t>Narrowing the gap brings the gold onto the rib mode: IL rises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Option B: partial second etch outside slab_w</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Rib and 275 nm slab untouched; 125 nm LN left from slab_w outward; gap 4.2 µm</a:t>
            </a:r>
          </a:p>
        </p:txBody>
      </p:sp>
      <p:pic>
        <p:nvPicPr>
          <p:cNvPr id="4" name="Picture 3" descr="geom_partial.png"/>
          <p:cNvPicPr>
            <a:picLocks noChangeAspect="1"/>
          </p:cNvPicPr>
          <p:nvPr/>
        </p:nvPicPr>
        <p:blipFill>
          <a:blip r:embed="rId2"/>
          <a:stretch>
            <a:fillRect/>
          </a:stretch>
        </p:blipFill>
        <p:spPr>
          <a:xfrm>
            <a:off x="502920" y="1691640"/>
            <a:ext cx="5120640" cy="1333631"/>
          </a:xfrm>
          <a:prstGeom prst="rect">
            <a:avLst/>
          </a:prstGeom>
        </p:spPr>
      </p:pic>
      <p:graphicFrame>
        <p:nvGraphicFramePr>
          <p:cNvPr id="5" name="Chart 4"/>
          <p:cNvGraphicFramePr>
            <a:graphicFrameLocks noGrp="1"/>
          </p:cNvGraphicFramePr>
          <p:nvPr/>
        </p:nvGraphicFramePr>
        <p:xfrm>
          <a:off x="411480" y="3154680"/>
          <a:ext cx="5486400" cy="3429000"/>
        </p:xfrm>
        <a:graphic>
          <a:graphicData uri="http://schemas.openxmlformats.org/drawingml/2006/chart">
            <c:chart xmlns:c="http://schemas.openxmlformats.org/drawingml/2006/chart" r:id="rId3"/>
          </a:graphicData>
        </a:graphic>
      </p:graphicFrame>
      <p:sp>
        <p:nvSpPr>
          <p:cNvPr id="6" name="TextBox 5"/>
          <p:cNvSpPr txBox="1"/>
          <p:nvPr/>
        </p:nvSpPr>
        <p:spPr>
          <a:xfrm>
            <a:off x="1417320" y="3520440"/>
            <a:ext cx="2743200" cy="320040"/>
          </a:xfrm>
          <a:prstGeom prst="rect">
            <a:avLst/>
          </a:prstGeom>
          <a:noFill/>
        </p:spPr>
        <p:txBody>
          <a:bodyPr wrap="square" lIns="45720" tIns="27432" rIns="45720" bIns="27432" anchor="t">
            <a:spAutoFit/>
          </a:bodyPr>
          <a:lstStyle/>
          <a:p>
            <a:pPr algn="l">
              <a:spcAft>
                <a:spcPts val="600"/>
              </a:spcAft>
            </a:pPr>
            <a:r>
              <a:rPr sz="1150" b="0" i="0">
                <a:solidFill>
                  <a:srgbClr val="595959"/>
                </a:solidFill>
                <a:latin typeface="Arial"/>
              </a:rPr>
              <a:t>step in the gap</a:t>
            </a:r>
          </a:p>
        </p:txBody>
      </p:sp>
      <p:sp>
        <p:nvSpPr>
          <p:cNvPr id="7" name="TextBox 6"/>
          <p:cNvSpPr txBox="1"/>
          <p:nvPr/>
        </p:nvSpPr>
        <p:spPr>
          <a:xfrm>
            <a:off x="4023360" y="3520440"/>
            <a:ext cx="2011680" cy="320040"/>
          </a:xfrm>
          <a:prstGeom prst="rect">
            <a:avLst/>
          </a:prstGeom>
          <a:noFill/>
        </p:spPr>
        <p:txBody>
          <a:bodyPr wrap="square" lIns="45720" tIns="27432" rIns="45720" bIns="27432" anchor="t">
            <a:spAutoFit/>
          </a:bodyPr>
          <a:lstStyle/>
          <a:p>
            <a:pPr algn="l">
              <a:spcAft>
                <a:spcPts val="600"/>
              </a:spcAft>
            </a:pPr>
            <a:r>
              <a:rPr sz="1150" b="0" i="0">
                <a:solidFill>
                  <a:srgbClr val="EB6834"/>
                </a:solidFill>
                <a:latin typeface="Arial"/>
              </a:rPr>
              <a:t>step under the gold</a:t>
            </a:r>
          </a:p>
        </p:txBody>
      </p:sp>
      <p:graphicFrame>
        <p:nvGraphicFramePr>
          <p:cNvPr id="8" name="Table 7"/>
          <p:cNvGraphicFramePr>
            <a:graphicFrameLocks noGrp="1"/>
          </p:cNvGraphicFramePr>
          <p:nvPr/>
        </p:nvGraphicFramePr>
        <p:xfrm>
          <a:off x="6263640" y="1691640"/>
          <a:ext cx="5532120" cy="3730752"/>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10896">
                <a:tc>
                  <a:txBody>
                    <a:bodyPr/>
                    <a:lstStyle/>
                    <a:p>
                      <a:pPr algn="l"/>
                      <a:r>
                        <a:rPr sz="1150" b="1" i="0">
                          <a:solidFill>
                            <a:srgbClr val="FFFFFF"/>
                          </a:solidFill>
                          <a:latin typeface="Arial"/>
                        </a:rPr>
                        <a:t>case</a:t>
                      </a:r>
                    </a:p>
                  </a:txBody>
                  <a:tcPr marL="54864" marR="54864" marT="18288" marB="18288" anchor="ctr">
                    <a:solidFill>
                      <a:srgbClr val="1F4E79"/>
                    </a:solidFill>
                  </a:tcPr>
                </a:tc>
                <a:tc>
                  <a:txBody>
                    <a:bodyPr/>
                    <a:lstStyle/>
                    <a:p>
                      <a:pPr algn="ctr"/>
                      <a:r>
                        <a:rPr sz="1150" b="1" i="0">
                          <a:solidFill>
                            <a:srgbClr val="FFFFFF"/>
                          </a:solidFill>
                          <a:latin typeface="Arial"/>
                        </a:rPr>
                        <a:t>IL (dB/cm)</a:t>
                      </a:r>
                    </a:p>
                  </a:txBody>
                  <a:tcPr marL="54864" marR="54864" marT="18288" marB="18288" anchor="ctr">
                    <a:solidFill>
                      <a:srgbClr val="1F4E79"/>
                    </a:solidFill>
                  </a:tcPr>
                </a:tc>
                <a:tc>
                  <a:txBody>
                    <a:bodyPr/>
                    <a:lstStyle/>
                    <a:p>
                      <a:pPr algn="ctr"/>
                      <a:r>
                        <a:rPr sz="1150" b="1" i="0">
                          <a:solidFill>
                            <a:srgbClr val="FFFFFF"/>
                          </a:solidFill>
                          <a:latin typeface="Arial"/>
                        </a:rPr>
                        <a:t>Vπ·L (V·cm)</a:t>
                      </a:r>
                    </a:p>
                  </a:txBody>
                  <a:tcPr marL="54864" marR="54864" marT="18288" marB="18288" anchor="ctr">
                    <a:solidFill>
                      <a:srgbClr val="1F4E79"/>
                    </a:solidFill>
                  </a:tcPr>
                </a:tc>
                <a:extLst>
                  <a:ext uri="{0D108BD9-81ED-4DB2-BD59-A6C34878D82A}">
                    <a16:rowId xmlns:a16="http://schemas.microsoft.com/office/drawing/2014/main" val="10000"/>
                  </a:ext>
                </a:extLst>
              </a:tr>
              <a:tr h="310896">
                <a:tc>
                  <a:txBody>
                    <a:bodyPr/>
                    <a:lstStyle/>
                    <a:p>
                      <a:pPr algn="l"/>
                      <a:r>
                        <a:rPr sz="1150" b="0" i="0">
                          <a:solidFill>
                            <a:srgbClr val="222222"/>
                          </a:solidFill>
                          <a:latin typeface="Arial"/>
                        </a:rPr>
                        <a:t>slab_w 3.2 (step 0.5 µm before gold)</a:t>
                      </a:r>
                    </a:p>
                  </a:txBody>
                  <a:tcPr marL="54864" marR="54864" marT="18288" marB="18288" anchor="ctr">
                    <a:solidFill>
                      <a:srgbClr val="F4F6F9"/>
                    </a:solidFill>
                  </a:tcPr>
                </a:tc>
                <a:tc>
                  <a:txBody>
                    <a:bodyPr/>
                    <a:lstStyle/>
                    <a:p>
                      <a:pPr algn="ctr"/>
                      <a:r>
                        <a:rPr sz="1150" b="0" i="0">
                          <a:solidFill>
                            <a:srgbClr val="222222"/>
                          </a:solidFill>
                          <a:latin typeface="Arial"/>
                        </a:rPr>
                        <a:t>0.00794</a:t>
                      </a:r>
                    </a:p>
                  </a:txBody>
                  <a:tcPr marL="54864" marR="54864" marT="18288" marB="18288" anchor="ctr">
                    <a:solidFill>
                      <a:srgbClr val="F4F6F9"/>
                    </a:solidFill>
                  </a:tcPr>
                </a:tc>
                <a:tc>
                  <a:txBody>
                    <a:bodyPr/>
                    <a:lstStyle/>
                    <a:p>
                      <a:pPr algn="ctr"/>
                      <a:r>
                        <a:rPr sz="1150" b="0" i="0">
                          <a:solidFill>
                            <a:srgbClr val="222222"/>
                          </a:solidFill>
                          <a:latin typeface="Arial"/>
                        </a:rPr>
                        <a:t>2.69</a:t>
                      </a:r>
                    </a:p>
                  </a:txBody>
                  <a:tcPr marL="54864" marR="54864" marT="18288" marB="18288" anchor="ctr">
                    <a:solidFill>
                      <a:srgbClr val="F4F6F9"/>
                    </a:solidFill>
                  </a:tcPr>
                </a:tc>
                <a:extLst>
                  <a:ext uri="{0D108BD9-81ED-4DB2-BD59-A6C34878D82A}">
                    <a16:rowId xmlns:a16="http://schemas.microsoft.com/office/drawing/2014/main" val="10001"/>
                  </a:ext>
                </a:extLst>
              </a:tr>
              <a:tr h="310896">
                <a:tc>
                  <a:txBody>
                    <a:bodyPr/>
                    <a:lstStyle/>
                    <a:p>
                      <a:pPr algn="l"/>
                      <a:r>
                        <a:rPr sz="1150" b="0" i="0">
                          <a:solidFill>
                            <a:srgbClr val="222222"/>
                          </a:solidFill>
                          <a:latin typeface="Arial"/>
                        </a:rPr>
                        <a:t>slab_w 3.6 (step 0.3 µm before gold)</a:t>
                      </a:r>
                    </a:p>
                  </a:txBody>
                  <a:tcPr marL="54864" marR="54864" marT="18288" marB="18288" anchor="ctr">
                    <a:solidFill>
                      <a:srgbClr val="DDE3EA"/>
                    </a:solidFill>
                  </a:tcPr>
                </a:tc>
                <a:tc>
                  <a:txBody>
                    <a:bodyPr/>
                    <a:lstStyle/>
                    <a:p>
                      <a:pPr algn="ctr"/>
                      <a:r>
                        <a:rPr sz="1150" b="0" i="0">
                          <a:solidFill>
                            <a:srgbClr val="222222"/>
                          </a:solidFill>
                          <a:latin typeface="Arial"/>
                        </a:rPr>
                        <a:t>0.0176</a:t>
                      </a:r>
                    </a:p>
                  </a:txBody>
                  <a:tcPr marL="54864" marR="54864" marT="18288" marB="18288" anchor="ctr">
                    <a:solidFill>
                      <a:srgbClr val="DDE3EA"/>
                    </a:solidFill>
                  </a:tcPr>
                </a:tc>
                <a:tc>
                  <a:txBody>
                    <a:bodyPr/>
                    <a:lstStyle/>
                    <a:p>
                      <a:pPr algn="ctr"/>
                      <a:r>
                        <a:rPr sz="1150" b="0" i="0">
                          <a:solidFill>
                            <a:srgbClr val="222222"/>
                          </a:solidFill>
                          <a:latin typeface="Arial"/>
                        </a:rPr>
                        <a:t>2.54</a:t>
                      </a:r>
                    </a:p>
                  </a:txBody>
                  <a:tcPr marL="54864" marR="54864" marT="18288" marB="18288" anchor="ctr">
                    <a:solidFill>
                      <a:srgbClr val="DDE3EA"/>
                    </a:solidFill>
                  </a:tcPr>
                </a:tc>
                <a:extLst>
                  <a:ext uri="{0D108BD9-81ED-4DB2-BD59-A6C34878D82A}">
                    <a16:rowId xmlns:a16="http://schemas.microsoft.com/office/drawing/2014/main" val="10002"/>
                  </a:ext>
                </a:extLst>
              </a:tr>
              <a:tr h="310896">
                <a:tc>
                  <a:txBody>
                    <a:bodyPr/>
                    <a:lstStyle/>
                    <a:p>
                      <a:pPr algn="l"/>
                      <a:r>
                        <a:rPr sz="1150" b="0" i="0">
                          <a:solidFill>
                            <a:srgbClr val="222222"/>
                          </a:solidFill>
                          <a:latin typeface="Arial"/>
                        </a:rPr>
                        <a:t>slab_w 4.0 (step 0.1 µm before gold)</a:t>
                      </a:r>
                    </a:p>
                  </a:txBody>
                  <a:tcPr marL="54864" marR="54864" marT="18288" marB="18288" anchor="ctr">
                    <a:solidFill>
                      <a:srgbClr val="F4F6F9"/>
                    </a:solidFill>
                  </a:tcPr>
                </a:tc>
                <a:tc>
                  <a:txBody>
                    <a:bodyPr/>
                    <a:lstStyle/>
                    <a:p>
                      <a:pPr algn="ctr"/>
                      <a:r>
                        <a:rPr sz="1150" b="0" i="0">
                          <a:solidFill>
                            <a:srgbClr val="222222"/>
                          </a:solidFill>
                          <a:latin typeface="Arial"/>
                        </a:rPr>
                        <a:t>0.0594</a:t>
                      </a:r>
                    </a:p>
                  </a:txBody>
                  <a:tcPr marL="54864" marR="54864" marT="18288" marB="18288" anchor="ctr">
                    <a:solidFill>
                      <a:srgbClr val="F4F6F9"/>
                    </a:solidFill>
                  </a:tcPr>
                </a:tc>
                <a:tc>
                  <a:txBody>
                    <a:bodyPr/>
                    <a:lstStyle/>
                    <a:p>
                      <a:pPr algn="ctr"/>
                      <a:r>
                        <a:rPr sz="1150" b="0" i="0">
                          <a:solidFill>
                            <a:srgbClr val="222222"/>
                          </a:solidFill>
                          <a:latin typeface="Arial"/>
                        </a:rPr>
                        <a:t>2.38</a:t>
                      </a:r>
                    </a:p>
                  </a:txBody>
                  <a:tcPr marL="54864" marR="54864" marT="18288" marB="18288" anchor="ctr">
                    <a:solidFill>
                      <a:srgbClr val="F4F6F9"/>
                    </a:solidFill>
                  </a:tcPr>
                </a:tc>
                <a:extLst>
                  <a:ext uri="{0D108BD9-81ED-4DB2-BD59-A6C34878D82A}">
                    <a16:rowId xmlns:a16="http://schemas.microsoft.com/office/drawing/2014/main" val="10003"/>
                  </a:ext>
                </a:extLst>
              </a:tr>
              <a:tr h="310896">
                <a:tc>
                  <a:txBody>
                    <a:bodyPr/>
                    <a:lstStyle/>
                    <a:p>
                      <a:pPr algn="l"/>
                      <a:r>
                        <a:rPr sz="1150" b="0" i="0">
                          <a:solidFill>
                            <a:srgbClr val="222222"/>
                          </a:solidFill>
                          <a:latin typeface="Arial"/>
                        </a:rPr>
                        <a:t>150 nm left, slab_w 3.6</a:t>
                      </a:r>
                    </a:p>
                  </a:txBody>
                  <a:tcPr marL="54864" marR="54864" marT="18288" marB="18288" anchor="ctr">
                    <a:solidFill>
                      <a:srgbClr val="DDE3EA"/>
                    </a:solidFill>
                  </a:tcPr>
                </a:tc>
                <a:tc>
                  <a:txBody>
                    <a:bodyPr/>
                    <a:lstStyle/>
                    <a:p>
                      <a:pPr algn="ctr"/>
                      <a:r>
                        <a:rPr sz="1150" b="0" i="0">
                          <a:solidFill>
                            <a:srgbClr val="222222"/>
                          </a:solidFill>
                          <a:latin typeface="Arial"/>
                        </a:rPr>
                        <a:t>0.0552</a:t>
                      </a:r>
                    </a:p>
                  </a:txBody>
                  <a:tcPr marL="54864" marR="54864" marT="18288" marB="18288" anchor="ctr">
                    <a:solidFill>
                      <a:srgbClr val="DDE3EA"/>
                    </a:solidFill>
                  </a:tcPr>
                </a:tc>
                <a:tc>
                  <a:txBody>
                    <a:bodyPr/>
                    <a:lstStyle/>
                    <a:p>
                      <a:pPr algn="ctr"/>
                      <a:r>
                        <a:rPr sz="1150" b="0" i="0">
                          <a:solidFill>
                            <a:srgbClr val="222222"/>
                          </a:solidFill>
                          <a:latin typeface="Arial"/>
                        </a:rPr>
                        <a:t>2.47</a:t>
                      </a:r>
                    </a:p>
                  </a:txBody>
                  <a:tcPr marL="54864" marR="54864" marT="18288" marB="18288" anchor="ctr">
                    <a:solidFill>
                      <a:srgbClr val="DDE3EA"/>
                    </a:solidFill>
                  </a:tcPr>
                </a:tc>
                <a:extLst>
                  <a:ext uri="{0D108BD9-81ED-4DB2-BD59-A6C34878D82A}">
                    <a16:rowId xmlns:a16="http://schemas.microsoft.com/office/drawing/2014/main" val="10004"/>
                  </a:ext>
                </a:extLst>
              </a:tr>
              <a:tr h="310896">
                <a:tc>
                  <a:txBody>
                    <a:bodyPr/>
                    <a:lstStyle/>
                    <a:p>
                      <a:pPr algn="l"/>
                      <a:r>
                        <a:rPr sz="1150" b="0" i="0">
                          <a:solidFill>
                            <a:srgbClr val="222222"/>
                          </a:solidFill>
                          <a:latin typeface="Arial"/>
                        </a:rPr>
                        <a:t>gap 3.2, slab_w 2.6, 100 nm left</a:t>
                      </a:r>
                    </a:p>
                  </a:txBody>
                  <a:tcPr marL="54864" marR="54864" marT="18288" marB="18288" anchor="ctr">
                    <a:solidFill>
                      <a:srgbClr val="F4F6F9"/>
                    </a:solidFill>
                  </a:tcPr>
                </a:tc>
                <a:tc>
                  <a:txBody>
                    <a:bodyPr/>
                    <a:lstStyle/>
                    <a:p>
                      <a:pPr algn="ctr"/>
                      <a:r>
                        <a:rPr sz="1150" b="0" i="0">
                          <a:solidFill>
                            <a:srgbClr val="222222"/>
                          </a:solidFill>
                          <a:latin typeface="Arial"/>
                        </a:rPr>
                        <a:t>0.208</a:t>
                      </a:r>
                    </a:p>
                  </a:txBody>
                  <a:tcPr marL="54864" marR="54864" marT="18288" marB="18288" anchor="ctr">
                    <a:solidFill>
                      <a:srgbClr val="F4F6F9"/>
                    </a:solidFill>
                  </a:tcPr>
                </a:tc>
                <a:tc>
                  <a:txBody>
                    <a:bodyPr/>
                    <a:lstStyle/>
                    <a:p>
                      <a:pPr algn="ctr"/>
                      <a:r>
                        <a:rPr sz="1150" b="0" i="0">
                          <a:solidFill>
                            <a:srgbClr val="222222"/>
                          </a:solidFill>
                          <a:latin typeface="Arial"/>
                        </a:rPr>
                        <a:t>2.03</a:t>
                      </a:r>
                    </a:p>
                  </a:txBody>
                  <a:tcPr marL="54864" marR="54864" marT="18288" marB="18288" anchor="ctr">
                    <a:solidFill>
                      <a:srgbClr val="F4F6F9"/>
                    </a:solidFill>
                  </a:tcPr>
                </a:tc>
                <a:extLst>
                  <a:ext uri="{0D108BD9-81ED-4DB2-BD59-A6C34878D82A}">
                    <a16:rowId xmlns:a16="http://schemas.microsoft.com/office/drawing/2014/main" val="10005"/>
                  </a:ext>
                </a:extLst>
              </a:tr>
              <a:tr h="310896">
                <a:tc>
                  <a:txBody>
                    <a:bodyPr/>
                    <a:lstStyle/>
                    <a:p>
                      <a:pPr algn="l"/>
                      <a:r>
                        <a:rPr sz="1150" b="0" i="0">
                          <a:solidFill>
                            <a:srgbClr val="222222"/>
                          </a:solidFill>
                          <a:latin typeface="Arial"/>
                        </a:rPr>
                        <a:t>gap 3.2, slab_w 2.6, 125 nm left</a:t>
                      </a:r>
                    </a:p>
                  </a:txBody>
                  <a:tcPr marL="54864" marR="54864" marT="18288" marB="18288" anchor="ctr">
                    <a:solidFill>
                      <a:srgbClr val="DDE3EA"/>
                    </a:solidFill>
                  </a:tcPr>
                </a:tc>
                <a:tc>
                  <a:txBody>
                    <a:bodyPr/>
                    <a:lstStyle/>
                    <a:p>
                      <a:pPr algn="ctr"/>
                      <a:r>
                        <a:rPr sz="1150" b="0" i="0">
                          <a:solidFill>
                            <a:srgbClr val="222222"/>
                          </a:solidFill>
                          <a:latin typeface="Arial"/>
                        </a:rPr>
                        <a:t>0.455</a:t>
                      </a:r>
                    </a:p>
                  </a:txBody>
                  <a:tcPr marL="54864" marR="54864" marT="18288" marB="18288" anchor="ctr">
                    <a:solidFill>
                      <a:srgbClr val="DDE3EA"/>
                    </a:solidFill>
                  </a:tcPr>
                </a:tc>
                <a:tc>
                  <a:txBody>
                    <a:bodyPr/>
                    <a:lstStyle/>
                    <a:p>
                      <a:pPr algn="ctr"/>
                      <a:r>
                        <a:rPr sz="1150" b="0" i="0">
                          <a:solidFill>
                            <a:srgbClr val="222222"/>
                          </a:solidFill>
                          <a:latin typeface="Arial"/>
                        </a:rPr>
                        <a:t>1.93</a:t>
                      </a:r>
                    </a:p>
                  </a:txBody>
                  <a:tcPr marL="54864" marR="54864" marT="18288" marB="18288" anchor="ctr">
                    <a:solidFill>
                      <a:srgbClr val="DDE3EA"/>
                    </a:solidFill>
                  </a:tcPr>
                </a:tc>
                <a:extLst>
                  <a:ext uri="{0D108BD9-81ED-4DB2-BD59-A6C34878D82A}">
                    <a16:rowId xmlns:a16="http://schemas.microsoft.com/office/drawing/2014/main" val="10006"/>
                  </a:ext>
                </a:extLst>
              </a:tr>
              <a:tr h="310896">
                <a:tc>
                  <a:txBody>
                    <a:bodyPr/>
                    <a:lstStyle/>
                    <a:p>
                      <a:pPr algn="l"/>
                      <a:r>
                        <a:rPr sz="1150" b="0" i="0">
                          <a:solidFill>
                            <a:srgbClr val="222222"/>
                          </a:solidFill>
                          <a:latin typeface="Arial"/>
                        </a:rPr>
                        <a:t>gap 3.2, slab_w 2.8, 125 nm left</a:t>
                      </a:r>
                    </a:p>
                  </a:txBody>
                  <a:tcPr marL="54864" marR="54864" marT="18288" marB="18288" anchor="ctr">
                    <a:solidFill>
                      <a:srgbClr val="F4F6F9"/>
                    </a:solidFill>
                  </a:tcPr>
                </a:tc>
                <a:tc>
                  <a:txBody>
                    <a:bodyPr/>
                    <a:lstStyle/>
                    <a:p>
                      <a:pPr algn="ctr"/>
                      <a:r>
                        <a:rPr sz="1150" b="0" i="0">
                          <a:solidFill>
                            <a:srgbClr val="222222"/>
                          </a:solidFill>
                          <a:latin typeface="Arial"/>
                        </a:rPr>
                        <a:t>0.75</a:t>
                      </a:r>
                    </a:p>
                  </a:txBody>
                  <a:tcPr marL="54864" marR="54864" marT="18288" marB="18288" anchor="ctr">
                    <a:solidFill>
                      <a:srgbClr val="F4F6F9"/>
                    </a:solidFill>
                  </a:tcPr>
                </a:tc>
                <a:tc>
                  <a:txBody>
                    <a:bodyPr/>
                    <a:lstStyle/>
                    <a:p>
                      <a:pPr algn="ctr"/>
                      <a:r>
                        <a:rPr sz="1150" b="0" i="0">
                          <a:solidFill>
                            <a:srgbClr val="222222"/>
                          </a:solidFill>
                          <a:latin typeface="Arial"/>
                        </a:rPr>
                        <a:t>1.85</a:t>
                      </a:r>
                    </a:p>
                  </a:txBody>
                  <a:tcPr marL="54864" marR="54864" marT="18288" marB="18288" anchor="ctr">
                    <a:solidFill>
                      <a:srgbClr val="F4F6F9"/>
                    </a:solidFill>
                  </a:tcPr>
                </a:tc>
                <a:extLst>
                  <a:ext uri="{0D108BD9-81ED-4DB2-BD59-A6C34878D82A}">
                    <a16:rowId xmlns:a16="http://schemas.microsoft.com/office/drawing/2014/main" val="10007"/>
                  </a:ext>
                </a:extLst>
              </a:tr>
              <a:tr h="310896">
                <a:tc>
                  <a:txBody>
                    <a:bodyPr/>
                    <a:lstStyle/>
                    <a:p>
                      <a:pPr algn="l"/>
                      <a:r>
                        <a:rPr sz="1150" b="0" i="0">
                          <a:solidFill>
                            <a:srgbClr val="222222"/>
                          </a:solidFill>
                          <a:latin typeface="Arial"/>
                        </a:rPr>
                        <a:t>gap 3.4, slab_w 2.8, 125 nm left</a:t>
                      </a:r>
                    </a:p>
                  </a:txBody>
                  <a:tcPr marL="54864" marR="54864" marT="18288" marB="18288" anchor="ctr">
                    <a:solidFill>
                      <a:srgbClr val="DDE3EA"/>
                    </a:solidFill>
                  </a:tcPr>
                </a:tc>
                <a:tc>
                  <a:txBody>
                    <a:bodyPr/>
                    <a:lstStyle/>
                    <a:p>
                      <a:pPr algn="ctr"/>
                      <a:r>
                        <a:rPr sz="1150" b="0" i="0">
                          <a:solidFill>
                            <a:srgbClr val="222222"/>
                          </a:solidFill>
                          <a:latin typeface="Arial"/>
                        </a:rPr>
                        <a:t>0.238</a:t>
                      </a:r>
                    </a:p>
                  </a:txBody>
                  <a:tcPr marL="54864" marR="54864" marT="18288" marB="18288" anchor="ctr">
                    <a:solidFill>
                      <a:srgbClr val="DDE3EA"/>
                    </a:solidFill>
                  </a:tcPr>
                </a:tc>
                <a:tc>
                  <a:txBody>
                    <a:bodyPr/>
                    <a:lstStyle/>
                    <a:p>
                      <a:pPr algn="ctr"/>
                      <a:r>
                        <a:rPr sz="1150" b="0" i="0">
                          <a:solidFill>
                            <a:srgbClr val="222222"/>
                          </a:solidFill>
                          <a:latin typeface="Arial"/>
                        </a:rPr>
                        <a:t>2.06</a:t>
                      </a:r>
                    </a:p>
                  </a:txBody>
                  <a:tcPr marL="54864" marR="54864" marT="18288" marB="18288" anchor="ctr">
                    <a:solidFill>
                      <a:srgbClr val="DDE3EA"/>
                    </a:solidFill>
                  </a:tcPr>
                </a:tc>
                <a:extLst>
                  <a:ext uri="{0D108BD9-81ED-4DB2-BD59-A6C34878D82A}">
                    <a16:rowId xmlns:a16="http://schemas.microsoft.com/office/drawing/2014/main" val="10008"/>
                  </a:ext>
                </a:extLst>
              </a:tr>
              <a:tr h="310896">
                <a:tc>
                  <a:txBody>
                    <a:bodyPr/>
                    <a:lstStyle/>
                    <a:p>
                      <a:pPr algn="l"/>
                      <a:r>
                        <a:rPr sz="1150" b="0" i="0">
                          <a:solidFill>
                            <a:srgbClr val="222222"/>
                          </a:solidFill>
                          <a:latin typeface="Arial"/>
                        </a:rPr>
                        <a:t>gap 3.6, slab_w 3.0, 100 nm left</a:t>
                      </a:r>
                    </a:p>
                  </a:txBody>
                  <a:tcPr marL="54864" marR="54864" marT="18288" marB="18288" anchor="ctr">
                    <a:solidFill>
                      <a:srgbClr val="F4F6F9"/>
                    </a:solidFill>
                  </a:tcPr>
                </a:tc>
                <a:tc>
                  <a:txBody>
                    <a:bodyPr/>
                    <a:lstStyle/>
                    <a:p>
                      <a:pPr algn="ctr"/>
                      <a:r>
                        <a:rPr sz="1150" b="0" i="0">
                          <a:solidFill>
                            <a:srgbClr val="222222"/>
                          </a:solidFill>
                          <a:latin typeface="Arial"/>
                        </a:rPr>
                        <a:t>0.0569</a:t>
                      </a:r>
                    </a:p>
                  </a:txBody>
                  <a:tcPr marL="54864" marR="54864" marT="18288" marB="18288" anchor="ctr">
                    <a:solidFill>
                      <a:srgbClr val="F4F6F9"/>
                    </a:solidFill>
                  </a:tcPr>
                </a:tc>
                <a:tc>
                  <a:txBody>
                    <a:bodyPr/>
                    <a:lstStyle/>
                    <a:p>
                      <a:pPr algn="ctr"/>
                      <a:r>
                        <a:rPr sz="1150" b="0" i="0">
                          <a:solidFill>
                            <a:srgbClr val="222222"/>
                          </a:solidFill>
                          <a:latin typeface="Arial"/>
                        </a:rPr>
                        <a:t>2.27</a:t>
                      </a:r>
                    </a:p>
                  </a:txBody>
                  <a:tcPr marL="54864" marR="54864" marT="18288" marB="18288" anchor="ctr">
                    <a:solidFill>
                      <a:srgbClr val="F4F6F9"/>
                    </a:solidFill>
                  </a:tcPr>
                </a:tc>
                <a:extLst>
                  <a:ext uri="{0D108BD9-81ED-4DB2-BD59-A6C34878D82A}">
                    <a16:rowId xmlns:a16="http://schemas.microsoft.com/office/drawing/2014/main" val="10009"/>
                  </a:ext>
                </a:extLst>
              </a:tr>
              <a:tr h="310896">
                <a:tc>
                  <a:txBody>
                    <a:bodyPr/>
                    <a:lstStyle/>
                    <a:p>
                      <a:pPr algn="l"/>
                      <a:r>
                        <a:rPr sz="1150" b="0" i="0">
                          <a:solidFill>
                            <a:srgbClr val="222222"/>
                          </a:solidFill>
                          <a:latin typeface="Arial"/>
                        </a:rPr>
                        <a:t>gap 3.6, slab_w 3.0, 125 nm left</a:t>
                      </a:r>
                    </a:p>
                  </a:txBody>
                  <a:tcPr marL="54864" marR="54864" marT="18288" marB="18288" anchor="ctr">
                    <a:solidFill>
                      <a:srgbClr val="DDE3EA"/>
                    </a:solidFill>
                  </a:tcPr>
                </a:tc>
                <a:tc>
                  <a:txBody>
                    <a:bodyPr/>
                    <a:lstStyle/>
                    <a:p>
                      <a:pPr algn="ctr"/>
                      <a:r>
                        <a:rPr sz="1150" b="0" i="0">
                          <a:solidFill>
                            <a:srgbClr val="222222"/>
                          </a:solidFill>
                          <a:latin typeface="Arial"/>
                        </a:rPr>
                        <a:t>0.124</a:t>
                      </a:r>
                    </a:p>
                  </a:txBody>
                  <a:tcPr marL="54864" marR="54864" marT="18288" marB="18288" anchor="ctr">
                    <a:solidFill>
                      <a:srgbClr val="DDE3EA"/>
                    </a:solidFill>
                  </a:tcPr>
                </a:tc>
                <a:tc>
                  <a:txBody>
                    <a:bodyPr/>
                    <a:lstStyle/>
                    <a:p>
                      <a:pPr algn="ctr"/>
                      <a:r>
                        <a:rPr sz="1150" b="0" i="0">
                          <a:solidFill>
                            <a:srgbClr val="222222"/>
                          </a:solidFill>
                          <a:latin typeface="Arial"/>
                        </a:rPr>
                        <a:t>2.18</a:t>
                      </a:r>
                    </a:p>
                  </a:txBody>
                  <a:tcPr marL="54864" marR="54864" marT="18288" marB="18288" anchor="ctr">
                    <a:solidFill>
                      <a:srgbClr val="DDE3EA"/>
                    </a:solidFill>
                  </a:tcPr>
                </a:tc>
                <a:extLst>
                  <a:ext uri="{0D108BD9-81ED-4DB2-BD59-A6C34878D82A}">
                    <a16:rowId xmlns:a16="http://schemas.microsoft.com/office/drawing/2014/main" val="10010"/>
                  </a:ext>
                </a:extLst>
              </a:tr>
              <a:tr h="310896">
                <a:tc>
                  <a:txBody>
                    <a:bodyPr/>
                    <a:lstStyle/>
                    <a:p>
                      <a:pPr algn="l"/>
                      <a:r>
                        <a:rPr sz="1150" b="0" i="0">
                          <a:solidFill>
                            <a:srgbClr val="222222"/>
                          </a:solidFill>
                          <a:latin typeface="Arial"/>
                        </a:rPr>
                        <a:t>buffered 200 nm, gap 3.2</a:t>
                      </a:r>
                    </a:p>
                  </a:txBody>
                  <a:tcPr marL="54864" marR="54864" marT="18288" marB="18288" anchor="ctr">
                    <a:solidFill>
                      <a:srgbClr val="FDE9D9"/>
                    </a:solidFill>
                  </a:tcPr>
                </a:tc>
                <a:tc>
                  <a:txBody>
                    <a:bodyPr/>
                    <a:lstStyle/>
                    <a:p>
                      <a:pPr algn="ctr"/>
                      <a:r>
                        <a:rPr sz="1150" b="0" i="0">
                          <a:solidFill>
                            <a:srgbClr val="222222"/>
                          </a:solidFill>
                          <a:latin typeface="Arial"/>
                        </a:rPr>
                        <a:t>0.049</a:t>
                      </a:r>
                    </a:p>
                  </a:txBody>
                  <a:tcPr marL="54864" marR="54864" marT="18288" marB="18288" anchor="ctr">
                    <a:solidFill>
                      <a:srgbClr val="FDE9D9"/>
                    </a:solidFill>
                  </a:tcPr>
                </a:tc>
                <a:tc>
                  <a:txBody>
                    <a:bodyPr/>
                    <a:lstStyle/>
                    <a:p>
                      <a:pPr algn="ctr"/>
                      <a:r>
                        <a:rPr sz="1150" b="0" i="0">
                          <a:solidFill>
                            <a:srgbClr val="222222"/>
                          </a:solidFill>
                          <a:latin typeface="Arial"/>
                        </a:rPr>
                        <a:t>2.15</a:t>
                      </a:r>
                    </a:p>
                  </a:txBody>
                  <a:tcPr marL="54864" marR="54864" marT="18288" marB="18288" anchor="ctr">
                    <a:solidFill>
                      <a:srgbClr val="FDE9D9"/>
                    </a:solidFill>
                  </a:tcPr>
                </a:tc>
                <a:extLst>
                  <a:ext uri="{0D108BD9-81ED-4DB2-BD59-A6C34878D82A}">
                    <a16:rowId xmlns:a16="http://schemas.microsoft.com/office/drawing/2014/main" val="10011"/>
                  </a:ext>
                </a:extLst>
              </a:tr>
            </a:tbl>
          </a:graphicData>
        </a:graphic>
      </p:graphicFrame>
      <p:sp>
        <p:nvSpPr>
          <p:cNvPr id="9" name="TextBox 8"/>
          <p:cNvSpPr txBox="1"/>
          <p:nvPr/>
        </p:nvSpPr>
        <p:spPr>
          <a:xfrm>
            <a:off x="6263640" y="5559552"/>
            <a:ext cx="5532120" cy="1097280"/>
          </a:xfrm>
          <a:prstGeom prst="rect">
            <a:avLst/>
          </a:prstGeom>
          <a:noFill/>
        </p:spPr>
        <p:txBody>
          <a:bodyPr wrap="square" lIns="45720" tIns="27432" rIns="45720" bIns="27432" anchor="t">
            <a:spAutoFit/>
          </a:bodyPr>
          <a:lstStyle/>
          <a:p>
            <a:pPr algn="l">
              <a:spcAft>
                <a:spcPts val="600"/>
              </a:spcAft>
            </a:pPr>
            <a:r>
              <a:rPr sz="1300" b="1" i="0">
                <a:solidFill>
                  <a:srgbClr val="1F4E79"/>
                </a:solidFill>
                <a:latin typeface="Arial"/>
              </a:rPr>
              <a:t>Flat vs x_lift 6.5 – 7.5 µm: IL 0.0176 – 0.0176 dB/cm</a:t>
            </a:r>
          </a:p>
          <a:p>
            <a:pPr algn="l">
              <a:spcAft>
                <a:spcPts val="600"/>
              </a:spcAft>
            </a:pPr>
            <a:r>
              <a:rPr sz="1300" b="0" i="0">
                <a:solidFill>
                  <a:srgbClr val="222222"/>
                </a:solidFill>
                <a:latin typeface="Arial"/>
              </a:rPr>
              <a:t>Step must stay in the gap: under the gold it forms a short cavity (2.4 dB/cm at slab_w 4.4)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All solutions: insertion loss vs Vπ·L</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Each point is a ripple-free design (gap and thickness varied); lower-left is better</a:t>
            </a:r>
          </a:p>
        </p:txBody>
      </p:sp>
      <p:graphicFrame>
        <p:nvGraphicFramePr>
          <p:cNvPr id="4" name="Chart 3"/>
          <p:cNvGraphicFramePr>
            <a:graphicFrameLocks noGrp="1"/>
          </p:cNvGraphicFramePr>
          <p:nvPr/>
        </p:nvGraphicFramePr>
        <p:xfrm>
          <a:off x="411480" y="1600200"/>
          <a:ext cx="7680960" cy="498348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8321040" y="1737360"/>
          <a:ext cx="3474720" cy="1444752"/>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47472">
                <a:tc>
                  <a:txBody>
                    <a:bodyPr/>
                    <a:lstStyle/>
                    <a:p>
                      <a:pPr algn="l"/>
                      <a:r>
                        <a:rPr sz="1200" b="1" i="0">
                          <a:solidFill>
                            <a:srgbClr val="FFFFFF"/>
                          </a:solidFill>
                          <a:latin typeface="Arial"/>
                        </a:rPr>
                        <a:t>at Vπ·L</a:t>
                      </a:r>
                    </a:p>
                  </a:txBody>
                  <a:tcPr marL="54864" marR="54864" marT="18288" marB="18288" anchor="ctr">
                    <a:solidFill>
                      <a:srgbClr val="1F4E79"/>
                    </a:solidFill>
                  </a:tcPr>
                </a:tc>
                <a:tc>
                  <a:txBody>
                    <a:bodyPr/>
                    <a:lstStyle/>
                    <a:p>
                      <a:pPr algn="ctr"/>
                      <a:r>
                        <a:rPr sz="1200" b="1" i="0">
                          <a:solidFill>
                            <a:srgbClr val="FFFFFF"/>
                          </a:solidFill>
                          <a:latin typeface="Arial"/>
                        </a:rPr>
                        <a:t>buffered</a:t>
                      </a:r>
                    </a:p>
                  </a:txBody>
                  <a:tcPr marL="54864" marR="54864" marT="18288" marB="18288" anchor="ctr">
                    <a:solidFill>
                      <a:srgbClr val="1F4E79"/>
                    </a:solidFill>
                  </a:tcPr>
                </a:tc>
                <a:tc>
                  <a:txBody>
                    <a:bodyPr/>
                    <a:lstStyle/>
                    <a:p>
                      <a:pPr algn="ctr"/>
                      <a:r>
                        <a:rPr sz="1200" b="1" i="0">
                          <a:solidFill>
                            <a:srgbClr val="FFFFFF"/>
                          </a:solidFill>
                          <a:latin typeface="Arial"/>
                        </a:rPr>
                        <a:t>best alternative</a:t>
                      </a:r>
                    </a:p>
                  </a:txBody>
                  <a:tcPr marL="54864" marR="54864" marT="18288" marB="18288" anchor="ctr">
                    <a:solidFill>
                      <a:srgbClr val="1F4E79"/>
                    </a:solidFill>
                  </a:tcPr>
                </a:tc>
                <a:extLst>
                  <a:ext uri="{0D108BD9-81ED-4DB2-BD59-A6C34878D82A}">
                    <a16:rowId xmlns:a16="http://schemas.microsoft.com/office/drawing/2014/main" val="10000"/>
                  </a:ext>
                </a:extLst>
              </a:tr>
              <a:tr h="347472">
                <a:tc>
                  <a:txBody>
                    <a:bodyPr/>
                    <a:lstStyle/>
                    <a:p>
                      <a:pPr algn="l"/>
                      <a:r>
                        <a:rPr sz="1200" b="0" i="0">
                          <a:solidFill>
                            <a:srgbClr val="222222"/>
                          </a:solidFill>
                          <a:latin typeface="Arial"/>
                        </a:rPr>
                        <a:t>≈ 1.95 V·cm</a:t>
                      </a:r>
                    </a:p>
                  </a:txBody>
                  <a:tcPr marL="54864" marR="54864" marT="18288" marB="18288" anchor="ctr">
                    <a:solidFill>
                      <a:srgbClr val="F4F6F9"/>
                    </a:solidFill>
                  </a:tcPr>
                </a:tc>
                <a:tc>
                  <a:txBody>
                    <a:bodyPr/>
                    <a:lstStyle/>
                    <a:p>
                      <a:pPr algn="ctr"/>
                      <a:r>
                        <a:rPr sz="1200" b="0" i="0">
                          <a:solidFill>
                            <a:srgbClr val="222222"/>
                          </a:solidFill>
                          <a:latin typeface="Arial"/>
                        </a:rPr>
                        <a:t>0.141 dB/cm</a:t>
                      </a:r>
                    </a:p>
                  </a:txBody>
                  <a:tcPr marL="54864" marR="54864" marT="18288" marB="18288" anchor="ctr">
                    <a:solidFill>
                      <a:srgbClr val="F4F6F9"/>
                    </a:solidFill>
                  </a:tcPr>
                </a:tc>
                <a:tc>
                  <a:txBody>
                    <a:bodyPr/>
                    <a:lstStyle/>
                    <a:p>
                      <a:pPr algn="ctr"/>
                      <a:r>
                        <a:rPr sz="1200" b="0" i="0">
                          <a:solidFill>
                            <a:srgbClr val="222222"/>
                          </a:solidFill>
                          <a:latin typeface="Arial"/>
                        </a:rPr>
                        <a:t>0.455 dB/cm</a:t>
                      </a:r>
                    </a:p>
                  </a:txBody>
                  <a:tcPr marL="54864" marR="54864" marT="18288" marB="18288" anchor="ctr">
                    <a:solidFill>
                      <a:srgbClr val="F4F6F9"/>
                    </a:solidFill>
                  </a:tcPr>
                </a:tc>
                <a:extLst>
                  <a:ext uri="{0D108BD9-81ED-4DB2-BD59-A6C34878D82A}">
                    <a16:rowId xmlns:a16="http://schemas.microsoft.com/office/drawing/2014/main" val="10001"/>
                  </a:ext>
                </a:extLst>
              </a:tr>
              <a:tr h="347472">
                <a:tc>
                  <a:txBody>
                    <a:bodyPr/>
                    <a:lstStyle/>
                    <a:p>
                      <a:pPr algn="l"/>
                      <a:r>
                        <a:rPr sz="1200" b="0" i="0">
                          <a:solidFill>
                            <a:srgbClr val="222222"/>
                          </a:solidFill>
                          <a:latin typeface="Arial"/>
                        </a:rPr>
                        <a:t>≈ 2.05 V·cm</a:t>
                      </a:r>
                    </a:p>
                  </a:txBody>
                  <a:tcPr marL="54864" marR="54864" marT="18288" marB="18288" anchor="ctr">
                    <a:solidFill>
                      <a:srgbClr val="DDE3EA"/>
                    </a:solidFill>
                  </a:tcPr>
                </a:tc>
                <a:tc>
                  <a:txBody>
                    <a:bodyPr/>
                    <a:lstStyle/>
                    <a:p>
                      <a:pPr algn="ctr"/>
                      <a:r>
                        <a:rPr sz="1200" b="0" i="0">
                          <a:solidFill>
                            <a:srgbClr val="222222"/>
                          </a:solidFill>
                          <a:latin typeface="Arial"/>
                        </a:rPr>
                        <a:t>0.086 dB/cm</a:t>
                      </a:r>
                    </a:p>
                  </a:txBody>
                  <a:tcPr marL="54864" marR="54864" marT="18288" marB="18288" anchor="ctr">
                    <a:solidFill>
                      <a:srgbClr val="DDE3EA"/>
                    </a:solidFill>
                  </a:tcPr>
                </a:tc>
                <a:tc>
                  <a:txBody>
                    <a:bodyPr/>
                    <a:lstStyle/>
                    <a:p>
                      <a:pPr algn="ctr"/>
                      <a:r>
                        <a:rPr sz="1200" b="0" i="0">
                          <a:solidFill>
                            <a:srgbClr val="222222"/>
                          </a:solidFill>
                          <a:latin typeface="Arial"/>
                        </a:rPr>
                        <a:t>0.208 dB/cm</a:t>
                      </a:r>
                    </a:p>
                  </a:txBody>
                  <a:tcPr marL="54864" marR="54864" marT="18288" marB="18288" anchor="ctr">
                    <a:solidFill>
                      <a:srgbClr val="DDE3EA"/>
                    </a:solidFill>
                  </a:tcPr>
                </a:tc>
                <a:extLst>
                  <a:ext uri="{0D108BD9-81ED-4DB2-BD59-A6C34878D82A}">
                    <a16:rowId xmlns:a16="http://schemas.microsoft.com/office/drawing/2014/main" val="10002"/>
                  </a:ext>
                </a:extLst>
              </a:tr>
              <a:tr h="347472">
                <a:tc>
                  <a:txBody>
                    <a:bodyPr/>
                    <a:lstStyle/>
                    <a:p>
                      <a:pPr algn="l"/>
                      <a:r>
                        <a:rPr sz="1200" b="0" i="0">
                          <a:solidFill>
                            <a:srgbClr val="222222"/>
                          </a:solidFill>
                          <a:latin typeface="Arial"/>
                        </a:rPr>
                        <a:t>≈ 2.27 V·cm</a:t>
                      </a:r>
                    </a:p>
                  </a:txBody>
                  <a:tcPr marL="54864" marR="54864" marT="18288" marB="18288" anchor="ctr">
                    <a:solidFill>
                      <a:srgbClr val="F4F6F9"/>
                    </a:solidFill>
                  </a:tcPr>
                </a:tc>
                <a:tc>
                  <a:txBody>
                    <a:bodyPr/>
                    <a:lstStyle/>
                    <a:p>
                      <a:pPr algn="ctr"/>
                      <a:r>
                        <a:rPr sz="1200" b="0" i="0">
                          <a:solidFill>
                            <a:srgbClr val="222222"/>
                          </a:solidFill>
                          <a:latin typeface="Arial"/>
                        </a:rPr>
                        <a:t>0.026 dB/cm</a:t>
                      </a:r>
                    </a:p>
                  </a:txBody>
                  <a:tcPr marL="54864" marR="54864" marT="18288" marB="18288" anchor="ctr">
                    <a:solidFill>
                      <a:srgbClr val="F4F6F9"/>
                    </a:solidFill>
                  </a:tcPr>
                </a:tc>
                <a:tc>
                  <a:txBody>
                    <a:bodyPr/>
                    <a:lstStyle/>
                    <a:p>
                      <a:pPr algn="ctr"/>
                      <a:r>
                        <a:rPr sz="1200" b="0" i="0">
                          <a:solidFill>
                            <a:srgbClr val="222222"/>
                          </a:solidFill>
                          <a:latin typeface="Arial"/>
                        </a:rPr>
                        <a:t>0.057 dB/cm</a:t>
                      </a:r>
                    </a:p>
                  </a:txBody>
                  <a:tcPr marL="54864" marR="54864" marT="18288" marB="18288" anchor="ctr">
                    <a:solidFill>
                      <a:srgbClr val="F4F6F9"/>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8321040" y="3355848"/>
            <a:ext cx="3474720" cy="21945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800"/>
              </a:spcAft>
            </a:pPr>
            <a:r>
              <a:rPr sz="1500" b="1" i="0">
                <a:solidFill>
                  <a:srgbClr val="1F4E79"/>
                </a:solidFill>
                <a:latin typeface="Arial"/>
              </a:rPr>
              <a:t>The buffer wins</a:t>
            </a:r>
          </a:p>
          <a:p>
            <a:pPr algn="l">
              <a:spcAft>
                <a:spcPts val="800"/>
              </a:spcAft>
            </a:pPr>
            <a:r>
              <a:rPr sz="1300" b="0" i="0">
                <a:solidFill>
                  <a:srgbClr val="222222"/>
                </a:solidFill>
                <a:latin typeface="Arial"/>
              </a:rPr>
              <a:t>At the same Vπ·L it has 2 – 3× lower IL than any thin-LN or etched variant</a:t>
            </a:r>
          </a:p>
          <a:p>
            <a:pPr algn="l">
              <a:spcAft>
                <a:spcPts val="500"/>
              </a:spcAft>
            </a:pPr>
            <a:r>
              <a:rPr sz="1300" b="0" i="0">
                <a:solidFill>
                  <a:srgbClr val="222222"/>
                </a:solidFill>
                <a:latin typeface="Arial"/>
              </a:rPr>
              <a:t>It needs no alignment-critical step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552880A5-A144-ED19-8312-DA581CF912DF}"/>
              </a:ext>
            </a:extLst>
          </p:cNvPr>
          <p:cNvSpPr txBox="1"/>
          <p:nvPr/>
        </p:nvSpPr>
        <p:spPr>
          <a:xfrm>
            <a:off x="1097280" y="2103120"/>
            <a:ext cx="10058400" cy="578620"/>
          </a:xfrm>
          <a:prstGeom prst="rect">
            <a:avLst/>
          </a:prstGeom>
          <a:noFill/>
        </p:spPr>
        <p:txBody>
          <a:bodyPr wrap="square" lIns="45720" tIns="27432" rIns="45720" bIns="27432" anchor="t">
            <a:spAutoFit/>
          </a:bodyPr>
          <a:lstStyle/>
          <a:p>
            <a:pPr algn="ctr">
              <a:spcAft>
                <a:spcPts val="600"/>
              </a:spcAft>
            </a:pPr>
            <a:r>
              <a:rPr lang="en-US" sz="3400" b="1" i="0" dirty="0">
                <a:solidFill>
                  <a:srgbClr val="222222"/>
                </a:solidFill>
                <a:latin typeface="Arial"/>
              </a:rPr>
              <a:t>Final checks: robustness and cavity physics</a:t>
            </a:r>
            <a:endParaRPr sz="3400" b="1" i="0" dirty="0">
              <a:solidFill>
                <a:srgbClr val="222222"/>
              </a:solidFill>
              <a:latin typeface="Aria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Buffered design: robust to over-etch</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200 nm SiO₂, gap 3.4 µm, x_lift 7 µm; 550 nm film, rib top 1.0 µm; slab 275 → 150 nm</a:t>
            </a:r>
          </a:p>
        </p:txBody>
      </p:sp>
      <p:graphicFrame>
        <p:nvGraphicFramePr>
          <p:cNvPr id="4" name="Chart 3"/>
          <p:cNvGraphicFramePr>
            <a:graphicFrameLocks noGrp="1"/>
          </p:cNvGraphicFramePr>
          <p:nvPr/>
        </p:nvGraphicFramePr>
        <p:xfrm>
          <a:off x="365760" y="1600200"/>
          <a:ext cx="4343400" cy="448056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4754880" y="1600200"/>
          <a:ext cx="4343400" cy="4480560"/>
        </p:xfrm>
        <a:graphic>
          <a:graphicData uri="http://schemas.openxmlformats.org/drawingml/2006/chart">
            <c:chart xmlns:c="http://schemas.openxmlformats.org/drawingml/2006/chart" r:id="rId3"/>
          </a:graphicData>
        </a:graphic>
      </p:graphicFrame>
      <p:sp>
        <p:nvSpPr>
          <p:cNvPr id="6" name="Rounded Rectangle 5"/>
          <p:cNvSpPr/>
          <p:nvPr/>
        </p:nvSpPr>
        <p:spPr>
          <a:xfrm>
            <a:off x="9281160" y="169164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81160" y="1801368"/>
            <a:ext cx="2514600" cy="754380"/>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+2.6 %</a:t>
            </a:r>
          </a:p>
        </p:txBody>
      </p:sp>
      <p:sp>
        <p:nvSpPr>
          <p:cNvPr id="8" name="TextBox 7"/>
          <p:cNvSpPr txBox="1"/>
          <p:nvPr/>
        </p:nvSpPr>
        <p:spPr>
          <a:xfrm>
            <a:off x="9372600" y="2514600"/>
            <a:ext cx="2331720" cy="52120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Vπ·L per 15 nm</a:t>
            </a:r>
          </a:p>
          <a:p>
            <a:pPr algn="ctr">
              <a:spcAft>
                <a:spcPts val="0"/>
              </a:spcAft>
            </a:pPr>
            <a:r>
              <a:rPr sz="1100" b="0" i="0">
                <a:solidFill>
                  <a:srgbClr val="595959"/>
                </a:solidFill>
                <a:latin typeface="Arial"/>
              </a:rPr>
              <a:t>of over-etch</a:t>
            </a:r>
          </a:p>
        </p:txBody>
      </p:sp>
      <p:sp>
        <p:nvSpPr>
          <p:cNvPr id="9" name="Rounded Rectangle 8"/>
          <p:cNvSpPr/>
          <p:nvPr/>
        </p:nvSpPr>
        <p:spPr>
          <a:xfrm>
            <a:off x="9281160" y="320040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81160" y="3310128"/>
            <a:ext cx="2514600" cy="754380"/>
          </a:xfrm>
          <a:prstGeom prst="rect">
            <a:avLst/>
          </a:prstGeom>
          <a:noFill/>
        </p:spPr>
        <p:txBody>
          <a:bodyPr wrap="square" lIns="45720" rIns="45720" tIns="27432" bIns="27432" anchor="ctr">
            <a:spAutoFit/>
          </a:bodyPr>
          <a:lstStyle/>
          <a:p>
            <a:pPr algn="ctr">
              <a:spcAft>
                <a:spcPts val="600"/>
              </a:spcAft>
            </a:pPr>
            <a:r>
              <a:rPr sz="3000" b="1" i="0">
                <a:solidFill>
                  <a:srgbClr val="1BAF7A"/>
                </a:solidFill>
                <a:latin typeface="Arial"/>
              </a:rPr>
              <a:t>flat</a:t>
            </a:r>
          </a:p>
        </p:txBody>
      </p:sp>
      <p:sp>
        <p:nvSpPr>
          <p:cNvPr id="11" name="TextBox 10"/>
          <p:cNvSpPr txBox="1"/>
          <p:nvPr/>
        </p:nvSpPr>
        <p:spPr>
          <a:xfrm>
            <a:off x="9372600" y="4023360"/>
            <a:ext cx="2331720" cy="52120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vs x_lift at 150 nm</a:t>
            </a:r>
          </a:p>
          <a:p>
            <a:pPr algn="ctr">
              <a:spcAft>
                <a:spcPts val="0"/>
              </a:spcAft>
            </a:pPr>
            <a:r>
              <a:rPr sz="1100" b="0" i="0">
                <a:solidFill>
                  <a:srgbClr val="595959"/>
                </a:solidFill>
                <a:latin typeface="Arial"/>
              </a:rPr>
              <a:t>(6.6 / 7.0 / 7.4 µm)</a:t>
            </a:r>
          </a:p>
        </p:txBody>
      </p:sp>
      <p:sp>
        <p:nvSpPr>
          <p:cNvPr id="12" name="Rounded Rectangle 11"/>
          <p:cNvSpPr/>
          <p:nvPr/>
        </p:nvSpPr>
        <p:spPr>
          <a:xfrm>
            <a:off x="9281160" y="470916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4818888"/>
            <a:ext cx="2514600" cy="754380"/>
          </a:xfrm>
          <a:prstGeom prst="rect">
            <a:avLst/>
          </a:prstGeom>
          <a:noFill/>
        </p:spPr>
        <p:txBody>
          <a:bodyPr wrap="square" lIns="45720" rIns="45720" tIns="27432" bIns="27432" anchor="ctr">
            <a:spAutoFit/>
          </a:bodyPr>
          <a:lstStyle/>
          <a:p>
            <a:pPr algn="ctr">
              <a:spcAft>
                <a:spcPts val="600"/>
              </a:spcAft>
            </a:pPr>
            <a:r>
              <a:rPr sz="3000" b="1" i="0">
                <a:solidFill>
                  <a:srgbClr val="EB6834"/>
                </a:solidFill>
                <a:latin typeface="Arial"/>
              </a:rPr>
              <a:t>11× lower</a:t>
            </a:r>
          </a:p>
        </p:txBody>
      </p:sp>
      <p:sp>
        <p:nvSpPr>
          <p:cNvPr id="14" name="TextBox 13"/>
          <p:cNvSpPr txBox="1"/>
          <p:nvPr/>
        </p:nvSpPr>
        <p:spPr>
          <a:xfrm>
            <a:off x="9372600" y="5532120"/>
            <a:ext cx="2331720" cy="52120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0.026 → 0.0024 dB/cm</a:t>
            </a:r>
          </a:p>
          <a:p>
            <a:pPr algn="ctr">
              <a:spcAft>
                <a:spcPts val="0"/>
              </a:spcAft>
            </a:pPr>
            <a:r>
              <a:rPr sz="1100" b="0" i="0">
                <a:solidFill>
                  <a:srgbClr val="595959"/>
                </a:solidFill>
                <a:latin typeface="Arial"/>
              </a:rPr>
              <a:t>(275 → 150 nm slab)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Standard lifted: the gap sets the level, not the cavity</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No buffer; x_lift swept (top gap varied) at bottom gap 3.9 / 4.2 / 5.0 µm</a:t>
            </a:r>
          </a:p>
        </p:txBody>
      </p:sp>
      <p:graphicFrame>
        <p:nvGraphicFramePr>
          <p:cNvPr id="4" name="Chart 3"/>
          <p:cNvGraphicFramePr>
            <a:graphicFrameLocks noGrp="1"/>
          </p:cNvGraphicFramePr>
          <p:nvPr/>
        </p:nvGraphicFramePr>
        <p:xfrm>
          <a:off x="365760" y="1554480"/>
          <a:ext cx="5760720" cy="347472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172200" y="1554480"/>
          <a:ext cx="5669280" cy="347472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02920" y="5166360"/>
          <a:ext cx="6949440" cy="1207008"/>
        </p:xfrm>
        <a:graphic>
          <a:graphicData uri="http://schemas.openxmlformats.org/drawingml/2006/table">
            <a:tbl>
              <a:tblPr firstRow="1" bandRow="1"/>
              <a:tblGrid>
                <a:gridCol w="914400"/>
                <a:gridCol w="1143000"/>
                <a:gridCol w="1508760"/>
                <a:gridCol w="1097280"/>
                <a:gridCol w="1005840"/>
                <a:gridCol w="1280160"/>
              </a:tblGrid>
              <a:tr h="301752">
                <a:tc>
                  <a:txBody>
                    <a:bodyPr wrap="square"/>
                    <a:lstStyle/>
                    <a:p>
                      <a:pPr algn="l"/>
                      <a:r>
                        <a:rPr sz="1200" b="1" i="0">
                          <a:solidFill>
                            <a:srgbClr val="FFFFFF"/>
                          </a:solidFill>
                          <a:latin typeface="Arial"/>
                        </a:rPr>
                        <a:t>gap (µm)</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c>
                  <a:txBody>
                    <a:bodyPr wrap="square"/>
                    <a:lstStyle/>
                    <a:p>
                      <a:pPr algn="ctr"/>
                      <a:r>
                        <a:rPr sz="1200" b="1" i="0">
                          <a:solidFill>
                            <a:srgbClr val="FFFFFF"/>
                          </a:solidFill>
                          <a:latin typeface="Arial"/>
                        </a:rPr>
                        <a:t>IL range (dB/cm)</a:t>
                      </a:r>
                    </a:p>
                  </a:txBody>
                  <a:tcPr marL="54864" marR="54864" marT="18288" marB="18288" anchor="ctr">
                    <a:solidFill>
                      <a:srgbClr val="1F4E79"/>
                    </a:solidFill>
                  </a:tcPr>
                </a:tc>
                <a:tc>
                  <a:txBody>
                    <a:bodyPr wrap="square"/>
                    <a:lstStyle/>
                    <a:p>
                      <a:pPr algn="ctr"/>
                      <a:r>
                        <a:rPr sz="1200" b="1" i="0">
                          <a:solidFill>
                            <a:srgbClr val="FFFFFF"/>
                          </a:solidFill>
                          <a:latin typeface="Arial"/>
                        </a:rPr>
                        <a:t>period (µm)</a:t>
                      </a:r>
                    </a:p>
                  </a:txBody>
                  <a:tcPr marL="54864" marR="54864" marT="18288" marB="18288" anchor="ctr">
                    <a:solidFill>
                      <a:srgbClr val="1F4E79"/>
                    </a:solidFill>
                  </a:tcPr>
                </a:tc>
                <a:tc>
                  <a:txBody>
                    <a:bodyPr wrap="square"/>
                    <a:lstStyle/>
                    <a:p>
                      <a:pPr algn="ctr"/>
                      <a:r>
                        <a:rPr sz="1200" b="1" i="0">
                          <a:solidFill>
                            <a:srgbClr val="FFFFFF"/>
                          </a:solidFill>
                          <a:latin typeface="Arial"/>
                        </a:rPr>
                        <a:t>2α (1/µm)</a:t>
                      </a:r>
                    </a:p>
                  </a:txBody>
                  <a:tcPr marL="54864" marR="54864" marT="18288" marB="18288" anchor="ctr">
                    <a:solidFill>
                      <a:srgbClr val="1F4E79"/>
                    </a:solidFill>
                  </a:tcPr>
                </a:tc>
                <a:tc>
                  <a:txBody>
                    <a:bodyPr wrap="square"/>
                    <a:lstStyle/>
                    <a:p>
                      <a:pPr algn="ctr"/>
                      <a:r>
                        <a:rPr sz="1200" b="1" i="0">
                          <a:solidFill>
                            <a:srgbClr val="FFFFFF"/>
                          </a:solidFill>
                          <a:latin typeface="Arial"/>
                        </a:rPr>
                        <a:t>Vπ·L (V·cm)</a:t>
                      </a:r>
                    </a:p>
                  </a:txBody>
                  <a:tcPr marL="54864" marR="54864" marT="18288" marB="18288" anchor="ctr">
                    <a:solidFill>
                      <a:srgbClr val="1F4E79"/>
                    </a:solidFill>
                  </a:tcPr>
                </a:tc>
              </a:tr>
              <a:tr h="301752">
                <a:tc>
                  <a:txBody>
                    <a:bodyPr wrap="square"/>
                    <a:lstStyle/>
                    <a:p>
                      <a:pPr algn="l"/>
                      <a:r>
                        <a:rPr sz="1200" b="0" i="0">
                          <a:solidFill>
                            <a:srgbClr val="222222"/>
                          </a:solidFill>
                          <a:latin typeface="Arial"/>
                        </a:rPr>
                        <a:t>3.9</a:t>
                      </a:r>
                    </a:p>
                  </a:txBody>
                  <a:tcPr marL="54864" marR="54864" marT="18288" marB="18288" anchor="ctr">
                    <a:solidFill>
                      <a:srgbClr val="F4F6F9"/>
                    </a:solidFill>
                  </a:tcPr>
                </a:tc>
                <a:tc>
                  <a:txBody>
                    <a:bodyPr wrap="square"/>
                    <a:lstStyle/>
                    <a:p>
                      <a:pPr algn="ctr"/>
                      <a:r>
                        <a:rPr sz="1200" b="0" i="0">
                          <a:solidFill>
                            <a:srgbClr val="222222"/>
                          </a:solidFill>
                          <a:latin typeface="Arial"/>
                        </a:rPr>
                        <a:t>1.103</a:t>
                      </a:r>
                    </a:p>
                  </a:txBody>
                  <a:tcPr marL="54864" marR="54864" marT="18288" marB="18288" anchor="ctr">
                    <a:solidFill>
                      <a:srgbClr val="F4F6F9"/>
                    </a:solidFill>
                  </a:tcPr>
                </a:tc>
                <a:tc>
                  <a:txBody>
                    <a:bodyPr wrap="square"/>
                    <a:lstStyle/>
                    <a:p>
                      <a:pPr algn="ctr"/>
                      <a:r>
                        <a:rPr sz="1200" b="0" i="0">
                          <a:solidFill>
                            <a:srgbClr val="222222"/>
                          </a:solidFill>
                          <a:latin typeface="Arial"/>
                        </a:rPr>
                        <a:t>0.472 – 2.16</a:t>
                      </a:r>
                    </a:p>
                  </a:txBody>
                  <a:tcPr marL="54864" marR="54864" marT="18288" marB="18288" anchor="ctr">
                    <a:solidFill>
                      <a:srgbClr val="F4F6F9"/>
                    </a:solidFill>
                  </a:tcPr>
                </a:tc>
                <a:tc>
                  <a:txBody>
                    <a:bodyPr wrap="square"/>
                    <a:lstStyle/>
                    <a:p>
                      <a:pPr algn="ctr"/>
                      <a:r>
                        <a:rPr sz="1200" b="0" i="0">
                          <a:solidFill>
                            <a:srgbClr val="222222"/>
                          </a:solidFill>
                          <a:latin typeface="Arial"/>
                        </a:rPr>
                        <a:t>0.895</a:t>
                      </a:r>
                    </a:p>
                  </a:txBody>
                  <a:tcPr marL="54864" marR="54864" marT="18288" marB="18288" anchor="ctr">
                    <a:solidFill>
                      <a:srgbClr val="F4F6F9"/>
                    </a:solidFill>
                  </a:tcPr>
                </a:tc>
                <a:tc>
                  <a:txBody>
                    <a:bodyPr wrap="square"/>
                    <a:lstStyle/>
                    <a:p>
                      <a:pPr algn="ctr"/>
                      <a:r>
                        <a:rPr sz="1200" b="0" i="0">
                          <a:solidFill>
                            <a:srgbClr val="222222"/>
                          </a:solidFill>
                          <a:latin typeface="Arial"/>
                        </a:rPr>
                        <a:t>0.179</a:t>
                      </a:r>
                    </a:p>
                  </a:txBody>
                  <a:tcPr marL="54864" marR="54864" marT="18288" marB="18288" anchor="ctr">
                    <a:solidFill>
                      <a:srgbClr val="F4F6F9"/>
                    </a:solidFill>
                  </a:tcPr>
                </a:tc>
                <a:tc>
                  <a:txBody>
                    <a:bodyPr wrap="square"/>
                    <a:lstStyle/>
                    <a:p>
                      <a:pPr algn="ctr"/>
                      <a:r>
                        <a:rPr sz="1200" b="0" i="0">
                          <a:solidFill>
                            <a:srgbClr val="222222"/>
                          </a:solidFill>
                          <a:latin typeface="Arial"/>
                        </a:rPr>
                        <a:t>2.08</a:t>
                      </a:r>
                    </a:p>
                  </a:txBody>
                  <a:tcPr marL="54864" marR="54864" marT="18288" marB="18288" anchor="ctr">
                    <a:solidFill>
                      <a:srgbClr val="F4F6F9"/>
                    </a:solidFill>
                  </a:tcPr>
                </a:tc>
              </a:tr>
              <a:tr h="301752">
                <a:tc>
                  <a:txBody>
                    <a:bodyPr wrap="square"/>
                    <a:lstStyle/>
                    <a:p>
                      <a:pPr algn="l"/>
                      <a:r>
                        <a:rPr sz="1200" b="0" i="0">
                          <a:solidFill>
                            <a:srgbClr val="222222"/>
                          </a:solidFill>
                          <a:latin typeface="Arial"/>
                        </a:rPr>
                        <a:t>4.2</a:t>
                      </a:r>
                    </a:p>
                  </a:txBody>
                  <a:tcPr marL="54864" marR="54864" marT="18288" marB="18288" anchor="ctr">
                    <a:solidFill>
                      <a:srgbClr val="DDE3EA"/>
                    </a:solidFill>
                  </a:tcPr>
                </a:tc>
                <a:tc>
                  <a:txBody>
                    <a:bodyPr wrap="square"/>
                    <a:lstStyle/>
                    <a:p>
                      <a:pPr algn="ctr"/>
                      <a:r>
                        <a:rPr sz="1200" b="0" i="0">
                          <a:solidFill>
                            <a:srgbClr val="222222"/>
                          </a:solidFill>
                          <a:latin typeface="Arial"/>
                        </a:rPr>
                        <a:t>0.412</a:t>
                      </a:r>
                    </a:p>
                  </a:txBody>
                  <a:tcPr marL="54864" marR="54864" marT="18288" marB="18288" anchor="ctr">
                    <a:solidFill>
                      <a:srgbClr val="DDE3EA"/>
                    </a:solidFill>
                  </a:tcPr>
                </a:tc>
                <a:tc>
                  <a:txBody>
                    <a:bodyPr wrap="square"/>
                    <a:lstStyle/>
                    <a:p>
                      <a:pPr algn="ctr"/>
                      <a:r>
                        <a:rPr sz="1200" b="0" i="0">
                          <a:solidFill>
                            <a:srgbClr val="222222"/>
                          </a:solidFill>
                          <a:latin typeface="Arial"/>
                        </a:rPr>
                        <a:t>0.181 – 0.883</a:t>
                      </a:r>
                    </a:p>
                  </a:txBody>
                  <a:tcPr marL="54864" marR="54864" marT="18288" marB="18288" anchor="ctr">
                    <a:solidFill>
                      <a:srgbClr val="DDE3EA"/>
                    </a:solidFill>
                  </a:tcPr>
                </a:tc>
                <a:tc>
                  <a:txBody>
                    <a:bodyPr wrap="square"/>
                    <a:lstStyle/>
                    <a:p>
                      <a:pPr algn="ctr"/>
                      <a:r>
                        <a:rPr sz="1200" b="0" i="0">
                          <a:solidFill>
                            <a:srgbClr val="222222"/>
                          </a:solidFill>
                          <a:latin typeface="Arial"/>
                        </a:rPr>
                        <a:t>0.895</a:t>
                      </a:r>
                    </a:p>
                  </a:txBody>
                  <a:tcPr marL="54864" marR="54864" marT="18288" marB="18288" anchor="ctr">
                    <a:solidFill>
                      <a:srgbClr val="DDE3EA"/>
                    </a:solidFill>
                  </a:tcPr>
                </a:tc>
                <a:tc>
                  <a:txBody>
                    <a:bodyPr wrap="square"/>
                    <a:lstStyle/>
                    <a:p>
                      <a:pPr algn="ctr"/>
                      <a:r>
                        <a:rPr sz="1200" b="0" i="0">
                          <a:solidFill>
                            <a:srgbClr val="222222"/>
                          </a:solidFill>
                          <a:latin typeface="Arial"/>
                        </a:rPr>
                        <a:t>0.177</a:t>
                      </a:r>
                    </a:p>
                  </a:txBody>
                  <a:tcPr marL="54864" marR="54864" marT="18288" marB="18288" anchor="ctr">
                    <a:solidFill>
                      <a:srgbClr val="DDE3EA"/>
                    </a:solidFill>
                  </a:tcPr>
                </a:tc>
                <a:tc>
                  <a:txBody>
                    <a:bodyPr wrap="square"/>
                    <a:lstStyle/>
                    <a:p>
                      <a:pPr algn="ctr"/>
                      <a:r>
                        <a:rPr sz="1200" b="0" i="0">
                          <a:solidFill>
                            <a:srgbClr val="222222"/>
                          </a:solidFill>
                          <a:latin typeface="Arial"/>
                        </a:rPr>
                        <a:t>2.26</a:t>
                      </a:r>
                    </a:p>
                  </a:txBody>
                  <a:tcPr marL="54864" marR="54864" marT="18288" marB="18288" anchor="ctr">
                    <a:solidFill>
                      <a:srgbClr val="DDE3EA"/>
                    </a:solidFill>
                  </a:tcPr>
                </a:tc>
              </a:tr>
              <a:tr h="301752">
                <a:tc>
                  <a:txBody>
                    <a:bodyPr wrap="square"/>
                    <a:lstStyle/>
                    <a:p>
                      <a:pPr algn="l"/>
                      <a:r>
                        <a:rPr sz="1200" b="0" i="0">
                          <a:solidFill>
                            <a:srgbClr val="222222"/>
                          </a:solidFill>
                          <a:latin typeface="Arial"/>
                        </a:rPr>
                        <a:t>5.0</a:t>
                      </a:r>
                    </a:p>
                  </a:txBody>
                  <a:tcPr marL="54864" marR="54864" marT="18288" marB="18288" anchor="ctr">
                    <a:solidFill>
                      <a:srgbClr val="F4F6F9"/>
                    </a:solidFill>
                  </a:tcPr>
                </a:tc>
                <a:tc>
                  <a:txBody>
                    <a:bodyPr wrap="square"/>
                    <a:lstStyle/>
                    <a:p>
                      <a:pPr algn="ctr"/>
                      <a:r>
                        <a:rPr sz="1200" b="0" i="0">
                          <a:solidFill>
                            <a:srgbClr val="222222"/>
                          </a:solidFill>
                          <a:latin typeface="Arial"/>
                        </a:rPr>
                        <a:t>0.029</a:t>
                      </a:r>
                    </a:p>
                  </a:txBody>
                  <a:tcPr marL="54864" marR="54864" marT="18288" marB="18288" anchor="ctr">
                    <a:solidFill>
                      <a:srgbClr val="F4F6F9"/>
                    </a:solidFill>
                  </a:tcPr>
                </a:tc>
                <a:tc>
                  <a:txBody>
                    <a:bodyPr wrap="square"/>
                    <a:lstStyle/>
                    <a:p>
                      <a:pPr algn="ctr"/>
                      <a:r>
                        <a:rPr sz="1200" b="0" i="0">
                          <a:solidFill>
                            <a:srgbClr val="222222"/>
                          </a:solidFill>
                          <a:latin typeface="Arial"/>
                        </a:rPr>
                        <a:t>0.0129 – 0.0735</a:t>
                      </a:r>
                    </a:p>
                  </a:txBody>
                  <a:tcPr marL="54864" marR="54864" marT="18288" marB="18288" anchor="ctr">
                    <a:solidFill>
                      <a:srgbClr val="F4F6F9"/>
                    </a:solidFill>
                  </a:tcPr>
                </a:tc>
                <a:tc>
                  <a:txBody>
                    <a:bodyPr wrap="square"/>
                    <a:lstStyle/>
                    <a:p>
                      <a:pPr algn="ctr"/>
                      <a:r>
                        <a:rPr sz="1200" b="0" i="0">
                          <a:solidFill>
                            <a:srgbClr val="222222"/>
                          </a:solidFill>
                          <a:latin typeface="Arial"/>
                        </a:rPr>
                        <a:t>0.896</a:t>
                      </a:r>
                    </a:p>
                  </a:txBody>
                  <a:tcPr marL="54864" marR="54864" marT="18288" marB="18288" anchor="ctr">
                    <a:solidFill>
                      <a:srgbClr val="F4F6F9"/>
                    </a:solidFill>
                  </a:tcPr>
                </a:tc>
                <a:tc>
                  <a:txBody>
                    <a:bodyPr wrap="square"/>
                    <a:lstStyle/>
                    <a:p>
                      <a:pPr algn="ctr"/>
                      <a:r>
                        <a:rPr sz="1200" b="0" i="0">
                          <a:solidFill>
                            <a:srgbClr val="222222"/>
                          </a:solidFill>
                          <a:latin typeface="Arial"/>
                        </a:rPr>
                        <a:t>0.179</a:t>
                      </a:r>
                    </a:p>
                  </a:txBody>
                  <a:tcPr marL="54864" marR="54864" marT="18288" marB="18288" anchor="ctr">
                    <a:solidFill>
                      <a:srgbClr val="F4F6F9"/>
                    </a:solidFill>
                  </a:tcPr>
                </a:tc>
                <a:tc>
                  <a:txBody>
                    <a:bodyPr wrap="square"/>
                    <a:lstStyle/>
                    <a:p>
                      <a:pPr algn="ctr"/>
                      <a:r>
                        <a:rPr sz="1200" b="0" i="0">
                          <a:solidFill>
                            <a:srgbClr val="222222"/>
                          </a:solidFill>
                          <a:latin typeface="Arial"/>
                        </a:rPr>
                        <a:t>2.76</a:t>
                      </a:r>
                    </a:p>
                  </a:txBody>
                  <a:tcPr marL="54864" marR="54864" marT="18288" marB="18288" anchor="ctr">
                    <a:solidFill>
                      <a:srgbClr val="F4F6F9"/>
                    </a:solidFill>
                  </a:tcPr>
                </a:tc>
              </a:tr>
            </a:tbl>
          </a:graphicData>
        </a:graphic>
      </p:graphicFrame>
      <p:sp>
        <p:nvSpPr>
          <p:cNvPr id="7" name="Rounded Rectangle 6"/>
          <p:cNvSpPr/>
          <p:nvPr/>
        </p:nvSpPr>
        <p:spPr>
          <a:xfrm>
            <a:off x="7772400" y="5166360"/>
            <a:ext cx="3977639" cy="1207008"/>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Same period, decay and phase vs L</a:t>
            </a:r>
          </a:p>
          <a:p>
            <a:pPr algn="l">
              <a:spcAft>
                <a:spcPts val="500"/>
              </a:spcAft>
            </a:pPr>
            <a:r>
              <a:rPr sz="1300" b="0" i="0">
                <a:solidFill>
                  <a:srgbClr val="222222"/>
                </a:solidFill>
                <a:latin typeface="Arial"/>
              </a:rPr>
              <a:t>→ the cavity is unchanged</a:t>
            </a:r>
          </a:p>
          <a:p>
            <a:pPr algn="l">
              <a:spcAft>
                <a:spcPts val="500"/>
              </a:spcAft>
            </a:pPr>
            <a:r>
              <a:rPr sz="1300" b="0" i="0">
                <a:solidFill>
                  <a:srgbClr val="222222"/>
                </a:solidFill>
                <a:latin typeface="Arial"/>
              </a:rPr>
              <a:t>IL∞ ∝ e^(−3.3·gap[µm]): the gap only sets how much light leaks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SiO₂ removed from the electrodes: same ripple</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Full etch, gap 4.2 µm: slab ending in the gold; previous geometry = SiO₂ lift at slab level beyond x_lift = 7 µm</a:t>
            </a:r>
          </a:p>
        </p:txBody>
      </p:sp>
      <p:sp>
        <p:nvSpPr>
          <p:cNvPr id="4" name="TextBox 3"/>
          <p:cNvSpPr txBox="1"/>
          <p:nvPr/>
        </p:nvSpPr>
        <p:spPr>
          <a:xfrm>
            <a:off x="457200" y="1572768"/>
            <a:ext cx="3931920" cy="274320"/>
          </a:xfrm>
          <a:prstGeom prst="rect">
            <a:avLst/>
          </a:prstGeom>
          <a:noFill/>
        </p:spPr>
        <p:txBody>
          <a:bodyPr wrap="square" lIns="45720" rIns="45720" tIns="27432" bIns="27432" anchor="t">
            <a:spAutoFit/>
          </a:bodyPr>
          <a:lstStyle/>
          <a:p>
            <a:pPr algn="l">
              <a:spcAft>
                <a:spcPts val="600"/>
              </a:spcAft>
            </a:pPr>
            <a:r>
              <a:rPr sz="1200" b="1" i="0">
                <a:solidFill>
                  <a:srgbClr val="1F4E79"/>
                </a:solidFill>
                <a:latin typeface="Arial"/>
              </a:rPr>
              <a:t>Previous: SiO₂ lift (gold/SiO₂ edge at 7 µm)</a:t>
            </a:r>
          </a:p>
        </p:txBody>
      </p:sp>
      <p:pic>
        <p:nvPicPr>
          <p:cNvPr id="5" name="Picture 4" descr="geo3_lift.png"/>
          <p:cNvPicPr>
            <a:picLocks noChangeAspect="1"/>
          </p:cNvPicPr>
          <p:nvPr/>
        </p:nvPicPr>
        <p:blipFill>
          <a:blip r:embed="rId2"/>
          <a:stretch>
            <a:fillRect/>
          </a:stretch>
        </p:blipFill>
        <p:spPr>
          <a:xfrm>
            <a:off x="457200" y="1847088"/>
            <a:ext cx="3931920" cy="984174"/>
          </a:xfrm>
          <a:prstGeom prst="rect">
            <a:avLst/>
          </a:prstGeom>
        </p:spPr>
      </p:pic>
      <p:sp>
        <p:nvSpPr>
          <p:cNvPr id="6" name="TextBox 5"/>
          <p:cNvSpPr txBox="1"/>
          <p:nvPr/>
        </p:nvSpPr>
        <p:spPr>
          <a:xfrm>
            <a:off x="457200" y="2907792"/>
            <a:ext cx="3931920" cy="274320"/>
          </a:xfrm>
          <a:prstGeom prst="rect">
            <a:avLst/>
          </a:prstGeom>
          <a:noFill/>
        </p:spPr>
        <p:txBody>
          <a:bodyPr wrap="square" lIns="45720" rIns="45720" tIns="27432" bIns="27432" anchor="t">
            <a:spAutoFit/>
          </a:bodyPr>
          <a:lstStyle/>
          <a:p>
            <a:pPr algn="l">
              <a:spcAft>
                <a:spcPts val="600"/>
              </a:spcAft>
            </a:pPr>
            <a:r>
              <a:rPr sz="1200" b="1" i="0">
                <a:solidFill>
                  <a:srgbClr val="1F4E79"/>
                </a:solidFill>
                <a:latin typeface="Arial"/>
              </a:rPr>
              <a:t>Now: solid gold electrodes, no SiO₂ inside</a:t>
            </a:r>
          </a:p>
        </p:txBody>
      </p:sp>
      <p:pic>
        <p:nvPicPr>
          <p:cNvPr id="7" name="Picture 6" descr="geo3_goldout.png"/>
          <p:cNvPicPr>
            <a:picLocks noChangeAspect="1"/>
          </p:cNvPicPr>
          <p:nvPr/>
        </p:nvPicPr>
        <p:blipFill>
          <a:blip r:embed="rId3"/>
          <a:stretch>
            <a:fillRect/>
          </a:stretch>
        </p:blipFill>
        <p:spPr>
          <a:xfrm>
            <a:off x="457200" y="3182112"/>
            <a:ext cx="3931920" cy="984174"/>
          </a:xfrm>
          <a:prstGeom prst="rect">
            <a:avLst/>
          </a:prstGeom>
        </p:spPr>
      </p:pic>
      <p:sp>
        <p:nvSpPr>
          <p:cNvPr id="8" name="Rounded Rectangle 7"/>
          <p:cNvSpPr/>
          <p:nvPr/>
        </p:nvSpPr>
        <p:spPr>
          <a:xfrm>
            <a:off x="457200" y="4389120"/>
            <a:ext cx="1901952" cy="16916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498848"/>
            <a:ext cx="1901952" cy="930402"/>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0.03 %</a:t>
            </a:r>
          </a:p>
        </p:txBody>
      </p:sp>
      <p:sp>
        <p:nvSpPr>
          <p:cNvPr id="10" name="TextBox 9"/>
          <p:cNvSpPr txBox="1"/>
          <p:nvPr/>
        </p:nvSpPr>
        <p:spPr>
          <a:xfrm>
            <a:off x="548640" y="5404104"/>
            <a:ext cx="1719072" cy="64282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median change,</a:t>
            </a:r>
          </a:p>
          <a:p>
            <a:pPr algn="ctr">
              <a:spcAft>
                <a:spcPts val="0"/>
              </a:spcAft>
            </a:pPr>
            <a:r>
              <a:rPr sz="1100" b="0" i="0">
                <a:solidFill>
                  <a:srgbClr val="595959"/>
                </a:solidFill>
                <a:latin typeface="Arial"/>
              </a:rPr>
              <a:t>slab ends in the gold</a:t>
            </a:r>
          </a:p>
          <a:p>
            <a:pPr algn="ctr">
              <a:spcAft>
                <a:spcPts val="0"/>
              </a:spcAft>
            </a:pPr>
            <a:r>
              <a:rPr sz="1100" b="0" i="0">
                <a:solidFill>
                  <a:srgbClr val="595959"/>
                </a:solidFill>
                <a:latin typeface="Arial"/>
              </a:rPr>
              <a:t>(28 points)</a:t>
            </a:r>
          </a:p>
        </p:txBody>
      </p:sp>
      <p:sp>
        <p:nvSpPr>
          <p:cNvPr id="11" name="Rounded Rectangle 10"/>
          <p:cNvSpPr/>
          <p:nvPr/>
        </p:nvSpPr>
        <p:spPr>
          <a:xfrm>
            <a:off x="2487168" y="4389120"/>
            <a:ext cx="1901952" cy="16916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87168" y="4498848"/>
            <a:ext cx="1901952" cy="930402"/>
          </a:xfrm>
          <a:prstGeom prst="rect">
            <a:avLst/>
          </a:prstGeom>
          <a:noFill/>
        </p:spPr>
        <p:txBody>
          <a:bodyPr wrap="square" lIns="45720" rIns="45720" tIns="27432" bIns="27432" anchor="ctr">
            <a:spAutoFit/>
          </a:bodyPr>
          <a:lstStyle/>
          <a:p>
            <a:pPr algn="ctr">
              <a:spcAft>
                <a:spcPts val="600"/>
              </a:spcAft>
            </a:pPr>
            <a:r>
              <a:rPr sz="3000" b="1" i="0">
                <a:solidFill>
                  <a:srgbClr val="EB6834"/>
                </a:solidFill>
                <a:latin typeface="Arial"/>
              </a:rPr>
              <a:t>0.415</a:t>
            </a:r>
          </a:p>
        </p:txBody>
      </p:sp>
      <p:sp>
        <p:nvSpPr>
          <p:cNvPr id="13" name="TextBox 12"/>
          <p:cNvSpPr txBox="1"/>
          <p:nvPr/>
        </p:nvSpPr>
        <p:spPr>
          <a:xfrm>
            <a:off x="2578608" y="5404104"/>
            <a:ext cx="1719072" cy="64282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dB/cm asymptote</a:t>
            </a:r>
          </a:p>
          <a:p>
            <a:pPr algn="ctr">
              <a:spcAft>
                <a:spcPts val="0"/>
              </a:spcAft>
            </a:pPr>
            <a:r>
              <a:rPr sz="1100" b="0" i="0">
                <a:solidFill>
                  <a:srgbClr val="595959"/>
                </a:solidFill>
                <a:latin typeface="Arial"/>
              </a:rPr>
              <a:t>(Cordoba 0.42)</a:t>
            </a:r>
          </a:p>
        </p:txBody>
      </p:sp>
      <p:graphicFrame>
        <p:nvGraphicFramePr>
          <p:cNvPr id="14" name="Chart 13"/>
          <p:cNvGraphicFramePr>
            <a:graphicFrameLocks noGrp="1"/>
          </p:cNvGraphicFramePr>
          <p:nvPr/>
        </p:nvGraphicFramePr>
        <p:xfrm>
          <a:off x="4572000" y="1554480"/>
          <a:ext cx="7269480" cy="4572000"/>
        </p:xfrm>
        <a:graphic>
          <a:graphicData uri="http://schemas.openxmlformats.org/drawingml/2006/chart">
            <c:chart xmlns:c="http://schemas.openxmlformats.org/drawingml/2006/chart" r:id="rId4"/>
          </a:graphicData>
        </a:graphic>
      </p:graphicFrame>
      <p:sp>
        <p:nvSpPr>
          <p:cNvPr id="15" name="TextBox 14"/>
          <p:cNvSpPr txBox="1"/>
          <p:nvPr/>
        </p:nvSpPr>
        <p:spPr>
          <a:xfrm>
            <a:off x="8366760" y="4956048"/>
            <a:ext cx="2194560" cy="274320"/>
          </a:xfrm>
          <a:prstGeom prst="rect">
            <a:avLst/>
          </a:prstGeom>
          <a:noFill/>
        </p:spPr>
        <p:txBody>
          <a:bodyPr wrap="square" lIns="45720" rIns="45720" tIns="27432" bIns="27432" anchor="t">
            <a:spAutoFit/>
          </a:bodyPr>
          <a:lstStyle/>
          <a:p>
            <a:pPr algn="l">
              <a:spcAft>
                <a:spcPts val="600"/>
              </a:spcAft>
            </a:pPr>
            <a:r>
              <a:rPr sz="1000" b="0" i="0">
                <a:solidFill>
                  <a:srgbClr val="2A78D6"/>
                </a:solidFill>
                <a:latin typeface="Arial"/>
              </a:rPr>
              <a:t>old gold/SiO₂ edge (slab_w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Why the slab end and the gold edge act the same</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The lateral wave lives only where gold and LN slab overlap (1D stack indices, 1575 nm)</a:t>
            </a:r>
          </a:p>
        </p:txBody>
      </p:sp>
      <p:pic>
        <p:nvPicPr>
          <p:cNvPr id="4" name="Picture 3" descr="mech_two_mirrors.png"/>
          <p:cNvPicPr>
            <a:picLocks noChangeAspect="1"/>
          </p:cNvPicPr>
          <p:nvPr/>
        </p:nvPicPr>
        <p:blipFill>
          <a:blip r:embed="rId2"/>
          <a:stretch>
            <a:fillRect/>
          </a:stretch>
        </p:blipFill>
        <p:spPr>
          <a:xfrm>
            <a:off x="320040" y="1554480"/>
            <a:ext cx="8001000" cy="4000500"/>
          </a:xfrm>
          <a:prstGeom prst="rect">
            <a:avLst/>
          </a:prstGeom>
        </p:spPr>
      </p:pic>
      <p:sp>
        <p:nvSpPr>
          <p:cNvPr id="5" name="Rounded Rectangle 4"/>
          <p:cNvSpPr/>
          <p:nvPr/>
        </p:nvSpPr>
        <p:spPr>
          <a:xfrm>
            <a:off x="8503920" y="1600200"/>
            <a:ext cx="3291840" cy="25146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Gold + LN: n = 2.07 &gt; 1.884</a:t>
            </a:r>
          </a:p>
          <a:p>
            <a:pPr algn="l">
              <a:spcAft>
                <a:spcPts val="800"/>
              </a:spcAft>
            </a:pPr>
            <a:r>
              <a:rPr sz="1300" b="0" i="0">
                <a:solidFill>
                  <a:srgbClr val="222222"/>
                </a:solidFill>
                <a:latin typeface="Arial"/>
              </a:rPr>
              <a:t>→ propagates sideways</a:t>
            </a:r>
          </a:p>
          <a:p>
            <a:pPr algn="l">
              <a:spcAft>
                <a:spcPts val="500"/>
              </a:spcAft>
            </a:pPr>
            <a:r>
              <a:rPr sz="1400" b="1" i="0">
                <a:solidFill>
                  <a:srgbClr val="1F4E79"/>
                </a:solidFill>
                <a:latin typeface="Arial"/>
              </a:rPr>
              <a:t>Remove the LN: 1.46</a:t>
            </a:r>
          </a:p>
          <a:p>
            <a:pPr algn="l">
              <a:spcAft>
                <a:spcPts val="500"/>
              </a:spcAft>
            </a:pPr>
            <a:r>
              <a:rPr sz="1400" b="1" i="0">
                <a:solidFill>
                  <a:srgbClr val="1F4E79"/>
                </a:solidFill>
                <a:latin typeface="Arial"/>
              </a:rPr>
              <a:t>Remove the gold: 1.61</a:t>
            </a:r>
          </a:p>
          <a:p>
            <a:pPr algn="l">
              <a:spcAft>
                <a:spcPts val="800"/>
              </a:spcAft>
            </a:pPr>
            <a:r>
              <a:rPr sz="1300" b="0" i="0">
                <a:solidFill>
                  <a:srgbClr val="222222"/>
                </a:solidFill>
                <a:latin typeface="Arial"/>
              </a:rPr>
              <a:t>→ both evanescent → reflection</a:t>
            </a:r>
          </a:p>
          <a:p>
            <a:pPr algn="l">
              <a:spcAft>
                <a:spcPts val="500"/>
              </a:spcAft>
            </a:pPr>
            <a:r>
              <a:rPr sz="1350" b="1" i="0">
                <a:solidFill>
                  <a:srgbClr val="222222"/>
                </a:solidFill>
                <a:latin typeface="Arial"/>
              </a:rPr>
              <a:t>Mirror = end of the overlap, whatever ends it</a:t>
            </a:r>
          </a:p>
        </p:txBody>
      </p:sp>
      <p:graphicFrame>
        <p:nvGraphicFramePr>
          <p:cNvPr id="6" name="Table 5"/>
          <p:cNvGraphicFramePr>
            <a:graphicFrameLocks noGrp="1"/>
          </p:cNvGraphicFramePr>
          <p:nvPr/>
        </p:nvGraphicFramePr>
        <p:xfrm>
          <a:off x="8503920" y="4297680"/>
          <a:ext cx="3291840" cy="1508760"/>
        </p:xfrm>
        <a:graphic>
          <a:graphicData uri="http://schemas.openxmlformats.org/drawingml/2006/table">
            <a:tbl>
              <a:tblPr firstRow="1" bandRow="1"/>
              <a:tblGrid>
                <a:gridCol w="1371600"/>
                <a:gridCol w="960120"/>
                <a:gridCol w="960120"/>
              </a:tblGrid>
              <a:tr h="301752">
                <a:tc>
                  <a:txBody>
                    <a:bodyPr wrap="square"/>
                    <a:lstStyle/>
                    <a:p>
                      <a:pPr algn="l"/>
                      <a:r>
                        <a:rPr sz="1200" b="1" i="0">
                          <a:solidFill>
                            <a:srgbClr val="FFFFFF"/>
                          </a:solidFill>
                          <a:latin typeface="Arial"/>
                        </a:rPr>
                        <a:t>fit</a:t>
                      </a:r>
                    </a:p>
                  </a:txBody>
                  <a:tcPr marL="54864" marR="54864" marT="18288" marB="18288" anchor="ctr">
                    <a:solidFill>
                      <a:srgbClr val="1F4E79"/>
                    </a:solidFill>
                  </a:tcPr>
                </a:tc>
                <a:tc>
                  <a:txBody>
                    <a:bodyPr wrap="square"/>
                    <a:lstStyle/>
                    <a:p>
                      <a:pPr algn="ctr"/>
                      <a:r>
                        <a:rPr sz="1200" b="1" i="0">
                          <a:solidFill>
                            <a:srgbClr val="FFFFFF"/>
                          </a:solidFill>
                          <a:latin typeface="Arial"/>
                        </a:rPr>
                        <a:t>slab end</a:t>
                      </a:r>
                    </a:p>
                  </a:txBody>
                  <a:tcPr marL="54864" marR="54864" marT="18288" marB="18288" anchor="ctr">
                    <a:solidFill>
                      <a:srgbClr val="1F4E79"/>
                    </a:solidFill>
                  </a:tcPr>
                </a:tc>
                <a:tc>
                  <a:txBody>
                    <a:bodyPr wrap="square"/>
                    <a:lstStyle/>
                    <a:p>
                      <a:pPr algn="ctr"/>
                      <a:r>
                        <a:rPr sz="1200" b="1" i="0">
                          <a:solidFill>
                            <a:srgbClr val="FFFFFF"/>
                          </a:solidFill>
                          <a:latin typeface="Arial"/>
                        </a:rPr>
                        <a:t>gold edge</a:t>
                      </a:r>
                    </a:p>
                  </a:txBody>
                  <a:tcPr marL="54864" marR="54864" marT="18288" marB="18288" anchor="ctr">
                    <a:solidFill>
                      <a:srgbClr val="1F4E79"/>
                    </a:solidFill>
                  </a:tcPr>
                </a:tc>
              </a:tr>
              <a:tr h="301752">
                <a:tc>
                  <a:txBody>
                    <a:bodyPr wrap="square"/>
                    <a:lstStyle/>
                    <a:p>
                      <a:pPr algn="l"/>
                      <a:r>
                        <a:rPr sz="1200" b="0" i="0">
                          <a:solidFill>
                            <a:srgbClr val="222222"/>
                          </a:solidFill>
                          <a:latin typeface="Arial"/>
                        </a:rPr>
                        <a:t>period (µm)</a:t>
                      </a:r>
                    </a:p>
                  </a:txBody>
                  <a:tcPr marL="54864" marR="54864" marT="18288" marB="18288" anchor="ctr">
                    <a:solidFill>
                      <a:srgbClr val="F4F6F9"/>
                    </a:solidFill>
                  </a:tcPr>
                </a:tc>
                <a:tc>
                  <a:txBody>
                    <a:bodyPr wrap="square"/>
                    <a:lstStyle/>
                    <a:p>
                      <a:pPr algn="ctr"/>
                      <a:r>
                        <a:rPr sz="1200" b="0" i="0">
                          <a:solidFill>
                            <a:srgbClr val="222222"/>
                          </a:solidFill>
                          <a:latin typeface="Arial"/>
                        </a:rPr>
                        <a:t>0.895</a:t>
                      </a:r>
                    </a:p>
                  </a:txBody>
                  <a:tcPr marL="54864" marR="54864" marT="18288" marB="18288" anchor="ctr">
                    <a:solidFill>
                      <a:srgbClr val="F4F6F9"/>
                    </a:solidFill>
                  </a:tcPr>
                </a:tc>
                <a:tc>
                  <a:txBody>
                    <a:bodyPr wrap="square"/>
                    <a:lstStyle/>
                    <a:p>
                      <a:pPr algn="ctr"/>
                      <a:r>
                        <a:rPr sz="1200" b="0" i="0">
                          <a:solidFill>
                            <a:srgbClr val="222222"/>
                          </a:solidFill>
                          <a:latin typeface="Arial"/>
                        </a:rPr>
                        <a:t>0.894</a:t>
                      </a:r>
                    </a:p>
                  </a:txBody>
                  <a:tcPr marL="54864" marR="54864" marT="18288" marB="18288" anchor="ctr">
                    <a:solidFill>
                      <a:srgbClr val="F4F6F9"/>
                    </a:solidFill>
                  </a:tcPr>
                </a:tc>
              </a:tr>
              <a:tr h="301752">
                <a:tc>
                  <a:txBody>
                    <a:bodyPr wrap="square"/>
                    <a:lstStyle/>
                    <a:p>
                      <a:pPr algn="l"/>
                      <a:r>
                        <a:rPr sz="1200" b="0" i="0">
                          <a:solidFill>
                            <a:srgbClr val="222222"/>
                          </a:solidFill>
                          <a:latin typeface="Arial"/>
                        </a:rPr>
                        <a:t>IL∞ (dB/cm)</a:t>
                      </a:r>
                    </a:p>
                  </a:txBody>
                  <a:tcPr marL="54864" marR="54864" marT="18288" marB="18288" anchor="ctr">
                    <a:solidFill>
                      <a:srgbClr val="DDE3EA"/>
                    </a:solidFill>
                  </a:tcPr>
                </a:tc>
                <a:tc>
                  <a:txBody>
                    <a:bodyPr wrap="square"/>
                    <a:lstStyle/>
                    <a:p>
                      <a:pPr algn="ctr"/>
                      <a:r>
                        <a:rPr sz="1200" b="0" i="0">
                          <a:solidFill>
                            <a:srgbClr val="222222"/>
                          </a:solidFill>
                          <a:latin typeface="Arial"/>
                        </a:rPr>
                        <a:t>0.414</a:t>
                      </a:r>
                    </a:p>
                  </a:txBody>
                  <a:tcPr marL="54864" marR="54864" marT="18288" marB="18288" anchor="ctr">
                    <a:solidFill>
                      <a:srgbClr val="DDE3EA"/>
                    </a:solidFill>
                  </a:tcPr>
                </a:tc>
                <a:tc>
                  <a:txBody>
                    <a:bodyPr wrap="square"/>
                    <a:lstStyle/>
                    <a:p>
                      <a:pPr algn="ctr"/>
                      <a:r>
                        <a:rPr sz="1200" b="0" i="0">
                          <a:solidFill>
                            <a:srgbClr val="222222"/>
                          </a:solidFill>
                          <a:latin typeface="Arial"/>
                        </a:rPr>
                        <a:t>0.415</a:t>
                      </a:r>
                    </a:p>
                  </a:txBody>
                  <a:tcPr marL="54864" marR="54864" marT="18288" marB="18288" anchor="ctr">
                    <a:solidFill>
                      <a:srgbClr val="DDE3EA"/>
                    </a:solidFill>
                  </a:tcPr>
                </a:tc>
              </a:tr>
              <a:tr h="301752">
                <a:tc>
                  <a:txBody>
                    <a:bodyPr wrap="square"/>
                    <a:lstStyle/>
                    <a:p>
                      <a:pPr algn="l"/>
                      <a:r>
                        <a:rPr sz="1200" b="0" i="0">
                          <a:solidFill>
                            <a:srgbClr val="222222"/>
                          </a:solidFill>
                          <a:latin typeface="Arial"/>
                        </a:rPr>
                        <a:t>decay 2α (1/µm)</a:t>
                      </a:r>
                    </a:p>
                  </a:txBody>
                  <a:tcPr marL="54864" marR="54864" marT="18288" marB="18288" anchor="ctr">
                    <a:solidFill>
                      <a:srgbClr val="F4F6F9"/>
                    </a:solidFill>
                  </a:tcPr>
                </a:tc>
                <a:tc>
                  <a:txBody>
                    <a:bodyPr wrap="square"/>
                    <a:lstStyle/>
                    <a:p>
                      <a:pPr algn="ctr"/>
                      <a:r>
                        <a:rPr sz="1200" b="0" i="0">
                          <a:solidFill>
                            <a:srgbClr val="222222"/>
                          </a:solidFill>
                          <a:latin typeface="Arial"/>
                        </a:rPr>
                        <a:t>0.182</a:t>
                      </a:r>
                    </a:p>
                  </a:txBody>
                  <a:tcPr marL="54864" marR="54864" marT="18288" marB="18288" anchor="ctr">
                    <a:solidFill>
                      <a:srgbClr val="F4F6F9"/>
                    </a:solidFill>
                  </a:tcPr>
                </a:tc>
                <a:tc>
                  <a:txBody>
                    <a:bodyPr wrap="square"/>
                    <a:lstStyle/>
                    <a:p>
                      <a:pPr algn="ctr"/>
                      <a:r>
                        <a:rPr sz="1200" b="0" i="0">
                          <a:solidFill>
                            <a:srgbClr val="222222"/>
                          </a:solidFill>
                          <a:latin typeface="Arial"/>
                        </a:rPr>
                        <a:t>0.179</a:t>
                      </a:r>
                    </a:p>
                  </a:txBody>
                  <a:tcPr marL="54864" marR="54864" marT="18288" marB="18288" anchor="ctr">
                    <a:solidFill>
                      <a:srgbClr val="F4F6F9"/>
                    </a:solidFill>
                  </a:tcPr>
                </a:tc>
              </a:tr>
              <a:tr h="301752">
                <a:tc>
                  <a:txBody>
                    <a:bodyPr wrap="square"/>
                    <a:lstStyle/>
                    <a:p>
                      <a:pPr algn="l"/>
                      <a:r>
                        <a:rPr sz="1200" b="0" i="0">
                          <a:solidFill>
                            <a:srgbClr val="222222"/>
                          </a:solidFill>
                          <a:latin typeface="Arial"/>
                        </a:rPr>
                        <a:t>mirror ρ₀</a:t>
                      </a:r>
                    </a:p>
                  </a:txBody>
                  <a:tcPr marL="54864" marR="54864" marT="18288" marB="18288" anchor="ctr">
                    <a:solidFill>
                      <a:srgbClr val="DDE3EA"/>
                    </a:solidFill>
                  </a:tcPr>
                </a:tc>
                <a:tc>
                  <a:txBody>
                    <a:bodyPr wrap="square"/>
                    <a:lstStyle/>
                    <a:p>
                      <a:pPr algn="ctr"/>
                      <a:r>
                        <a:rPr sz="1200" b="0" i="0">
                          <a:solidFill>
                            <a:srgbClr val="222222"/>
                          </a:solidFill>
                          <a:latin typeface="Arial"/>
                        </a:rPr>
                        <a:t>0.957</a:t>
                      </a:r>
                    </a:p>
                  </a:txBody>
                  <a:tcPr marL="54864" marR="54864" marT="18288" marB="18288" anchor="ctr">
                    <a:solidFill>
                      <a:srgbClr val="DDE3EA"/>
                    </a:solidFill>
                  </a:tcPr>
                </a:tc>
                <a:tc>
                  <a:txBody>
                    <a:bodyPr wrap="square"/>
                    <a:lstStyle/>
                    <a:p>
                      <a:pPr algn="ctr"/>
                      <a:r>
                        <a:rPr sz="1200" b="0" i="0">
                          <a:solidFill>
                            <a:srgbClr val="222222"/>
                          </a:solidFill>
                          <a:latin typeface="Arial"/>
                        </a:rPr>
                        <a:t>0.922</a:t>
                      </a:r>
                    </a:p>
                  </a:txBody>
                  <a:tcPr marL="54864" marR="54864" marT="18288" marB="18288" anchor="ctr">
                    <a:solidFill>
                      <a:srgbClr val="DDE3EA"/>
                    </a:solidFill>
                  </a:tcPr>
                </a:tc>
              </a:tr>
            </a:tbl>
          </a:graphicData>
        </a:graphic>
      </p:graphicFrame>
      <p:sp>
        <p:nvSpPr>
          <p:cNvPr id="7" name="TextBox 6"/>
          <p:cNvSpPr txBox="1"/>
          <p:nvPr/>
        </p:nvSpPr>
        <p:spPr>
          <a:xfrm>
            <a:off x="8503920" y="5852160"/>
            <a:ext cx="3291840" cy="548640"/>
          </a:xfrm>
          <a:prstGeom prst="rect">
            <a:avLst/>
          </a:prstGeom>
          <a:noFill/>
        </p:spPr>
        <p:txBody>
          <a:bodyPr wrap="square" lIns="45720" rIns="45720" tIns="27432" bIns="27432" anchor="t">
            <a:spAutoFit/>
          </a:bodyPr>
          <a:lstStyle/>
          <a:p>
            <a:pPr algn="l">
              <a:spcAft>
                <a:spcPts val="600"/>
              </a:spcAft>
            </a:pPr>
            <a:r>
              <a:rPr sz="1150" b="0" i="1">
                <a:solidFill>
                  <a:srgbClr val="595959"/>
                </a:solidFill>
                <a:latin typeface="Arial"/>
              </a:rPr>
              <a:t>Cavity sets period, decay, IL∞; the mirror only ρ₀ and phase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Conclusions</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Lifted electrodes, λ = 1575 nm</a:t>
            </a:r>
          </a:p>
        </p:txBody>
      </p:sp>
      <p:sp>
        <p:nvSpPr>
          <p:cNvPr id="4" name="Rounded Rectangle 3"/>
          <p:cNvSpPr/>
          <p:nvPr/>
        </p:nvSpPr>
        <p:spPr>
          <a:xfrm>
            <a:off x="548640"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55648"/>
            <a:ext cx="3566160" cy="829818"/>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0.026 dB/cm</a:t>
            </a:r>
          </a:p>
        </p:txBody>
      </p:sp>
      <p:sp>
        <p:nvSpPr>
          <p:cNvPr id="6" name="TextBox 5"/>
          <p:cNvSpPr txBox="1"/>
          <p:nvPr/>
        </p:nvSpPr>
        <p:spPr>
          <a:xfrm>
            <a:off x="640080" y="2551176"/>
            <a:ext cx="3383279" cy="57332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flat vs x_lift</a:t>
            </a:r>
          </a:p>
          <a:p>
            <a:pPr algn="ctr">
              <a:spcAft>
                <a:spcPts val="0"/>
              </a:spcAft>
            </a:pPr>
            <a:r>
              <a:rPr sz="1100" b="0" i="0">
                <a:solidFill>
                  <a:srgbClr val="595959"/>
                </a:solidFill>
                <a:latin typeface="Arial"/>
              </a:rPr>
              <a:t>200 nm buffer, gap 3.4 µm</a:t>
            </a:r>
          </a:p>
        </p:txBody>
      </p:sp>
      <p:sp>
        <p:nvSpPr>
          <p:cNvPr id="7" name="Rounded Rectangle 6"/>
          <p:cNvSpPr/>
          <p:nvPr/>
        </p:nvSpPr>
        <p:spPr>
          <a:xfrm>
            <a:off x="4315968"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5968" y="1755648"/>
            <a:ext cx="3566160" cy="829818"/>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2.27 V·cm</a:t>
            </a:r>
          </a:p>
        </p:txBody>
      </p:sp>
      <p:sp>
        <p:nvSpPr>
          <p:cNvPr id="9" name="TextBox 8"/>
          <p:cNvSpPr txBox="1"/>
          <p:nvPr/>
        </p:nvSpPr>
        <p:spPr>
          <a:xfrm>
            <a:off x="4407407" y="2551176"/>
            <a:ext cx="3383279" cy="57332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Vπ·L at gap 3.4 µm</a:t>
            </a:r>
          </a:p>
          <a:p>
            <a:pPr algn="ctr">
              <a:spcAft>
                <a:spcPts val="0"/>
              </a:spcAft>
            </a:pPr>
            <a:r>
              <a:rPr sz="1100" b="0" i="0">
                <a:solidFill>
                  <a:srgbClr val="595959"/>
                </a:solidFill>
                <a:latin typeface="Arial"/>
              </a:rPr>
              <a:t>(+2.6 % per 15 nm over-etch)</a:t>
            </a:r>
          </a:p>
        </p:txBody>
      </p:sp>
      <p:sp>
        <p:nvSpPr>
          <p:cNvPr id="10" name="Rounded Rectangle 9"/>
          <p:cNvSpPr/>
          <p:nvPr/>
        </p:nvSpPr>
        <p:spPr>
          <a:xfrm>
            <a:off x="8083296"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83296" y="1755648"/>
            <a:ext cx="3566160" cy="829818"/>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38 nm</a:t>
            </a:r>
          </a:p>
        </p:txBody>
      </p:sp>
      <p:sp>
        <p:nvSpPr>
          <p:cNvPr id="12" name="TextBox 11"/>
          <p:cNvSpPr txBox="1"/>
          <p:nvPr/>
        </p:nvSpPr>
        <p:spPr>
          <a:xfrm>
            <a:off x="8174736" y="2551176"/>
            <a:ext cx="3383279" cy="573328"/>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buffer cutoff</a:t>
            </a:r>
          </a:p>
          <a:p>
            <a:pPr algn="ctr">
              <a:spcAft>
                <a:spcPts val="0"/>
              </a:spcAft>
            </a:pPr>
            <a:r>
              <a:rPr sz="1100" b="0" i="0">
                <a:solidFill>
                  <a:srgbClr val="595959"/>
                </a:solidFill>
                <a:latin typeface="Arial"/>
              </a:rPr>
              <a:t>200 nm = 5× margin</a:t>
            </a:r>
          </a:p>
        </p:txBody>
      </p:sp>
      <p:sp>
        <p:nvSpPr>
          <p:cNvPr id="13" name="Rounded Rectangle 12"/>
          <p:cNvSpPr/>
          <p:nvPr/>
        </p:nvSpPr>
        <p:spPr>
          <a:xfrm>
            <a:off x="548640" y="3429000"/>
            <a:ext cx="11100816" cy="237744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900"/>
              </a:spcAft>
            </a:pPr>
            <a:r>
              <a:rPr sz="1500" b="0" i="0">
                <a:solidFill>
                  <a:srgbClr val="222222"/>
                </a:solidFill>
                <a:latin typeface="Arial"/>
              </a:rPr>
              <a:t>Cause: the wave under the gold exists only where gold and LN slab overlap; any end of the overlap is a mirror → lateral cavity, period 0.9 µm</a:t>
            </a:r>
          </a:p>
          <a:p>
            <a:pPr algn="l">
              <a:spcAft>
                <a:spcPts val="900"/>
              </a:spcAft>
            </a:pPr>
            <a:r>
              <a:rPr sz="1500" b="0" i="0">
                <a:solidFill>
                  <a:srgbClr val="222222"/>
                </a:solidFill>
                <a:latin typeface="Arial"/>
              </a:rPr>
              <a:t>Gap: scales the leak (IL∞ ∝ e^(−3.3·gap)), not the cavity</a:t>
            </a:r>
          </a:p>
          <a:p>
            <a:pPr algn="l">
              <a:spcAft>
                <a:spcPts val="900"/>
              </a:spcAft>
            </a:pPr>
            <a:r>
              <a:rPr sz="1500" b="0" i="0">
                <a:solidFill>
                  <a:srgbClr val="222222"/>
                </a:solidFill>
                <a:latin typeface="Arial"/>
              </a:rPr>
              <a:t>Slab etching: the slab end in the gold is just another mirror; ending it in the gap costs +35 … +140 % Vπ·L; thin LN under the gold costs 2 – 3× IL at equal Vπ·L</a:t>
            </a:r>
          </a:p>
          <a:p>
            <a:pPr algn="l">
              <a:spcAft>
                <a:spcPts val="900"/>
              </a:spcAft>
            </a:pPr>
            <a:r>
              <a:rPr sz="1500" b="1" i="0">
                <a:solidFill>
                  <a:srgbClr val="1F4E79"/>
                </a:solidFill>
                <a:latin typeface="Arial"/>
              </a:rPr>
              <a:t>Buffer ≥ 38 nm SiO₂ removes the wave: keep 200 nm (no new material, no extra litho, robust to over-etch)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995</TotalTime>
  <Words>1568</Words>
  <Application>Microsoft Office PowerPoint</Application>
  <PresentationFormat>Widescreen</PresentationFormat>
  <Paragraphs>54</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44</cp:revision>
  <dcterms:created xsi:type="dcterms:W3CDTF">2025-12-01T09:32:09Z</dcterms:created>
  <dcterms:modified xsi:type="dcterms:W3CDTF">2026-10-01T11:55:02Z</dcterms:modified>
</cp:coreProperties>
</file>