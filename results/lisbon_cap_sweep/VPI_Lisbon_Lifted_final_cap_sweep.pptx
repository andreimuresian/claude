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76" r:id="rId7"/>
    <p:sldId id="277"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8" r:id="rId29"/>
    <p:sldId id="279" r:id="rId30"/>
    <p:sldId id="280" r:id="rId31"/>
    <p:sldId id="27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a:solidFill>
                  <a:srgbClr val="222222"/>
                </a:solidFill>
                <a:latin typeface="Arial"/>
              </a:rPr>
              <a:t>Insertion loss vs lift position</a:t>
            </a:r>
          </a:p>
        </c:rich>
      </c:tx>
      <c:overlay val="0"/>
    </c:title>
    <c:autoTitleDeleted val="0"/>
    <c:plotArea>
      <c:layout/>
      <c:scatterChart>
        <c:scatterStyle val="lineMarker"/>
        <c:varyColors val="0"/>
        <c:ser>
          <c:idx val="0"/>
          <c:order val="0"/>
          <c:tx>
            <c:strRef>
              <c:f>Sheet1!$B$1</c:f>
              <c:strCache>
                <c:ptCount val="1"/>
                <c:pt idx="0">
                  <c:v>Fabry–Pérot envelope</c:v>
                </c:pt>
              </c:strCache>
            </c:strRef>
          </c:tx>
          <c:spPr>
            <a:ln w="15875">
              <a:solidFill>
                <a:srgbClr val="8A8A8A"/>
              </a:solidFill>
            </a:ln>
          </c:spPr>
          <c:marker>
            <c:symbol val="none"/>
          </c:marker>
          <c:xVal>
            <c:numRef>
              <c:f>Sheet1!$A$2:$A$47</c:f>
              <c:numCache>
                <c:formatCode>General</c:formatCode>
                <c:ptCount val="4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pt idx="26">
                  <c:v>9.1</c:v>
                </c:pt>
                <c:pt idx="27">
                  <c:v>9.1999999999999993</c:v>
                </c:pt>
                <c:pt idx="28">
                  <c:v>9.3000000000000007</c:v>
                </c:pt>
                <c:pt idx="29">
                  <c:v>9.4</c:v>
                </c:pt>
                <c:pt idx="30">
                  <c:v>9.5</c:v>
                </c:pt>
                <c:pt idx="31">
                  <c:v>9.6</c:v>
                </c:pt>
                <c:pt idx="32">
                  <c:v>9.6999999999999993</c:v>
                </c:pt>
                <c:pt idx="33">
                  <c:v>9.8000000000000007</c:v>
                </c:pt>
                <c:pt idx="34">
                  <c:v>9.9</c:v>
                </c:pt>
                <c:pt idx="35">
                  <c:v>10</c:v>
                </c:pt>
                <c:pt idx="36">
                  <c:v>10.1</c:v>
                </c:pt>
                <c:pt idx="37">
                  <c:v>10.199999999999999</c:v>
                </c:pt>
                <c:pt idx="38">
                  <c:v>10.3</c:v>
                </c:pt>
                <c:pt idx="39">
                  <c:v>10.4</c:v>
                </c:pt>
                <c:pt idx="40">
                  <c:v>10.5</c:v>
                </c:pt>
                <c:pt idx="41">
                  <c:v>10.600000000000001</c:v>
                </c:pt>
                <c:pt idx="42">
                  <c:v>10.7</c:v>
                </c:pt>
                <c:pt idx="43">
                  <c:v>10.8</c:v>
                </c:pt>
                <c:pt idx="44">
                  <c:v>10.9</c:v>
                </c:pt>
                <c:pt idx="45">
                  <c:v>11</c:v>
                </c:pt>
              </c:numCache>
            </c:numRef>
          </c:xVal>
          <c:yVal>
            <c:numRef>
              <c:f>Sheet1!$B$2:$B$47</c:f>
              <c:numCache>
                <c:formatCode>General</c:formatCode>
                <c:ptCount val="46"/>
                <c:pt idx="0">
                  <c:v>1.006650587053012</c:v>
                </c:pt>
                <c:pt idx="1">
                  <c:v>0.98905043659049274</c:v>
                </c:pt>
                <c:pt idx="2">
                  <c:v>0.97217662776202174</c:v>
                </c:pt>
                <c:pt idx="3">
                  <c:v>0.9559875457464122</c:v>
                </c:pt>
                <c:pt idx="4">
                  <c:v>0.94044468351849031</c:v>
                </c:pt>
                <c:pt idx="5">
                  <c:v>0.92551235689618738</c:v>
                </c:pt>
                <c:pt idx="6">
                  <c:v>0.91115745037874274</c:v>
                </c:pt>
                <c:pt idx="7">
                  <c:v>0.89734918996298452</c:v>
                </c:pt>
                <c:pt idx="8">
                  <c:v>0.88405893965492977</c:v>
                </c:pt>
                <c:pt idx="9">
                  <c:v>0.87126001884265369</c:v>
                </c:pt>
                <c:pt idx="10">
                  <c:v>0.85892753807726974</c:v>
                </c:pt>
                <c:pt idx="11">
                  <c:v>0.84703825113307674</c:v>
                </c:pt>
                <c:pt idx="12">
                  <c:v>0.83557042149477589</c:v>
                </c:pt>
                <c:pt idx="13">
                  <c:v>0.82450370165660258</c:v>
                </c:pt>
                <c:pt idx="14">
                  <c:v>0.81381902382162419</c:v>
                </c:pt>
                <c:pt idx="15">
                  <c:v>0.80349850076448925</c:v>
                </c:pt>
                <c:pt idx="16">
                  <c:v>0.79352533577188755</c:v>
                </c:pt>
                <c:pt idx="17">
                  <c:v>0.78388374070555478</c:v>
                </c:pt>
                <c:pt idx="18">
                  <c:v>0.77455886134580809</c:v>
                </c:pt>
                <c:pt idx="19">
                  <c:v>0.76553670927190554</c:v>
                </c:pt>
                <c:pt idx="20">
                  <c:v>0.75680409962108075</c:v>
                </c:pt>
                <c:pt idx="21">
                  <c:v>0.74834859414278065</c:v>
                </c:pt>
                <c:pt idx="22">
                  <c:v>0.74015844902987427</c:v>
                </c:pt>
                <c:pt idx="23">
                  <c:v>0.7322225670657726</c:v>
                </c:pt>
                <c:pt idx="24">
                  <c:v>0.72453045367656665</c:v>
                </c:pt>
                <c:pt idx="25">
                  <c:v>0.71707217652138966</c:v>
                </c:pt>
                <c:pt idx="26">
                  <c:v>0.70983832829306681</c:v>
                </c:pt>
                <c:pt idx="27">
                  <c:v>0.7028199924354015</c:v>
                </c:pt>
                <c:pt idx="28">
                  <c:v>0.69600871151373533</c:v>
                </c:pt>
                <c:pt idx="29">
                  <c:v>0.68939645800227034</c:v>
                </c:pt>
                <c:pt idx="30">
                  <c:v>0.68297560727540774</c:v>
                </c:pt>
                <c:pt idx="31">
                  <c:v>0.67673891261152253</c:v>
                </c:pt>
                <c:pt idx="32">
                  <c:v>0.67067948203636285</c:v>
                </c:pt>
                <c:pt idx="33">
                  <c:v>0.66479075685004063</c:v>
                </c:pt>
                <c:pt idx="34">
                  <c:v>0.65906649169650677</c:v>
                </c:pt>
                <c:pt idx="35">
                  <c:v>0.65350073604776804</c:v>
                </c:pt>
                <c:pt idx="36">
                  <c:v>0.64808781698704931</c:v>
                </c:pt>
                <c:pt idx="37">
                  <c:v>0.6428223231858109</c:v>
                </c:pt>
                <c:pt idx="38">
                  <c:v>0.63769908997913627</c:v>
                </c:pt>
                <c:pt idx="39">
                  <c:v>0.63271318545263433</c:v>
                </c:pt>
                <c:pt idx="40">
                  <c:v>0.62785989746176163</c:v>
                </c:pt>
                <c:pt idx="41">
                  <c:v>0.62313472151146077</c:v>
                </c:pt>
                <c:pt idx="42">
                  <c:v>0.61853334943031124</c:v>
                </c:pt>
                <c:pt idx="43">
                  <c:v>0.61405165877907963</c:v>
                </c:pt>
                <c:pt idx="44">
                  <c:v>0.6096857029387015</c:v>
                </c:pt>
                <c:pt idx="45">
                  <c:v>0.60543170182737227</c:v>
                </c:pt>
              </c:numCache>
            </c:numRef>
          </c:yVal>
          <c:smooth val="0"/>
          <c:extLst>
            <c:ext xmlns:c16="http://schemas.microsoft.com/office/drawing/2014/chart" uri="{C3380CC4-5D6E-409C-BE32-E72D297353CC}">
              <c16:uniqueId val="{00000000-EBB1-41E7-851E-9A54D51C6008}"/>
            </c:ext>
          </c:extLst>
        </c:ser>
        <c:ser>
          <c:idx val="1"/>
          <c:order val="1"/>
          <c:tx>
            <c:strRef>
              <c:f>Sheet1!$B$49</c:f>
              <c:strCache>
                <c:ptCount val="1"/>
                <c:pt idx="0">
                  <c:v>envelope_lo</c:v>
                </c:pt>
              </c:strCache>
            </c:strRef>
          </c:tx>
          <c:spPr>
            <a:ln w="15875">
              <a:solidFill>
                <a:srgbClr val="8A8A8A"/>
              </a:solidFill>
            </a:ln>
          </c:spPr>
          <c:marker>
            <c:symbol val="none"/>
          </c:marker>
          <c:xVal>
            <c:numRef>
              <c:f>Sheet1!$A$50:$A$95</c:f>
              <c:numCache>
                <c:formatCode>General</c:formatCode>
                <c:ptCount val="4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pt idx="26">
                  <c:v>9.1</c:v>
                </c:pt>
                <c:pt idx="27">
                  <c:v>9.1999999999999993</c:v>
                </c:pt>
                <c:pt idx="28">
                  <c:v>9.3000000000000007</c:v>
                </c:pt>
                <c:pt idx="29">
                  <c:v>9.4</c:v>
                </c:pt>
                <c:pt idx="30">
                  <c:v>9.5</c:v>
                </c:pt>
                <c:pt idx="31">
                  <c:v>9.6</c:v>
                </c:pt>
                <c:pt idx="32">
                  <c:v>9.6999999999999993</c:v>
                </c:pt>
                <c:pt idx="33">
                  <c:v>9.8000000000000007</c:v>
                </c:pt>
                <c:pt idx="34">
                  <c:v>9.9</c:v>
                </c:pt>
                <c:pt idx="35">
                  <c:v>10</c:v>
                </c:pt>
                <c:pt idx="36">
                  <c:v>10.1</c:v>
                </c:pt>
                <c:pt idx="37">
                  <c:v>10.199999999999999</c:v>
                </c:pt>
                <c:pt idx="38">
                  <c:v>10.3</c:v>
                </c:pt>
                <c:pt idx="39">
                  <c:v>10.4</c:v>
                </c:pt>
                <c:pt idx="40">
                  <c:v>10.5</c:v>
                </c:pt>
                <c:pt idx="41">
                  <c:v>10.600000000000001</c:v>
                </c:pt>
                <c:pt idx="42">
                  <c:v>10.7</c:v>
                </c:pt>
                <c:pt idx="43">
                  <c:v>10.8</c:v>
                </c:pt>
                <c:pt idx="44">
                  <c:v>10.9</c:v>
                </c:pt>
                <c:pt idx="45">
                  <c:v>11</c:v>
                </c:pt>
              </c:numCache>
            </c:numRef>
          </c:xVal>
          <c:yVal>
            <c:numRef>
              <c:f>Sheet1!$B$50:$B$95</c:f>
              <c:numCache>
                <c:formatCode>General</c:formatCode>
                <c:ptCount val="46"/>
                <c:pt idx="0">
                  <c:v>0.16830912461905409</c:v>
                </c:pt>
                <c:pt idx="1">
                  <c:v>0.17130418514167206</c:v>
                </c:pt>
                <c:pt idx="2">
                  <c:v>0.17427746591087931</c:v>
                </c:pt>
                <c:pt idx="3">
                  <c:v>0.17722875141837086</c:v>
                </c:pt>
                <c:pt idx="4">
                  <c:v>0.18015783604652405</c:v>
                </c:pt>
                <c:pt idx="5">
                  <c:v>0.18306452403547299</c:v>
                </c:pt>
                <c:pt idx="6">
                  <c:v>0.1859486294423896</c:v>
                </c:pt>
                <c:pt idx="7">
                  <c:v>0.18880997609318423</c:v>
                </c:pt>
                <c:pt idx="8">
                  <c:v>0.19164839752684534</c:v>
                </c:pt>
                <c:pt idx="9">
                  <c:v>0.19446373693264526</c:v>
                </c:pt>
                <c:pt idx="10">
                  <c:v>0.19725584708044072</c:v>
                </c:pt>
                <c:pt idx="11">
                  <c:v>0.20002459024430849</c:v>
                </c:pt>
                <c:pt idx="12">
                  <c:v>0.20276983811975283</c:v>
                </c:pt>
                <c:pt idx="13">
                  <c:v>0.20549147173473162</c:v>
                </c:pt>
                <c:pt idx="14">
                  <c:v>0.20818938135474863</c:v>
                </c:pt>
                <c:pt idx="15">
                  <c:v>0.21086346638226022</c:v>
                </c:pt>
                <c:pt idx="16">
                  <c:v>0.2135136352506512</c:v>
                </c:pt>
                <c:pt idx="17">
                  <c:v>0.21613980531303137</c:v>
                </c:pt>
                <c:pt idx="18">
                  <c:v>0.21874190272610752</c:v>
                </c:pt>
                <c:pt idx="19">
                  <c:v>0.22131986232938605</c:v>
                </c:pt>
                <c:pt idx="20">
                  <c:v>0.22387362751996109</c:v>
                </c:pt>
                <c:pt idx="21">
                  <c:v>0.22640315012314077</c:v>
                </c:pt>
                <c:pt idx="22">
                  <c:v>0.22890839025916584</c:v>
                </c:pt>
                <c:pt idx="23">
                  <c:v>0.23138931620627073</c:v>
                </c:pt>
                <c:pt idx="24">
                  <c:v>0.23384590426033755</c:v>
                </c:pt>
                <c:pt idx="25">
                  <c:v>0.23627813859138824</c:v>
                </c:pt>
                <c:pt idx="26">
                  <c:v>0.23868601109716125</c:v>
                </c:pt>
                <c:pt idx="27">
                  <c:v>0.24106952125401029</c:v>
                </c:pt>
                <c:pt idx="28">
                  <c:v>0.24342867596536652</c:v>
                </c:pt>
                <c:pt idx="29">
                  <c:v>0.24576348940799375</c:v>
                </c:pt>
                <c:pt idx="30">
                  <c:v>0.24807398287626961</c:v>
                </c:pt>
                <c:pt idx="31">
                  <c:v>0.25036018462471454</c:v>
                </c:pt>
                <c:pt idx="32">
                  <c:v>0.25262212970899156</c:v>
                </c:pt>
                <c:pt idx="33">
                  <c:v>0.25485985982559017</c:v>
                </c:pt>
                <c:pt idx="34">
                  <c:v>0.2570734231504056</c:v>
                </c:pt>
                <c:pt idx="35">
                  <c:v>0.25926287417641847</c:v>
                </c:pt>
                <c:pt idx="36">
                  <c:v>0.26142827355067377</c:v>
                </c:pt>
                <c:pt idx="37">
                  <c:v>0.26356968791075291</c:v>
                </c:pt>
                <c:pt idx="38">
                  <c:v>0.26568718972092709</c:v>
                </c:pt>
                <c:pt idx="39">
                  <c:v>0.26778085710817379</c:v>
                </c:pt>
                <c:pt idx="40">
                  <c:v>0.26985077369823257</c:v>
                </c:pt>
                <c:pt idx="41">
                  <c:v>0.27189702845186936</c:v>
                </c:pt>
                <c:pt idx="42">
                  <c:v>0.27391971550151395</c:v>
                </c:pt>
                <c:pt idx="43">
                  <c:v>0.27591893398842759</c:v>
                </c:pt>
                <c:pt idx="44">
                  <c:v>0.27789478790055189</c:v>
                </c:pt>
                <c:pt idx="45">
                  <c:v>0.27984738591118374</c:v>
                </c:pt>
              </c:numCache>
            </c:numRef>
          </c:yVal>
          <c:smooth val="0"/>
          <c:extLst>
            <c:ext xmlns:c16="http://schemas.microsoft.com/office/drawing/2014/chart" uri="{C3380CC4-5D6E-409C-BE32-E72D297353CC}">
              <c16:uniqueId val="{00000001-EBB1-41E7-851E-9A54D51C6008}"/>
            </c:ext>
          </c:extLst>
        </c:ser>
        <c:ser>
          <c:idx val="2"/>
          <c:order val="2"/>
          <c:tx>
            <c:strRef>
              <c:f>Sheet1!$B$97</c:f>
              <c:strCache>
                <c:ptCount val="1"/>
                <c:pt idx="0">
                  <c:v>Lisbon, lifted</c:v>
                </c:pt>
              </c:strCache>
            </c:strRef>
          </c:tx>
          <c:spPr>
            <a:ln w="22225">
              <a:solidFill>
                <a:srgbClr val="2A78D6"/>
              </a:solidFill>
            </a:ln>
          </c:spPr>
          <c:marker>
            <c:symbol val="circle"/>
            <c:size val="5"/>
            <c:spPr>
              <a:solidFill>
                <a:srgbClr val="2A78D6"/>
              </a:solidFill>
              <a:ln>
                <a:solidFill>
                  <a:srgbClr val="2A78D6"/>
                </a:solidFill>
              </a:ln>
            </c:spPr>
          </c:marker>
          <c:xVal>
            <c:numRef>
              <c:f>Sheet1!$A$98:$A$143</c:f>
              <c:numCache>
                <c:formatCode>General</c:formatCode>
                <c:ptCount val="4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pt idx="26">
                  <c:v>9.1</c:v>
                </c:pt>
                <c:pt idx="27">
                  <c:v>9.1999999999999993</c:v>
                </c:pt>
                <c:pt idx="28">
                  <c:v>9.3000000000000007</c:v>
                </c:pt>
                <c:pt idx="29">
                  <c:v>9.4</c:v>
                </c:pt>
                <c:pt idx="30">
                  <c:v>9.5</c:v>
                </c:pt>
                <c:pt idx="31">
                  <c:v>9.6</c:v>
                </c:pt>
                <c:pt idx="32">
                  <c:v>9.6999999999999993</c:v>
                </c:pt>
                <c:pt idx="33">
                  <c:v>9.8000000000000007</c:v>
                </c:pt>
                <c:pt idx="34">
                  <c:v>9.9</c:v>
                </c:pt>
                <c:pt idx="35">
                  <c:v>10</c:v>
                </c:pt>
                <c:pt idx="36">
                  <c:v>10.1</c:v>
                </c:pt>
                <c:pt idx="37">
                  <c:v>10.199999999999999</c:v>
                </c:pt>
                <c:pt idx="38">
                  <c:v>10.3</c:v>
                </c:pt>
                <c:pt idx="39">
                  <c:v>10.4</c:v>
                </c:pt>
                <c:pt idx="40">
                  <c:v>10.5</c:v>
                </c:pt>
                <c:pt idx="41">
                  <c:v>10.6</c:v>
                </c:pt>
                <c:pt idx="42">
                  <c:v>10.7</c:v>
                </c:pt>
                <c:pt idx="43">
                  <c:v>10.8</c:v>
                </c:pt>
                <c:pt idx="44">
                  <c:v>10.9</c:v>
                </c:pt>
                <c:pt idx="45">
                  <c:v>11</c:v>
                </c:pt>
              </c:numCache>
            </c:numRef>
          </c:xVal>
          <c:yVal>
            <c:numRef>
              <c:f>Sheet1!$B$98:$B$143</c:f>
              <c:numCache>
                <c:formatCode>General</c:formatCode>
                <c:ptCount val="46"/>
                <c:pt idx="0">
                  <c:v>0.68149999999999999</c:v>
                </c:pt>
                <c:pt idx="1">
                  <c:v>0.35210000000000002</c:v>
                </c:pt>
                <c:pt idx="2">
                  <c:v>0.2271</c:v>
                </c:pt>
                <c:pt idx="3">
                  <c:v>0.18260000000000001</c:v>
                </c:pt>
                <c:pt idx="4">
                  <c:v>0.1807</c:v>
                </c:pt>
                <c:pt idx="5">
                  <c:v>0.22159999999999999</c:v>
                </c:pt>
                <c:pt idx="6">
                  <c:v>0.33450000000000002</c:v>
                </c:pt>
                <c:pt idx="7">
                  <c:v>0.60160000000000002</c:v>
                </c:pt>
                <c:pt idx="8">
                  <c:v>0.88270000000000004</c:v>
                </c:pt>
                <c:pt idx="9">
                  <c:v>0.63819999999999999</c:v>
                </c:pt>
                <c:pt idx="10">
                  <c:v>0.37309999999999999</c:v>
                </c:pt>
                <c:pt idx="11">
                  <c:v>0.25130000000000002</c:v>
                </c:pt>
                <c:pt idx="12">
                  <c:v>0.2077</c:v>
                </c:pt>
                <c:pt idx="13">
                  <c:v>0.20730000000000001</c:v>
                </c:pt>
                <c:pt idx="14">
                  <c:v>0.25090000000000001</c:v>
                </c:pt>
                <c:pt idx="15">
                  <c:v>0.36330000000000001</c:v>
                </c:pt>
                <c:pt idx="16">
                  <c:v>0.59650000000000003</c:v>
                </c:pt>
                <c:pt idx="17">
                  <c:v>0.78239999999999998</c:v>
                </c:pt>
                <c:pt idx="18">
                  <c:v>0.60019999999999996</c:v>
                </c:pt>
                <c:pt idx="19">
                  <c:v>0.38250000000000001</c:v>
                </c:pt>
                <c:pt idx="20">
                  <c:v>0.27510000000000001</c:v>
                </c:pt>
                <c:pt idx="21">
                  <c:v>0.23100000000000001</c:v>
                </c:pt>
                <c:pt idx="22">
                  <c:v>0.2329</c:v>
                </c:pt>
                <c:pt idx="23">
                  <c:v>0.2782</c:v>
                </c:pt>
                <c:pt idx="24">
                  <c:v>0.39100000000000001</c:v>
                </c:pt>
                <c:pt idx="25">
                  <c:v>0.58499999999999996</c:v>
                </c:pt>
                <c:pt idx="26">
                  <c:v>0.70760000000000001</c:v>
                </c:pt>
                <c:pt idx="27">
                  <c:v>0.56599999999999995</c:v>
                </c:pt>
                <c:pt idx="28">
                  <c:v>0.3916</c:v>
                </c:pt>
                <c:pt idx="29">
                  <c:v>0.29139999999999999</c:v>
                </c:pt>
                <c:pt idx="30">
                  <c:v>0.2525</c:v>
                </c:pt>
                <c:pt idx="31">
                  <c:v>0.25490000000000002</c:v>
                </c:pt>
                <c:pt idx="32">
                  <c:v>0.30509999999999998</c:v>
                </c:pt>
                <c:pt idx="33">
                  <c:v>0.40360000000000001</c:v>
                </c:pt>
                <c:pt idx="34">
                  <c:v>0.57420000000000004</c:v>
                </c:pt>
                <c:pt idx="35">
                  <c:v>0.64949999999999997</c:v>
                </c:pt>
                <c:pt idx="36">
                  <c:v>0.5403</c:v>
                </c:pt>
                <c:pt idx="37">
                  <c:v>0.39369999999999999</c:v>
                </c:pt>
                <c:pt idx="38">
                  <c:v>0.30709999999999998</c:v>
                </c:pt>
                <c:pt idx="39">
                  <c:v>0.27229999999999999</c:v>
                </c:pt>
                <c:pt idx="40">
                  <c:v>0.27600000000000002</c:v>
                </c:pt>
                <c:pt idx="41">
                  <c:v>0.32279999999999998</c:v>
                </c:pt>
                <c:pt idx="42">
                  <c:v>0.41689999999999999</c:v>
                </c:pt>
                <c:pt idx="43">
                  <c:v>0.5605</c:v>
                </c:pt>
                <c:pt idx="44">
                  <c:v>0.60709999999999997</c:v>
                </c:pt>
                <c:pt idx="45">
                  <c:v>0.51690000000000003</c:v>
                </c:pt>
              </c:numCache>
            </c:numRef>
          </c:yVal>
          <c:smooth val="0"/>
          <c:extLst>
            <c:ext xmlns:c16="http://schemas.microsoft.com/office/drawing/2014/chart" uri="{C3380CC4-5D6E-409C-BE32-E72D297353CC}">
              <c16:uniqueId val="{00000002-EBB1-41E7-851E-9A54D51C6008}"/>
            </c:ext>
          </c:extLst>
        </c:ser>
        <c:ser>
          <c:idx val="3"/>
          <c:order val="3"/>
          <c:tx>
            <c:strRef>
              <c:f>Sheet1!$B$145</c:f>
              <c:strCache>
                <c:ptCount val="1"/>
                <c:pt idx="0">
                  <c:v>Cordoba (0.42 dB/cm)</c:v>
                </c:pt>
              </c:strCache>
            </c:strRef>
          </c:tx>
          <c:spPr>
            <a:ln w="25400">
              <a:solidFill>
                <a:srgbClr val="1BAF7A"/>
              </a:solidFill>
              <a:prstDash val="dash"/>
            </a:ln>
          </c:spPr>
          <c:marker>
            <c:symbol val="none"/>
          </c:marker>
          <c:xVal>
            <c:numRef>
              <c:f>Sheet1!$A$146:$A$147</c:f>
              <c:numCache>
                <c:formatCode>General</c:formatCode>
                <c:ptCount val="2"/>
                <c:pt idx="0">
                  <c:v>6.5</c:v>
                </c:pt>
                <c:pt idx="1">
                  <c:v>11</c:v>
                </c:pt>
              </c:numCache>
            </c:numRef>
          </c:xVal>
          <c:yVal>
            <c:numRef>
              <c:f>Sheet1!$B$146:$B$147</c:f>
              <c:numCache>
                <c:formatCode>General</c:formatCode>
                <c:ptCount val="2"/>
                <c:pt idx="0">
                  <c:v>0.42020000000000002</c:v>
                </c:pt>
                <c:pt idx="1">
                  <c:v>0.42020000000000002</c:v>
                </c:pt>
              </c:numCache>
            </c:numRef>
          </c:yVal>
          <c:smooth val="0"/>
          <c:extLst>
            <c:ext xmlns:c16="http://schemas.microsoft.com/office/drawing/2014/chart" uri="{C3380CC4-5D6E-409C-BE32-E72D297353CC}">
              <c16:uniqueId val="{00000003-EBB1-41E7-851E-9A54D51C6008}"/>
            </c:ext>
          </c:extLst>
        </c:ser>
        <c:ser>
          <c:idx val="4"/>
          <c:order val="4"/>
          <c:tx>
            <c:strRef>
              <c:f>Sheet1!$B$149</c:f>
              <c:strCache>
                <c:ptCount val="1"/>
                <c:pt idx="0">
                  <c:v>x_lift 7.1 → 7.2 µm</c:v>
                </c:pt>
              </c:strCache>
            </c:strRef>
          </c:tx>
          <c:spPr>
            <a:ln w="31750">
              <a:solidFill>
                <a:srgbClr val="C0262D"/>
              </a:solidFill>
            </a:ln>
          </c:spPr>
          <c:marker>
            <c:symbol val="circle"/>
            <c:size val="9"/>
            <c:spPr>
              <a:solidFill>
                <a:srgbClr val="C0262D"/>
              </a:solidFill>
              <a:ln>
                <a:solidFill>
                  <a:srgbClr val="C0262D"/>
                </a:solidFill>
              </a:ln>
            </c:spPr>
          </c:marker>
          <c:xVal>
            <c:numRef>
              <c:f>Sheet1!$A$150:$A$151</c:f>
              <c:numCache>
                <c:formatCode>General</c:formatCode>
                <c:ptCount val="2"/>
                <c:pt idx="0">
                  <c:v>7.1</c:v>
                </c:pt>
                <c:pt idx="1">
                  <c:v>7.2</c:v>
                </c:pt>
              </c:numCache>
            </c:numRef>
          </c:xVal>
          <c:yVal>
            <c:numRef>
              <c:f>Sheet1!$B$150:$B$151</c:f>
              <c:numCache>
                <c:formatCode>General</c:formatCode>
                <c:ptCount val="2"/>
                <c:pt idx="0">
                  <c:v>0.33450000000000002</c:v>
                </c:pt>
                <c:pt idx="1">
                  <c:v>0.60160000000000002</c:v>
                </c:pt>
              </c:numCache>
            </c:numRef>
          </c:yVal>
          <c:smooth val="0"/>
          <c:extLst>
            <c:ext xmlns:c16="http://schemas.microsoft.com/office/drawing/2014/chart" uri="{C3380CC4-5D6E-409C-BE32-E72D297353CC}">
              <c16:uniqueId val="{00000004-EBB1-41E7-851E-9A54D51C6008}"/>
            </c:ext>
          </c:extLst>
        </c:ser>
        <c:dLbls>
          <c:showLegendKey val="0"/>
          <c:showVal val="0"/>
          <c:showCatName val="0"/>
          <c:showSerName val="0"/>
          <c:showPercent val="0"/>
          <c:showBubbleSize val="0"/>
        </c:dLbls>
        <c:axId val="-2128940872"/>
        <c:axId val="-2129643912"/>
      </c:scatterChart>
      <c:valAx>
        <c:axId val="-2128940872"/>
        <c:scaling>
          <c:orientation val="minMax"/>
          <c:max val="11"/>
          <c:min val="6.5"/>
        </c:scaling>
        <c:delete val="0"/>
        <c:axPos val="b"/>
        <c:title>
          <c:tx>
            <c:rich>
              <a:bodyPr/>
              <a:lstStyle/>
              <a:p>
                <a:r>
                  <a:rPr lang="en-US" sz="1100" b="0">
                    <a:latin typeface="Arial"/>
                  </a:rPr>
                  <a:t>x_lift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5"/>
      </c:valAx>
      <c:valAx>
        <c:axId val="-2129643912"/>
        <c:scaling>
          <c:orientation val="minMax"/>
          <c:max val="1"/>
          <c:min val="0"/>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0.2"/>
      </c:valAx>
    </c:plotArea>
    <c:legend>
      <c:legendPos val="t"/>
      <c:legendEntry>
        <c:idx val="1"/>
        <c:delete val="1"/>
      </c:legendEntry>
      <c:overlay val="0"/>
      <c:txPr>
        <a:bodyPr/>
        <a:lstStyle/>
        <a:p>
          <a:pPr>
            <a:defRPr sz="9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a:solidFill>
                  <a:srgbClr val="222222"/>
                </a:solidFill>
                <a:latin typeface="Arial"/>
              </a:rPr>
              <a:t>Index of the wave under the gold</a:t>
            </a:r>
          </a:p>
        </c:rich>
      </c:tx>
      <c:overlay val="0"/>
    </c:title>
    <c:autoTitleDeleted val="0"/>
    <c:plotArea>
      <c:layout/>
      <c:scatterChart>
        <c:scatterStyle val="lineMarker"/>
        <c:varyColors val="0"/>
        <c:ser>
          <c:idx val="0"/>
          <c:order val="0"/>
          <c:tx>
            <c:strRef>
              <c:f>Sheet1!$B$1</c:f>
              <c:strCache>
                <c:ptCount val="1"/>
                <c:pt idx="0">
                  <c:v>wave under the gold</c:v>
                </c:pt>
              </c:strCache>
            </c:strRef>
          </c:tx>
          <c:spPr>
            <a:ln w="31750">
              <a:solidFill>
                <a:srgbClr val="1F4E79"/>
              </a:solidFill>
            </a:ln>
          </c:spPr>
          <c:marker>
            <c:symbol val="none"/>
          </c:marker>
          <c:xVal>
            <c:numRef>
              <c:f>Sheet1!$A$2:$A$22</c:f>
              <c:numCache>
                <c:formatCode>General</c:formatCode>
                <c:ptCount val="21"/>
                <c:pt idx="0">
                  <c:v>0</c:v>
                </c:pt>
                <c:pt idx="1">
                  <c:v>5</c:v>
                </c:pt>
                <c:pt idx="2">
                  <c:v>10</c:v>
                </c:pt>
                <c:pt idx="3">
                  <c:v>15</c:v>
                </c:pt>
                <c:pt idx="4">
                  <c:v>20</c:v>
                </c:pt>
                <c:pt idx="5">
                  <c:v>25</c:v>
                </c:pt>
                <c:pt idx="6">
                  <c:v>30</c:v>
                </c:pt>
                <c:pt idx="7">
                  <c:v>35</c:v>
                </c:pt>
                <c:pt idx="8">
                  <c:v>40</c:v>
                </c:pt>
                <c:pt idx="9">
                  <c:v>45</c:v>
                </c:pt>
                <c:pt idx="10">
                  <c:v>50</c:v>
                </c:pt>
                <c:pt idx="11">
                  <c:v>75</c:v>
                </c:pt>
                <c:pt idx="12">
                  <c:v>100</c:v>
                </c:pt>
                <c:pt idx="13">
                  <c:v>125</c:v>
                </c:pt>
                <c:pt idx="14">
                  <c:v>150</c:v>
                </c:pt>
                <c:pt idx="15">
                  <c:v>175</c:v>
                </c:pt>
                <c:pt idx="16">
                  <c:v>200</c:v>
                </c:pt>
                <c:pt idx="17">
                  <c:v>225</c:v>
                </c:pt>
                <c:pt idx="18">
                  <c:v>250</c:v>
                </c:pt>
                <c:pt idx="19">
                  <c:v>275</c:v>
                </c:pt>
                <c:pt idx="20">
                  <c:v>300</c:v>
                </c:pt>
              </c:numCache>
            </c:numRef>
          </c:xVal>
          <c:yVal>
            <c:numRef>
              <c:f>Sheet1!$B$2:$B$22</c:f>
              <c:numCache>
                <c:formatCode>General</c:formatCode>
                <c:ptCount val="21"/>
                <c:pt idx="0">
                  <c:v>2.0722450000000001</c:v>
                </c:pt>
                <c:pt idx="1">
                  <c:v>2.033595</c:v>
                </c:pt>
                <c:pt idx="2">
                  <c:v>2.0012850000000002</c:v>
                </c:pt>
                <c:pt idx="3">
                  <c:v>1.9736899999999999</c:v>
                </c:pt>
                <c:pt idx="4">
                  <c:v>1.9497499999999999</c:v>
                </c:pt>
                <c:pt idx="5">
                  <c:v>1.9286949999999998</c:v>
                </c:pt>
                <c:pt idx="6">
                  <c:v>1.91</c:v>
                </c:pt>
                <c:pt idx="7">
                  <c:v>1.89323</c:v>
                </c:pt>
                <c:pt idx="8">
                  <c:v>1.878085</c:v>
                </c:pt>
                <c:pt idx="9">
                  <c:v>1.864325</c:v>
                </c:pt>
                <c:pt idx="10">
                  <c:v>1.8517450000000002</c:v>
                </c:pt>
                <c:pt idx="11">
                  <c:v>1.80192</c:v>
                </c:pt>
                <c:pt idx="12">
                  <c:v>1.7664900000000001</c:v>
                </c:pt>
                <c:pt idx="13">
                  <c:v>1.7398199999999999</c:v>
                </c:pt>
                <c:pt idx="14">
                  <c:v>1.718955</c:v>
                </c:pt>
                <c:pt idx="15">
                  <c:v>1.7021799999999998</c:v>
                </c:pt>
                <c:pt idx="16">
                  <c:v>1.68841</c:v>
                </c:pt>
                <c:pt idx="17">
                  <c:v>1.6769350000000001</c:v>
                </c:pt>
                <c:pt idx="18">
                  <c:v>1.6672449999999999</c:v>
                </c:pt>
                <c:pt idx="19">
                  <c:v>1.65899</c:v>
                </c:pt>
                <c:pt idx="20">
                  <c:v>1.6518950000000001</c:v>
                </c:pt>
              </c:numCache>
            </c:numRef>
          </c:yVal>
          <c:smooth val="0"/>
          <c:extLst>
            <c:ext xmlns:c16="http://schemas.microsoft.com/office/drawing/2014/chart" uri="{C3380CC4-5D6E-409C-BE32-E72D297353CC}">
              <c16:uniqueId val="{00000000-517A-4413-ADBE-451343D83F4F}"/>
            </c:ext>
          </c:extLst>
        </c:ser>
        <c:ser>
          <c:idx val="1"/>
          <c:order val="1"/>
          <c:tx>
            <c:strRef>
              <c:f>Sheet1!$B$24</c:f>
              <c:strCache>
                <c:ptCount val="1"/>
                <c:pt idx="0">
                  <c:v>rib mode</c:v>
                </c:pt>
              </c:strCache>
            </c:strRef>
          </c:tx>
          <c:spPr>
            <a:ln w="22225">
              <a:solidFill>
                <a:srgbClr val="8A8A8A"/>
              </a:solidFill>
              <a:prstDash val="dash"/>
            </a:ln>
          </c:spPr>
          <c:marker>
            <c:symbol val="none"/>
          </c:marker>
          <c:xVal>
            <c:numRef>
              <c:f>Sheet1!$A$25:$A$26</c:f>
              <c:numCache>
                <c:formatCode>General</c:formatCode>
                <c:ptCount val="2"/>
                <c:pt idx="0">
                  <c:v>0</c:v>
                </c:pt>
                <c:pt idx="1">
                  <c:v>300</c:v>
                </c:pt>
              </c:numCache>
            </c:numRef>
          </c:xVal>
          <c:yVal>
            <c:numRef>
              <c:f>Sheet1!$B$25:$B$26</c:f>
              <c:numCache>
                <c:formatCode>General</c:formatCode>
                <c:ptCount val="2"/>
                <c:pt idx="0">
                  <c:v>1.8838060000000001</c:v>
                </c:pt>
                <c:pt idx="1">
                  <c:v>1.8838060000000001</c:v>
                </c:pt>
              </c:numCache>
            </c:numRef>
          </c:yVal>
          <c:smooth val="0"/>
          <c:extLst>
            <c:ext xmlns:c16="http://schemas.microsoft.com/office/drawing/2014/chart" uri="{C3380CC4-5D6E-409C-BE32-E72D297353CC}">
              <c16:uniqueId val="{00000001-517A-4413-ADBE-451343D83F4F}"/>
            </c:ext>
          </c:extLst>
        </c:ser>
        <c:ser>
          <c:idx val="2"/>
          <c:order val="2"/>
          <c:tx>
            <c:strRef>
              <c:f>Sheet1!$B$28</c:f>
              <c:strCache>
                <c:ptCount val="1"/>
                <c:pt idx="0">
                  <c:v>cutoff ≈ 38 nm</c:v>
                </c:pt>
              </c:strCache>
            </c:strRef>
          </c:tx>
          <c:spPr>
            <a:ln w="22225">
              <a:solidFill>
                <a:srgbClr val="C0262D"/>
              </a:solidFill>
              <a:prstDash val="dash"/>
            </a:ln>
          </c:spPr>
          <c:marker>
            <c:symbol val="none"/>
          </c:marker>
          <c:xVal>
            <c:numRef>
              <c:f>Sheet1!$A$29:$A$30</c:f>
              <c:numCache>
                <c:formatCode>General</c:formatCode>
                <c:ptCount val="2"/>
                <c:pt idx="0">
                  <c:v>38</c:v>
                </c:pt>
                <c:pt idx="1">
                  <c:v>38</c:v>
                </c:pt>
              </c:numCache>
            </c:numRef>
          </c:xVal>
          <c:yVal>
            <c:numRef>
              <c:f>Sheet1!$B$29:$B$30</c:f>
              <c:numCache>
                <c:formatCode>General</c:formatCode>
                <c:ptCount val="2"/>
                <c:pt idx="0">
                  <c:v>1.62</c:v>
                </c:pt>
                <c:pt idx="1">
                  <c:v>2.1</c:v>
                </c:pt>
              </c:numCache>
            </c:numRef>
          </c:yVal>
          <c:smooth val="0"/>
          <c:extLst>
            <c:ext xmlns:c16="http://schemas.microsoft.com/office/drawing/2014/chart" uri="{C3380CC4-5D6E-409C-BE32-E72D297353CC}">
              <c16:uniqueId val="{00000002-517A-4413-ADBE-451343D83F4F}"/>
            </c:ext>
          </c:extLst>
        </c:ser>
        <c:ser>
          <c:idx val="3"/>
          <c:order val="3"/>
          <c:tx>
            <c:strRef>
              <c:f>Sheet1!$B$32</c:f>
              <c:strCache>
                <c:ptCount val="1"/>
                <c:pt idx="0">
                  <c:v>design</c:v>
                </c:pt>
              </c:strCache>
            </c:strRef>
          </c:tx>
          <c:spPr>
            <a:ln w="12700">
              <a:solidFill>
                <a:srgbClr val="EB6834"/>
              </a:solidFill>
            </a:ln>
          </c:spPr>
          <c:marker>
            <c:symbol val="circle"/>
            <c:size val="9"/>
            <c:spPr>
              <a:solidFill>
                <a:srgbClr val="EB6834"/>
              </a:solidFill>
              <a:ln>
                <a:solidFill>
                  <a:srgbClr val="EB6834"/>
                </a:solidFill>
              </a:ln>
            </c:spPr>
          </c:marker>
          <c:xVal>
            <c:numRef>
              <c:f>Sheet1!$A$33:$A$33</c:f>
              <c:numCache>
                <c:formatCode>General</c:formatCode>
                <c:ptCount val="1"/>
                <c:pt idx="0">
                  <c:v>200</c:v>
                </c:pt>
              </c:numCache>
            </c:numRef>
          </c:xVal>
          <c:yVal>
            <c:numRef>
              <c:f>Sheet1!$B$33:$B$33</c:f>
              <c:numCache>
                <c:formatCode>General</c:formatCode>
                <c:ptCount val="1"/>
                <c:pt idx="0">
                  <c:v>1.68841</c:v>
                </c:pt>
              </c:numCache>
            </c:numRef>
          </c:yVal>
          <c:smooth val="0"/>
          <c:extLst>
            <c:ext xmlns:c16="http://schemas.microsoft.com/office/drawing/2014/chart" uri="{C3380CC4-5D6E-409C-BE32-E72D297353CC}">
              <c16:uniqueId val="{00000003-517A-4413-ADBE-451343D83F4F}"/>
            </c:ext>
          </c:extLst>
        </c:ser>
        <c:dLbls>
          <c:showLegendKey val="0"/>
          <c:showVal val="0"/>
          <c:showCatName val="0"/>
          <c:showSerName val="0"/>
          <c:showPercent val="0"/>
          <c:showBubbleSize val="0"/>
        </c:dLbls>
        <c:axId val="-2128940872"/>
        <c:axId val="-2129643912"/>
      </c:scatterChart>
      <c:valAx>
        <c:axId val="-2128940872"/>
        <c:scaling>
          <c:orientation val="minMax"/>
          <c:max val="300"/>
          <c:min val="0"/>
        </c:scaling>
        <c:delete val="0"/>
        <c:axPos val="b"/>
        <c:title>
          <c:tx>
            <c:rich>
              <a:bodyPr/>
              <a:lstStyle/>
              <a:p>
                <a:r>
                  <a:rPr lang="en-US" sz="1100" b="0">
                    <a:latin typeface="Arial"/>
                  </a:rPr>
                  <a:t>buffer thickness [nm]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50"/>
      </c:valAx>
      <c:valAx>
        <c:axId val="-2129643912"/>
        <c:scaling>
          <c:orientation val="minMax"/>
          <c:max val="2.1"/>
          <c:min val="1.6"/>
        </c:scaling>
        <c:delete val="0"/>
        <c:axPos val="l"/>
        <c:majorGridlines>
          <c:spPr>
            <a:ln>
              <a:solidFill>
                <a:srgbClr val="E3E3E3"/>
              </a:solidFill>
            </a:ln>
          </c:spPr>
        </c:majorGridlines>
        <c:title>
          <c:tx>
            <c:rich>
              <a:bodyPr/>
              <a:lstStyle/>
              <a:p>
                <a:r>
                  <a:rPr lang="en-US" sz="1100" b="0">
                    <a:latin typeface="Arial"/>
                  </a:rPr>
                  <a:t>effective index</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0.1"/>
      </c:valAx>
    </c:plotArea>
    <c:legend>
      <c:legendPos val="t"/>
      <c:overlay val="0"/>
      <c:txPr>
        <a:bodyPr/>
        <a:lstStyle/>
        <a:p>
          <a:pPr>
            <a:defRPr sz="9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a:solidFill>
                  <a:srgbClr val="222222"/>
                </a:solidFill>
                <a:latin typeface="Arial"/>
              </a:rPr>
              <a:t>Insertion loss vs lift position</a:t>
            </a:r>
          </a:p>
        </c:rich>
      </c:tx>
      <c:overlay val="0"/>
    </c:title>
    <c:autoTitleDeleted val="0"/>
    <c:plotArea>
      <c:layout/>
      <c:scatterChart>
        <c:scatterStyle val="lineMarker"/>
        <c:varyColors val="0"/>
        <c:ser>
          <c:idx val="0"/>
          <c:order val="0"/>
          <c:tx>
            <c:strRef>
              <c:f>Sheet1!$B$1</c:f>
              <c:strCache>
                <c:ptCount val="1"/>
                <c:pt idx="0">
                  <c:v>Lisbon + 200 nm buffer, gap 3.2 µm</c:v>
                </c:pt>
              </c:strCache>
            </c:strRef>
          </c:tx>
          <c:spPr>
            <a:ln w="28575">
              <a:solidFill>
                <a:srgbClr val="EB6834"/>
              </a:solidFill>
            </a:ln>
          </c:spPr>
          <c:marker>
            <c:symbol val="circle"/>
            <c:size val="4"/>
            <c:spPr>
              <a:solidFill>
                <a:srgbClr val="EB6834"/>
              </a:solidFill>
              <a:ln>
                <a:solidFill>
                  <a:srgbClr val="EB6834"/>
                </a:solidFill>
              </a:ln>
            </c:spPr>
          </c:marker>
          <c:xVal>
            <c:numRef>
              <c:f>Sheet1!$A$2:$A$74</c:f>
              <c:numCache>
                <c:formatCode>General</c:formatCode>
                <c:ptCount val="73"/>
                <c:pt idx="0">
                  <c:v>3.8</c:v>
                </c:pt>
                <c:pt idx="1">
                  <c:v>3.9</c:v>
                </c:pt>
                <c:pt idx="2">
                  <c:v>4</c:v>
                </c:pt>
                <c:pt idx="3">
                  <c:v>4.0999999999999996</c:v>
                </c:pt>
                <c:pt idx="4">
                  <c:v>4.2</c:v>
                </c:pt>
                <c:pt idx="5">
                  <c:v>4.3</c:v>
                </c:pt>
                <c:pt idx="6">
                  <c:v>4.4000000000000004</c:v>
                </c:pt>
                <c:pt idx="7">
                  <c:v>4.5</c:v>
                </c:pt>
                <c:pt idx="8">
                  <c:v>4.5999999999999996</c:v>
                </c:pt>
                <c:pt idx="9">
                  <c:v>4.7</c:v>
                </c:pt>
                <c:pt idx="10">
                  <c:v>4.8</c:v>
                </c:pt>
                <c:pt idx="11">
                  <c:v>4.9000000000000004</c:v>
                </c:pt>
                <c:pt idx="12">
                  <c:v>5</c:v>
                </c:pt>
                <c:pt idx="13">
                  <c:v>5.0999999999999996</c:v>
                </c:pt>
                <c:pt idx="14">
                  <c:v>5.2</c:v>
                </c:pt>
                <c:pt idx="15">
                  <c:v>5.3</c:v>
                </c:pt>
                <c:pt idx="16">
                  <c:v>5.4</c:v>
                </c:pt>
                <c:pt idx="17">
                  <c:v>5.5</c:v>
                </c:pt>
                <c:pt idx="18">
                  <c:v>5.6</c:v>
                </c:pt>
                <c:pt idx="19">
                  <c:v>5.7</c:v>
                </c:pt>
                <c:pt idx="20">
                  <c:v>5.8</c:v>
                </c:pt>
                <c:pt idx="21">
                  <c:v>5.9</c:v>
                </c:pt>
                <c:pt idx="22">
                  <c:v>6</c:v>
                </c:pt>
                <c:pt idx="23">
                  <c:v>6.1</c:v>
                </c:pt>
                <c:pt idx="24">
                  <c:v>6.2</c:v>
                </c:pt>
                <c:pt idx="25">
                  <c:v>6.3</c:v>
                </c:pt>
                <c:pt idx="26">
                  <c:v>6.4</c:v>
                </c:pt>
                <c:pt idx="27">
                  <c:v>6.5</c:v>
                </c:pt>
                <c:pt idx="28">
                  <c:v>6.6</c:v>
                </c:pt>
                <c:pt idx="29">
                  <c:v>6.7</c:v>
                </c:pt>
                <c:pt idx="30">
                  <c:v>6.8</c:v>
                </c:pt>
                <c:pt idx="31">
                  <c:v>6.9</c:v>
                </c:pt>
                <c:pt idx="32">
                  <c:v>7</c:v>
                </c:pt>
                <c:pt idx="33">
                  <c:v>7.1</c:v>
                </c:pt>
                <c:pt idx="34">
                  <c:v>7.2</c:v>
                </c:pt>
                <c:pt idx="35">
                  <c:v>7.3</c:v>
                </c:pt>
                <c:pt idx="36">
                  <c:v>7.4</c:v>
                </c:pt>
                <c:pt idx="37">
                  <c:v>7.5</c:v>
                </c:pt>
                <c:pt idx="38">
                  <c:v>7.6</c:v>
                </c:pt>
                <c:pt idx="39">
                  <c:v>7.7</c:v>
                </c:pt>
                <c:pt idx="40">
                  <c:v>7.8</c:v>
                </c:pt>
                <c:pt idx="41">
                  <c:v>7.9</c:v>
                </c:pt>
                <c:pt idx="42">
                  <c:v>8</c:v>
                </c:pt>
                <c:pt idx="43">
                  <c:v>8.1</c:v>
                </c:pt>
                <c:pt idx="44">
                  <c:v>8.1999999999999993</c:v>
                </c:pt>
                <c:pt idx="45">
                  <c:v>8.3000000000000007</c:v>
                </c:pt>
                <c:pt idx="46">
                  <c:v>8.4</c:v>
                </c:pt>
                <c:pt idx="47">
                  <c:v>8.5</c:v>
                </c:pt>
                <c:pt idx="48">
                  <c:v>8.6</c:v>
                </c:pt>
                <c:pt idx="49">
                  <c:v>8.6999999999999993</c:v>
                </c:pt>
                <c:pt idx="50">
                  <c:v>8.8000000000000007</c:v>
                </c:pt>
                <c:pt idx="51">
                  <c:v>8.9</c:v>
                </c:pt>
                <c:pt idx="52">
                  <c:v>9</c:v>
                </c:pt>
                <c:pt idx="53">
                  <c:v>9.1</c:v>
                </c:pt>
                <c:pt idx="54">
                  <c:v>9.1999999999999993</c:v>
                </c:pt>
                <c:pt idx="55">
                  <c:v>9.3000000000000007</c:v>
                </c:pt>
                <c:pt idx="56">
                  <c:v>9.4</c:v>
                </c:pt>
                <c:pt idx="57">
                  <c:v>9.5</c:v>
                </c:pt>
                <c:pt idx="58">
                  <c:v>9.6</c:v>
                </c:pt>
                <c:pt idx="59">
                  <c:v>9.6999999999999993</c:v>
                </c:pt>
                <c:pt idx="60">
                  <c:v>9.8000000000000007</c:v>
                </c:pt>
                <c:pt idx="61">
                  <c:v>9.9</c:v>
                </c:pt>
                <c:pt idx="62">
                  <c:v>10</c:v>
                </c:pt>
                <c:pt idx="63">
                  <c:v>10.1</c:v>
                </c:pt>
                <c:pt idx="64">
                  <c:v>10.199999999999999</c:v>
                </c:pt>
                <c:pt idx="65">
                  <c:v>10.3</c:v>
                </c:pt>
                <c:pt idx="66">
                  <c:v>10.4</c:v>
                </c:pt>
                <c:pt idx="67">
                  <c:v>10.5</c:v>
                </c:pt>
                <c:pt idx="68">
                  <c:v>10.6</c:v>
                </c:pt>
                <c:pt idx="69">
                  <c:v>10.7</c:v>
                </c:pt>
                <c:pt idx="70">
                  <c:v>10.8</c:v>
                </c:pt>
                <c:pt idx="71">
                  <c:v>10.9</c:v>
                </c:pt>
                <c:pt idx="72">
                  <c:v>11</c:v>
                </c:pt>
              </c:numCache>
            </c:numRef>
          </c:xVal>
          <c:yVal>
            <c:numRef>
              <c:f>Sheet1!$B$2:$B$74</c:f>
              <c:numCache>
                <c:formatCode>General</c:formatCode>
                <c:ptCount val="73"/>
                <c:pt idx="0">
                  <c:v>4.8099999999999997E-2</c:v>
                </c:pt>
                <c:pt idx="1">
                  <c:v>4.8099999999999997E-2</c:v>
                </c:pt>
                <c:pt idx="2">
                  <c:v>4.8099999999999997E-2</c:v>
                </c:pt>
                <c:pt idx="3">
                  <c:v>4.8099999999999997E-2</c:v>
                </c:pt>
                <c:pt idx="4">
                  <c:v>4.8099999999999997E-2</c:v>
                </c:pt>
                <c:pt idx="5">
                  <c:v>4.8099999999999997E-2</c:v>
                </c:pt>
                <c:pt idx="6">
                  <c:v>4.8099999999999997E-2</c:v>
                </c:pt>
                <c:pt idx="7">
                  <c:v>4.8099999999999997E-2</c:v>
                </c:pt>
                <c:pt idx="8">
                  <c:v>4.8000000000000001E-2</c:v>
                </c:pt>
                <c:pt idx="9">
                  <c:v>4.8000000000000001E-2</c:v>
                </c:pt>
                <c:pt idx="10">
                  <c:v>4.8099999999999997E-2</c:v>
                </c:pt>
                <c:pt idx="11">
                  <c:v>4.8000000000000001E-2</c:v>
                </c:pt>
                <c:pt idx="12">
                  <c:v>4.8000000000000001E-2</c:v>
                </c:pt>
                <c:pt idx="13">
                  <c:v>4.8099999999999997E-2</c:v>
                </c:pt>
                <c:pt idx="14">
                  <c:v>4.8000000000000001E-2</c:v>
                </c:pt>
                <c:pt idx="15">
                  <c:v>4.8099999999999997E-2</c:v>
                </c:pt>
                <c:pt idx="16">
                  <c:v>4.8099999999999997E-2</c:v>
                </c:pt>
                <c:pt idx="17">
                  <c:v>4.8000000000000001E-2</c:v>
                </c:pt>
                <c:pt idx="18">
                  <c:v>4.8000000000000001E-2</c:v>
                </c:pt>
                <c:pt idx="19">
                  <c:v>4.8099999999999997E-2</c:v>
                </c:pt>
                <c:pt idx="20">
                  <c:v>4.8000000000000001E-2</c:v>
                </c:pt>
                <c:pt idx="21">
                  <c:v>4.8099999999999997E-2</c:v>
                </c:pt>
                <c:pt idx="22">
                  <c:v>4.8099999999999997E-2</c:v>
                </c:pt>
                <c:pt idx="23">
                  <c:v>4.8099999999999997E-2</c:v>
                </c:pt>
                <c:pt idx="24">
                  <c:v>4.8099999999999997E-2</c:v>
                </c:pt>
                <c:pt idx="25">
                  <c:v>4.8099999999999997E-2</c:v>
                </c:pt>
                <c:pt idx="26">
                  <c:v>4.8099999999999997E-2</c:v>
                </c:pt>
                <c:pt idx="27">
                  <c:v>4.8099999999999997E-2</c:v>
                </c:pt>
                <c:pt idx="28">
                  <c:v>4.8099999999999997E-2</c:v>
                </c:pt>
                <c:pt idx="29">
                  <c:v>4.8099999999999997E-2</c:v>
                </c:pt>
                <c:pt idx="30">
                  <c:v>4.8099999999999997E-2</c:v>
                </c:pt>
                <c:pt idx="31">
                  <c:v>4.8099999999999997E-2</c:v>
                </c:pt>
                <c:pt idx="32">
                  <c:v>4.8099999999999997E-2</c:v>
                </c:pt>
                <c:pt idx="33">
                  <c:v>4.8099999999999997E-2</c:v>
                </c:pt>
                <c:pt idx="34">
                  <c:v>4.8099999999999997E-2</c:v>
                </c:pt>
                <c:pt idx="35">
                  <c:v>4.8099999999999997E-2</c:v>
                </c:pt>
                <c:pt idx="36">
                  <c:v>4.8099999999999997E-2</c:v>
                </c:pt>
                <c:pt idx="37">
                  <c:v>4.8099999999999997E-2</c:v>
                </c:pt>
                <c:pt idx="38">
                  <c:v>4.8099999999999997E-2</c:v>
                </c:pt>
                <c:pt idx="39">
                  <c:v>4.8099999999999997E-2</c:v>
                </c:pt>
                <c:pt idx="40">
                  <c:v>4.8099999999999997E-2</c:v>
                </c:pt>
                <c:pt idx="41">
                  <c:v>4.8000000000000001E-2</c:v>
                </c:pt>
                <c:pt idx="42">
                  <c:v>4.8099999999999997E-2</c:v>
                </c:pt>
                <c:pt idx="43">
                  <c:v>4.8099999999999997E-2</c:v>
                </c:pt>
                <c:pt idx="44">
                  <c:v>4.8099999999999997E-2</c:v>
                </c:pt>
                <c:pt idx="45">
                  <c:v>4.8099999999999997E-2</c:v>
                </c:pt>
                <c:pt idx="46">
                  <c:v>4.8099999999999997E-2</c:v>
                </c:pt>
                <c:pt idx="47">
                  <c:v>4.8099999999999997E-2</c:v>
                </c:pt>
                <c:pt idx="48">
                  <c:v>4.8099999999999997E-2</c:v>
                </c:pt>
                <c:pt idx="49">
                  <c:v>4.8099999999999997E-2</c:v>
                </c:pt>
                <c:pt idx="50">
                  <c:v>4.8099999999999997E-2</c:v>
                </c:pt>
                <c:pt idx="51">
                  <c:v>4.8099999999999997E-2</c:v>
                </c:pt>
                <c:pt idx="52">
                  <c:v>4.8099999999999997E-2</c:v>
                </c:pt>
                <c:pt idx="53">
                  <c:v>4.8099999999999997E-2</c:v>
                </c:pt>
                <c:pt idx="54">
                  <c:v>4.8099999999999997E-2</c:v>
                </c:pt>
                <c:pt idx="55">
                  <c:v>4.8099999999999997E-2</c:v>
                </c:pt>
                <c:pt idx="56">
                  <c:v>4.8000000000000001E-2</c:v>
                </c:pt>
                <c:pt idx="57">
                  <c:v>4.8099999999999997E-2</c:v>
                </c:pt>
                <c:pt idx="58">
                  <c:v>4.8099999999999997E-2</c:v>
                </c:pt>
                <c:pt idx="59">
                  <c:v>4.8099999999999997E-2</c:v>
                </c:pt>
                <c:pt idx="60">
                  <c:v>4.8099999999999997E-2</c:v>
                </c:pt>
                <c:pt idx="61">
                  <c:v>4.8099999999999997E-2</c:v>
                </c:pt>
                <c:pt idx="62">
                  <c:v>4.8099999999999997E-2</c:v>
                </c:pt>
                <c:pt idx="63">
                  <c:v>4.8099999999999997E-2</c:v>
                </c:pt>
                <c:pt idx="64">
                  <c:v>4.8099999999999997E-2</c:v>
                </c:pt>
                <c:pt idx="65">
                  <c:v>4.8099999999999997E-2</c:v>
                </c:pt>
                <c:pt idx="66">
                  <c:v>4.8099999999999997E-2</c:v>
                </c:pt>
                <c:pt idx="67">
                  <c:v>4.8099999999999997E-2</c:v>
                </c:pt>
                <c:pt idx="68">
                  <c:v>4.8099999999999997E-2</c:v>
                </c:pt>
                <c:pt idx="69">
                  <c:v>4.8099999999999997E-2</c:v>
                </c:pt>
                <c:pt idx="70">
                  <c:v>4.8099999999999997E-2</c:v>
                </c:pt>
                <c:pt idx="71">
                  <c:v>4.8099999999999997E-2</c:v>
                </c:pt>
                <c:pt idx="72">
                  <c:v>4.8099999999999997E-2</c:v>
                </c:pt>
              </c:numCache>
            </c:numRef>
          </c:yVal>
          <c:smooth val="0"/>
          <c:extLst>
            <c:ext xmlns:c16="http://schemas.microsoft.com/office/drawing/2014/chart" uri="{C3380CC4-5D6E-409C-BE32-E72D297353CC}">
              <c16:uniqueId val="{00000000-C416-456B-8BF5-1CDD1E5943AD}"/>
            </c:ext>
          </c:extLst>
        </c:ser>
        <c:ser>
          <c:idx val="1"/>
          <c:order val="1"/>
          <c:tx>
            <c:strRef>
              <c:f>Sheet1!$B$76</c:f>
              <c:strCache>
                <c:ptCount val="1"/>
                <c:pt idx="0">
                  <c:v>Lisbon, no buffer, gap 4.2 µm</c:v>
                </c:pt>
              </c:strCache>
            </c:strRef>
          </c:tx>
          <c:spPr>
            <a:ln w="19050">
              <a:solidFill>
                <a:srgbClr val="2A78D6"/>
              </a:solidFill>
            </a:ln>
          </c:spPr>
          <c:marker>
            <c:symbol val="circle"/>
            <c:size val="4"/>
            <c:spPr>
              <a:solidFill>
                <a:srgbClr val="2A78D6"/>
              </a:solidFill>
              <a:ln>
                <a:solidFill>
                  <a:srgbClr val="2A78D6"/>
                </a:solidFill>
              </a:ln>
            </c:spPr>
          </c:marker>
          <c:xVal>
            <c:numRef>
              <c:f>Sheet1!$A$77:$A$122</c:f>
              <c:numCache>
                <c:formatCode>General</c:formatCode>
                <c:ptCount val="4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pt idx="26">
                  <c:v>9.1</c:v>
                </c:pt>
                <c:pt idx="27">
                  <c:v>9.1999999999999993</c:v>
                </c:pt>
                <c:pt idx="28">
                  <c:v>9.3000000000000007</c:v>
                </c:pt>
                <c:pt idx="29">
                  <c:v>9.4</c:v>
                </c:pt>
                <c:pt idx="30">
                  <c:v>9.5</c:v>
                </c:pt>
                <c:pt idx="31">
                  <c:v>9.6</c:v>
                </c:pt>
                <c:pt idx="32">
                  <c:v>9.6999999999999993</c:v>
                </c:pt>
                <c:pt idx="33">
                  <c:v>9.8000000000000007</c:v>
                </c:pt>
                <c:pt idx="34">
                  <c:v>9.9</c:v>
                </c:pt>
                <c:pt idx="35">
                  <c:v>10</c:v>
                </c:pt>
                <c:pt idx="36">
                  <c:v>10.1</c:v>
                </c:pt>
                <c:pt idx="37">
                  <c:v>10.199999999999999</c:v>
                </c:pt>
                <c:pt idx="38">
                  <c:v>10.3</c:v>
                </c:pt>
                <c:pt idx="39">
                  <c:v>10.4</c:v>
                </c:pt>
                <c:pt idx="40">
                  <c:v>10.5</c:v>
                </c:pt>
                <c:pt idx="41">
                  <c:v>10.6</c:v>
                </c:pt>
                <c:pt idx="42">
                  <c:v>10.7</c:v>
                </c:pt>
                <c:pt idx="43">
                  <c:v>10.8</c:v>
                </c:pt>
                <c:pt idx="44">
                  <c:v>10.9</c:v>
                </c:pt>
                <c:pt idx="45">
                  <c:v>11</c:v>
                </c:pt>
              </c:numCache>
            </c:numRef>
          </c:xVal>
          <c:yVal>
            <c:numRef>
              <c:f>Sheet1!$B$77:$B$122</c:f>
              <c:numCache>
                <c:formatCode>General</c:formatCode>
                <c:ptCount val="46"/>
                <c:pt idx="0">
                  <c:v>0.68149999999999999</c:v>
                </c:pt>
                <c:pt idx="1">
                  <c:v>0.35210000000000002</c:v>
                </c:pt>
                <c:pt idx="2">
                  <c:v>0.2271</c:v>
                </c:pt>
                <c:pt idx="3">
                  <c:v>0.18260000000000001</c:v>
                </c:pt>
                <c:pt idx="4">
                  <c:v>0.1807</c:v>
                </c:pt>
                <c:pt idx="5">
                  <c:v>0.22159999999999999</c:v>
                </c:pt>
                <c:pt idx="6">
                  <c:v>0.33450000000000002</c:v>
                </c:pt>
                <c:pt idx="7">
                  <c:v>0.60160000000000002</c:v>
                </c:pt>
                <c:pt idx="8">
                  <c:v>0.88270000000000004</c:v>
                </c:pt>
                <c:pt idx="9">
                  <c:v>0.63819999999999999</c:v>
                </c:pt>
                <c:pt idx="10">
                  <c:v>0.37309999999999999</c:v>
                </c:pt>
                <c:pt idx="11">
                  <c:v>0.25130000000000002</c:v>
                </c:pt>
                <c:pt idx="12">
                  <c:v>0.2077</c:v>
                </c:pt>
                <c:pt idx="13">
                  <c:v>0.20730000000000001</c:v>
                </c:pt>
                <c:pt idx="14">
                  <c:v>0.25090000000000001</c:v>
                </c:pt>
                <c:pt idx="15">
                  <c:v>0.36330000000000001</c:v>
                </c:pt>
                <c:pt idx="16">
                  <c:v>0.59650000000000003</c:v>
                </c:pt>
                <c:pt idx="17">
                  <c:v>0.78239999999999998</c:v>
                </c:pt>
                <c:pt idx="18">
                  <c:v>0.60019999999999996</c:v>
                </c:pt>
                <c:pt idx="19">
                  <c:v>0.38250000000000001</c:v>
                </c:pt>
                <c:pt idx="20">
                  <c:v>0.27510000000000001</c:v>
                </c:pt>
                <c:pt idx="21">
                  <c:v>0.23100000000000001</c:v>
                </c:pt>
                <c:pt idx="22">
                  <c:v>0.2329</c:v>
                </c:pt>
                <c:pt idx="23">
                  <c:v>0.2782</c:v>
                </c:pt>
                <c:pt idx="24">
                  <c:v>0.39100000000000001</c:v>
                </c:pt>
                <c:pt idx="25">
                  <c:v>0.58499999999999996</c:v>
                </c:pt>
                <c:pt idx="26">
                  <c:v>0.70760000000000001</c:v>
                </c:pt>
                <c:pt idx="27">
                  <c:v>0.56599999999999995</c:v>
                </c:pt>
                <c:pt idx="28">
                  <c:v>0.3916</c:v>
                </c:pt>
                <c:pt idx="29">
                  <c:v>0.29139999999999999</c:v>
                </c:pt>
                <c:pt idx="30">
                  <c:v>0.2525</c:v>
                </c:pt>
                <c:pt idx="31">
                  <c:v>0.25490000000000002</c:v>
                </c:pt>
                <c:pt idx="32">
                  <c:v>0.30509999999999998</c:v>
                </c:pt>
                <c:pt idx="33">
                  <c:v>0.40360000000000001</c:v>
                </c:pt>
                <c:pt idx="34">
                  <c:v>0.57420000000000004</c:v>
                </c:pt>
                <c:pt idx="35">
                  <c:v>0.64949999999999997</c:v>
                </c:pt>
                <c:pt idx="36">
                  <c:v>0.5403</c:v>
                </c:pt>
                <c:pt idx="37">
                  <c:v>0.39369999999999999</c:v>
                </c:pt>
                <c:pt idx="38">
                  <c:v>0.30709999999999998</c:v>
                </c:pt>
                <c:pt idx="39">
                  <c:v>0.27229999999999999</c:v>
                </c:pt>
                <c:pt idx="40">
                  <c:v>0.27600000000000002</c:v>
                </c:pt>
                <c:pt idx="41">
                  <c:v>0.32279999999999998</c:v>
                </c:pt>
                <c:pt idx="42">
                  <c:v>0.41689999999999999</c:v>
                </c:pt>
                <c:pt idx="43">
                  <c:v>0.5605</c:v>
                </c:pt>
                <c:pt idx="44">
                  <c:v>0.60709999999999997</c:v>
                </c:pt>
                <c:pt idx="45">
                  <c:v>0.51690000000000003</c:v>
                </c:pt>
              </c:numCache>
            </c:numRef>
          </c:yVal>
          <c:smooth val="0"/>
          <c:extLst>
            <c:ext xmlns:c16="http://schemas.microsoft.com/office/drawing/2014/chart" uri="{C3380CC4-5D6E-409C-BE32-E72D297353CC}">
              <c16:uniqueId val="{00000001-C416-456B-8BF5-1CDD1E5943AD}"/>
            </c:ext>
          </c:extLst>
        </c:ser>
        <c:dLbls>
          <c:showLegendKey val="0"/>
          <c:showVal val="0"/>
          <c:showCatName val="0"/>
          <c:showSerName val="0"/>
          <c:showPercent val="0"/>
          <c:showBubbleSize val="0"/>
        </c:dLbls>
        <c:axId val="-2128940872"/>
        <c:axId val="-2129643912"/>
      </c:scatterChart>
      <c:valAx>
        <c:axId val="-2128940872"/>
        <c:scaling>
          <c:orientation val="minMax"/>
          <c:max val="11"/>
          <c:min val="6.5"/>
        </c:scaling>
        <c:delete val="0"/>
        <c:axPos val="b"/>
        <c:title>
          <c:tx>
            <c:rich>
              <a:bodyPr/>
              <a:lstStyle/>
              <a:p>
                <a:r>
                  <a:rPr lang="en-US" sz="1100" b="0">
                    <a:latin typeface="Arial"/>
                  </a:rPr>
                  <a:t>x_lift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1"/>
      </c:valAx>
      <c:valAx>
        <c:axId val="-2129643912"/>
        <c:scaling>
          <c:orientation val="minMax"/>
          <c:max val="1"/>
          <c:min val="0"/>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0.2"/>
      </c:valAx>
    </c:plotArea>
    <c:legend>
      <c:legendPos val="t"/>
      <c:overlay val="0"/>
      <c:txPr>
        <a:bodyPr/>
        <a:lstStyle/>
        <a:p>
          <a:pPr>
            <a:defRPr sz="10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da-DK" sz="1200" b="1">
                <a:solidFill>
                  <a:srgbClr val="222222"/>
                </a:solidFill>
                <a:latin typeface="Arial"/>
              </a:rPr>
              <a:t>Vπ·L vs buffer (gap 3.2 µm)</a:t>
            </a:r>
          </a:p>
        </c:rich>
      </c:tx>
      <c:overlay val="0"/>
    </c:title>
    <c:autoTitleDeleted val="0"/>
    <c:plotArea>
      <c:layout/>
      <c:scatterChart>
        <c:scatterStyle val="lineMarker"/>
        <c:varyColors val="0"/>
        <c:ser>
          <c:idx val="0"/>
          <c:order val="0"/>
          <c:tx>
            <c:strRef>
              <c:f>Sheet1!$B$1</c:f>
              <c:strCache>
                <c:ptCount val="1"/>
                <c:pt idx="0">
                  <c:v>Vπ·L</c:v>
                </c:pt>
              </c:strCache>
            </c:strRef>
          </c:tx>
          <c:spPr>
            <a:ln w="25400">
              <a:solidFill>
                <a:srgbClr val="1F4E79"/>
              </a:solidFill>
            </a:ln>
          </c:spPr>
          <c:marker>
            <c:symbol val="circle"/>
            <c:size val="6"/>
            <c:spPr>
              <a:solidFill>
                <a:srgbClr val="1F4E79"/>
              </a:solidFill>
              <a:ln>
                <a:solidFill>
                  <a:srgbClr val="1F4E79"/>
                </a:solidFill>
              </a:ln>
            </c:spPr>
          </c:marker>
          <c:xVal>
            <c:numRef>
              <c:f>Sheet1!$A$2:$A$9</c:f>
              <c:numCache>
                <c:formatCode>General</c:formatCode>
                <c:ptCount val="8"/>
                <c:pt idx="0">
                  <c:v>0</c:v>
                </c:pt>
                <c:pt idx="1">
                  <c:v>25</c:v>
                </c:pt>
                <c:pt idx="2">
                  <c:v>50</c:v>
                </c:pt>
                <c:pt idx="3">
                  <c:v>100</c:v>
                </c:pt>
                <c:pt idx="4">
                  <c:v>150</c:v>
                </c:pt>
                <c:pt idx="5">
                  <c:v>200</c:v>
                </c:pt>
                <c:pt idx="6">
                  <c:v>250</c:v>
                </c:pt>
                <c:pt idx="7">
                  <c:v>300</c:v>
                </c:pt>
              </c:numCache>
            </c:numRef>
          </c:xVal>
          <c:yVal>
            <c:numRef>
              <c:f>Sheet1!$B$2:$B$9</c:f>
              <c:numCache>
                <c:formatCode>General</c:formatCode>
                <c:ptCount val="8"/>
                <c:pt idx="0">
                  <c:v>1.6496</c:v>
                </c:pt>
                <c:pt idx="1">
                  <c:v>1.7988999999999999</c:v>
                </c:pt>
                <c:pt idx="2">
                  <c:v>1.8784000000000001</c:v>
                </c:pt>
                <c:pt idx="3">
                  <c:v>1.9912000000000001</c:v>
                </c:pt>
                <c:pt idx="4">
                  <c:v>2.0767000000000002</c:v>
                </c:pt>
                <c:pt idx="5">
                  <c:v>2.1484000000000001</c:v>
                </c:pt>
                <c:pt idx="6">
                  <c:v>2.2120000000000002</c:v>
                </c:pt>
                <c:pt idx="7">
                  <c:v>2.2703000000000002</c:v>
                </c:pt>
              </c:numCache>
            </c:numRef>
          </c:yVal>
          <c:smooth val="0"/>
          <c:extLst>
            <c:ext xmlns:c16="http://schemas.microsoft.com/office/drawing/2014/chart" uri="{C3380CC4-5D6E-409C-BE32-E72D297353CC}">
              <c16:uniqueId val="{00000000-FAE9-4411-B470-737472F2F2F7}"/>
            </c:ext>
          </c:extLst>
        </c:ser>
        <c:ser>
          <c:idx val="1"/>
          <c:order val="1"/>
          <c:tx>
            <c:strRef>
              <c:f>Sheet1!$B$11</c:f>
              <c:strCache>
                <c:ptCount val="1"/>
                <c:pt idx="0">
                  <c:v>200 nm</c:v>
                </c:pt>
              </c:strCache>
            </c:strRef>
          </c:tx>
          <c:spPr>
            <a:ln w="12700">
              <a:solidFill>
                <a:srgbClr val="EB6834"/>
              </a:solidFill>
            </a:ln>
          </c:spPr>
          <c:marker>
            <c:symbol val="circle"/>
            <c:size val="10"/>
            <c:spPr>
              <a:solidFill>
                <a:srgbClr val="EB6834"/>
              </a:solidFill>
              <a:ln>
                <a:solidFill>
                  <a:srgbClr val="EB6834"/>
                </a:solidFill>
              </a:ln>
            </c:spPr>
          </c:marker>
          <c:xVal>
            <c:numRef>
              <c:f>Sheet1!$A$12:$A$12</c:f>
              <c:numCache>
                <c:formatCode>General</c:formatCode>
                <c:ptCount val="1"/>
                <c:pt idx="0">
                  <c:v>200</c:v>
                </c:pt>
              </c:numCache>
            </c:numRef>
          </c:xVal>
          <c:yVal>
            <c:numRef>
              <c:f>Sheet1!$B$12:$B$12</c:f>
              <c:numCache>
                <c:formatCode>General</c:formatCode>
                <c:ptCount val="1"/>
                <c:pt idx="0">
                  <c:v>2.1484000000000001</c:v>
                </c:pt>
              </c:numCache>
            </c:numRef>
          </c:yVal>
          <c:smooth val="0"/>
          <c:extLst>
            <c:ext xmlns:c16="http://schemas.microsoft.com/office/drawing/2014/chart" uri="{C3380CC4-5D6E-409C-BE32-E72D297353CC}">
              <c16:uniqueId val="{00000001-FAE9-4411-B470-737472F2F2F7}"/>
            </c:ext>
          </c:extLst>
        </c:ser>
        <c:dLbls>
          <c:showLegendKey val="0"/>
          <c:showVal val="0"/>
          <c:showCatName val="0"/>
          <c:showSerName val="0"/>
          <c:showPercent val="0"/>
          <c:showBubbleSize val="0"/>
        </c:dLbls>
        <c:axId val="-2128940872"/>
        <c:axId val="-2129643912"/>
      </c:scatterChart>
      <c:valAx>
        <c:axId val="-2128940872"/>
        <c:scaling>
          <c:orientation val="minMax"/>
          <c:max val="300"/>
          <c:min val="0"/>
        </c:scaling>
        <c:delete val="0"/>
        <c:axPos val="b"/>
        <c:title>
          <c:tx>
            <c:rich>
              <a:bodyPr/>
              <a:lstStyle/>
              <a:p>
                <a:r>
                  <a:rPr lang="en-US" sz="1100" b="0">
                    <a:latin typeface="Arial"/>
                  </a:rPr>
                  <a:t>buffer [nm]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50"/>
      </c:valAx>
      <c:valAx>
        <c:axId val="-2129643912"/>
        <c:scaling>
          <c:orientation val="minMax"/>
          <c:max val="2.4"/>
          <c:min val="1.6"/>
        </c:scaling>
        <c:delete val="0"/>
        <c:axPos val="l"/>
        <c:majorGridlines>
          <c:spPr>
            <a:ln>
              <a:solidFill>
                <a:srgbClr val="E3E3E3"/>
              </a:solidFill>
            </a:ln>
          </c:spPr>
        </c:majorGridlines>
        <c:title>
          <c:tx>
            <c:rich>
              <a:bodyPr/>
              <a:lstStyle/>
              <a:p>
                <a:r>
                  <a:rPr lang="en-US" sz="1100" b="0">
                    <a:latin typeface="Arial"/>
                  </a:rPr>
                  <a:t>V</a:t>
                </a:r>
                <a:r>
                  <a:rPr lang="el-GR" sz="1100" b="0">
                    <a:latin typeface="Arial"/>
                  </a:rPr>
                  <a:t>π·</a:t>
                </a:r>
                <a:r>
                  <a:rPr lang="en-US" sz="1100" b="0">
                    <a:latin typeface="Arial"/>
                  </a:rPr>
                  <a:t>L [V·cm]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0.2"/>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US" sz="1200" b="1">
                <a:solidFill>
                  <a:srgbClr val="222222"/>
                </a:solidFill>
                <a:latin typeface="Arial"/>
              </a:rPr>
              <a:t>V</a:t>
            </a:r>
            <a:r>
              <a:rPr lang="el-GR" sz="1200" b="1">
                <a:solidFill>
                  <a:srgbClr val="222222"/>
                </a:solidFill>
                <a:latin typeface="Arial"/>
              </a:rPr>
              <a:t>π·</a:t>
            </a:r>
            <a:r>
              <a:rPr lang="en-US" sz="1200" b="1">
                <a:solidFill>
                  <a:srgbClr val="222222"/>
                </a:solidFill>
                <a:latin typeface="Arial"/>
              </a:rPr>
              <a:t>L vs gap (200 nm buffer)</a:t>
            </a:r>
          </a:p>
        </c:rich>
      </c:tx>
      <c:overlay val="0"/>
    </c:title>
    <c:autoTitleDeleted val="0"/>
    <c:plotArea>
      <c:layout/>
      <c:scatterChart>
        <c:scatterStyle val="lineMarker"/>
        <c:varyColors val="0"/>
        <c:ser>
          <c:idx val="0"/>
          <c:order val="0"/>
          <c:tx>
            <c:strRef>
              <c:f>Sheet1!$B$1</c:f>
              <c:strCache>
                <c:ptCount val="1"/>
                <c:pt idx="0">
                  <c:v>Vπ·L</c:v>
                </c:pt>
              </c:strCache>
            </c:strRef>
          </c:tx>
          <c:spPr>
            <a:ln w="25400">
              <a:solidFill>
                <a:srgbClr val="1F4E79"/>
              </a:solidFill>
            </a:ln>
          </c:spPr>
          <c:marker>
            <c:symbol val="circle"/>
            <c:size val="6"/>
            <c:spPr>
              <a:solidFill>
                <a:srgbClr val="1F4E79"/>
              </a:solidFill>
              <a:ln>
                <a:solidFill>
                  <a:srgbClr val="1F4E79"/>
                </a:solidFill>
              </a:ln>
            </c:spPr>
          </c:marker>
          <c:xVal>
            <c:numRef>
              <c:f>Sheet1!$A$2:$A$8</c:f>
              <c:numCache>
                <c:formatCode>General</c:formatCode>
                <c:ptCount val="7"/>
                <c:pt idx="0">
                  <c:v>2.4</c:v>
                </c:pt>
                <c:pt idx="1">
                  <c:v>2.6</c:v>
                </c:pt>
                <c:pt idx="2">
                  <c:v>2.8</c:v>
                </c:pt>
                <c:pt idx="3">
                  <c:v>3</c:v>
                </c:pt>
                <c:pt idx="4">
                  <c:v>3.2</c:v>
                </c:pt>
                <c:pt idx="5">
                  <c:v>3.4</c:v>
                </c:pt>
                <c:pt idx="6">
                  <c:v>3.6</c:v>
                </c:pt>
              </c:numCache>
            </c:numRef>
          </c:xVal>
          <c:yVal>
            <c:numRef>
              <c:f>Sheet1!$B$2:$B$8</c:f>
              <c:numCache>
                <c:formatCode>General</c:formatCode>
                <c:ptCount val="7"/>
                <c:pt idx="0">
                  <c:v>1.6353</c:v>
                </c:pt>
                <c:pt idx="1">
                  <c:v>1.7704</c:v>
                </c:pt>
                <c:pt idx="2">
                  <c:v>1.8993</c:v>
                </c:pt>
                <c:pt idx="3">
                  <c:v>2.0249000000000001</c:v>
                </c:pt>
                <c:pt idx="4">
                  <c:v>2.1484000000000001</c:v>
                </c:pt>
                <c:pt idx="5">
                  <c:v>2.2707000000000002</c:v>
                </c:pt>
                <c:pt idx="6">
                  <c:v>2.3919999999999999</c:v>
                </c:pt>
              </c:numCache>
            </c:numRef>
          </c:yVal>
          <c:smooth val="0"/>
          <c:extLst>
            <c:ext xmlns:c16="http://schemas.microsoft.com/office/drawing/2014/chart" uri="{C3380CC4-5D6E-409C-BE32-E72D297353CC}">
              <c16:uniqueId val="{00000000-CABF-4B30-B59E-680C83E14077}"/>
            </c:ext>
          </c:extLst>
        </c:ser>
        <c:ser>
          <c:idx val="1"/>
          <c:order val="1"/>
          <c:tx>
            <c:strRef>
              <c:f>Sheet1!$B$10</c:f>
              <c:strCache>
                <c:ptCount val="1"/>
                <c:pt idx="0">
                  <c:v>3.4 µm</c:v>
                </c:pt>
              </c:strCache>
            </c:strRef>
          </c:tx>
          <c:spPr>
            <a:ln w="12700">
              <a:solidFill>
                <a:srgbClr val="EB6834"/>
              </a:solidFill>
            </a:ln>
          </c:spPr>
          <c:marker>
            <c:symbol val="circle"/>
            <c:size val="10"/>
            <c:spPr>
              <a:solidFill>
                <a:srgbClr val="EB6834"/>
              </a:solidFill>
              <a:ln>
                <a:solidFill>
                  <a:srgbClr val="EB6834"/>
                </a:solidFill>
              </a:ln>
            </c:spPr>
          </c:marker>
          <c:xVal>
            <c:numRef>
              <c:f>Sheet1!$A$11:$A$11</c:f>
              <c:numCache>
                <c:formatCode>General</c:formatCode>
                <c:ptCount val="1"/>
                <c:pt idx="0">
                  <c:v>3.4</c:v>
                </c:pt>
              </c:numCache>
            </c:numRef>
          </c:xVal>
          <c:yVal>
            <c:numRef>
              <c:f>Sheet1!$B$11:$B$11</c:f>
              <c:numCache>
                <c:formatCode>General</c:formatCode>
                <c:ptCount val="1"/>
                <c:pt idx="0">
                  <c:v>2.2707000000000002</c:v>
                </c:pt>
              </c:numCache>
            </c:numRef>
          </c:yVal>
          <c:smooth val="0"/>
          <c:extLst>
            <c:ext xmlns:c16="http://schemas.microsoft.com/office/drawing/2014/chart" uri="{C3380CC4-5D6E-409C-BE32-E72D297353CC}">
              <c16:uniqueId val="{00000001-CABF-4B30-B59E-680C83E14077}"/>
            </c:ext>
          </c:extLst>
        </c:ser>
        <c:dLbls>
          <c:showLegendKey val="0"/>
          <c:showVal val="0"/>
          <c:showCatName val="0"/>
          <c:showSerName val="0"/>
          <c:showPercent val="0"/>
          <c:showBubbleSize val="0"/>
        </c:dLbls>
        <c:axId val="-2128940872"/>
        <c:axId val="-2129643912"/>
      </c:scatterChart>
      <c:valAx>
        <c:axId val="-2128940872"/>
        <c:scaling>
          <c:orientation val="minMax"/>
          <c:max val="3.7"/>
          <c:min val="2.2999999999999998"/>
        </c:scaling>
        <c:delete val="0"/>
        <c:axPos val="b"/>
        <c:title>
          <c:tx>
            <c:rich>
              <a:bodyPr/>
              <a:lstStyle/>
              <a:p>
                <a:r>
                  <a:rPr lang="en-US" sz="1100" b="0">
                    <a:latin typeface="Arial"/>
                  </a:rPr>
                  <a:t>bottom gap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2"/>
      </c:valAx>
      <c:valAx>
        <c:axId val="-2129643912"/>
        <c:scaling>
          <c:orientation val="minMax"/>
          <c:max val="2.4"/>
          <c:min val="1.6"/>
        </c:scaling>
        <c:delete val="0"/>
        <c:axPos val="l"/>
        <c:majorGridlines>
          <c:spPr>
            <a:ln>
              <a:solidFill>
                <a:srgbClr val="E3E3E3"/>
              </a:solidFill>
            </a:ln>
          </c:spPr>
        </c:majorGridlines>
        <c:title>
          <c:tx>
            <c:rich>
              <a:bodyPr/>
              <a:lstStyle/>
              <a:p>
                <a:r>
                  <a:rPr lang="en-US" sz="1100" b="0">
                    <a:latin typeface="Arial"/>
                  </a:rPr>
                  <a:t>V</a:t>
                </a:r>
                <a:r>
                  <a:rPr lang="el-GR" sz="1100" b="0">
                    <a:latin typeface="Arial"/>
                  </a:rPr>
                  <a:t>π·</a:t>
                </a:r>
                <a:r>
                  <a:rPr lang="en-US" sz="1100" b="0">
                    <a:latin typeface="Arial"/>
                  </a:rPr>
                  <a:t>L [V·cm]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0.2"/>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fr-FR" sz="1200" b="1">
                <a:solidFill>
                  <a:srgbClr val="222222"/>
                </a:solidFill>
                <a:latin typeface="Arial"/>
              </a:rPr>
              <a:t>IL vs gap (200 nm buffer)</a:t>
            </a:r>
          </a:p>
        </c:rich>
      </c:tx>
      <c:overlay val="0"/>
    </c:title>
    <c:autoTitleDeleted val="0"/>
    <c:plotArea>
      <c:layout/>
      <c:scatterChart>
        <c:scatterStyle val="lineMarker"/>
        <c:varyColors val="0"/>
        <c:ser>
          <c:idx val="0"/>
          <c:order val="0"/>
          <c:tx>
            <c:strRef>
              <c:f>Sheet1!$B$1</c:f>
              <c:strCache>
                <c:ptCount val="1"/>
                <c:pt idx="0">
                  <c:v>IL</c:v>
                </c:pt>
              </c:strCache>
            </c:strRef>
          </c:tx>
          <c:spPr>
            <a:ln w="25400">
              <a:solidFill>
                <a:srgbClr val="2A78D6"/>
              </a:solidFill>
            </a:ln>
          </c:spPr>
          <c:marker>
            <c:symbol val="circle"/>
            <c:size val="6"/>
            <c:spPr>
              <a:solidFill>
                <a:srgbClr val="2A78D6"/>
              </a:solidFill>
              <a:ln>
                <a:solidFill>
                  <a:srgbClr val="2A78D6"/>
                </a:solidFill>
              </a:ln>
            </c:spPr>
          </c:marker>
          <c:xVal>
            <c:numRef>
              <c:f>Sheet1!$A$2:$A$8</c:f>
              <c:numCache>
                <c:formatCode>General</c:formatCode>
                <c:ptCount val="7"/>
                <c:pt idx="0">
                  <c:v>2.4</c:v>
                </c:pt>
                <c:pt idx="1">
                  <c:v>2.6</c:v>
                </c:pt>
                <c:pt idx="2">
                  <c:v>2.8</c:v>
                </c:pt>
                <c:pt idx="3">
                  <c:v>3</c:v>
                </c:pt>
                <c:pt idx="4">
                  <c:v>3.2</c:v>
                </c:pt>
                <c:pt idx="5">
                  <c:v>3.4</c:v>
                </c:pt>
                <c:pt idx="6">
                  <c:v>3.6</c:v>
                </c:pt>
              </c:numCache>
            </c:numRef>
          </c:xVal>
          <c:yVal>
            <c:numRef>
              <c:f>Sheet1!$B$2:$B$8</c:f>
              <c:numCache>
                <c:formatCode>General</c:formatCode>
                <c:ptCount val="7"/>
                <c:pt idx="0">
                  <c:v>0.65090000000000003</c:v>
                </c:pt>
                <c:pt idx="1">
                  <c:v>0.32569999999999999</c:v>
                </c:pt>
                <c:pt idx="2">
                  <c:v>0.16889999999999999</c:v>
                </c:pt>
                <c:pt idx="3">
                  <c:v>8.9499999999999996E-2</c:v>
                </c:pt>
                <c:pt idx="4">
                  <c:v>4.8099999999999997E-2</c:v>
                </c:pt>
                <c:pt idx="5">
                  <c:v>2.5999999999999999E-2</c:v>
                </c:pt>
                <c:pt idx="6">
                  <c:v>1.4200000000000001E-2</c:v>
                </c:pt>
              </c:numCache>
            </c:numRef>
          </c:yVal>
          <c:smooth val="0"/>
          <c:extLst>
            <c:ext xmlns:c16="http://schemas.microsoft.com/office/drawing/2014/chart" uri="{C3380CC4-5D6E-409C-BE32-E72D297353CC}">
              <c16:uniqueId val="{00000000-6FCA-4ED4-ADB7-4EED10F3179A}"/>
            </c:ext>
          </c:extLst>
        </c:ser>
        <c:ser>
          <c:idx val="1"/>
          <c:order val="1"/>
          <c:tx>
            <c:strRef>
              <c:f>Sheet1!$B$10</c:f>
              <c:strCache>
                <c:ptCount val="1"/>
                <c:pt idx="0">
                  <c:v>3.4 µm</c:v>
                </c:pt>
              </c:strCache>
            </c:strRef>
          </c:tx>
          <c:spPr>
            <a:ln w="12700">
              <a:solidFill>
                <a:srgbClr val="EB6834"/>
              </a:solidFill>
            </a:ln>
          </c:spPr>
          <c:marker>
            <c:symbol val="circle"/>
            <c:size val="10"/>
            <c:spPr>
              <a:solidFill>
                <a:srgbClr val="EB6834"/>
              </a:solidFill>
              <a:ln>
                <a:solidFill>
                  <a:srgbClr val="EB6834"/>
                </a:solidFill>
              </a:ln>
            </c:spPr>
          </c:marker>
          <c:xVal>
            <c:numRef>
              <c:f>Sheet1!$A$11:$A$11</c:f>
              <c:numCache>
                <c:formatCode>General</c:formatCode>
                <c:ptCount val="1"/>
                <c:pt idx="0">
                  <c:v>3.4</c:v>
                </c:pt>
              </c:numCache>
            </c:numRef>
          </c:xVal>
          <c:yVal>
            <c:numRef>
              <c:f>Sheet1!$B$11:$B$11</c:f>
              <c:numCache>
                <c:formatCode>General</c:formatCode>
                <c:ptCount val="1"/>
                <c:pt idx="0">
                  <c:v>2.5999999999999999E-2</c:v>
                </c:pt>
              </c:numCache>
            </c:numRef>
          </c:yVal>
          <c:smooth val="0"/>
          <c:extLst>
            <c:ext xmlns:c16="http://schemas.microsoft.com/office/drawing/2014/chart" uri="{C3380CC4-5D6E-409C-BE32-E72D297353CC}">
              <c16:uniqueId val="{00000001-6FCA-4ED4-ADB7-4EED10F3179A}"/>
            </c:ext>
          </c:extLst>
        </c:ser>
        <c:dLbls>
          <c:showLegendKey val="0"/>
          <c:showVal val="0"/>
          <c:showCatName val="0"/>
          <c:showSerName val="0"/>
          <c:showPercent val="0"/>
          <c:showBubbleSize val="0"/>
        </c:dLbls>
        <c:axId val="-2128940872"/>
        <c:axId val="-2129643912"/>
      </c:scatterChart>
      <c:valAx>
        <c:axId val="-2128940872"/>
        <c:scaling>
          <c:orientation val="minMax"/>
          <c:max val="3.7"/>
          <c:min val="2.2999999999999998"/>
        </c:scaling>
        <c:delete val="0"/>
        <c:axPos val="b"/>
        <c:title>
          <c:tx>
            <c:rich>
              <a:bodyPr/>
              <a:lstStyle/>
              <a:p>
                <a:r>
                  <a:rPr lang="en-US" sz="1100" b="0">
                    <a:latin typeface="Arial"/>
                  </a:rPr>
                  <a:t>bottom gap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2"/>
      </c:valAx>
      <c:valAx>
        <c:axId val="-2129643912"/>
        <c:scaling>
          <c:logBase val="10"/>
          <c:orientation val="minMax"/>
          <c:max val="1"/>
          <c:min val="0.01"/>
        </c:scaling>
        <c:delete val="0"/>
        <c:axPos val="l"/>
        <c:majorGridlines>
          <c:spPr>
            <a:ln>
              <a:solidFill>
                <a:srgbClr val="E3E3E3"/>
              </a:solidFill>
            </a:ln>
          </c:spPr>
        </c:majorGridlines>
        <c:title>
          <c:tx>
            <c:rich>
              <a:bodyPr/>
              <a:lstStyle/>
              <a:p>
                <a:r>
                  <a:rPr lang="en-US" sz="1100" b="0">
                    <a:latin typeface="Arial"/>
                  </a:rPr>
                  <a:t>IL [dB/cm], log</a:t>
                </a:r>
              </a:p>
            </c:rich>
          </c:tx>
          <c:overlay val="0"/>
        </c:title>
        <c:numFmt formatCode="0.0#" sourceLinked="0"/>
        <c:majorTickMark val="out"/>
        <c:minorTickMark val="none"/>
        <c:tickLblPos val="nextTo"/>
        <c:txPr>
          <a:bodyPr/>
          <a:lstStyle/>
          <a:p>
            <a:pPr>
              <a:defRPr sz="1000">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Lisbon, C band 1575 nm</c:v>
                </c:pt>
              </c:strCache>
            </c:strRef>
          </c:tx>
          <c:spPr>
            <a:ln w="22225">
              <a:solidFill>
                <a:srgbClr val="EB6834"/>
              </a:solidFill>
            </a:ln>
          </c:spPr>
          <c:marker>
            <c:symbol val="circle"/>
            <c:size val="5"/>
            <c:spPr>
              <a:solidFill>
                <a:srgbClr val="EB6834"/>
              </a:solidFill>
              <a:ln>
                <a:solidFill>
                  <a:srgbClr val="EB6834"/>
                </a:solidFill>
              </a:ln>
            </c:spPr>
          </c:marker>
          <c:xVal>
            <c:numRef>
              <c:f>Sheet1!$A$2:$A$16</c:f>
              <c:numCache>
                <c:formatCode>General</c:formatCode>
                <c:ptCount val="15"/>
                <c:pt idx="0">
                  <c:v>130</c:v>
                </c:pt>
                <c:pt idx="1">
                  <c:v>140</c:v>
                </c:pt>
                <c:pt idx="2">
                  <c:v>150</c:v>
                </c:pt>
                <c:pt idx="3">
                  <c:v>160</c:v>
                </c:pt>
                <c:pt idx="4">
                  <c:v>170</c:v>
                </c:pt>
                <c:pt idx="5">
                  <c:v>180</c:v>
                </c:pt>
                <c:pt idx="6">
                  <c:v>190</c:v>
                </c:pt>
                <c:pt idx="7">
                  <c:v>200</c:v>
                </c:pt>
                <c:pt idx="8">
                  <c:v>210</c:v>
                </c:pt>
                <c:pt idx="9">
                  <c:v>220</c:v>
                </c:pt>
                <c:pt idx="10">
                  <c:v>230</c:v>
                </c:pt>
                <c:pt idx="11">
                  <c:v>240</c:v>
                </c:pt>
                <c:pt idx="12">
                  <c:v>250</c:v>
                </c:pt>
                <c:pt idx="13">
                  <c:v>260</c:v>
                </c:pt>
                <c:pt idx="14">
                  <c:v>270</c:v>
                </c:pt>
              </c:numCache>
            </c:numRef>
          </c:xVal>
          <c:yVal>
            <c:numRef>
              <c:f>Sheet1!$B$2:$B$16</c:f>
              <c:numCache>
                <c:formatCode>General</c:formatCode>
                <c:ptCount val="15"/>
                <c:pt idx="0">
                  <c:v>2.1696</c:v>
                </c:pt>
                <c:pt idx="1">
                  <c:v>2.1859000000000002</c:v>
                </c:pt>
                <c:pt idx="2">
                  <c:v>2.2016</c:v>
                </c:pt>
                <c:pt idx="3">
                  <c:v>2.2166999999999999</c:v>
                </c:pt>
                <c:pt idx="4">
                  <c:v>2.2313000000000001</c:v>
                </c:pt>
                <c:pt idx="5">
                  <c:v>2.2454999999999998</c:v>
                </c:pt>
                <c:pt idx="6">
                  <c:v>2.2593000000000001</c:v>
                </c:pt>
                <c:pt idx="7">
                  <c:v>2.2726999999999999</c:v>
                </c:pt>
                <c:pt idx="8">
                  <c:v>2.2858999999999998</c:v>
                </c:pt>
                <c:pt idx="9">
                  <c:v>2.2987000000000002</c:v>
                </c:pt>
                <c:pt idx="10">
                  <c:v>2.3113000000000001</c:v>
                </c:pt>
                <c:pt idx="11">
                  <c:v>2.3235000000000001</c:v>
                </c:pt>
                <c:pt idx="12">
                  <c:v>2.3355999999999999</c:v>
                </c:pt>
                <c:pt idx="13">
                  <c:v>2.3473999999999999</c:v>
                </c:pt>
                <c:pt idx="14">
                  <c:v>2.359</c:v>
                </c:pt>
              </c:numCache>
            </c:numRef>
          </c:yVal>
          <c:smooth val="0"/>
          <c:extLst>
            <c:ext xmlns:c16="http://schemas.microsoft.com/office/drawing/2014/chart" uri="{C3380CC4-5D6E-409C-BE32-E72D297353CC}">
              <c16:uniqueId val="{00000000-1F92-4657-A587-1B6F94F0FE3D}"/>
            </c:ext>
          </c:extLst>
        </c:ser>
        <c:ser>
          <c:idx val="1"/>
          <c:order val="1"/>
          <c:tx>
            <c:strRef>
              <c:f>Sheet1!$B$18</c:f>
              <c:strCache>
                <c:ptCount val="1"/>
                <c:pt idx="0">
                  <c:v>Jerez, O band 1360 nm</c:v>
                </c:pt>
              </c:strCache>
            </c:strRef>
          </c:tx>
          <c:spPr>
            <a:ln w="22225">
              <a:solidFill>
                <a:srgbClr val="2A78D6"/>
              </a:solidFill>
            </a:ln>
          </c:spPr>
          <c:marker>
            <c:symbol val="circle"/>
            <c:size val="5"/>
            <c:spPr>
              <a:solidFill>
                <a:srgbClr val="2A78D6"/>
              </a:solidFill>
              <a:ln>
                <a:solidFill>
                  <a:srgbClr val="2A78D6"/>
                </a:solidFill>
              </a:ln>
            </c:spPr>
          </c:marker>
          <c:xVal>
            <c:numRef>
              <c:f>Sheet1!$A$19:$A$33</c:f>
              <c:numCache>
                <c:formatCode>General</c:formatCode>
                <c:ptCount val="15"/>
                <c:pt idx="0">
                  <c:v>130</c:v>
                </c:pt>
                <c:pt idx="1">
                  <c:v>140</c:v>
                </c:pt>
                <c:pt idx="2">
                  <c:v>150</c:v>
                </c:pt>
                <c:pt idx="3">
                  <c:v>160</c:v>
                </c:pt>
                <c:pt idx="4">
                  <c:v>170</c:v>
                </c:pt>
                <c:pt idx="5">
                  <c:v>180</c:v>
                </c:pt>
                <c:pt idx="6">
                  <c:v>190</c:v>
                </c:pt>
                <c:pt idx="7">
                  <c:v>200</c:v>
                </c:pt>
                <c:pt idx="8">
                  <c:v>210</c:v>
                </c:pt>
                <c:pt idx="9">
                  <c:v>220</c:v>
                </c:pt>
                <c:pt idx="10">
                  <c:v>230</c:v>
                </c:pt>
                <c:pt idx="11">
                  <c:v>240</c:v>
                </c:pt>
                <c:pt idx="12">
                  <c:v>250</c:v>
                </c:pt>
                <c:pt idx="13">
                  <c:v>260</c:v>
                </c:pt>
                <c:pt idx="14">
                  <c:v>270</c:v>
                </c:pt>
              </c:numCache>
            </c:numRef>
          </c:xVal>
          <c:yVal>
            <c:numRef>
              <c:f>Sheet1!$B$19:$B$33</c:f>
              <c:numCache>
                <c:formatCode>General</c:formatCode>
                <c:ptCount val="15"/>
                <c:pt idx="0">
                  <c:v>1.804</c:v>
                </c:pt>
                <c:pt idx="1">
                  <c:v>1.8163</c:v>
                </c:pt>
                <c:pt idx="2">
                  <c:v>1.8282</c:v>
                </c:pt>
                <c:pt idx="3">
                  <c:v>1.8395999999999999</c:v>
                </c:pt>
                <c:pt idx="4">
                  <c:v>1.8507</c:v>
                </c:pt>
                <c:pt idx="5">
                  <c:v>1.8614999999999999</c:v>
                </c:pt>
                <c:pt idx="6">
                  <c:v>1.8718999999999999</c:v>
                </c:pt>
                <c:pt idx="7">
                  <c:v>1.8821000000000001</c:v>
                </c:pt>
                <c:pt idx="8">
                  <c:v>1.8919999999999999</c:v>
                </c:pt>
                <c:pt idx="9">
                  <c:v>1.9016999999999999</c:v>
                </c:pt>
                <c:pt idx="10">
                  <c:v>1.9112</c:v>
                </c:pt>
                <c:pt idx="11">
                  <c:v>1.9205000000000001</c:v>
                </c:pt>
                <c:pt idx="12">
                  <c:v>1.9297</c:v>
                </c:pt>
                <c:pt idx="13">
                  <c:v>1.9387000000000001</c:v>
                </c:pt>
                <c:pt idx="14">
                  <c:v>1.9474</c:v>
                </c:pt>
              </c:numCache>
            </c:numRef>
          </c:yVal>
          <c:smooth val="0"/>
          <c:extLst>
            <c:ext xmlns:c16="http://schemas.microsoft.com/office/drawing/2014/chart" uri="{C3380CC4-5D6E-409C-BE32-E72D297353CC}">
              <c16:uniqueId val="{00000001-1F92-4657-A587-1B6F94F0FE3D}"/>
            </c:ext>
          </c:extLst>
        </c:ser>
        <c:ser>
          <c:idx val="2"/>
          <c:order val="2"/>
          <c:tx>
            <c:strRef>
              <c:f>Sheet1!$B$35</c:f>
              <c:strCache>
                <c:ptCount val="1"/>
                <c:pt idx="0">
                  <c:v>_refL</c:v>
                </c:pt>
              </c:strCache>
            </c:strRef>
          </c:tx>
          <c:spPr>
            <a:ln w="12700">
              <a:solidFill>
                <a:srgbClr val="EB6834"/>
              </a:solidFill>
              <a:prstDash val="dash"/>
            </a:ln>
          </c:spPr>
          <c:marker>
            <c:symbol val="none"/>
          </c:marker>
          <c:xVal>
            <c:numRef>
              <c:f>Sheet1!$A$36:$A$37</c:f>
              <c:numCache>
                <c:formatCode>General</c:formatCode>
                <c:ptCount val="2"/>
                <c:pt idx="0">
                  <c:v>120</c:v>
                </c:pt>
                <c:pt idx="1">
                  <c:v>280</c:v>
                </c:pt>
              </c:numCache>
            </c:numRef>
          </c:xVal>
          <c:yVal>
            <c:numRef>
              <c:f>Sheet1!$B$36:$B$37</c:f>
              <c:numCache>
                <c:formatCode>General</c:formatCode>
                <c:ptCount val="2"/>
                <c:pt idx="0">
                  <c:v>2.2667999999999999</c:v>
                </c:pt>
                <c:pt idx="1">
                  <c:v>2.2667999999999999</c:v>
                </c:pt>
              </c:numCache>
            </c:numRef>
          </c:yVal>
          <c:smooth val="0"/>
          <c:extLst>
            <c:ext xmlns:c16="http://schemas.microsoft.com/office/drawing/2014/chart" uri="{C3380CC4-5D6E-409C-BE32-E72D297353CC}">
              <c16:uniqueId val="{00000002-1F92-4657-A587-1B6F94F0FE3D}"/>
            </c:ext>
          </c:extLst>
        </c:ser>
        <c:ser>
          <c:idx val="3"/>
          <c:order val="3"/>
          <c:tx>
            <c:strRef>
              <c:f>Sheet1!$B$39</c:f>
              <c:strCache>
                <c:ptCount val="1"/>
                <c:pt idx="0">
                  <c:v>_refJ</c:v>
                </c:pt>
              </c:strCache>
            </c:strRef>
          </c:tx>
          <c:spPr>
            <a:ln w="12700">
              <a:solidFill>
                <a:srgbClr val="2A78D6"/>
              </a:solidFill>
              <a:prstDash val="dash"/>
            </a:ln>
          </c:spPr>
          <c:marker>
            <c:symbol val="none"/>
          </c:marker>
          <c:xVal>
            <c:numRef>
              <c:f>Sheet1!$A$40:$A$41</c:f>
              <c:numCache>
                <c:formatCode>General</c:formatCode>
                <c:ptCount val="2"/>
                <c:pt idx="0">
                  <c:v>120</c:v>
                </c:pt>
                <c:pt idx="1">
                  <c:v>280</c:v>
                </c:pt>
              </c:numCache>
            </c:numRef>
          </c:xVal>
          <c:yVal>
            <c:numRef>
              <c:f>Sheet1!$B$40:$B$41</c:f>
              <c:numCache>
                <c:formatCode>General</c:formatCode>
                <c:ptCount val="2"/>
                <c:pt idx="0">
                  <c:v>1.9154</c:v>
                </c:pt>
                <c:pt idx="1">
                  <c:v>1.9154</c:v>
                </c:pt>
              </c:numCache>
            </c:numRef>
          </c:yVal>
          <c:smooth val="0"/>
          <c:extLst>
            <c:ext xmlns:c16="http://schemas.microsoft.com/office/drawing/2014/chart" uri="{C3380CC4-5D6E-409C-BE32-E72D297353CC}">
              <c16:uniqueId val="{00000003-1F92-4657-A587-1B6F94F0FE3D}"/>
            </c:ext>
          </c:extLst>
        </c:ser>
        <c:ser>
          <c:idx val="4"/>
          <c:order val="4"/>
          <c:tx>
            <c:strRef>
              <c:f>Sheet1!$B$43</c:f>
              <c:strCache>
                <c:ptCount val="1"/>
                <c:pt idx="0">
                  <c:v>_w160</c:v>
                </c:pt>
              </c:strCache>
            </c:strRef>
          </c:tx>
          <c:spPr>
            <a:ln w="9525">
              <a:solidFill>
                <a:srgbClr val="B0B0B0"/>
              </a:solidFill>
              <a:prstDash val="dash"/>
            </a:ln>
          </c:spPr>
          <c:marker>
            <c:symbol val="none"/>
          </c:marker>
          <c:xVal>
            <c:numRef>
              <c:f>Sheet1!$A$44:$A$45</c:f>
              <c:numCache>
                <c:formatCode>General</c:formatCode>
                <c:ptCount val="2"/>
                <c:pt idx="0">
                  <c:v>160</c:v>
                </c:pt>
                <c:pt idx="1">
                  <c:v>160</c:v>
                </c:pt>
              </c:numCache>
            </c:numRef>
          </c:xVal>
          <c:yVal>
            <c:numRef>
              <c:f>Sheet1!$B$44:$B$45</c:f>
              <c:numCache>
                <c:formatCode>General</c:formatCode>
                <c:ptCount val="2"/>
                <c:pt idx="0">
                  <c:v>1.65</c:v>
                </c:pt>
                <c:pt idx="1">
                  <c:v>2.4500000000000002</c:v>
                </c:pt>
              </c:numCache>
            </c:numRef>
          </c:yVal>
          <c:smooth val="0"/>
          <c:extLst>
            <c:ext xmlns:c16="http://schemas.microsoft.com/office/drawing/2014/chart" uri="{C3380CC4-5D6E-409C-BE32-E72D297353CC}">
              <c16:uniqueId val="{00000004-1F92-4657-A587-1B6F94F0FE3D}"/>
            </c:ext>
          </c:extLst>
        </c:ser>
        <c:ser>
          <c:idx val="5"/>
          <c:order val="5"/>
          <c:tx>
            <c:strRef>
              <c:f>Sheet1!$B$47</c:f>
              <c:strCache>
                <c:ptCount val="1"/>
                <c:pt idx="0">
                  <c:v>_w180</c:v>
                </c:pt>
              </c:strCache>
            </c:strRef>
          </c:tx>
          <c:spPr>
            <a:ln w="12700">
              <a:solidFill>
                <a:srgbClr val="B0B0B0"/>
              </a:solidFill>
            </a:ln>
          </c:spPr>
          <c:marker>
            <c:symbol val="none"/>
          </c:marker>
          <c:xVal>
            <c:numRef>
              <c:f>Sheet1!$A$48:$A$49</c:f>
              <c:numCache>
                <c:formatCode>General</c:formatCode>
                <c:ptCount val="2"/>
                <c:pt idx="0">
                  <c:v>180</c:v>
                </c:pt>
                <c:pt idx="1">
                  <c:v>180</c:v>
                </c:pt>
              </c:numCache>
            </c:numRef>
          </c:xVal>
          <c:yVal>
            <c:numRef>
              <c:f>Sheet1!$B$48:$B$49</c:f>
              <c:numCache>
                <c:formatCode>General</c:formatCode>
                <c:ptCount val="2"/>
                <c:pt idx="0">
                  <c:v>1.65</c:v>
                </c:pt>
                <c:pt idx="1">
                  <c:v>2.4500000000000002</c:v>
                </c:pt>
              </c:numCache>
            </c:numRef>
          </c:yVal>
          <c:smooth val="0"/>
          <c:extLst>
            <c:ext xmlns:c16="http://schemas.microsoft.com/office/drawing/2014/chart" uri="{C3380CC4-5D6E-409C-BE32-E72D297353CC}">
              <c16:uniqueId val="{00000005-1F92-4657-A587-1B6F94F0FE3D}"/>
            </c:ext>
          </c:extLst>
        </c:ser>
        <c:ser>
          <c:idx val="6"/>
          <c:order val="6"/>
          <c:tx>
            <c:strRef>
              <c:f>Sheet1!$B$51</c:f>
              <c:strCache>
                <c:ptCount val="1"/>
                <c:pt idx="0">
                  <c:v>_w220</c:v>
                </c:pt>
              </c:strCache>
            </c:strRef>
          </c:tx>
          <c:spPr>
            <a:ln w="12700">
              <a:solidFill>
                <a:srgbClr val="B0B0B0"/>
              </a:solidFill>
            </a:ln>
          </c:spPr>
          <c:marker>
            <c:symbol val="none"/>
          </c:marker>
          <c:xVal>
            <c:numRef>
              <c:f>Sheet1!$A$52:$A$53</c:f>
              <c:numCache>
                <c:formatCode>General</c:formatCode>
                <c:ptCount val="2"/>
                <c:pt idx="0">
                  <c:v>220</c:v>
                </c:pt>
                <c:pt idx="1">
                  <c:v>220</c:v>
                </c:pt>
              </c:numCache>
            </c:numRef>
          </c:xVal>
          <c:yVal>
            <c:numRef>
              <c:f>Sheet1!$B$52:$B$53</c:f>
              <c:numCache>
                <c:formatCode>General</c:formatCode>
                <c:ptCount val="2"/>
                <c:pt idx="0">
                  <c:v>1.65</c:v>
                </c:pt>
                <c:pt idx="1">
                  <c:v>2.4500000000000002</c:v>
                </c:pt>
              </c:numCache>
            </c:numRef>
          </c:yVal>
          <c:smooth val="0"/>
          <c:extLst>
            <c:ext xmlns:c16="http://schemas.microsoft.com/office/drawing/2014/chart" uri="{C3380CC4-5D6E-409C-BE32-E72D297353CC}">
              <c16:uniqueId val="{00000006-1F92-4657-A587-1B6F94F0FE3D}"/>
            </c:ext>
          </c:extLst>
        </c:ser>
        <c:ser>
          <c:idx val="7"/>
          <c:order val="7"/>
          <c:tx>
            <c:strRef>
              <c:f>Sheet1!$B$55</c:f>
              <c:strCache>
                <c:ptCount val="1"/>
                <c:pt idx="0">
                  <c:v>_w240</c:v>
                </c:pt>
              </c:strCache>
            </c:strRef>
          </c:tx>
          <c:spPr>
            <a:ln w="9525">
              <a:solidFill>
                <a:srgbClr val="B0B0B0"/>
              </a:solidFill>
              <a:prstDash val="dash"/>
            </a:ln>
          </c:spPr>
          <c:marker>
            <c:symbol val="none"/>
          </c:marker>
          <c:xVal>
            <c:numRef>
              <c:f>Sheet1!$A$56:$A$57</c:f>
              <c:numCache>
                <c:formatCode>General</c:formatCode>
                <c:ptCount val="2"/>
                <c:pt idx="0">
                  <c:v>240</c:v>
                </c:pt>
                <c:pt idx="1">
                  <c:v>240</c:v>
                </c:pt>
              </c:numCache>
            </c:numRef>
          </c:xVal>
          <c:yVal>
            <c:numRef>
              <c:f>Sheet1!$B$56:$B$57</c:f>
              <c:numCache>
                <c:formatCode>General</c:formatCode>
                <c:ptCount val="2"/>
                <c:pt idx="0">
                  <c:v>1.65</c:v>
                </c:pt>
                <c:pt idx="1">
                  <c:v>2.4500000000000002</c:v>
                </c:pt>
              </c:numCache>
            </c:numRef>
          </c:yVal>
          <c:smooth val="0"/>
          <c:extLst>
            <c:ext xmlns:c16="http://schemas.microsoft.com/office/drawing/2014/chart" uri="{C3380CC4-5D6E-409C-BE32-E72D297353CC}">
              <c16:uniqueId val="{00000007-1F92-4657-A587-1B6F94F0FE3D}"/>
            </c:ext>
          </c:extLst>
        </c:ser>
        <c:ser>
          <c:idx val="8"/>
          <c:order val="8"/>
          <c:tx>
            <c:strRef>
              <c:f>Sheet1!$B$59</c:f>
              <c:strCache>
                <c:ptCount val="1"/>
                <c:pt idx="0">
                  <c:v>_n200</c:v>
                </c:pt>
              </c:strCache>
            </c:strRef>
          </c:tx>
          <c:spPr>
            <a:ln w="9525">
              <a:solidFill>
                <a:srgbClr val="1F4E79"/>
              </a:solidFill>
              <a:prstDash val="dash"/>
            </a:ln>
          </c:spPr>
          <c:marker>
            <c:symbol val="none"/>
          </c:marker>
          <c:xVal>
            <c:numRef>
              <c:f>Sheet1!$A$60:$A$61</c:f>
              <c:numCache>
                <c:formatCode>General</c:formatCode>
                <c:ptCount val="2"/>
                <c:pt idx="0">
                  <c:v>200</c:v>
                </c:pt>
                <c:pt idx="1">
                  <c:v>200</c:v>
                </c:pt>
              </c:numCache>
            </c:numRef>
          </c:xVal>
          <c:yVal>
            <c:numRef>
              <c:f>Sheet1!$B$60:$B$61</c:f>
              <c:numCache>
                <c:formatCode>General</c:formatCode>
                <c:ptCount val="2"/>
                <c:pt idx="0">
                  <c:v>1.65</c:v>
                </c:pt>
                <c:pt idx="1">
                  <c:v>2.4500000000000002</c:v>
                </c:pt>
              </c:numCache>
            </c:numRef>
          </c:yVal>
          <c:smooth val="0"/>
          <c:extLst>
            <c:ext xmlns:c16="http://schemas.microsoft.com/office/drawing/2014/chart" uri="{C3380CC4-5D6E-409C-BE32-E72D297353CC}">
              <c16:uniqueId val="{00000008-1F92-4657-A587-1B6F94F0FE3D}"/>
            </c:ext>
          </c:extLst>
        </c:ser>
        <c:dLbls>
          <c:showLegendKey val="0"/>
          <c:showVal val="0"/>
          <c:showCatName val="0"/>
          <c:showSerName val="0"/>
          <c:showPercent val="0"/>
          <c:showBubbleSize val="0"/>
        </c:dLbls>
        <c:axId val="-2128940872"/>
        <c:axId val="-2129643912"/>
      </c:scatterChart>
      <c:valAx>
        <c:axId val="-2128940872"/>
        <c:scaling>
          <c:orientation val="minMax"/>
          <c:max val="280"/>
          <c:min val="120"/>
        </c:scaling>
        <c:delete val="0"/>
        <c:axPos val="b"/>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20"/>
      </c:valAx>
      <c:valAx>
        <c:axId val="-2129643912"/>
        <c:scaling>
          <c:orientation val="minMax"/>
          <c:max val="2.4500000000000002"/>
          <c:min val="1.65"/>
        </c:scaling>
        <c:delete val="0"/>
        <c:axPos val="l"/>
        <c:majorGridlines>
          <c:spPr>
            <a:ln>
              <a:solidFill>
                <a:srgbClr val="E3E3E3"/>
              </a:solidFill>
            </a:ln>
          </c:spPr>
        </c:majorGridlines>
        <c:title>
          <c:tx>
            <c:rich>
              <a:bodyPr/>
              <a:lstStyle/>
              <a:p>
                <a:r>
                  <a:rPr lang="en-US" sz="1100" b="0">
                    <a:latin typeface="Arial"/>
                  </a:rPr>
                  <a:t>V</a:t>
                </a:r>
                <a:r>
                  <a:rPr lang="el-GR" sz="1100" b="0">
                    <a:latin typeface="Arial"/>
                  </a:rPr>
                  <a:t>π·</a:t>
                </a:r>
                <a:r>
                  <a:rPr lang="en-US" sz="1100" b="0">
                    <a:latin typeface="Arial"/>
                  </a:rPr>
                  <a:t>L (V·cm)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0.2"/>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Lisbon, C band 1575 nm</c:v>
                </c:pt>
              </c:strCache>
            </c:strRef>
          </c:tx>
          <c:spPr>
            <a:ln w="22225">
              <a:solidFill>
                <a:srgbClr val="EB6834"/>
              </a:solidFill>
            </a:ln>
          </c:spPr>
          <c:marker>
            <c:symbol val="circle"/>
            <c:size val="5"/>
            <c:spPr>
              <a:solidFill>
                <a:srgbClr val="EB6834"/>
              </a:solidFill>
              <a:ln>
                <a:solidFill>
                  <a:srgbClr val="EB6834"/>
                </a:solidFill>
              </a:ln>
            </c:spPr>
          </c:marker>
          <c:xVal>
            <c:numRef>
              <c:f>Sheet1!$A$2:$A$16</c:f>
              <c:numCache>
                <c:formatCode>General</c:formatCode>
                <c:ptCount val="15"/>
                <c:pt idx="0">
                  <c:v>130</c:v>
                </c:pt>
                <c:pt idx="1">
                  <c:v>140</c:v>
                </c:pt>
                <c:pt idx="2">
                  <c:v>150</c:v>
                </c:pt>
                <c:pt idx="3">
                  <c:v>160</c:v>
                </c:pt>
                <c:pt idx="4">
                  <c:v>170</c:v>
                </c:pt>
                <c:pt idx="5">
                  <c:v>180</c:v>
                </c:pt>
                <c:pt idx="6">
                  <c:v>190</c:v>
                </c:pt>
                <c:pt idx="7">
                  <c:v>200</c:v>
                </c:pt>
                <c:pt idx="8">
                  <c:v>210</c:v>
                </c:pt>
                <c:pt idx="9">
                  <c:v>220</c:v>
                </c:pt>
                <c:pt idx="10">
                  <c:v>230</c:v>
                </c:pt>
                <c:pt idx="11">
                  <c:v>240</c:v>
                </c:pt>
                <c:pt idx="12">
                  <c:v>250</c:v>
                </c:pt>
                <c:pt idx="13">
                  <c:v>260</c:v>
                </c:pt>
                <c:pt idx="14">
                  <c:v>270</c:v>
                </c:pt>
              </c:numCache>
            </c:numRef>
          </c:xVal>
          <c:yVal>
            <c:numRef>
              <c:f>Sheet1!$B$2:$B$16</c:f>
              <c:numCache>
                <c:formatCode>General</c:formatCode>
                <c:ptCount val="15"/>
                <c:pt idx="0">
                  <c:v>4.35076E-2</c:v>
                </c:pt>
                <c:pt idx="1">
                  <c:v>4.0440999999999998E-2</c:v>
                </c:pt>
                <c:pt idx="2">
                  <c:v>3.7686200000000003E-2</c:v>
                </c:pt>
                <c:pt idx="3">
                  <c:v>3.5187900000000001E-2</c:v>
                </c:pt>
                <c:pt idx="4">
                  <c:v>3.28764E-2</c:v>
                </c:pt>
                <c:pt idx="5">
                  <c:v>3.0746699999999998E-2</c:v>
                </c:pt>
                <c:pt idx="6">
                  <c:v>2.8744599999999999E-2</c:v>
                </c:pt>
                <c:pt idx="7">
                  <c:v>2.6877600000000001E-2</c:v>
                </c:pt>
                <c:pt idx="8">
                  <c:v>2.5120099999999999E-2</c:v>
                </c:pt>
                <c:pt idx="9">
                  <c:v>2.3493300000000002E-2</c:v>
                </c:pt>
                <c:pt idx="10">
                  <c:v>2.19548E-2</c:v>
                </c:pt>
                <c:pt idx="11">
                  <c:v>2.0511600000000001E-2</c:v>
                </c:pt>
                <c:pt idx="12">
                  <c:v>1.9143899999999998E-2</c:v>
                </c:pt>
                <c:pt idx="13">
                  <c:v>1.7855200000000002E-2</c:v>
                </c:pt>
                <c:pt idx="14">
                  <c:v>1.6648300000000001E-2</c:v>
                </c:pt>
              </c:numCache>
            </c:numRef>
          </c:yVal>
          <c:smooth val="0"/>
          <c:extLst>
            <c:ext xmlns:c16="http://schemas.microsoft.com/office/drawing/2014/chart" uri="{C3380CC4-5D6E-409C-BE32-E72D297353CC}">
              <c16:uniqueId val="{00000000-7FBE-4062-91A1-6357062DC930}"/>
            </c:ext>
          </c:extLst>
        </c:ser>
        <c:ser>
          <c:idx val="1"/>
          <c:order val="1"/>
          <c:tx>
            <c:strRef>
              <c:f>Sheet1!$B$18</c:f>
              <c:strCache>
                <c:ptCount val="1"/>
                <c:pt idx="0">
                  <c:v>Jerez, O band 1360 nm</c:v>
                </c:pt>
              </c:strCache>
            </c:strRef>
          </c:tx>
          <c:spPr>
            <a:ln w="22225">
              <a:solidFill>
                <a:srgbClr val="2A78D6"/>
              </a:solidFill>
            </a:ln>
          </c:spPr>
          <c:marker>
            <c:symbol val="circle"/>
            <c:size val="5"/>
            <c:spPr>
              <a:solidFill>
                <a:srgbClr val="2A78D6"/>
              </a:solidFill>
              <a:ln>
                <a:solidFill>
                  <a:srgbClr val="2A78D6"/>
                </a:solidFill>
              </a:ln>
            </c:spPr>
          </c:marker>
          <c:xVal>
            <c:numRef>
              <c:f>Sheet1!$A$19:$A$33</c:f>
              <c:numCache>
                <c:formatCode>General</c:formatCode>
                <c:ptCount val="15"/>
                <c:pt idx="0">
                  <c:v>130</c:v>
                </c:pt>
                <c:pt idx="1">
                  <c:v>140</c:v>
                </c:pt>
                <c:pt idx="2">
                  <c:v>150</c:v>
                </c:pt>
                <c:pt idx="3">
                  <c:v>160</c:v>
                </c:pt>
                <c:pt idx="4">
                  <c:v>170</c:v>
                </c:pt>
                <c:pt idx="5">
                  <c:v>180</c:v>
                </c:pt>
                <c:pt idx="6">
                  <c:v>190</c:v>
                </c:pt>
                <c:pt idx="7">
                  <c:v>200</c:v>
                </c:pt>
                <c:pt idx="8">
                  <c:v>210</c:v>
                </c:pt>
                <c:pt idx="9">
                  <c:v>220</c:v>
                </c:pt>
                <c:pt idx="10">
                  <c:v>230</c:v>
                </c:pt>
                <c:pt idx="11">
                  <c:v>240</c:v>
                </c:pt>
                <c:pt idx="12">
                  <c:v>250</c:v>
                </c:pt>
                <c:pt idx="13">
                  <c:v>260</c:v>
                </c:pt>
                <c:pt idx="14">
                  <c:v>270</c:v>
                </c:pt>
              </c:numCache>
            </c:numRef>
          </c:xVal>
          <c:yVal>
            <c:numRef>
              <c:f>Sheet1!$B$19:$B$33</c:f>
              <c:numCache>
                <c:formatCode>General</c:formatCode>
                <c:ptCount val="15"/>
                <c:pt idx="0">
                  <c:v>2.6587699999999999E-2</c:v>
                </c:pt>
                <c:pt idx="1">
                  <c:v>2.44079E-2</c:v>
                </c:pt>
                <c:pt idx="2">
                  <c:v>2.2482100000000001E-2</c:v>
                </c:pt>
                <c:pt idx="3">
                  <c:v>2.07526E-2</c:v>
                </c:pt>
                <c:pt idx="4">
                  <c:v>1.9169499999999999E-2</c:v>
                </c:pt>
                <c:pt idx="5">
                  <c:v>1.7736100000000001E-2</c:v>
                </c:pt>
                <c:pt idx="6">
                  <c:v>1.6389000000000001E-2</c:v>
                </c:pt>
                <c:pt idx="7">
                  <c:v>1.5151E-2</c:v>
                </c:pt>
                <c:pt idx="8">
                  <c:v>1.39965E-2</c:v>
                </c:pt>
                <c:pt idx="9">
                  <c:v>1.2929899999999999E-2</c:v>
                </c:pt>
                <c:pt idx="10">
                  <c:v>1.1941500000000001E-2</c:v>
                </c:pt>
                <c:pt idx="11">
                  <c:v>1.1022199999999999E-2</c:v>
                </c:pt>
                <c:pt idx="12">
                  <c:v>1.0163800000000001E-2</c:v>
                </c:pt>
                <c:pt idx="13">
                  <c:v>9.3600200000000001E-3</c:v>
                </c:pt>
                <c:pt idx="14">
                  <c:v>8.6164399999999995E-3</c:v>
                </c:pt>
              </c:numCache>
            </c:numRef>
          </c:yVal>
          <c:smooth val="0"/>
          <c:extLst>
            <c:ext xmlns:c16="http://schemas.microsoft.com/office/drawing/2014/chart" uri="{C3380CC4-5D6E-409C-BE32-E72D297353CC}">
              <c16:uniqueId val="{00000001-7FBE-4062-91A1-6357062DC930}"/>
            </c:ext>
          </c:extLst>
        </c:ser>
        <c:ser>
          <c:idx val="2"/>
          <c:order val="2"/>
          <c:tx>
            <c:strRef>
              <c:f>Sheet1!$B$35</c:f>
              <c:strCache>
                <c:ptCount val="1"/>
                <c:pt idx="0">
                  <c:v>_w160</c:v>
                </c:pt>
              </c:strCache>
            </c:strRef>
          </c:tx>
          <c:spPr>
            <a:ln w="9525">
              <a:solidFill>
                <a:srgbClr val="B0B0B0"/>
              </a:solidFill>
              <a:prstDash val="dash"/>
            </a:ln>
          </c:spPr>
          <c:marker>
            <c:symbol val="none"/>
          </c:marker>
          <c:xVal>
            <c:numRef>
              <c:f>Sheet1!$A$36:$A$37</c:f>
              <c:numCache>
                <c:formatCode>General</c:formatCode>
                <c:ptCount val="2"/>
                <c:pt idx="0">
                  <c:v>160</c:v>
                </c:pt>
                <c:pt idx="1">
                  <c:v>160</c:v>
                </c:pt>
              </c:numCache>
            </c:numRef>
          </c:xVal>
          <c:yVal>
            <c:numRef>
              <c:f>Sheet1!$B$36:$B$37</c:f>
              <c:numCache>
                <c:formatCode>General</c:formatCode>
                <c:ptCount val="2"/>
                <c:pt idx="0">
                  <c:v>5.0000000000000001E-3</c:v>
                </c:pt>
                <c:pt idx="1">
                  <c:v>0.1</c:v>
                </c:pt>
              </c:numCache>
            </c:numRef>
          </c:yVal>
          <c:smooth val="0"/>
          <c:extLst>
            <c:ext xmlns:c16="http://schemas.microsoft.com/office/drawing/2014/chart" uri="{C3380CC4-5D6E-409C-BE32-E72D297353CC}">
              <c16:uniqueId val="{00000002-7FBE-4062-91A1-6357062DC930}"/>
            </c:ext>
          </c:extLst>
        </c:ser>
        <c:ser>
          <c:idx val="3"/>
          <c:order val="3"/>
          <c:tx>
            <c:strRef>
              <c:f>Sheet1!$B$39</c:f>
              <c:strCache>
                <c:ptCount val="1"/>
                <c:pt idx="0">
                  <c:v>_w180</c:v>
                </c:pt>
              </c:strCache>
            </c:strRef>
          </c:tx>
          <c:spPr>
            <a:ln w="12700">
              <a:solidFill>
                <a:srgbClr val="B0B0B0"/>
              </a:solidFill>
            </a:ln>
          </c:spPr>
          <c:marker>
            <c:symbol val="none"/>
          </c:marker>
          <c:xVal>
            <c:numRef>
              <c:f>Sheet1!$A$40:$A$41</c:f>
              <c:numCache>
                <c:formatCode>General</c:formatCode>
                <c:ptCount val="2"/>
                <c:pt idx="0">
                  <c:v>180</c:v>
                </c:pt>
                <c:pt idx="1">
                  <c:v>180</c:v>
                </c:pt>
              </c:numCache>
            </c:numRef>
          </c:xVal>
          <c:yVal>
            <c:numRef>
              <c:f>Sheet1!$B$40:$B$41</c:f>
              <c:numCache>
                <c:formatCode>General</c:formatCode>
                <c:ptCount val="2"/>
                <c:pt idx="0">
                  <c:v>5.0000000000000001E-3</c:v>
                </c:pt>
                <c:pt idx="1">
                  <c:v>0.1</c:v>
                </c:pt>
              </c:numCache>
            </c:numRef>
          </c:yVal>
          <c:smooth val="0"/>
          <c:extLst>
            <c:ext xmlns:c16="http://schemas.microsoft.com/office/drawing/2014/chart" uri="{C3380CC4-5D6E-409C-BE32-E72D297353CC}">
              <c16:uniqueId val="{00000003-7FBE-4062-91A1-6357062DC930}"/>
            </c:ext>
          </c:extLst>
        </c:ser>
        <c:ser>
          <c:idx val="4"/>
          <c:order val="4"/>
          <c:tx>
            <c:strRef>
              <c:f>Sheet1!$B$43</c:f>
              <c:strCache>
                <c:ptCount val="1"/>
                <c:pt idx="0">
                  <c:v>_w220</c:v>
                </c:pt>
              </c:strCache>
            </c:strRef>
          </c:tx>
          <c:spPr>
            <a:ln w="12700">
              <a:solidFill>
                <a:srgbClr val="B0B0B0"/>
              </a:solidFill>
            </a:ln>
          </c:spPr>
          <c:marker>
            <c:symbol val="none"/>
          </c:marker>
          <c:xVal>
            <c:numRef>
              <c:f>Sheet1!$A$44:$A$45</c:f>
              <c:numCache>
                <c:formatCode>General</c:formatCode>
                <c:ptCount val="2"/>
                <c:pt idx="0">
                  <c:v>220</c:v>
                </c:pt>
                <c:pt idx="1">
                  <c:v>220</c:v>
                </c:pt>
              </c:numCache>
            </c:numRef>
          </c:xVal>
          <c:yVal>
            <c:numRef>
              <c:f>Sheet1!$B$44:$B$45</c:f>
              <c:numCache>
                <c:formatCode>General</c:formatCode>
                <c:ptCount val="2"/>
                <c:pt idx="0">
                  <c:v>5.0000000000000001E-3</c:v>
                </c:pt>
                <c:pt idx="1">
                  <c:v>0.1</c:v>
                </c:pt>
              </c:numCache>
            </c:numRef>
          </c:yVal>
          <c:smooth val="0"/>
          <c:extLst>
            <c:ext xmlns:c16="http://schemas.microsoft.com/office/drawing/2014/chart" uri="{C3380CC4-5D6E-409C-BE32-E72D297353CC}">
              <c16:uniqueId val="{00000004-7FBE-4062-91A1-6357062DC930}"/>
            </c:ext>
          </c:extLst>
        </c:ser>
        <c:ser>
          <c:idx val="5"/>
          <c:order val="5"/>
          <c:tx>
            <c:strRef>
              <c:f>Sheet1!$B$47</c:f>
              <c:strCache>
                <c:ptCount val="1"/>
                <c:pt idx="0">
                  <c:v>_w240</c:v>
                </c:pt>
              </c:strCache>
            </c:strRef>
          </c:tx>
          <c:spPr>
            <a:ln w="9525">
              <a:solidFill>
                <a:srgbClr val="B0B0B0"/>
              </a:solidFill>
              <a:prstDash val="dash"/>
            </a:ln>
          </c:spPr>
          <c:marker>
            <c:symbol val="none"/>
          </c:marker>
          <c:xVal>
            <c:numRef>
              <c:f>Sheet1!$A$48:$A$49</c:f>
              <c:numCache>
                <c:formatCode>General</c:formatCode>
                <c:ptCount val="2"/>
                <c:pt idx="0">
                  <c:v>240</c:v>
                </c:pt>
                <c:pt idx="1">
                  <c:v>240</c:v>
                </c:pt>
              </c:numCache>
            </c:numRef>
          </c:xVal>
          <c:yVal>
            <c:numRef>
              <c:f>Sheet1!$B$48:$B$49</c:f>
              <c:numCache>
                <c:formatCode>General</c:formatCode>
                <c:ptCount val="2"/>
                <c:pt idx="0">
                  <c:v>5.0000000000000001E-3</c:v>
                </c:pt>
                <c:pt idx="1">
                  <c:v>0.1</c:v>
                </c:pt>
              </c:numCache>
            </c:numRef>
          </c:yVal>
          <c:smooth val="0"/>
          <c:extLst>
            <c:ext xmlns:c16="http://schemas.microsoft.com/office/drawing/2014/chart" uri="{C3380CC4-5D6E-409C-BE32-E72D297353CC}">
              <c16:uniqueId val="{00000005-7FBE-4062-91A1-6357062DC930}"/>
            </c:ext>
          </c:extLst>
        </c:ser>
        <c:ser>
          <c:idx val="6"/>
          <c:order val="6"/>
          <c:tx>
            <c:strRef>
              <c:f>Sheet1!$B$51</c:f>
              <c:strCache>
                <c:ptCount val="1"/>
                <c:pt idx="0">
                  <c:v>_n200</c:v>
                </c:pt>
              </c:strCache>
            </c:strRef>
          </c:tx>
          <c:spPr>
            <a:ln w="9525">
              <a:solidFill>
                <a:srgbClr val="1F4E79"/>
              </a:solidFill>
              <a:prstDash val="dash"/>
            </a:ln>
          </c:spPr>
          <c:marker>
            <c:symbol val="none"/>
          </c:marker>
          <c:xVal>
            <c:numRef>
              <c:f>Sheet1!$A$52:$A$53</c:f>
              <c:numCache>
                <c:formatCode>General</c:formatCode>
                <c:ptCount val="2"/>
                <c:pt idx="0">
                  <c:v>200</c:v>
                </c:pt>
                <c:pt idx="1">
                  <c:v>200</c:v>
                </c:pt>
              </c:numCache>
            </c:numRef>
          </c:xVal>
          <c:yVal>
            <c:numRef>
              <c:f>Sheet1!$B$52:$B$53</c:f>
              <c:numCache>
                <c:formatCode>General</c:formatCode>
                <c:ptCount val="2"/>
                <c:pt idx="0">
                  <c:v>5.0000000000000001E-3</c:v>
                </c:pt>
                <c:pt idx="1">
                  <c:v>0.1</c:v>
                </c:pt>
              </c:numCache>
            </c:numRef>
          </c:yVal>
          <c:smooth val="0"/>
          <c:extLst>
            <c:ext xmlns:c16="http://schemas.microsoft.com/office/drawing/2014/chart" uri="{C3380CC4-5D6E-409C-BE32-E72D297353CC}">
              <c16:uniqueId val="{00000006-7FBE-4062-91A1-6357062DC930}"/>
            </c:ext>
          </c:extLst>
        </c:ser>
        <c:dLbls>
          <c:showLegendKey val="0"/>
          <c:showVal val="0"/>
          <c:showCatName val="0"/>
          <c:showSerName val="0"/>
          <c:showPercent val="0"/>
          <c:showBubbleSize val="0"/>
        </c:dLbls>
        <c:axId val="-2128940872"/>
        <c:axId val="-2129643912"/>
      </c:scatterChart>
      <c:valAx>
        <c:axId val="-2128940872"/>
        <c:scaling>
          <c:orientation val="minMax"/>
          <c:max val="280"/>
          <c:min val="120"/>
        </c:scaling>
        <c:delete val="0"/>
        <c:axPos val="b"/>
        <c:title>
          <c:tx>
            <c:rich>
              <a:bodyPr/>
              <a:lstStyle/>
              <a:p>
                <a:r>
                  <a:rPr lang="en-US" sz="1100" b="0">
                    <a:latin typeface="Arial"/>
                  </a:rPr>
                  <a:t>SiO₂ buffer thickness (nm)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20"/>
      </c:valAx>
      <c:valAx>
        <c:axId val="-2129643912"/>
        <c:scaling>
          <c:logBase val="10"/>
          <c:orientation val="minMax"/>
          <c:max val="0.1"/>
          <c:min val="5.0000000000000001E-3"/>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Lisbon, C band 1575 nm</c:v>
                </c:pt>
              </c:strCache>
            </c:strRef>
          </c:tx>
          <c:spPr>
            <a:ln w="22225">
              <a:solidFill>
                <a:srgbClr val="EB6834"/>
              </a:solidFill>
            </a:ln>
          </c:spPr>
          <c:marker>
            <c:symbol val="circle"/>
            <c:size val="5"/>
            <c:spPr>
              <a:solidFill>
                <a:srgbClr val="EB6834"/>
              </a:solidFill>
              <a:ln>
                <a:solidFill>
                  <a:srgbClr val="EB6834"/>
                </a:solidFill>
              </a:ln>
            </c:spPr>
          </c:marker>
          <c:xVal>
            <c:numRef>
              <c:f>Sheet1!$A$2:$A$16</c:f>
              <c:numCache>
                <c:formatCode>General</c:formatCode>
                <c:ptCount val="15"/>
                <c:pt idx="0">
                  <c:v>130</c:v>
                </c:pt>
                <c:pt idx="1">
                  <c:v>140</c:v>
                </c:pt>
                <c:pt idx="2">
                  <c:v>150</c:v>
                </c:pt>
                <c:pt idx="3">
                  <c:v>160</c:v>
                </c:pt>
                <c:pt idx="4">
                  <c:v>170</c:v>
                </c:pt>
                <c:pt idx="5">
                  <c:v>180</c:v>
                </c:pt>
                <c:pt idx="6">
                  <c:v>190</c:v>
                </c:pt>
                <c:pt idx="7">
                  <c:v>200</c:v>
                </c:pt>
                <c:pt idx="8">
                  <c:v>210</c:v>
                </c:pt>
                <c:pt idx="9">
                  <c:v>220</c:v>
                </c:pt>
                <c:pt idx="10">
                  <c:v>230</c:v>
                </c:pt>
                <c:pt idx="11">
                  <c:v>240</c:v>
                </c:pt>
                <c:pt idx="12">
                  <c:v>250</c:v>
                </c:pt>
                <c:pt idx="13">
                  <c:v>260</c:v>
                </c:pt>
                <c:pt idx="14">
                  <c:v>270</c:v>
                </c:pt>
              </c:numCache>
            </c:numRef>
          </c:xVal>
          <c:yVal>
            <c:numRef>
              <c:f>Sheet1!$B$2:$B$16</c:f>
              <c:numCache>
                <c:formatCode>General</c:formatCode>
                <c:ptCount val="15"/>
                <c:pt idx="0">
                  <c:v>2.0748000000000002</c:v>
                </c:pt>
                <c:pt idx="1">
                  <c:v>2.0905999999999998</c:v>
                </c:pt>
                <c:pt idx="2">
                  <c:v>2.1057999999999999</c:v>
                </c:pt>
                <c:pt idx="3">
                  <c:v>2.1204999999999998</c:v>
                </c:pt>
                <c:pt idx="4">
                  <c:v>2.1347</c:v>
                </c:pt>
                <c:pt idx="5">
                  <c:v>2.1484000000000001</c:v>
                </c:pt>
                <c:pt idx="6">
                  <c:v>2.1617000000000002</c:v>
                </c:pt>
                <c:pt idx="7">
                  <c:v>2.1747000000000001</c:v>
                </c:pt>
                <c:pt idx="8">
                  <c:v>2.1873999999999998</c:v>
                </c:pt>
                <c:pt idx="9">
                  <c:v>2.1998000000000002</c:v>
                </c:pt>
                <c:pt idx="10">
                  <c:v>2.2119</c:v>
                </c:pt>
                <c:pt idx="11">
                  <c:v>2.2237</c:v>
                </c:pt>
                <c:pt idx="12">
                  <c:v>2.2353000000000001</c:v>
                </c:pt>
                <c:pt idx="13">
                  <c:v>2.2467000000000001</c:v>
                </c:pt>
                <c:pt idx="14">
                  <c:v>2.2578</c:v>
                </c:pt>
              </c:numCache>
            </c:numRef>
          </c:yVal>
          <c:smooth val="0"/>
          <c:extLst>
            <c:ext xmlns:c16="http://schemas.microsoft.com/office/drawing/2014/chart" uri="{C3380CC4-5D6E-409C-BE32-E72D297353CC}">
              <c16:uniqueId val="{00000000-6EE2-47F7-A11C-B80273E9110D}"/>
            </c:ext>
          </c:extLst>
        </c:ser>
        <c:ser>
          <c:idx val="1"/>
          <c:order val="1"/>
          <c:tx>
            <c:strRef>
              <c:f>Sheet1!$B$18</c:f>
              <c:strCache>
                <c:ptCount val="1"/>
                <c:pt idx="0">
                  <c:v>Jerez, O band 1360 nm</c:v>
                </c:pt>
              </c:strCache>
            </c:strRef>
          </c:tx>
          <c:spPr>
            <a:ln w="22225">
              <a:solidFill>
                <a:srgbClr val="2A78D6"/>
              </a:solidFill>
            </a:ln>
          </c:spPr>
          <c:marker>
            <c:symbol val="circle"/>
            <c:size val="5"/>
            <c:spPr>
              <a:solidFill>
                <a:srgbClr val="2A78D6"/>
              </a:solidFill>
              <a:ln>
                <a:solidFill>
                  <a:srgbClr val="2A78D6"/>
                </a:solidFill>
              </a:ln>
            </c:spPr>
          </c:marker>
          <c:xVal>
            <c:numRef>
              <c:f>Sheet1!$A$19:$A$33</c:f>
              <c:numCache>
                <c:formatCode>General</c:formatCode>
                <c:ptCount val="15"/>
                <c:pt idx="0">
                  <c:v>130</c:v>
                </c:pt>
                <c:pt idx="1">
                  <c:v>140</c:v>
                </c:pt>
                <c:pt idx="2">
                  <c:v>150</c:v>
                </c:pt>
                <c:pt idx="3">
                  <c:v>160</c:v>
                </c:pt>
                <c:pt idx="4">
                  <c:v>170</c:v>
                </c:pt>
                <c:pt idx="5">
                  <c:v>180</c:v>
                </c:pt>
                <c:pt idx="6">
                  <c:v>190</c:v>
                </c:pt>
                <c:pt idx="7">
                  <c:v>200</c:v>
                </c:pt>
                <c:pt idx="8">
                  <c:v>210</c:v>
                </c:pt>
                <c:pt idx="9">
                  <c:v>220</c:v>
                </c:pt>
                <c:pt idx="10">
                  <c:v>230</c:v>
                </c:pt>
                <c:pt idx="11">
                  <c:v>240</c:v>
                </c:pt>
                <c:pt idx="12">
                  <c:v>250</c:v>
                </c:pt>
                <c:pt idx="13">
                  <c:v>260</c:v>
                </c:pt>
                <c:pt idx="14">
                  <c:v>270</c:v>
                </c:pt>
              </c:numCache>
            </c:numRef>
          </c:xVal>
          <c:yVal>
            <c:numRef>
              <c:f>Sheet1!$B$19:$B$33</c:f>
              <c:numCache>
                <c:formatCode>General</c:formatCode>
                <c:ptCount val="15"/>
                <c:pt idx="0">
                  <c:v>1.7303999999999999</c:v>
                </c:pt>
                <c:pt idx="1">
                  <c:v>1.7423999999999999</c:v>
                </c:pt>
                <c:pt idx="2">
                  <c:v>1.754</c:v>
                </c:pt>
                <c:pt idx="3">
                  <c:v>1.7650999999999999</c:v>
                </c:pt>
                <c:pt idx="4">
                  <c:v>1.7759</c:v>
                </c:pt>
                <c:pt idx="5">
                  <c:v>1.7863</c:v>
                </c:pt>
                <c:pt idx="6">
                  <c:v>1.7964</c:v>
                </c:pt>
                <c:pt idx="7">
                  <c:v>1.8062</c:v>
                </c:pt>
                <c:pt idx="8">
                  <c:v>1.8159000000000001</c:v>
                </c:pt>
                <c:pt idx="9">
                  <c:v>1.8253999999999999</c:v>
                </c:pt>
                <c:pt idx="10">
                  <c:v>1.8346</c:v>
                </c:pt>
                <c:pt idx="11">
                  <c:v>1.8436999999999999</c:v>
                </c:pt>
                <c:pt idx="12">
                  <c:v>1.8525</c:v>
                </c:pt>
                <c:pt idx="13">
                  <c:v>1.8612</c:v>
                </c:pt>
                <c:pt idx="14">
                  <c:v>1.8697999999999999</c:v>
                </c:pt>
              </c:numCache>
            </c:numRef>
          </c:yVal>
          <c:smooth val="0"/>
          <c:extLst>
            <c:ext xmlns:c16="http://schemas.microsoft.com/office/drawing/2014/chart" uri="{C3380CC4-5D6E-409C-BE32-E72D297353CC}">
              <c16:uniqueId val="{00000001-6EE2-47F7-A11C-B80273E9110D}"/>
            </c:ext>
          </c:extLst>
        </c:ser>
        <c:ser>
          <c:idx val="2"/>
          <c:order val="2"/>
          <c:tx>
            <c:strRef>
              <c:f>Sheet1!$B$35</c:f>
              <c:strCache>
                <c:ptCount val="1"/>
                <c:pt idx="0">
                  <c:v>_refL</c:v>
                </c:pt>
              </c:strCache>
            </c:strRef>
          </c:tx>
          <c:spPr>
            <a:ln w="12700">
              <a:solidFill>
                <a:srgbClr val="EB6834"/>
              </a:solidFill>
              <a:prstDash val="dash"/>
            </a:ln>
          </c:spPr>
          <c:marker>
            <c:symbol val="none"/>
          </c:marker>
          <c:xVal>
            <c:numRef>
              <c:f>Sheet1!$A$36:$A$37</c:f>
              <c:numCache>
                <c:formatCode>General</c:formatCode>
                <c:ptCount val="2"/>
                <c:pt idx="0">
                  <c:v>120</c:v>
                </c:pt>
                <c:pt idx="1">
                  <c:v>280</c:v>
                </c:pt>
              </c:numCache>
            </c:numRef>
          </c:xVal>
          <c:yVal>
            <c:numRef>
              <c:f>Sheet1!$B$36:$B$37</c:f>
              <c:numCache>
                <c:formatCode>General</c:formatCode>
                <c:ptCount val="2"/>
                <c:pt idx="0">
                  <c:v>2.1734</c:v>
                </c:pt>
                <c:pt idx="1">
                  <c:v>2.1734</c:v>
                </c:pt>
              </c:numCache>
            </c:numRef>
          </c:yVal>
          <c:smooth val="0"/>
          <c:extLst>
            <c:ext xmlns:c16="http://schemas.microsoft.com/office/drawing/2014/chart" uri="{C3380CC4-5D6E-409C-BE32-E72D297353CC}">
              <c16:uniqueId val="{00000002-6EE2-47F7-A11C-B80273E9110D}"/>
            </c:ext>
          </c:extLst>
        </c:ser>
        <c:ser>
          <c:idx val="3"/>
          <c:order val="3"/>
          <c:tx>
            <c:strRef>
              <c:f>Sheet1!$B$39</c:f>
              <c:strCache>
                <c:ptCount val="1"/>
                <c:pt idx="0">
                  <c:v>_refJ</c:v>
                </c:pt>
              </c:strCache>
            </c:strRef>
          </c:tx>
          <c:spPr>
            <a:ln w="12700">
              <a:solidFill>
                <a:srgbClr val="2A78D6"/>
              </a:solidFill>
              <a:prstDash val="dash"/>
            </a:ln>
          </c:spPr>
          <c:marker>
            <c:symbol val="none"/>
          </c:marker>
          <c:xVal>
            <c:numRef>
              <c:f>Sheet1!$A$40:$A$41</c:f>
              <c:numCache>
                <c:formatCode>General</c:formatCode>
                <c:ptCount val="2"/>
                <c:pt idx="0">
                  <c:v>120</c:v>
                </c:pt>
                <c:pt idx="1">
                  <c:v>280</c:v>
                </c:pt>
              </c:numCache>
            </c:numRef>
          </c:xVal>
          <c:yVal>
            <c:numRef>
              <c:f>Sheet1!$B$40:$B$41</c:f>
              <c:numCache>
                <c:formatCode>General</c:formatCode>
                <c:ptCount val="2"/>
                <c:pt idx="0">
                  <c:v>1.8405</c:v>
                </c:pt>
                <c:pt idx="1">
                  <c:v>1.8405</c:v>
                </c:pt>
              </c:numCache>
            </c:numRef>
          </c:yVal>
          <c:smooth val="0"/>
          <c:extLst>
            <c:ext xmlns:c16="http://schemas.microsoft.com/office/drawing/2014/chart" uri="{C3380CC4-5D6E-409C-BE32-E72D297353CC}">
              <c16:uniqueId val="{00000003-6EE2-47F7-A11C-B80273E9110D}"/>
            </c:ext>
          </c:extLst>
        </c:ser>
        <c:ser>
          <c:idx val="4"/>
          <c:order val="4"/>
          <c:tx>
            <c:strRef>
              <c:f>Sheet1!$B$43</c:f>
              <c:strCache>
                <c:ptCount val="1"/>
                <c:pt idx="0">
                  <c:v>_w160</c:v>
                </c:pt>
              </c:strCache>
            </c:strRef>
          </c:tx>
          <c:spPr>
            <a:ln w="9525">
              <a:solidFill>
                <a:srgbClr val="B0B0B0"/>
              </a:solidFill>
              <a:prstDash val="dash"/>
            </a:ln>
          </c:spPr>
          <c:marker>
            <c:symbol val="none"/>
          </c:marker>
          <c:xVal>
            <c:numRef>
              <c:f>Sheet1!$A$44:$A$45</c:f>
              <c:numCache>
                <c:formatCode>General</c:formatCode>
                <c:ptCount val="2"/>
                <c:pt idx="0">
                  <c:v>160</c:v>
                </c:pt>
                <c:pt idx="1">
                  <c:v>160</c:v>
                </c:pt>
              </c:numCache>
            </c:numRef>
          </c:xVal>
          <c:yVal>
            <c:numRef>
              <c:f>Sheet1!$B$44:$B$45</c:f>
              <c:numCache>
                <c:formatCode>General</c:formatCode>
                <c:ptCount val="2"/>
                <c:pt idx="0">
                  <c:v>1.65</c:v>
                </c:pt>
                <c:pt idx="1">
                  <c:v>2.4500000000000002</c:v>
                </c:pt>
              </c:numCache>
            </c:numRef>
          </c:yVal>
          <c:smooth val="0"/>
          <c:extLst>
            <c:ext xmlns:c16="http://schemas.microsoft.com/office/drawing/2014/chart" uri="{C3380CC4-5D6E-409C-BE32-E72D297353CC}">
              <c16:uniqueId val="{00000004-6EE2-47F7-A11C-B80273E9110D}"/>
            </c:ext>
          </c:extLst>
        </c:ser>
        <c:ser>
          <c:idx val="5"/>
          <c:order val="5"/>
          <c:tx>
            <c:strRef>
              <c:f>Sheet1!$B$47</c:f>
              <c:strCache>
                <c:ptCount val="1"/>
                <c:pt idx="0">
                  <c:v>_w180</c:v>
                </c:pt>
              </c:strCache>
            </c:strRef>
          </c:tx>
          <c:spPr>
            <a:ln w="12700">
              <a:solidFill>
                <a:srgbClr val="B0B0B0"/>
              </a:solidFill>
            </a:ln>
          </c:spPr>
          <c:marker>
            <c:symbol val="none"/>
          </c:marker>
          <c:xVal>
            <c:numRef>
              <c:f>Sheet1!$A$48:$A$49</c:f>
              <c:numCache>
                <c:formatCode>General</c:formatCode>
                <c:ptCount val="2"/>
                <c:pt idx="0">
                  <c:v>180</c:v>
                </c:pt>
                <c:pt idx="1">
                  <c:v>180</c:v>
                </c:pt>
              </c:numCache>
            </c:numRef>
          </c:xVal>
          <c:yVal>
            <c:numRef>
              <c:f>Sheet1!$B$48:$B$49</c:f>
              <c:numCache>
                <c:formatCode>General</c:formatCode>
                <c:ptCount val="2"/>
                <c:pt idx="0">
                  <c:v>1.65</c:v>
                </c:pt>
                <c:pt idx="1">
                  <c:v>2.4500000000000002</c:v>
                </c:pt>
              </c:numCache>
            </c:numRef>
          </c:yVal>
          <c:smooth val="0"/>
          <c:extLst>
            <c:ext xmlns:c16="http://schemas.microsoft.com/office/drawing/2014/chart" uri="{C3380CC4-5D6E-409C-BE32-E72D297353CC}">
              <c16:uniqueId val="{00000005-6EE2-47F7-A11C-B80273E9110D}"/>
            </c:ext>
          </c:extLst>
        </c:ser>
        <c:ser>
          <c:idx val="6"/>
          <c:order val="6"/>
          <c:tx>
            <c:strRef>
              <c:f>Sheet1!$B$51</c:f>
              <c:strCache>
                <c:ptCount val="1"/>
                <c:pt idx="0">
                  <c:v>_w220</c:v>
                </c:pt>
              </c:strCache>
            </c:strRef>
          </c:tx>
          <c:spPr>
            <a:ln w="12700">
              <a:solidFill>
                <a:srgbClr val="B0B0B0"/>
              </a:solidFill>
            </a:ln>
          </c:spPr>
          <c:marker>
            <c:symbol val="none"/>
          </c:marker>
          <c:xVal>
            <c:numRef>
              <c:f>Sheet1!$A$52:$A$53</c:f>
              <c:numCache>
                <c:formatCode>General</c:formatCode>
                <c:ptCount val="2"/>
                <c:pt idx="0">
                  <c:v>220</c:v>
                </c:pt>
                <c:pt idx="1">
                  <c:v>220</c:v>
                </c:pt>
              </c:numCache>
            </c:numRef>
          </c:xVal>
          <c:yVal>
            <c:numRef>
              <c:f>Sheet1!$B$52:$B$53</c:f>
              <c:numCache>
                <c:formatCode>General</c:formatCode>
                <c:ptCount val="2"/>
                <c:pt idx="0">
                  <c:v>1.65</c:v>
                </c:pt>
                <c:pt idx="1">
                  <c:v>2.4500000000000002</c:v>
                </c:pt>
              </c:numCache>
            </c:numRef>
          </c:yVal>
          <c:smooth val="0"/>
          <c:extLst>
            <c:ext xmlns:c16="http://schemas.microsoft.com/office/drawing/2014/chart" uri="{C3380CC4-5D6E-409C-BE32-E72D297353CC}">
              <c16:uniqueId val="{00000006-6EE2-47F7-A11C-B80273E9110D}"/>
            </c:ext>
          </c:extLst>
        </c:ser>
        <c:ser>
          <c:idx val="7"/>
          <c:order val="7"/>
          <c:tx>
            <c:strRef>
              <c:f>Sheet1!$B$55</c:f>
              <c:strCache>
                <c:ptCount val="1"/>
                <c:pt idx="0">
                  <c:v>_w240</c:v>
                </c:pt>
              </c:strCache>
            </c:strRef>
          </c:tx>
          <c:spPr>
            <a:ln w="9525">
              <a:solidFill>
                <a:srgbClr val="B0B0B0"/>
              </a:solidFill>
              <a:prstDash val="dash"/>
            </a:ln>
          </c:spPr>
          <c:marker>
            <c:symbol val="none"/>
          </c:marker>
          <c:xVal>
            <c:numRef>
              <c:f>Sheet1!$A$56:$A$57</c:f>
              <c:numCache>
                <c:formatCode>General</c:formatCode>
                <c:ptCount val="2"/>
                <c:pt idx="0">
                  <c:v>240</c:v>
                </c:pt>
                <c:pt idx="1">
                  <c:v>240</c:v>
                </c:pt>
              </c:numCache>
            </c:numRef>
          </c:xVal>
          <c:yVal>
            <c:numRef>
              <c:f>Sheet1!$B$56:$B$57</c:f>
              <c:numCache>
                <c:formatCode>General</c:formatCode>
                <c:ptCount val="2"/>
                <c:pt idx="0">
                  <c:v>1.65</c:v>
                </c:pt>
                <c:pt idx="1">
                  <c:v>2.4500000000000002</c:v>
                </c:pt>
              </c:numCache>
            </c:numRef>
          </c:yVal>
          <c:smooth val="0"/>
          <c:extLst>
            <c:ext xmlns:c16="http://schemas.microsoft.com/office/drawing/2014/chart" uri="{C3380CC4-5D6E-409C-BE32-E72D297353CC}">
              <c16:uniqueId val="{00000007-6EE2-47F7-A11C-B80273E9110D}"/>
            </c:ext>
          </c:extLst>
        </c:ser>
        <c:ser>
          <c:idx val="8"/>
          <c:order val="8"/>
          <c:tx>
            <c:strRef>
              <c:f>Sheet1!$B$59</c:f>
              <c:strCache>
                <c:ptCount val="1"/>
                <c:pt idx="0">
                  <c:v>_n200</c:v>
                </c:pt>
              </c:strCache>
            </c:strRef>
          </c:tx>
          <c:spPr>
            <a:ln w="9525">
              <a:solidFill>
                <a:srgbClr val="1F4E79"/>
              </a:solidFill>
              <a:prstDash val="dash"/>
            </a:ln>
          </c:spPr>
          <c:marker>
            <c:symbol val="none"/>
          </c:marker>
          <c:xVal>
            <c:numRef>
              <c:f>Sheet1!$A$60:$A$61</c:f>
              <c:numCache>
                <c:formatCode>General</c:formatCode>
                <c:ptCount val="2"/>
                <c:pt idx="0">
                  <c:v>200</c:v>
                </c:pt>
                <c:pt idx="1">
                  <c:v>200</c:v>
                </c:pt>
              </c:numCache>
            </c:numRef>
          </c:xVal>
          <c:yVal>
            <c:numRef>
              <c:f>Sheet1!$B$60:$B$61</c:f>
              <c:numCache>
                <c:formatCode>General</c:formatCode>
                <c:ptCount val="2"/>
                <c:pt idx="0">
                  <c:v>1.65</c:v>
                </c:pt>
                <c:pt idx="1">
                  <c:v>2.4500000000000002</c:v>
                </c:pt>
              </c:numCache>
            </c:numRef>
          </c:yVal>
          <c:smooth val="0"/>
          <c:extLst>
            <c:ext xmlns:c16="http://schemas.microsoft.com/office/drawing/2014/chart" uri="{C3380CC4-5D6E-409C-BE32-E72D297353CC}">
              <c16:uniqueId val="{00000008-6EE2-47F7-A11C-B80273E9110D}"/>
            </c:ext>
          </c:extLst>
        </c:ser>
        <c:dLbls>
          <c:showLegendKey val="0"/>
          <c:showVal val="0"/>
          <c:showCatName val="0"/>
          <c:showSerName val="0"/>
          <c:showPercent val="0"/>
          <c:showBubbleSize val="0"/>
        </c:dLbls>
        <c:axId val="-2128940872"/>
        <c:axId val="-2129643912"/>
      </c:scatterChart>
      <c:valAx>
        <c:axId val="-2128940872"/>
        <c:scaling>
          <c:orientation val="minMax"/>
          <c:max val="280"/>
          <c:min val="120"/>
        </c:scaling>
        <c:delete val="0"/>
        <c:axPos val="b"/>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20"/>
      </c:valAx>
      <c:valAx>
        <c:axId val="-2129643912"/>
        <c:scaling>
          <c:orientation val="minMax"/>
          <c:max val="2.4500000000000002"/>
          <c:min val="1.65"/>
        </c:scaling>
        <c:delete val="0"/>
        <c:axPos val="l"/>
        <c:majorGridlines>
          <c:spPr>
            <a:ln>
              <a:solidFill>
                <a:srgbClr val="E3E3E3"/>
              </a:solidFill>
            </a:ln>
          </c:spPr>
        </c:majorGridlines>
        <c:title>
          <c:tx>
            <c:rich>
              <a:bodyPr/>
              <a:lstStyle/>
              <a:p>
                <a:r>
                  <a:rPr lang="en-US" sz="1100" b="0">
                    <a:latin typeface="Arial"/>
                  </a:rPr>
                  <a:t>V</a:t>
                </a:r>
                <a:r>
                  <a:rPr lang="el-GR" sz="1100" b="0">
                    <a:latin typeface="Arial"/>
                  </a:rPr>
                  <a:t>π·</a:t>
                </a:r>
                <a:r>
                  <a:rPr lang="en-US" sz="1100" b="0">
                    <a:latin typeface="Arial"/>
                  </a:rPr>
                  <a:t>L (V·cm)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0.2"/>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Lisbon, C band 1575 nm</c:v>
                </c:pt>
              </c:strCache>
            </c:strRef>
          </c:tx>
          <c:spPr>
            <a:ln w="22225">
              <a:solidFill>
                <a:srgbClr val="EB6834"/>
              </a:solidFill>
            </a:ln>
          </c:spPr>
          <c:marker>
            <c:symbol val="circle"/>
            <c:size val="5"/>
            <c:spPr>
              <a:solidFill>
                <a:srgbClr val="EB6834"/>
              </a:solidFill>
              <a:ln>
                <a:solidFill>
                  <a:srgbClr val="EB6834"/>
                </a:solidFill>
              </a:ln>
            </c:spPr>
          </c:marker>
          <c:xVal>
            <c:numRef>
              <c:f>Sheet1!$A$2:$A$16</c:f>
              <c:numCache>
                <c:formatCode>General</c:formatCode>
                <c:ptCount val="15"/>
                <c:pt idx="0">
                  <c:v>130</c:v>
                </c:pt>
                <c:pt idx="1">
                  <c:v>140</c:v>
                </c:pt>
                <c:pt idx="2">
                  <c:v>150</c:v>
                </c:pt>
                <c:pt idx="3">
                  <c:v>160</c:v>
                </c:pt>
                <c:pt idx="4">
                  <c:v>170</c:v>
                </c:pt>
                <c:pt idx="5">
                  <c:v>180</c:v>
                </c:pt>
                <c:pt idx="6">
                  <c:v>190</c:v>
                </c:pt>
                <c:pt idx="7">
                  <c:v>200</c:v>
                </c:pt>
                <c:pt idx="8">
                  <c:v>210</c:v>
                </c:pt>
                <c:pt idx="9">
                  <c:v>220</c:v>
                </c:pt>
                <c:pt idx="10">
                  <c:v>230</c:v>
                </c:pt>
                <c:pt idx="11">
                  <c:v>240</c:v>
                </c:pt>
                <c:pt idx="12">
                  <c:v>250</c:v>
                </c:pt>
                <c:pt idx="13">
                  <c:v>260</c:v>
                </c:pt>
                <c:pt idx="14">
                  <c:v>270</c:v>
                </c:pt>
              </c:numCache>
            </c:numRef>
          </c:xVal>
          <c:yVal>
            <c:numRef>
              <c:f>Sheet1!$B$2:$B$16</c:f>
              <c:numCache>
                <c:formatCode>General</c:formatCode>
                <c:ptCount val="15"/>
                <c:pt idx="0">
                  <c:v>4.5655899999999999E-2</c:v>
                </c:pt>
                <c:pt idx="1">
                  <c:v>4.2624000000000002E-2</c:v>
                </c:pt>
                <c:pt idx="2">
                  <c:v>3.9844999999999998E-2</c:v>
                </c:pt>
                <c:pt idx="3">
                  <c:v>3.7308500000000001E-2</c:v>
                </c:pt>
                <c:pt idx="4">
                  <c:v>3.4935000000000001E-2</c:v>
                </c:pt>
                <c:pt idx="5">
                  <c:v>3.2738400000000001E-2</c:v>
                </c:pt>
                <c:pt idx="6">
                  <c:v>3.0661500000000001E-2</c:v>
                </c:pt>
                <c:pt idx="7">
                  <c:v>2.87169E-2</c:v>
                </c:pt>
                <c:pt idx="8">
                  <c:v>2.68807E-2</c:v>
                </c:pt>
                <c:pt idx="9">
                  <c:v>2.51738E-2</c:v>
                </c:pt>
                <c:pt idx="10">
                  <c:v>2.3559799999999999E-2</c:v>
                </c:pt>
                <c:pt idx="11">
                  <c:v>2.20424E-2</c:v>
                </c:pt>
                <c:pt idx="12">
                  <c:v>2.06006E-2</c:v>
                </c:pt>
                <c:pt idx="13">
                  <c:v>1.92406E-2</c:v>
                </c:pt>
                <c:pt idx="14">
                  <c:v>1.79671E-2</c:v>
                </c:pt>
              </c:numCache>
            </c:numRef>
          </c:yVal>
          <c:smooth val="0"/>
          <c:extLst>
            <c:ext xmlns:c16="http://schemas.microsoft.com/office/drawing/2014/chart" uri="{C3380CC4-5D6E-409C-BE32-E72D297353CC}">
              <c16:uniqueId val="{00000000-45B3-403A-944B-1D48BFA8E699}"/>
            </c:ext>
          </c:extLst>
        </c:ser>
        <c:ser>
          <c:idx val="1"/>
          <c:order val="1"/>
          <c:tx>
            <c:strRef>
              <c:f>Sheet1!$B$18</c:f>
              <c:strCache>
                <c:ptCount val="1"/>
                <c:pt idx="0">
                  <c:v>Jerez, O band 1360 nm</c:v>
                </c:pt>
              </c:strCache>
            </c:strRef>
          </c:tx>
          <c:spPr>
            <a:ln w="22225">
              <a:solidFill>
                <a:srgbClr val="2A78D6"/>
              </a:solidFill>
            </a:ln>
          </c:spPr>
          <c:marker>
            <c:symbol val="circle"/>
            <c:size val="5"/>
            <c:spPr>
              <a:solidFill>
                <a:srgbClr val="2A78D6"/>
              </a:solidFill>
              <a:ln>
                <a:solidFill>
                  <a:srgbClr val="2A78D6"/>
                </a:solidFill>
              </a:ln>
            </c:spPr>
          </c:marker>
          <c:xVal>
            <c:numRef>
              <c:f>Sheet1!$A$19:$A$33</c:f>
              <c:numCache>
                <c:formatCode>General</c:formatCode>
                <c:ptCount val="15"/>
                <c:pt idx="0">
                  <c:v>130</c:v>
                </c:pt>
                <c:pt idx="1">
                  <c:v>140</c:v>
                </c:pt>
                <c:pt idx="2">
                  <c:v>150</c:v>
                </c:pt>
                <c:pt idx="3">
                  <c:v>160</c:v>
                </c:pt>
                <c:pt idx="4">
                  <c:v>170</c:v>
                </c:pt>
                <c:pt idx="5">
                  <c:v>180</c:v>
                </c:pt>
                <c:pt idx="6">
                  <c:v>190</c:v>
                </c:pt>
                <c:pt idx="7">
                  <c:v>200</c:v>
                </c:pt>
                <c:pt idx="8">
                  <c:v>210</c:v>
                </c:pt>
                <c:pt idx="9">
                  <c:v>220</c:v>
                </c:pt>
                <c:pt idx="10">
                  <c:v>230</c:v>
                </c:pt>
                <c:pt idx="11">
                  <c:v>240</c:v>
                </c:pt>
                <c:pt idx="12">
                  <c:v>250</c:v>
                </c:pt>
                <c:pt idx="13">
                  <c:v>260</c:v>
                </c:pt>
                <c:pt idx="14">
                  <c:v>270</c:v>
                </c:pt>
              </c:numCache>
            </c:numRef>
          </c:xVal>
          <c:yVal>
            <c:numRef>
              <c:f>Sheet1!$B$19:$B$33</c:f>
              <c:numCache>
                <c:formatCode>General</c:formatCode>
                <c:ptCount val="15"/>
                <c:pt idx="0">
                  <c:v>2.8421600000000002E-2</c:v>
                </c:pt>
                <c:pt idx="1">
                  <c:v>2.61663E-2</c:v>
                </c:pt>
                <c:pt idx="2">
                  <c:v>2.4143399999999999E-2</c:v>
                </c:pt>
                <c:pt idx="3">
                  <c:v>2.2308399999999999E-2</c:v>
                </c:pt>
                <c:pt idx="4">
                  <c:v>2.0622100000000001E-2</c:v>
                </c:pt>
                <c:pt idx="5">
                  <c:v>1.9083599999999999E-2</c:v>
                </c:pt>
                <c:pt idx="6">
                  <c:v>1.76394E-2</c:v>
                </c:pt>
                <c:pt idx="7">
                  <c:v>1.63039E-2</c:v>
                </c:pt>
                <c:pt idx="8">
                  <c:v>1.50639E-2</c:v>
                </c:pt>
                <c:pt idx="9">
                  <c:v>1.3920699999999999E-2</c:v>
                </c:pt>
                <c:pt idx="10">
                  <c:v>1.28605E-2</c:v>
                </c:pt>
                <c:pt idx="11">
                  <c:v>1.1871700000000001E-2</c:v>
                </c:pt>
                <c:pt idx="12">
                  <c:v>1.0949499999999999E-2</c:v>
                </c:pt>
                <c:pt idx="13">
                  <c:v>1.00835E-2</c:v>
                </c:pt>
                <c:pt idx="14">
                  <c:v>9.2877900000000006E-3</c:v>
                </c:pt>
              </c:numCache>
            </c:numRef>
          </c:yVal>
          <c:smooth val="0"/>
          <c:extLst>
            <c:ext xmlns:c16="http://schemas.microsoft.com/office/drawing/2014/chart" uri="{C3380CC4-5D6E-409C-BE32-E72D297353CC}">
              <c16:uniqueId val="{00000001-45B3-403A-944B-1D48BFA8E699}"/>
            </c:ext>
          </c:extLst>
        </c:ser>
        <c:ser>
          <c:idx val="2"/>
          <c:order val="2"/>
          <c:tx>
            <c:strRef>
              <c:f>Sheet1!$B$35</c:f>
              <c:strCache>
                <c:ptCount val="1"/>
                <c:pt idx="0">
                  <c:v>_w160</c:v>
                </c:pt>
              </c:strCache>
            </c:strRef>
          </c:tx>
          <c:spPr>
            <a:ln w="9525">
              <a:solidFill>
                <a:srgbClr val="B0B0B0"/>
              </a:solidFill>
              <a:prstDash val="dash"/>
            </a:ln>
          </c:spPr>
          <c:marker>
            <c:symbol val="none"/>
          </c:marker>
          <c:xVal>
            <c:numRef>
              <c:f>Sheet1!$A$36:$A$37</c:f>
              <c:numCache>
                <c:formatCode>General</c:formatCode>
                <c:ptCount val="2"/>
                <c:pt idx="0">
                  <c:v>160</c:v>
                </c:pt>
                <c:pt idx="1">
                  <c:v>160</c:v>
                </c:pt>
              </c:numCache>
            </c:numRef>
          </c:xVal>
          <c:yVal>
            <c:numRef>
              <c:f>Sheet1!$B$36:$B$37</c:f>
              <c:numCache>
                <c:formatCode>General</c:formatCode>
                <c:ptCount val="2"/>
                <c:pt idx="0">
                  <c:v>5.0000000000000001E-3</c:v>
                </c:pt>
                <c:pt idx="1">
                  <c:v>0.1</c:v>
                </c:pt>
              </c:numCache>
            </c:numRef>
          </c:yVal>
          <c:smooth val="0"/>
          <c:extLst>
            <c:ext xmlns:c16="http://schemas.microsoft.com/office/drawing/2014/chart" uri="{C3380CC4-5D6E-409C-BE32-E72D297353CC}">
              <c16:uniqueId val="{00000002-45B3-403A-944B-1D48BFA8E699}"/>
            </c:ext>
          </c:extLst>
        </c:ser>
        <c:ser>
          <c:idx val="3"/>
          <c:order val="3"/>
          <c:tx>
            <c:strRef>
              <c:f>Sheet1!$B$39</c:f>
              <c:strCache>
                <c:ptCount val="1"/>
                <c:pt idx="0">
                  <c:v>_w180</c:v>
                </c:pt>
              </c:strCache>
            </c:strRef>
          </c:tx>
          <c:spPr>
            <a:ln w="12700">
              <a:solidFill>
                <a:srgbClr val="B0B0B0"/>
              </a:solidFill>
            </a:ln>
          </c:spPr>
          <c:marker>
            <c:symbol val="none"/>
          </c:marker>
          <c:xVal>
            <c:numRef>
              <c:f>Sheet1!$A$40:$A$41</c:f>
              <c:numCache>
                <c:formatCode>General</c:formatCode>
                <c:ptCount val="2"/>
                <c:pt idx="0">
                  <c:v>180</c:v>
                </c:pt>
                <c:pt idx="1">
                  <c:v>180</c:v>
                </c:pt>
              </c:numCache>
            </c:numRef>
          </c:xVal>
          <c:yVal>
            <c:numRef>
              <c:f>Sheet1!$B$40:$B$41</c:f>
              <c:numCache>
                <c:formatCode>General</c:formatCode>
                <c:ptCount val="2"/>
                <c:pt idx="0">
                  <c:v>5.0000000000000001E-3</c:v>
                </c:pt>
                <c:pt idx="1">
                  <c:v>0.1</c:v>
                </c:pt>
              </c:numCache>
            </c:numRef>
          </c:yVal>
          <c:smooth val="0"/>
          <c:extLst>
            <c:ext xmlns:c16="http://schemas.microsoft.com/office/drawing/2014/chart" uri="{C3380CC4-5D6E-409C-BE32-E72D297353CC}">
              <c16:uniqueId val="{00000003-45B3-403A-944B-1D48BFA8E699}"/>
            </c:ext>
          </c:extLst>
        </c:ser>
        <c:ser>
          <c:idx val="4"/>
          <c:order val="4"/>
          <c:tx>
            <c:strRef>
              <c:f>Sheet1!$B$43</c:f>
              <c:strCache>
                <c:ptCount val="1"/>
                <c:pt idx="0">
                  <c:v>_w220</c:v>
                </c:pt>
              </c:strCache>
            </c:strRef>
          </c:tx>
          <c:spPr>
            <a:ln w="12700">
              <a:solidFill>
                <a:srgbClr val="B0B0B0"/>
              </a:solidFill>
            </a:ln>
          </c:spPr>
          <c:marker>
            <c:symbol val="none"/>
          </c:marker>
          <c:xVal>
            <c:numRef>
              <c:f>Sheet1!$A$44:$A$45</c:f>
              <c:numCache>
                <c:formatCode>General</c:formatCode>
                <c:ptCount val="2"/>
                <c:pt idx="0">
                  <c:v>220</c:v>
                </c:pt>
                <c:pt idx="1">
                  <c:v>220</c:v>
                </c:pt>
              </c:numCache>
            </c:numRef>
          </c:xVal>
          <c:yVal>
            <c:numRef>
              <c:f>Sheet1!$B$44:$B$45</c:f>
              <c:numCache>
                <c:formatCode>General</c:formatCode>
                <c:ptCount val="2"/>
                <c:pt idx="0">
                  <c:v>5.0000000000000001E-3</c:v>
                </c:pt>
                <c:pt idx="1">
                  <c:v>0.1</c:v>
                </c:pt>
              </c:numCache>
            </c:numRef>
          </c:yVal>
          <c:smooth val="0"/>
          <c:extLst>
            <c:ext xmlns:c16="http://schemas.microsoft.com/office/drawing/2014/chart" uri="{C3380CC4-5D6E-409C-BE32-E72D297353CC}">
              <c16:uniqueId val="{00000004-45B3-403A-944B-1D48BFA8E699}"/>
            </c:ext>
          </c:extLst>
        </c:ser>
        <c:ser>
          <c:idx val="5"/>
          <c:order val="5"/>
          <c:tx>
            <c:strRef>
              <c:f>Sheet1!$B$47</c:f>
              <c:strCache>
                <c:ptCount val="1"/>
                <c:pt idx="0">
                  <c:v>_w240</c:v>
                </c:pt>
              </c:strCache>
            </c:strRef>
          </c:tx>
          <c:spPr>
            <a:ln w="9525">
              <a:solidFill>
                <a:srgbClr val="B0B0B0"/>
              </a:solidFill>
              <a:prstDash val="dash"/>
            </a:ln>
          </c:spPr>
          <c:marker>
            <c:symbol val="none"/>
          </c:marker>
          <c:xVal>
            <c:numRef>
              <c:f>Sheet1!$A$48:$A$49</c:f>
              <c:numCache>
                <c:formatCode>General</c:formatCode>
                <c:ptCount val="2"/>
                <c:pt idx="0">
                  <c:v>240</c:v>
                </c:pt>
                <c:pt idx="1">
                  <c:v>240</c:v>
                </c:pt>
              </c:numCache>
            </c:numRef>
          </c:xVal>
          <c:yVal>
            <c:numRef>
              <c:f>Sheet1!$B$48:$B$49</c:f>
              <c:numCache>
                <c:formatCode>General</c:formatCode>
                <c:ptCount val="2"/>
                <c:pt idx="0">
                  <c:v>5.0000000000000001E-3</c:v>
                </c:pt>
                <c:pt idx="1">
                  <c:v>0.1</c:v>
                </c:pt>
              </c:numCache>
            </c:numRef>
          </c:yVal>
          <c:smooth val="0"/>
          <c:extLst>
            <c:ext xmlns:c16="http://schemas.microsoft.com/office/drawing/2014/chart" uri="{C3380CC4-5D6E-409C-BE32-E72D297353CC}">
              <c16:uniqueId val="{00000005-45B3-403A-944B-1D48BFA8E699}"/>
            </c:ext>
          </c:extLst>
        </c:ser>
        <c:ser>
          <c:idx val="6"/>
          <c:order val="6"/>
          <c:tx>
            <c:strRef>
              <c:f>Sheet1!$B$51</c:f>
              <c:strCache>
                <c:ptCount val="1"/>
                <c:pt idx="0">
                  <c:v>_n200</c:v>
                </c:pt>
              </c:strCache>
            </c:strRef>
          </c:tx>
          <c:spPr>
            <a:ln w="9525">
              <a:solidFill>
                <a:srgbClr val="1F4E79"/>
              </a:solidFill>
              <a:prstDash val="dash"/>
            </a:ln>
          </c:spPr>
          <c:marker>
            <c:symbol val="none"/>
          </c:marker>
          <c:xVal>
            <c:numRef>
              <c:f>Sheet1!$A$52:$A$53</c:f>
              <c:numCache>
                <c:formatCode>General</c:formatCode>
                <c:ptCount val="2"/>
                <c:pt idx="0">
                  <c:v>200</c:v>
                </c:pt>
                <c:pt idx="1">
                  <c:v>200</c:v>
                </c:pt>
              </c:numCache>
            </c:numRef>
          </c:xVal>
          <c:yVal>
            <c:numRef>
              <c:f>Sheet1!$B$52:$B$53</c:f>
              <c:numCache>
                <c:formatCode>General</c:formatCode>
                <c:ptCount val="2"/>
                <c:pt idx="0">
                  <c:v>5.0000000000000001E-3</c:v>
                </c:pt>
                <c:pt idx="1">
                  <c:v>0.1</c:v>
                </c:pt>
              </c:numCache>
            </c:numRef>
          </c:yVal>
          <c:smooth val="0"/>
          <c:extLst>
            <c:ext xmlns:c16="http://schemas.microsoft.com/office/drawing/2014/chart" uri="{C3380CC4-5D6E-409C-BE32-E72D297353CC}">
              <c16:uniqueId val="{00000006-45B3-403A-944B-1D48BFA8E699}"/>
            </c:ext>
          </c:extLst>
        </c:ser>
        <c:dLbls>
          <c:showLegendKey val="0"/>
          <c:showVal val="0"/>
          <c:showCatName val="0"/>
          <c:showSerName val="0"/>
          <c:showPercent val="0"/>
          <c:showBubbleSize val="0"/>
        </c:dLbls>
        <c:axId val="-2128940872"/>
        <c:axId val="-2129643912"/>
      </c:scatterChart>
      <c:valAx>
        <c:axId val="-2128940872"/>
        <c:scaling>
          <c:orientation val="minMax"/>
          <c:max val="280"/>
          <c:min val="120"/>
        </c:scaling>
        <c:delete val="0"/>
        <c:axPos val="b"/>
        <c:title>
          <c:tx>
            <c:rich>
              <a:bodyPr/>
              <a:lstStyle/>
              <a:p>
                <a:r>
                  <a:rPr lang="en-US" sz="1100" b="0">
                    <a:latin typeface="Arial"/>
                  </a:rPr>
                  <a:t>SiO₂ buffer thickness (nm)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20"/>
      </c:valAx>
      <c:valAx>
        <c:axId val="-2129643912"/>
        <c:scaling>
          <c:logBase val="10"/>
          <c:orientation val="minMax"/>
          <c:max val="0.1"/>
          <c:min val="5.0000000000000001E-3"/>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x_lift = 7 µm (nominal)</c:v>
                </c:pt>
              </c:strCache>
            </c:strRef>
          </c:tx>
          <c:spPr>
            <a:ln w="19050">
              <a:solidFill>
                <a:srgbClr val="2A78D6"/>
              </a:solidFill>
            </a:ln>
          </c:spPr>
          <c:marker>
            <c:symbol val="circle"/>
            <c:size val="4"/>
            <c:spPr>
              <a:solidFill>
                <a:srgbClr val="2A78D6"/>
              </a:solidFill>
              <a:ln>
                <a:solidFill>
                  <a:srgbClr val="2A78D6"/>
                </a:solidFill>
              </a:ln>
            </c:spPr>
          </c:marker>
          <c:xVal>
            <c:numRef>
              <c:f>Sheet1!$A$2:$A$141</c:f>
              <c:numCache>
                <c:formatCode>General</c:formatCode>
                <c:ptCount val="140"/>
                <c:pt idx="0">
                  <c:v>2.4</c:v>
                </c:pt>
                <c:pt idx="1">
                  <c:v>2.8</c:v>
                </c:pt>
                <c:pt idx="2">
                  <c:v>3.2</c:v>
                </c:pt>
                <c:pt idx="3">
                  <c:v>3.6</c:v>
                </c:pt>
                <c:pt idx="4">
                  <c:v>4</c:v>
                </c:pt>
                <c:pt idx="5">
                  <c:v>4.0999999999999996</c:v>
                </c:pt>
                <c:pt idx="6">
                  <c:v>4.1500000000000004</c:v>
                </c:pt>
                <c:pt idx="7">
                  <c:v>4.2</c:v>
                </c:pt>
                <c:pt idx="8">
                  <c:v>4.25</c:v>
                </c:pt>
                <c:pt idx="9">
                  <c:v>4.3</c:v>
                </c:pt>
                <c:pt idx="10">
                  <c:v>4.4000000000000004</c:v>
                </c:pt>
                <c:pt idx="11">
                  <c:v>4.5</c:v>
                </c:pt>
                <c:pt idx="12">
                  <c:v>4.5999999999999996</c:v>
                </c:pt>
                <c:pt idx="13">
                  <c:v>4.7</c:v>
                </c:pt>
                <c:pt idx="14">
                  <c:v>4.75</c:v>
                </c:pt>
                <c:pt idx="15">
                  <c:v>4.8</c:v>
                </c:pt>
                <c:pt idx="16">
                  <c:v>4.8499999999999996</c:v>
                </c:pt>
                <c:pt idx="17">
                  <c:v>4.9000000000000004</c:v>
                </c:pt>
                <c:pt idx="18">
                  <c:v>4.95</c:v>
                </c:pt>
                <c:pt idx="19">
                  <c:v>5</c:v>
                </c:pt>
                <c:pt idx="20">
                  <c:v>5.05</c:v>
                </c:pt>
                <c:pt idx="21">
                  <c:v>5.0999999999999996</c:v>
                </c:pt>
                <c:pt idx="22">
                  <c:v>5.15</c:v>
                </c:pt>
                <c:pt idx="23">
                  <c:v>5.2</c:v>
                </c:pt>
                <c:pt idx="24">
                  <c:v>5.4</c:v>
                </c:pt>
                <c:pt idx="25">
                  <c:v>5.6</c:v>
                </c:pt>
                <c:pt idx="26">
                  <c:v>5.8</c:v>
                </c:pt>
                <c:pt idx="27">
                  <c:v>6</c:v>
                </c:pt>
                <c:pt idx="28">
                  <c:v>6.2</c:v>
                </c:pt>
                <c:pt idx="29">
                  <c:v>6.4</c:v>
                </c:pt>
                <c:pt idx="30">
                  <c:v>6.45</c:v>
                </c:pt>
                <c:pt idx="31">
                  <c:v>6.5</c:v>
                </c:pt>
                <c:pt idx="32">
                  <c:v>6.55</c:v>
                </c:pt>
                <c:pt idx="33">
                  <c:v>6.6</c:v>
                </c:pt>
                <c:pt idx="34">
                  <c:v>6.65</c:v>
                </c:pt>
                <c:pt idx="35">
                  <c:v>6.7</c:v>
                </c:pt>
                <c:pt idx="36">
                  <c:v>6.75</c:v>
                </c:pt>
                <c:pt idx="37">
                  <c:v>6.8</c:v>
                </c:pt>
                <c:pt idx="38">
                  <c:v>6.85</c:v>
                </c:pt>
                <c:pt idx="39">
                  <c:v>6.9</c:v>
                </c:pt>
                <c:pt idx="40">
                  <c:v>6.95</c:v>
                </c:pt>
                <c:pt idx="41">
                  <c:v>7</c:v>
                </c:pt>
                <c:pt idx="42">
                  <c:v>7.05</c:v>
                </c:pt>
                <c:pt idx="43">
                  <c:v>7.2</c:v>
                </c:pt>
                <c:pt idx="44">
                  <c:v>7.4</c:v>
                </c:pt>
                <c:pt idx="45">
                  <c:v>7.6</c:v>
                </c:pt>
                <c:pt idx="46">
                  <c:v>7.8</c:v>
                </c:pt>
                <c:pt idx="47">
                  <c:v>8</c:v>
                </c:pt>
                <c:pt idx="48">
                  <c:v>8.1999999999999993</c:v>
                </c:pt>
                <c:pt idx="49">
                  <c:v>8.25</c:v>
                </c:pt>
                <c:pt idx="50">
                  <c:v>8.3000000000000007</c:v>
                </c:pt>
                <c:pt idx="51">
                  <c:v>8.35</c:v>
                </c:pt>
                <c:pt idx="52">
                  <c:v>8.4</c:v>
                </c:pt>
                <c:pt idx="53">
                  <c:v>8.4499999999999993</c:v>
                </c:pt>
                <c:pt idx="54">
                  <c:v>8.5</c:v>
                </c:pt>
                <c:pt idx="55">
                  <c:v>8.5500000000000007</c:v>
                </c:pt>
                <c:pt idx="56">
                  <c:v>8.6</c:v>
                </c:pt>
                <c:pt idx="57">
                  <c:v>8.65</c:v>
                </c:pt>
                <c:pt idx="58">
                  <c:v>8.6999999999999993</c:v>
                </c:pt>
                <c:pt idx="59">
                  <c:v>8.75</c:v>
                </c:pt>
                <c:pt idx="60">
                  <c:v>8.8000000000000007</c:v>
                </c:pt>
                <c:pt idx="61">
                  <c:v>8.85</c:v>
                </c:pt>
                <c:pt idx="62">
                  <c:v>9</c:v>
                </c:pt>
                <c:pt idx="63">
                  <c:v>9.1999999999999993</c:v>
                </c:pt>
                <c:pt idx="64">
                  <c:v>9.4</c:v>
                </c:pt>
                <c:pt idx="65">
                  <c:v>9.6</c:v>
                </c:pt>
                <c:pt idx="66">
                  <c:v>9.8000000000000007</c:v>
                </c:pt>
                <c:pt idx="67">
                  <c:v>10</c:v>
                </c:pt>
                <c:pt idx="68">
                  <c:v>10.050000000000001</c:v>
                </c:pt>
                <c:pt idx="69">
                  <c:v>10.1</c:v>
                </c:pt>
                <c:pt idx="70">
                  <c:v>10.15</c:v>
                </c:pt>
                <c:pt idx="71">
                  <c:v>10.199999999999999</c:v>
                </c:pt>
                <c:pt idx="72">
                  <c:v>10.25</c:v>
                </c:pt>
                <c:pt idx="73">
                  <c:v>10.3</c:v>
                </c:pt>
                <c:pt idx="74">
                  <c:v>10.35</c:v>
                </c:pt>
                <c:pt idx="75">
                  <c:v>10.4</c:v>
                </c:pt>
                <c:pt idx="76">
                  <c:v>10.45</c:v>
                </c:pt>
                <c:pt idx="77">
                  <c:v>10.5</c:v>
                </c:pt>
                <c:pt idx="78">
                  <c:v>10.55</c:v>
                </c:pt>
                <c:pt idx="79">
                  <c:v>10.6</c:v>
                </c:pt>
                <c:pt idx="80">
                  <c:v>10.65</c:v>
                </c:pt>
                <c:pt idx="81">
                  <c:v>10.8</c:v>
                </c:pt>
                <c:pt idx="82">
                  <c:v>11</c:v>
                </c:pt>
                <c:pt idx="83">
                  <c:v>11.2</c:v>
                </c:pt>
                <c:pt idx="84">
                  <c:v>11.4</c:v>
                </c:pt>
                <c:pt idx="85">
                  <c:v>11.6</c:v>
                </c:pt>
                <c:pt idx="86">
                  <c:v>11.8</c:v>
                </c:pt>
                <c:pt idx="87">
                  <c:v>11.85</c:v>
                </c:pt>
                <c:pt idx="88">
                  <c:v>11.9</c:v>
                </c:pt>
                <c:pt idx="89">
                  <c:v>11.95</c:v>
                </c:pt>
                <c:pt idx="90">
                  <c:v>12</c:v>
                </c:pt>
                <c:pt idx="91">
                  <c:v>12.05</c:v>
                </c:pt>
                <c:pt idx="92">
                  <c:v>12.1</c:v>
                </c:pt>
                <c:pt idx="93">
                  <c:v>12.15</c:v>
                </c:pt>
                <c:pt idx="94">
                  <c:v>12.2</c:v>
                </c:pt>
                <c:pt idx="95">
                  <c:v>12.25</c:v>
                </c:pt>
                <c:pt idx="96">
                  <c:v>12.3</c:v>
                </c:pt>
                <c:pt idx="97">
                  <c:v>12.35</c:v>
                </c:pt>
                <c:pt idx="98">
                  <c:v>12.4</c:v>
                </c:pt>
                <c:pt idx="99">
                  <c:v>12.45</c:v>
                </c:pt>
                <c:pt idx="100">
                  <c:v>12.6</c:v>
                </c:pt>
                <c:pt idx="101">
                  <c:v>12.8</c:v>
                </c:pt>
                <c:pt idx="102">
                  <c:v>13</c:v>
                </c:pt>
                <c:pt idx="103">
                  <c:v>13.2</c:v>
                </c:pt>
                <c:pt idx="104">
                  <c:v>13.4</c:v>
                </c:pt>
                <c:pt idx="105">
                  <c:v>13.6</c:v>
                </c:pt>
                <c:pt idx="106">
                  <c:v>13.65</c:v>
                </c:pt>
                <c:pt idx="107">
                  <c:v>13.7</c:v>
                </c:pt>
                <c:pt idx="108">
                  <c:v>13.75</c:v>
                </c:pt>
                <c:pt idx="109">
                  <c:v>13.8</c:v>
                </c:pt>
                <c:pt idx="110">
                  <c:v>13.85</c:v>
                </c:pt>
                <c:pt idx="111">
                  <c:v>13.9</c:v>
                </c:pt>
                <c:pt idx="112">
                  <c:v>13.95</c:v>
                </c:pt>
                <c:pt idx="113">
                  <c:v>14</c:v>
                </c:pt>
                <c:pt idx="114">
                  <c:v>14.05</c:v>
                </c:pt>
                <c:pt idx="115">
                  <c:v>14.1</c:v>
                </c:pt>
                <c:pt idx="116">
                  <c:v>14.2</c:v>
                </c:pt>
                <c:pt idx="117">
                  <c:v>14.3</c:v>
                </c:pt>
                <c:pt idx="118">
                  <c:v>14.4</c:v>
                </c:pt>
                <c:pt idx="119">
                  <c:v>14.5</c:v>
                </c:pt>
                <c:pt idx="120">
                  <c:v>14.6</c:v>
                </c:pt>
                <c:pt idx="121">
                  <c:v>14.7</c:v>
                </c:pt>
                <c:pt idx="122">
                  <c:v>14.8</c:v>
                </c:pt>
                <c:pt idx="123">
                  <c:v>14.9</c:v>
                </c:pt>
                <c:pt idx="124">
                  <c:v>15</c:v>
                </c:pt>
                <c:pt idx="125">
                  <c:v>15.2</c:v>
                </c:pt>
                <c:pt idx="126">
                  <c:v>15.4</c:v>
                </c:pt>
                <c:pt idx="127">
                  <c:v>15.6</c:v>
                </c:pt>
                <c:pt idx="128">
                  <c:v>15.8</c:v>
                </c:pt>
                <c:pt idx="129">
                  <c:v>16</c:v>
                </c:pt>
                <c:pt idx="130">
                  <c:v>16.399999999999999</c:v>
                </c:pt>
                <c:pt idx="131">
                  <c:v>16.8</c:v>
                </c:pt>
                <c:pt idx="132">
                  <c:v>17.2</c:v>
                </c:pt>
                <c:pt idx="133">
                  <c:v>17.600000000000001</c:v>
                </c:pt>
                <c:pt idx="134">
                  <c:v>18</c:v>
                </c:pt>
                <c:pt idx="135">
                  <c:v>18.399999999999999</c:v>
                </c:pt>
                <c:pt idx="136">
                  <c:v>18.8</c:v>
                </c:pt>
                <c:pt idx="137">
                  <c:v>19.2</c:v>
                </c:pt>
                <c:pt idx="138">
                  <c:v>19.600000000000001</c:v>
                </c:pt>
                <c:pt idx="139">
                  <c:v>20</c:v>
                </c:pt>
              </c:numCache>
            </c:numRef>
          </c:xVal>
          <c:yVal>
            <c:numRef>
              <c:f>Sheet1!$B$2:$B$141</c:f>
              <c:numCache>
                <c:formatCode>General</c:formatCode>
                <c:ptCount val="140"/>
                <c:pt idx="0">
                  <c:v>1.6708999999999999E-5</c:v>
                </c:pt>
                <c:pt idx="1">
                  <c:v>5.1144999999999999E-5</c:v>
                </c:pt>
                <c:pt idx="2">
                  <c:v>1.6374E-4</c:v>
                </c:pt>
                <c:pt idx="3">
                  <c:v>5.6997000000000005E-4</c:v>
                </c:pt>
                <c:pt idx="4">
                  <c:v>2.9237999999999998E-3</c:v>
                </c:pt>
                <c:pt idx="5">
                  <c:v>6.8435385367305061E-3</c:v>
                </c:pt>
                <c:pt idx="6">
                  <c:v>1.6259208038430659E-2</c:v>
                </c:pt>
                <c:pt idx="7">
                  <c:v>0.39921218978061851</c:v>
                </c:pt>
                <c:pt idx="8">
                  <c:v>0.27518994608104475</c:v>
                </c:pt>
                <c:pt idx="9">
                  <c:v>0.20288752830513648</c:v>
                </c:pt>
                <c:pt idx="10">
                  <c:v>0.12714081822264087</c:v>
                </c:pt>
                <c:pt idx="11">
                  <c:v>9.9458271706215545E-2</c:v>
                </c:pt>
                <c:pt idx="12">
                  <c:v>0.10402871592391051</c:v>
                </c:pt>
                <c:pt idx="13">
                  <c:v>0.15987199038363142</c:v>
                </c:pt>
                <c:pt idx="14">
                  <c:v>0.23637755360007337</c:v>
                </c:pt>
                <c:pt idx="15">
                  <c:v>0.40673141946401359</c:v>
                </c:pt>
                <c:pt idx="16">
                  <c:v>0.87285435817843771</c:v>
                </c:pt>
                <c:pt idx="17">
                  <c:v>2.6909140034704686</c:v>
                </c:pt>
                <c:pt idx="18">
                  <c:v>7.4014168680791697</c:v>
                </c:pt>
                <c:pt idx="19">
                  <c:v>2.613677307782508</c:v>
                </c:pt>
                <c:pt idx="20">
                  <c:v>0.94995245055426236</c:v>
                </c:pt>
                <c:pt idx="21">
                  <c:v>0.47863188763472647</c:v>
                </c:pt>
                <c:pt idx="22">
                  <c:v>0.29344053720659385</c:v>
                </c:pt>
                <c:pt idx="23">
                  <c:v>0.20097999999999999</c:v>
                </c:pt>
                <c:pt idx="24">
                  <c:v>7.8119999999999995E-2</c:v>
                </c:pt>
                <c:pt idx="25">
                  <c:v>4.7692999999999999E-2</c:v>
                </c:pt>
                <c:pt idx="26">
                  <c:v>3.8337999999999997E-2</c:v>
                </c:pt>
                <c:pt idx="27">
                  <c:v>4.0597000000000001E-2</c:v>
                </c:pt>
                <c:pt idx="28">
                  <c:v>5.9429999999999997E-2</c:v>
                </c:pt>
                <c:pt idx="29">
                  <c:v>0.13186</c:v>
                </c:pt>
                <c:pt idx="30">
                  <c:v>0.17595</c:v>
                </c:pt>
                <c:pt idx="31">
                  <c:v>0.24573999999999999</c:v>
                </c:pt>
                <c:pt idx="32">
                  <c:v>0.36587999999999998</c:v>
                </c:pt>
                <c:pt idx="33">
                  <c:v>0.59079999999999999</c:v>
                </c:pt>
                <c:pt idx="34">
                  <c:v>1.0475000000000001</c:v>
                </c:pt>
                <c:pt idx="35">
                  <c:v>1.9426000000000001</c:v>
                </c:pt>
                <c:pt idx="36">
                  <c:v>2.8834</c:v>
                </c:pt>
                <c:pt idx="37">
                  <c:v>2.3294000000000001</c:v>
                </c:pt>
                <c:pt idx="38">
                  <c:v>1.3523000000000001</c:v>
                </c:pt>
                <c:pt idx="39">
                  <c:v>0.79579</c:v>
                </c:pt>
                <c:pt idx="40">
                  <c:v>0.51346000000000003</c:v>
                </c:pt>
                <c:pt idx="41">
                  <c:v>0.35857</c:v>
                </c:pt>
                <c:pt idx="42">
                  <c:v>0.2676</c:v>
                </c:pt>
                <c:pt idx="43">
                  <c:v>0.14144999999999999</c:v>
                </c:pt>
                <c:pt idx="44">
                  <c:v>8.7430999999999995E-2</c:v>
                </c:pt>
                <c:pt idx="45">
                  <c:v>7.145E-2</c:v>
                </c:pt>
                <c:pt idx="46">
                  <c:v>7.6405000000000001E-2</c:v>
                </c:pt>
                <c:pt idx="47">
                  <c:v>0.10839</c:v>
                </c:pt>
                <c:pt idx="48">
                  <c:v>0.22248999999999999</c:v>
                </c:pt>
                <c:pt idx="49">
                  <c:v>0.28742000000000001</c:v>
                </c:pt>
                <c:pt idx="50">
                  <c:v>0.38712000000000002</c:v>
                </c:pt>
                <c:pt idx="51">
                  <c:v>0.54357</c:v>
                </c:pt>
                <c:pt idx="52">
                  <c:v>0.78893000000000002</c:v>
                </c:pt>
                <c:pt idx="53">
                  <c:v>1.1759999999999999</c:v>
                </c:pt>
                <c:pt idx="54">
                  <c:v>1.6516</c:v>
                </c:pt>
                <c:pt idx="55">
                  <c:v>1.8869</c:v>
                </c:pt>
                <c:pt idx="56">
                  <c:v>1.6364000000000001</c:v>
                </c:pt>
                <c:pt idx="57">
                  <c:v>1.1974</c:v>
                </c:pt>
                <c:pt idx="58">
                  <c:v>0.83269000000000004</c:v>
                </c:pt>
                <c:pt idx="59">
                  <c:v>0.59772999999999998</c:v>
                </c:pt>
                <c:pt idx="60">
                  <c:v>0.44440000000000002</c:v>
                </c:pt>
                <c:pt idx="61">
                  <c:v>0.34445999999999999</c:v>
                </c:pt>
                <c:pt idx="62">
                  <c:v>0.19320999999999999</c:v>
                </c:pt>
                <c:pt idx="63">
                  <c:v>0.12381</c:v>
                </c:pt>
                <c:pt idx="64">
                  <c:v>0.10406</c:v>
                </c:pt>
                <c:pt idx="65">
                  <c:v>0.11143</c:v>
                </c:pt>
                <c:pt idx="66">
                  <c:v>0.15637000000000001</c:v>
                </c:pt>
                <c:pt idx="67">
                  <c:v>0.30754999999999999</c:v>
                </c:pt>
                <c:pt idx="68">
                  <c:v>0.38597999999999999</c:v>
                </c:pt>
                <c:pt idx="69">
                  <c:v>0.49568000000000001</c:v>
                </c:pt>
                <c:pt idx="70">
                  <c:v>0.65264999999999995</c:v>
                </c:pt>
                <c:pt idx="71">
                  <c:v>0.86814000000000002</c:v>
                </c:pt>
                <c:pt idx="72">
                  <c:v>1.1296999999999999</c:v>
                </c:pt>
                <c:pt idx="73">
                  <c:v>1.3567</c:v>
                </c:pt>
                <c:pt idx="74">
                  <c:v>1.401</c:v>
                </c:pt>
                <c:pt idx="75">
                  <c:v>1.2539</c:v>
                </c:pt>
                <c:pt idx="76">
                  <c:v>1.012</c:v>
                </c:pt>
                <c:pt idx="77">
                  <c:v>0.79193999999999998</c:v>
                </c:pt>
                <c:pt idx="78">
                  <c:v>0.61665000000000003</c:v>
                </c:pt>
                <c:pt idx="79">
                  <c:v>0.48683999999999999</c:v>
                </c:pt>
                <c:pt idx="80">
                  <c:v>0.39262999999999998</c:v>
                </c:pt>
                <c:pt idx="81">
                  <c:v>0.23702999999999999</c:v>
                </c:pt>
                <c:pt idx="82">
                  <c:v>0.15775</c:v>
                </c:pt>
                <c:pt idx="83">
                  <c:v>0.13489999999999999</c:v>
                </c:pt>
                <c:pt idx="84">
                  <c:v>0.1457</c:v>
                </c:pt>
                <c:pt idx="85">
                  <c:v>0.20227000000000001</c:v>
                </c:pt>
                <c:pt idx="86">
                  <c:v>0.37180000000000002</c:v>
                </c:pt>
                <c:pt idx="87">
                  <c:v>0.45101999999999998</c:v>
                </c:pt>
                <c:pt idx="88">
                  <c:v>0.56349000000000005</c:v>
                </c:pt>
                <c:pt idx="89">
                  <c:v>0.70054000000000005</c:v>
                </c:pt>
                <c:pt idx="90">
                  <c:v>0.85704999999999998</c:v>
                </c:pt>
                <c:pt idx="91">
                  <c:v>1.0124</c:v>
                </c:pt>
                <c:pt idx="92">
                  <c:v>1.1173</c:v>
                </c:pt>
                <c:pt idx="93">
                  <c:v>1.1232</c:v>
                </c:pt>
                <c:pt idx="94">
                  <c:v>1.0285</c:v>
                </c:pt>
                <c:pt idx="95">
                  <c:v>0.88238000000000005</c:v>
                </c:pt>
                <c:pt idx="96">
                  <c:v>0.72936999999999996</c:v>
                </c:pt>
                <c:pt idx="97">
                  <c:v>0.59735000000000005</c:v>
                </c:pt>
                <c:pt idx="98">
                  <c:v>0.49692999999999998</c:v>
                </c:pt>
                <c:pt idx="99">
                  <c:v>0.41352</c:v>
                </c:pt>
                <c:pt idx="100">
                  <c:v>0.26790000000000003</c:v>
                </c:pt>
                <c:pt idx="101">
                  <c:v>0.18706</c:v>
                </c:pt>
                <c:pt idx="102">
                  <c:v>0.1641</c:v>
                </c:pt>
                <c:pt idx="103">
                  <c:v>0.17824000000000001</c:v>
                </c:pt>
                <c:pt idx="104">
                  <c:v>0.24571999999999999</c:v>
                </c:pt>
                <c:pt idx="105">
                  <c:v>0.42104000000000003</c:v>
                </c:pt>
                <c:pt idx="106">
                  <c:v>0.49707000000000001</c:v>
                </c:pt>
                <c:pt idx="107">
                  <c:v>0.59762000000000004</c:v>
                </c:pt>
                <c:pt idx="108">
                  <c:v>0.70091999999999999</c:v>
                </c:pt>
                <c:pt idx="109">
                  <c:v>0.81596000000000002</c:v>
                </c:pt>
                <c:pt idx="110">
                  <c:v>0.90722999999999998</c:v>
                </c:pt>
                <c:pt idx="111">
                  <c:v>0.95569999999999999</c:v>
                </c:pt>
                <c:pt idx="112">
                  <c:v>0.92506999999999995</c:v>
                </c:pt>
                <c:pt idx="113">
                  <c:v>0.25020999999999999</c:v>
                </c:pt>
                <c:pt idx="114">
                  <c:v>0.21182000000000001</c:v>
                </c:pt>
                <c:pt idx="115">
                  <c:v>0.19434999999999999</c:v>
                </c:pt>
                <c:pt idx="116">
                  <c:v>0.18795999999999999</c:v>
                </c:pt>
                <c:pt idx="117">
                  <c:v>0.19386</c:v>
                </c:pt>
                <c:pt idx="118">
                  <c:v>0.20108999999999999</c:v>
                </c:pt>
                <c:pt idx="119">
                  <c:v>0.20655000000000001</c:v>
                </c:pt>
                <c:pt idx="120">
                  <c:v>0.21206</c:v>
                </c:pt>
                <c:pt idx="121">
                  <c:v>0.21629000000000001</c:v>
                </c:pt>
                <c:pt idx="122">
                  <c:v>0.21797</c:v>
                </c:pt>
                <c:pt idx="123">
                  <c:v>0.2208</c:v>
                </c:pt>
                <c:pt idx="124">
                  <c:v>0.22270000000000001</c:v>
                </c:pt>
                <c:pt idx="125">
                  <c:v>0.22459999999999999</c:v>
                </c:pt>
                <c:pt idx="126">
                  <c:v>0.22617999999999999</c:v>
                </c:pt>
                <c:pt idx="127">
                  <c:v>0.22705</c:v>
                </c:pt>
                <c:pt idx="128">
                  <c:v>0.22747999999999999</c:v>
                </c:pt>
                <c:pt idx="129">
                  <c:v>0.2288</c:v>
                </c:pt>
                <c:pt idx="130">
                  <c:v>0.22689999999999999</c:v>
                </c:pt>
                <c:pt idx="131">
                  <c:v>0.22685</c:v>
                </c:pt>
                <c:pt idx="132">
                  <c:v>0.22708</c:v>
                </c:pt>
                <c:pt idx="133">
                  <c:v>0.22721</c:v>
                </c:pt>
                <c:pt idx="134">
                  <c:v>0.22725000000000001</c:v>
                </c:pt>
                <c:pt idx="135">
                  <c:v>0.22703000000000001</c:v>
                </c:pt>
                <c:pt idx="136">
                  <c:v>0.22785</c:v>
                </c:pt>
                <c:pt idx="137">
                  <c:v>0.22713</c:v>
                </c:pt>
                <c:pt idx="138">
                  <c:v>0.22736000000000001</c:v>
                </c:pt>
                <c:pt idx="139">
                  <c:v>0.22745000000000001</c:v>
                </c:pt>
              </c:numCache>
            </c:numRef>
          </c:yVal>
          <c:smooth val="0"/>
          <c:extLst>
            <c:ext xmlns:c16="http://schemas.microsoft.com/office/drawing/2014/chart" uri="{C3380CC4-5D6E-409C-BE32-E72D297353CC}">
              <c16:uniqueId val="{00000000-7D3F-4A86-A886-98D2C80DC33A}"/>
            </c:ext>
          </c:extLst>
        </c:ser>
        <c:ser>
          <c:idx val="1"/>
          <c:order val="1"/>
          <c:tx>
            <c:strRef>
              <c:f>Sheet1!$B$143</c:f>
              <c:strCache>
                <c:ptCount val="1"/>
                <c:pt idx="0">
                  <c:v>wider gold, x_lift = 11 µm</c:v>
                </c:pt>
              </c:strCache>
            </c:strRef>
          </c:tx>
          <c:spPr>
            <a:ln w="19050">
              <a:solidFill>
                <a:srgbClr val="EB6834"/>
              </a:solidFill>
            </a:ln>
          </c:spPr>
          <c:marker>
            <c:symbol val="circle"/>
            <c:size val="4"/>
            <c:spPr>
              <a:solidFill>
                <a:srgbClr val="EB6834"/>
              </a:solidFill>
              <a:ln>
                <a:solidFill>
                  <a:srgbClr val="EB6834"/>
                </a:solidFill>
              </a:ln>
            </c:spPr>
          </c:marker>
          <c:xVal>
            <c:numRef>
              <c:f>Sheet1!$A$144:$A$224</c:f>
              <c:numCache>
                <c:formatCode>General</c:formatCode>
                <c:ptCount val="81"/>
                <c:pt idx="0">
                  <c:v>12</c:v>
                </c:pt>
                <c:pt idx="1">
                  <c:v>12.1</c:v>
                </c:pt>
                <c:pt idx="2">
                  <c:v>12.2</c:v>
                </c:pt>
                <c:pt idx="3">
                  <c:v>12.3</c:v>
                </c:pt>
                <c:pt idx="4">
                  <c:v>12.4</c:v>
                </c:pt>
                <c:pt idx="5">
                  <c:v>12.5</c:v>
                </c:pt>
                <c:pt idx="6">
                  <c:v>12.6</c:v>
                </c:pt>
                <c:pt idx="7">
                  <c:v>12.7</c:v>
                </c:pt>
                <c:pt idx="8">
                  <c:v>12.8</c:v>
                </c:pt>
                <c:pt idx="9">
                  <c:v>12.9</c:v>
                </c:pt>
                <c:pt idx="10">
                  <c:v>13</c:v>
                </c:pt>
                <c:pt idx="11">
                  <c:v>13.1</c:v>
                </c:pt>
                <c:pt idx="12">
                  <c:v>13.2</c:v>
                </c:pt>
                <c:pt idx="13">
                  <c:v>13.3</c:v>
                </c:pt>
                <c:pt idx="14">
                  <c:v>13.4</c:v>
                </c:pt>
                <c:pt idx="15">
                  <c:v>13.5</c:v>
                </c:pt>
                <c:pt idx="16">
                  <c:v>13.6</c:v>
                </c:pt>
                <c:pt idx="17">
                  <c:v>13.7</c:v>
                </c:pt>
                <c:pt idx="18">
                  <c:v>13.8</c:v>
                </c:pt>
                <c:pt idx="19">
                  <c:v>13.9</c:v>
                </c:pt>
                <c:pt idx="20">
                  <c:v>14</c:v>
                </c:pt>
                <c:pt idx="21">
                  <c:v>14.1</c:v>
                </c:pt>
                <c:pt idx="22">
                  <c:v>14.2</c:v>
                </c:pt>
                <c:pt idx="23">
                  <c:v>14.3</c:v>
                </c:pt>
                <c:pt idx="24">
                  <c:v>14.4</c:v>
                </c:pt>
                <c:pt idx="25">
                  <c:v>14.5</c:v>
                </c:pt>
                <c:pt idx="26">
                  <c:v>14.6</c:v>
                </c:pt>
                <c:pt idx="27">
                  <c:v>14.7</c:v>
                </c:pt>
                <c:pt idx="28">
                  <c:v>14.8</c:v>
                </c:pt>
                <c:pt idx="29">
                  <c:v>14.9</c:v>
                </c:pt>
                <c:pt idx="30">
                  <c:v>15</c:v>
                </c:pt>
                <c:pt idx="31">
                  <c:v>15.1</c:v>
                </c:pt>
                <c:pt idx="32">
                  <c:v>15.2</c:v>
                </c:pt>
                <c:pt idx="33">
                  <c:v>15.3</c:v>
                </c:pt>
                <c:pt idx="34">
                  <c:v>15.4</c:v>
                </c:pt>
                <c:pt idx="35">
                  <c:v>15.5</c:v>
                </c:pt>
                <c:pt idx="36">
                  <c:v>15.6</c:v>
                </c:pt>
                <c:pt idx="37">
                  <c:v>15.7</c:v>
                </c:pt>
                <c:pt idx="38">
                  <c:v>15.8</c:v>
                </c:pt>
                <c:pt idx="39">
                  <c:v>15.9</c:v>
                </c:pt>
                <c:pt idx="40">
                  <c:v>16</c:v>
                </c:pt>
                <c:pt idx="41">
                  <c:v>16.100000000000001</c:v>
                </c:pt>
                <c:pt idx="42">
                  <c:v>16.2</c:v>
                </c:pt>
                <c:pt idx="43">
                  <c:v>16.3</c:v>
                </c:pt>
                <c:pt idx="44">
                  <c:v>16.399999999999999</c:v>
                </c:pt>
                <c:pt idx="45">
                  <c:v>16.5</c:v>
                </c:pt>
                <c:pt idx="46">
                  <c:v>16.600000000000001</c:v>
                </c:pt>
                <c:pt idx="47">
                  <c:v>16.7</c:v>
                </c:pt>
                <c:pt idx="48">
                  <c:v>16.8</c:v>
                </c:pt>
                <c:pt idx="49">
                  <c:v>16.899999999999999</c:v>
                </c:pt>
                <c:pt idx="50">
                  <c:v>17</c:v>
                </c:pt>
                <c:pt idx="51">
                  <c:v>17.100000000000001</c:v>
                </c:pt>
                <c:pt idx="52">
                  <c:v>17.2</c:v>
                </c:pt>
                <c:pt idx="53">
                  <c:v>17.3</c:v>
                </c:pt>
                <c:pt idx="54">
                  <c:v>17.399999999999999</c:v>
                </c:pt>
                <c:pt idx="55">
                  <c:v>17.5</c:v>
                </c:pt>
                <c:pt idx="56">
                  <c:v>17.600000000000001</c:v>
                </c:pt>
                <c:pt idx="57">
                  <c:v>17.7</c:v>
                </c:pt>
                <c:pt idx="58">
                  <c:v>17.8</c:v>
                </c:pt>
                <c:pt idx="59">
                  <c:v>17.899999999999999</c:v>
                </c:pt>
                <c:pt idx="60">
                  <c:v>18</c:v>
                </c:pt>
                <c:pt idx="61">
                  <c:v>18.100000000000001</c:v>
                </c:pt>
                <c:pt idx="62">
                  <c:v>18.2</c:v>
                </c:pt>
                <c:pt idx="63">
                  <c:v>18.3</c:v>
                </c:pt>
                <c:pt idx="64">
                  <c:v>18.399999999999999</c:v>
                </c:pt>
                <c:pt idx="65">
                  <c:v>18.5</c:v>
                </c:pt>
                <c:pt idx="66">
                  <c:v>18.600000000000001</c:v>
                </c:pt>
                <c:pt idx="67">
                  <c:v>18.7</c:v>
                </c:pt>
                <c:pt idx="68">
                  <c:v>18.8</c:v>
                </c:pt>
                <c:pt idx="69">
                  <c:v>18.899999999999999</c:v>
                </c:pt>
                <c:pt idx="70">
                  <c:v>19</c:v>
                </c:pt>
                <c:pt idx="71">
                  <c:v>19.100000000000001</c:v>
                </c:pt>
                <c:pt idx="72">
                  <c:v>19.2</c:v>
                </c:pt>
                <c:pt idx="73">
                  <c:v>19.3</c:v>
                </c:pt>
                <c:pt idx="74">
                  <c:v>19.399999999999999</c:v>
                </c:pt>
                <c:pt idx="75">
                  <c:v>19.5</c:v>
                </c:pt>
                <c:pt idx="76">
                  <c:v>19.600000000000001</c:v>
                </c:pt>
                <c:pt idx="77">
                  <c:v>19.7</c:v>
                </c:pt>
                <c:pt idx="78">
                  <c:v>19.8</c:v>
                </c:pt>
                <c:pt idx="79">
                  <c:v>19.899999999999999</c:v>
                </c:pt>
                <c:pt idx="80">
                  <c:v>20</c:v>
                </c:pt>
              </c:numCache>
            </c:numRef>
          </c:xVal>
          <c:yVal>
            <c:numRef>
              <c:f>Sheet1!$B$144:$B$224</c:f>
              <c:numCache>
                <c:formatCode>General</c:formatCode>
                <c:ptCount val="81"/>
                <c:pt idx="0">
                  <c:v>0.8580584546078861</c:v>
                </c:pt>
                <c:pt idx="1">
                  <c:v>1.1184940781120203</c:v>
                </c:pt>
                <c:pt idx="2">
                  <c:v>1.0289909892999953</c:v>
                </c:pt>
                <c:pt idx="3">
                  <c:v>0.72950388260145482</c:v>
                </c:pt>
                <c:pt idx="4">
                  <c:v>0.49713542980492437</c:v>
                </c:pt>
                <c:pt idx="5">
                  <c:v>0.35409681168024826</c:v>
                </c:pt>
                <c:pt idx="6">
                  <c:v>0.26798950401556321</c:v>
                </c:pt>
                <c:pt idx="7">
                  <c:v>0.21693843907295535</c:v>
                </c:pt>
                <c:pt idx="8">
                  <c:v>0.18712833171523757</c:v>
                </c:pt>
                <c:pt idx="9">
                  <c:v>0.17077314088315254</c:v>
                </c:pt>
                <c:pt idx="10">
                  <c:v>0.1640959263209856</c:v>
                </c:pt>
                <c:pt idx="11">
                  <c:v>0.16627546340432914</c:v>
                </c:pt>
                <c:pt idx="12">
                  <c:v>0.17842057863027366</c:v>
                </c:pt>
                <c:pt idx="13">
                  <c:v>0.20271773924776951</c:v>
                </c:pt>
                <c:pt idx="14">
                  <c:v>0.24209840530849971</c:v>
                </c:pt>
                <c:pt idx="15">
                  <c:v>0.30942149909591088</c:v>
                </c:pt>
                <c:pt idx="16">
                  <c:v>0.41806224023115723</c:v>
                </c:pt>
                <c:pt idx="17">
                  <c:v>0.58875221912702791</c:v>
                </c:pt>
                <c:pt idx="18">
                  <c:v>0.79845903038927113</c:v>
                </c:pt>
                <c:pt idx="19">
                  <c:v>0.9584419034226116</c:v>
                </c:pt>
                <c:pt idx="20">
                  <c:v>0.87898755474046963</c:v>
                </c:pt>
                <c:pt idx="21">
                  <c:v>0.68483896526552757</c:v>
                </c:pt>
                <c:pt idx="22">
                  <c:v>0.49640776241620876</c:v>
                </c:pt>
                <c:pt idx="23">
                  <c:v>0.3746447527044568</c:v>
                </c:pt>
                <c:pt idx="24">
                  <c:v>0.29619181295249969</c:v>
                </c:pt>
                <c:pt idx="25">
                  <c:v>0.24568130092722346</c:v>
                </c:pt>
                <c:pt idx="26">
                  <c:v>0.21472078607877429</c:v>
                </c:pt>
                <c:pt idx="27">
                  <c:v>0.19807106320839957</c:v>
                </c:pt>
                <c:pt idx="28">
                  <c:v>0.19168145051891552</c:v>
                </c:pt>
                <c:pt idx="29">
                  <c:v>0.19498367443056319</c:v>
                </c:pt>
                <c:pt idx="30">
                  <c:v>0.20834849880330727</c:v>
                </c:pt>
                <c:pt idx="31">
                  <c:v>0.2345341295486604</c:v>
                </c:pt>
                <c:pt idx="32">
                  <c:v>0.27710267178852588</c:v>
                </c:pt>
                <c:pt idx="33">
                  <c:v>0.34452625297723583</c:v>
                </c:pt>
                <c:pt idx="34">
                  <c:v>0.4489014771814871</c:v>
                </c:pt>
                <c:pt idx="35">
                  <c:v>0.59259846103881064</c:v>
                </c:pt>
                <c:pt idx="36">
                  <c:v>0.75064088770224269</c:v>
                </c:pt>
                <c:pt idx="37">
                  <c:v>0.8362977346024848</c:v>
                </c:pt>
                <c:pt idx="38">
                  <c:v>0.77732202528848326</c:v>
                </c:pt>
                <c:pt idx="39">
                  <c:v>0.6340408513675686</c:v>
                </c:pt>
                <c:pt idx="40">
                  <c:v>0.49325453706510758</c:v>
                </c:pt>
                <c:pt idx="41">
                  <c:v>0.38355001550921503</c:v>
                </c:pt>
                <c:pt idx="42">
                  <c:v>0.31396422265117857</c:v>
                </c:pt>
                <c:pt idx="43">
                  <c:v>0.26752518291990657</c:v>
                </c:pt>
                <c:pt idx="44">
                  <c:v>0.23954117419958473</c:v>
                </c:pt>
                <c:pt idx="45">
                  <c:v>0.22237515399150223</c:v>
                </c:pt>
                <c:pt idx="46">
                  <c:v>0.21675825476717811</c:v>
                </c:pt>
                <c:pt idx="47">
                  <c:v>0.22111732893386518</c:v>
                </c:pt>
                <c:pt idx="48">
                  <c:v>0.23570532753621226</c:v>
                </c:pt>
                <c:pt idx="49">
                  <c:v>0.26526941401488802</c:v>
                </c:pt>
                <c:pt idx="50">
                  <c:v>0.3093002211977916</c:v>
                </c:pt>
                <c:pt idx="51">
                  <c:v>0.37720891397897865</c:v>
                </c:pt>
                <c:pt idx="52">
                  <c:v>0.47357286674175098</c:v>
                </c:pt>
                <c:pt idx="53">
                  <c:v>0.59343008091162852</c:v>
                </c:pt>
                <c:pt idx="54">
                  <c:v>0.70528295380563399</c:v>
                </c:pt>
                <c:pt idx="55">
                  <c:v>0.74859648884823216</c:v>
                </c:pt>
                <c:pt idx="56">
                  <c:v>0.69911510641556796</c:v>
                </c:pt>
                <c:pt idx="57">
                  <c:v>0.59291031849111742</c:v>
                </c:pt>
                <c:pt idx="58">
                  <c:v>0.48431462343231535</c:v>
                </c:pt>
                <c:pt idx="59">
                  <c:v>0.39460362965208606</c:v>
                </c:pt>
                <c:pt idx="60">
                  <c:v>0.33082878065536458</c:v>
                </c:pt>
                <c:pt idx="61">
                  <c:v>0.2868776703769394</c:v>
                </c:pt>
                <c:pt idx="62">
                  <c:v>0.26011337080341712</c:v>
                </c:pt>
                <c:pt idx="63">
                  <c:v>0.24360225124517876</c:v>
                </c:pt>
                <c:pt idx="64">
                  <c:v>0.24001935562645504</c:v>
                </c:pt>
                <c:pt idx="65">
                  <c:v>0.24529321165324178</c:v>
                </c:pt>
                <c:pt idx="66">
                  <c:v>0.2615097991731905</c:v>
                </c:pt>
                <c:pt idx="67">
                  <c:v>0.29198173734635918</c:v>
                </c:pt>
                <c:pt idx="68">
                  <c:v>0.33669516584153408</c:v>
                </c:pt>
                <c:pt idx="69">
                  <c:v>0.39980125385719789</c:v>
                </c:pt>
                <c:pt idx="70">
                  <c:v>0.48237417706240693</c:v>
                </c:pt>
                <c:pt idx="71">
                  <c:v>0.5739216647284423</c:v>
                </c:pt>
                <c:pt idx="72">
                  <c:v>0.65399972831519781</c:v>
                </c:pt>
                <c:pt idx="73">
                  <c:v>0.68092342169767683</c:v>
                </c:pt>
                <c:pt idx="74">
                  <c:v>0.64259960589198595</c:v>
                </c:pt>
                <c:pt idx="75">
                  <c:v>0.56068504841942435</c:v>
                </c:pt>
                <c:pt idx="76">
                  <c:v>0.47281054852500126</c:v>
                </c:pt>
                <c:pt idx="77">
                  <c:v>0.39706383844250559</c:v>
                </c:pt>
                <c:pt idx="78">
                  <c:v>0.34240215721874678</c:v>
                </c:pt>
                <c:pt idx="79">
                  <c:v>0.30273388928533373</c:v>
                </c:pt>
                <c:pt idx="80">
                  <c:v>0.27866195905005936</c:v>
                </c:pt>
              </c:numCache>
            </c:numRef>
          </c:yVal>
          <c:smooth val="0"/>
          <c:extLst>
            <c:ext xmlns:c16="http://schemas.microsoft.com/office/drawing/2014/chart" uri="{C3380CC4-5D6E-409C-BE32-E72D297353CC}">
              <c16:uniqueId val="{00000001-7D3F-4A86-A886-98D2C80DC33A}"/>
            </c:ext>
          </c:extLst>
        </c:ser>
        <c:ser>
          <c:idx val="2"/>
          <c:order val="2"/>
          <c:tx>
            <c:strRef>
              <c:f>Sheet1!$B$226</c:f>
              <c:strCache>
                <c:ptCount val="1"/>
                <c:pt idx="0">
                  <c:v>standard lifted (no etch)</c:v>
                </c:pt>
              </c:strCache>
            </c:strRef>
          </c:tx>
          <c:spPr>
            <a:ln w="15875">
              <a:solidFill>
                <a:srgbClr val="8A8A8A"/>
              </a:solidFill>
              <a:prstDash val="dash"/>
            </a:ln>
          </c:spPr>
          <c:marker>
            <c:symbol val="none"/>
          </c:marker>
          <c:xVal>
            <c:numRef>
              <c:f>Sheet1!$A$227:$A$228</c:f>
              <c:numCache>
                <c:formatCode>General</c:formatCode>
                <c:ptCount val="2"/>
                <c:pt idx="0">
                  <c:v>2</c:v>
                </c:pt>
                <c:pt idx="1">
                  <c:v>20</c:v>
                </c:pt>
              </c:numCache>
            </c:numRef>
          </c:xVal>
          <c:yVal>
            <c:numRef>
              <c:f>Sheet1!$B$227:$B$228</c:f>
              <c:numCache>
                <c:formatCode>General</c:formatCode>
                <c:ptCount val="2"/>
                <c:pt idx="0">
                  <c:v>0.22950000000000001</c:v>
                </c:pt>
                <c:pt idx="1">
                  <c:v>0.22950000000000001</c:v>
                </c:pt>
              </c:numCache>
            </c:numRef>
          </c:yVal>
          <c:smooth val="0"/>
          <c:extLst>
            <c:ext xmlns:c16="http://schemas.microsoft.com/office/drawing/2014/chart" uri="{C3380CC4-5D6E-409C-BE32-E72D297353CC}">
              <c16:uniqueId val="{00000002-7D3F-4A86-A886-98D2C80DC33A}"/>
            </c:ext>
          </c:extLst>
        </c:ser>
        <c:ser>
          <c:idx val="3"/>
          <c:order val="3"/>
          <c:tx>
            <c:strRef>
              <c:f>Sheet1!$B$230</c:f>
              <c:strCache>
                <c:ptCount val="1"/>
                <c:pt idx="0">
                  <c:v>_v4.2</c:v>
                </c:pt>
              </c:strCache>
            </c:strRef>
          </c:tx>
          <c:spPr>
            <a:ln w="12700">
              <a:solidFill>
                <a:srgbClr val="B0B0B0"/>
              </a:solidFill>
              <a:prstDash val="dash"/>
            </a:ln>
          </c:spPr>
          <c:marker>
            <c:symbol val="none"/>
          </c:marker>
          <c:xVal>
            <c:numRef>
              <c:f>Sheet1!$A$231:$A$232</c:f>
              <c:numCache>
                <c:formatCode>General</c:formatCode>
                <c:ptCount val="2"/>
                <c:pt idx="0">
                  <c:v>4.2</c:v>
                </c:pt>
                <c:pt idx="1">
                  <c:v>4.2</c:v>
                </c:pt>
              </c:numCache>
            </c:numRef>
          </c:xVal>
          <c:yVal>
            <c:numRef>
              <c:f>Sheet1!$B$231:$B$232</c:f>
              <c:numCache>
                <c:formatCode>General</c:formatCode>
                <c:ptCount val="2"/>
                <c:pt idx="0">
                  <c:v>1.0000000000000001E-5</c:v>
                </c:pt>
                <c:pt idx="1">
                  <c:v>10</c:v>
                </c:pt>
              </c:numCache>
            </c:numRef>
          </c:yVal>
          <c:smooth val="0"/>
          <c:extLst>
            <c:ext xmlns:c16="http://schemas.microsoft.com/office/drawing/2014/chart" uri="{C3380CC4-5D6E-409C-BE32-E72D297353CC}">
              <c16:uniqueId val="{00000003-7D3F-4A86-A886-98D2C80DC33A}"/>
            </c:ext>
          </c:extLst>
        </c:ser>
        <c:ser>
          <c:idx val="4"/>
          <c:order val="4"/>
          <c:tx>
            <c:strRef>
              <c:f>Sheet1!$B$234</c:f>
              <c:strCache>
                <c:ptCount val="1"/>
                <c:pt idx="0">
                  <c:v>_v14.0</c:v>
                </c:pt>
              </c:strCache>
            </c:strRef>
          </c:tx>
          <c:spPr>
            <a:ln w="12700">
              <a:solidFill>
                <a:srgbClr val="B0B0B0"/>
              </a:solidFill>
              <a:prstDash val="dash"/>
            </a:ln>
          </c:spPr>
          <c:marker>
            <c:symbol val="none"/>
          </c:marker>
          <c:xVal>
            <c:numRef>
              <c:f>Sheet1!$A$235:$A$236</c:f>
              <c:numCache>
                <c:formatCode>General</c:formatCode>
                <c:ptCount val="2"/>
                <c:pt idx="0">
                  <c:v>14</c:v>
                </c:pt>
                <c:pt idx="1">
                  <c:v>14</c:v>
                </c:pt>
              </c:numCache>
            </c:numRef>
          </c:xVal>
          <c:yVal>
            <c:numRef>
              <c:f>Sheet1!$B$235:$B$236</c:f>
              <c:numCache>
                <c:formatCode>General</c:formatCode>
                <c:ptCount val="2"/>
                <c:pt idx="0">
                  <c:v>1.0000000000000001E-5</c:v>
                </c:pt>
                <c:pt idx="1">
                  <c:v>10</c:v>
                </c:pt>
              </c:numCache>
            </c:numRef>
          </c:yVal>
          <c:smooth val="0"/>
          <c:extLst>
            <c:ext xmlns:c16="http://schemas.microsoft.com/office/drawing/2014/chart" uri="{C3380CC4-5D6E-409C-BE32-E72D297353CC}">
              <c16:uniqueId val="{00000004-7D3F-4A86-A886-98D2C80DC33A}"/>
            </c:ext>
          </c:extLst>
        </c:ser>
        <c:dLbls>
          <c:showLegendKey val="0"/>
          <c:showVal val="0"/>
          <c:showCatName val="0"/>
          <c:showSerName val="0"/>
          <c:showPercent val="0"/>
          <c:showBubbleSize val="0"/>
        </c:dLbls>
        <c:axId val="-2128940872"/>
        <c:axId val="-2129643912"/>
      </c:scatterChart>
      <c:valAx>
        <c:axId val="-2128940872"/>
        <c:scaling>
          <c:orientation val="minMax"/>
          <c:max val="20"/>
          <c:min val="2"/>
        </c:scaling>
        <c:delete val="0"/>
        <c:axPos val="b"/>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2"/>
      </c:valAx>
      <c:valAx>
        <c:axId val="-2129643912"/>
        <c:scaling>
          <c:logBase val="10"/>
          <c:orientation val="minMax"/>
          <c:max val="10"/>
          <c:min val="1.0000000000000001E-5"/>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legend>
      <c:legendPos val="t"/>
      <c:legendEntry>
        <c:idx val="3"/>
        <c:delete val="1"/>
      </c:legendEntry>
      <c:legendEntry>
        <c:idx val="4"/>
        <c:delete val="1"/>
      </c:legendEntry>
      <c:overlay val="0"/>
      <c:txPr>
        <a:bodyPr/>
        <a:lstStyle/>
        <a:p>
          <a:pPr>
            <a:defRPr sz="11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x_lift = 7 µm</c:v>
                </c:pt>
              </c:strCache>
            </c:strRef>
          </c:tx>
          <c:spPr>
            <a:ln w="19050">
              <a:solidFill>
                <a:srgbClr val="2A78D6"/>
              </a:solidFill>
            </a:ln>
          </c:spPr>
          <c:marker>
            <c:symbol val="circle"/>
            <c:size val="3"/>
            <c:spPr>
              <a:solidFill>
                <a:srgbClr val="2A78D6"/>
              </a:solidFill>
              <a:ln>
                <a:solidFill>
                  <a:srgbClr val="2A78D6"/>
                </a:solidFill>
              </a:ln>
            </c:spPr>
          </c:marker>
          <c:xVal>
            <c:numRef>
              <c:f>Sheet1!$A$2:$A$141</c:f>
              <c:numCache>
                <c:formatCode>General</c:formatCode>
                <c:ptCount val="140"/>
                <c:pt idx="0">
                  <c:v>2.4</c:v>
                </c:pt>
                <c:pt idx="1">
                  <c:v>2.8</c:v>
                </c:pt>
                <c:pt idx="2">
                  <c:v>3.2</c:v>
                </c:pt>
                <c:pt idx="3">
                  <c:v>3.6</c:v>
                </c:pt>
                <c:pt idx="4">
                  <c:v>4</c:v>
                </c:pt>
                <c:pt idx="5">
                  <c:v>4.0999999999999996</c:v>
                </c:pt>
                <c:pt idx="6">
                  <c:v>4.1500000000000004</c:v>
                </c:pt>
                <c:pt idx="7">
                  <c:v>4.2</c:v>
                </c:pt>
                <c:pt idx="8">
                  <c:v>4.25</c:v>
                </c:pt>
                <c:pt idx="9">
                  <c:v>4.3</c:v>
                </c:pt>
                <c:pt idx="10">
                  <c:v>4.4000000000000004</c:v>
                </c:pt>
                <c:pt idx="11">
                  <c:v>4.5</c:v>
                </c:pt>
                <c:pt idx="12">
                  <c:v>4.5999999999999996</c:v>
                </c:pt>
                <c:pt idx="13">
                  <c:v>4.7</c:v>
                </c:pt>
                <c:pt idx="14">
                  <c:v>4.75</c:v>
                </c:pt>
                <c:pt idx="15">
                  <c:v>4.8</c:v>
                </c:pt>
                <c:pt idx="16">
                  <c:v>4.8499999999999996</c:v>
                </c:pt>
                <c:pt idx="17">
                  <c:v>4.9000000000000004</c:v>
                </c:pt>
                <c:pt idx="18">
                  <c:v>4.95</c:v>
                </c:pt>
                <c:pt idx="19">
                  <c:v>5</c:v>
                </c:pt>
                <c:pt idx="20">
                  <c:v>5.05</c:v>
                </c:pt>
                <c:pt idx="21">
                  <c:v>5.0999999999999996</c:v>
                </c:pt>
                <c:pt idx="22">
                  <c:v>5.15</c:v>
                </c:pt>
                <c:pt idx="23">
                  <c:v>5.2</c:v>
                </c:pt>
                <c:pt idx="24">
                  <c:v>5.4</c:v>
                </c:pt>
                <c:pt idx="25">
                  <c:v>5.6</c:v>
                </c:pt>
                <c:pt idx="26">
                  <c:v>5.8</c:v>
                </c:pt>
                <c:pt idx="27">
                  <c:v>6</c:v>
                </c:pt>
                <c:pt idx="28">
                  <c:v>6.2</c:v>
                </c:pt>
                <c:pt idx="29">
                  <c:v>6.4</c:v>
                </c:pt>
                <c:pt idx="30">
                  <c:v>6.45</c:v>
                </c:pt>
                <c:pt idx="31">
                  <c:v>6.5</c:v>
                </c:pt>
                <c:pt idx="32">
                  <c:v>6.55</c:v>
                </c:pt>
                <c:pt idx="33">
                  <c:v>6.6</c:v>
                </c:pt>
                <c:pt idx="34">
                  <c:v>6.65</c:v>
                </c:pt>
                <c:pt idx="35">
                  <c:v>6.7</c:v>
                </c:pt>
                <c:pt idx="36">
                  <c:v>6.75</c:v>
                </c:pt>
                <c:pt idx="37">
                  <c:v>6.8</c:v>
                </c:pt>
                <c:pt idx="38">
                  <c:v>6.85</c:v>
                </c:pt>
                <c:pt idx="39">
                  <c:v>6.9</c:v>
                </c:pt>
                <c:pt idx="40">
                  <c:v>6.95</c:v>
                </c:pt>
                <c:pt idx="41">
                  <c:v>7</c:v>
                </c:pt>
                <c:pt idx="42">
                  <c:v>7.05</c:v>
                </c:pt>
                <c:pt idx="43">
                  <c:v>7.2</c:v>
                </c:pt>
                <c:pt idx="44">
                  <c:v>7.4</c:v>
                </c:pt>
                <c:pt idx="45">
                  <c:v>7.6</c:v>
                </c:pt>
                <c:pt idx="46">
                  <c:v>7.8</c:v>
                </c:pt>
                <c:pt idx="47">
                  <c:v>8</c:v>
                </c:pt>
                <c:pt idx="48">
                  <c:v>8.1999999999999993</c:v>
                </c:pt>
                <c:pt idx="49">
                  <c:v>8.25</c:v>
                </c:pt>
                <c:pt idx="50">
                  <c:v>8.3000000000000007</c:v>
                </c:pt>
                <c:pt idx="51">
                  <c:v>8.35</c:v>
                </c:pt>
                <c:pt idx="52">
                  <c:v>8.4</c:v>
                </c:pt>
                <c:pt idx="53">
                  <c:v>8.4499999999999993</c:v>
                </c:pt>
                <c:pt idx="54">
                  <c:v>8.5</c:v>
                </c:pt>
                <c:pt idx="55">
                  <c:v>8.5500000000000007</c:v>
                </c:pt>
                <c:pt idx="56">
                  <c:v>8.6</c:v>
                </c:pt>
                <c:pt idx="57">
                  <c:v>8.65</c:v>
                </c:pt>
                <c:pt idx="58">
                  <c:v>8.6999999999999993</c:v>
                </c:pt>
                <c:pt idx="59">
                  <c:v>8.75</c:v>
                </c:pt>
                <c:pt idx="60">
                  <c:v>8.8000000000000007</c:v>
                </c:pt>
                <c:pt idx="61">
                  <c:v>8.85</c:v>
                </c:pt>
                <c:pt idx="62">
                  <c:v>9</c:v>
                </c:pt>
                <c:pt idx="63">
                  <c:v>9.1999999999999993</c:v>
                </c:pt>
                <c:pt idx="64">
                  <c:v>9.4</c:v>
                </c:pt>
                <c:pt idx="65">
                  <c:v>9.6</c:v>
                </c:pt>
                <c:pt idx="66">
                  <c:v>9.8000000000000007</c:v>
                </c:pt>
                <c:pt idx="67">
                  <c:v>10</c:v>
                </c:pt>
                <c:pt idx="68">
                  <c:v>10.050000000000001</c:v>
                </c:pt>
                <c:pt idx="69">
                  <c:v>10.1</c:v>
                </c:pt>
                <c:pt idx="70">
                  <c:v>10.15</c:v>
                </c:pt>
                <c:pt idx="71">
                  <c:v>10.199999999999999</c:v>
                </c:pt>
                <c:pt idx="72">
                  <c:v>10.25</c:v>
                </c:pt>
                <c:pt idx="73">
                  <c:v>10.3</c:v>
                </c:pt>
                <c:pt idx="74">
                  <c:v>10.35</c:v>
                </c:pt>
                <c:pt idx="75">
                  <c:v>10.4</c:v>
                </c:pt>
                <c:pt idx="76">
                  <c:v>10.45</c:v>
                </c:pt>
                <c:pt idx="77">
                  <c:v>10.5</c:v>
                </c:pt>
                <c:pt idx="78">
                  <c:v>10.55</c:v>
                </c:pt>
                <c:pt idx="79">
                  <c:v>10.6</c:v>
                </c:pt>
                <c:pt idx="80">
                  <c:v>10.65</c:v>
                </c:pt>
                <c:pt idx="81">
                  <c:v>10.8</c:v>
                </c:pt>
                <c:pt idx="82">
                  <c:v>11</c:v>
                </c:pt>
                <c:pt idx="83">
                  <c:v>11.2</c:v>
                </c:pt>
                <c:pt idx="84">
                  <c:v>11.4</c:v>
                </c:pt>
                <c:pt idx="85">
                  <c:v>11.6</c:v>
                </c:pt>
                <c:pt idx="86">
                  <c:v>11.8</c:v>
                </c:pt>
                <c:pt idx="87">
                  <c:v>11.85</c:v>
                </c:pt>
                <c:pt idx="88">
                  <c:v>11.9</c:v>
                </c:pt>
                <c:pt idx="89">
                  <c:v>11.95</c:v>
                </c:pt>
                <c:pt idx="90">
                  <c:v>12</c:v>
                </c:pt>
                <c:pt idx="91">
                  <c:v>12.05</c:v>
                </c:pt>
                <c:pt idx="92">
                  <c:v>12.1</c:v>
                </c:pt>
                <c:pt idx="93">
                  <c:v>12.15</c:v>
                </c:pt>
                <c:pt idx="94">
                  <c:v>12.2</c:v>
                </c:pt>
                <c:pt idx="95">
                  <c:v>12.25</c:v>
                </c:pt>
                <c:pt idx="96">
                  <c:v>12.3</c:v>
                </c:pt>
                <c:pt idx="97">
                  <c:v>12.35</c:v>
                </c:pt>
                <c:pt idx="98">
                  <c:v>12.4</c:v>
                </c:pt>
                <c:pt idx="99">
                  <c:v>12.45</c:v>
                </c:pt>
                <c:pt idx="100">
                  <c:v>12.6</c:v>
                </c:pt>
                <c:pt idx="101">
                  <c:v>12.8</c:v>
                </c:pt>
                <c:pt idx="102">
                  <c:v>13</c:v>
                </c:pt>
                <c:pt idx="103">
                  <c:v>13.2</c:v>
                </c:pt>
                <c:pt idx="104">
                  <c:v>13.4</c:v>
                </c:pt>
                <c:pt idx="105">
                  <c:v>13.6</c:v>
                </c:pt>
                <c:pt idx="106">
                  <c:v>13.65</c:v>
                </c:pt>
                <c:pt idx="107">
                  <c:v>13.7</c:v>
                </c:pt>
                <c:pt idx="108">
                  <c:v>13.75</c:v>
                </c:pt>
                <c:pt idx="109">
                  <c:v>13.8</c:v>
                </c:pt>
                <c:pt idx="110">
                  <c:v>13.85</c:v>
                </c:pt>
                <c:pt idx="111">
                  <c:v>13.9</c:v>
                </c:pt>
                <c:pt idx="112">
                  <c:v>13.95</c:v>
                </c:pt>
                <c:pt idx="113">
                  <c:v>14</c:v>
                </c:pt>
                <c:pt idx="114">
                  <c:v>14.05</c:v>
                </c:pt>
                <c:pt idx="115">
                  <c:v>14.1</c:v>
                </c:pt>
                <c:pt idx="116">
                  <c:v>14.2</c:v>
                </c:pt>
                <c:pt idx="117">
                  <c:v>14.3</c:v>
                </c:pt>
                <c:pt idx="118">
                  <c:v>14.4</c:v>
                </c:pt>
                <c:pt idx="119">
                  <c:v>14.5</c:v>
                </c:pt>
                <c:pt idx="120">
                  <c:v>14.6</c:v>
                </c:pt>
                <c:pt idx="121">
                  <c:v>14.7</c:v>
                </c:pt>
                <c:pt idx="122">
                  <c:v>14.8</c:v>
                </c:pt>
                <c:pt idx="123">
                  <c:v>14.9</c:v>
                </c:pt>
                <c:pt idx="124">
                  <c:v>15</c:v>
                </c:pt>
                <c:pt idx="125">
                  <c:v>15.2</c:v>
                </c:pt>
                <c:pt idx="126">
                  <c:v>15.4</c:v>
                </c:pt>
                <c:pt idx="127">
                  <c:v>15.6</c:v>
                </c:pt>
                <c:pt idx="128">
                  <c:v>15.8</c:v>
                </c:pt>
                <c:pt idx="129">
                  <c:v>16</c:v>
                </c:pt>
                <c:pt idx="130">
                  <c:v>16.399999999999999</c:v>
                </c:pt>
                <c:pt idx="131">
                  <c:v>16.8</c:v>
                </c:pt>
                <c:pt idx="132">
                  <c:v>17.2</c:v>
                </c:pt>
                <c:pt idx="133">
                  <c:v>17.600000000000001</c:v>
                </c:pt>
                <c:pt idx="134">
                  <c:v>18</c:v>
                </c:pt>
                <c:pt idx="135">
                  <c:v>18.399999999999999</c:v>
                </c:pt>
                <c:pt idx="136">
                  <c:v>18.8</c:v>
                </c:pt>
                <c:pt idx="137">
                  <c:v>19.2</c:v>
                </c:pt>
                <c:pt idx="138">
                  <c:v>19.600000000000001</c:v>
                </c:pt>
                <c:pt idx="139">
                  <c:v>20</c:v>
                </c:pt>
              </c:numCache>
            </c:numRef>
          </c:xVal>
          <c:yVal>
            <c:numRef>
              <c:f>Sheet1!$B$2:$B$141</c:f>
              <c:numCache>
                <c:formatCode>General</c:formatCode>
                <c:ptCount val="140"/>
                <c:pt idx="0">
                  <c:v>5.3860000000000001</c:v>
                </c:pt>
                <c:pt idx="1">
                  <c:v>4.7811000000000003</c:v>
                </c:pt>
                <c:pt idx="2">
                  <c:v>4.2476000000000003</c:v>
                </c:pt>
                <c:pt idx="3">
                  <c:v>3.7256</c:v>
                </c:pt>
                <c:pt idx="4">
                  <c:v>3.0594999999999999</c:v>
                </c:pt>
                <c:pt idx="5">
                  <c:v>2.7753000000000001</c:v>
                </c:pt>
                <c:pt idx="6">
                  <c:v>2.5579000000000001</c:v>
                </c:pt>
                <c:pt idx="7">
                  <c:v>2.1505999999999998</c:v>
                </c:pt>
                <c:pt idx="8">
                  <c:v>2.1753</c:v>
                </c:pt>
                <c:pt idx="9">
                  <c:v>2.1953999999999998</c:v>
                </c:pt>
                <c:pt idx="10">
                  <c:v>2.2241</c:v>
                </c:pt>
                <c:pt idx="11">
                  <c:v>2.2412000000000001</c:v>
                </c:pt>
                <c:pt idx="12">
                  <c:v>2.2513000000000001</c:v>
                </c:pt>
                <c:pt idx="13">
                  <c:v>2.2570000000000001</c:v>
                </c:pt>
                <c:pt idx="14">
                  <c:v>2.2589000000000001</c:v>
                </c:pt>
                <c:pt idx="15">
                  <c:v>2.2603</c:v>
                </c:pt>
                <c:pt idx="16">
                  <c:v>2.2612000000000001</c:v>
                </c:pt>
                <c:pt idx="17">
                  <c:v>2.2616999999999998</c:v>
                </c:pt>
                <c:pt idx="18">
                  <c:v>2.262</c:v>
                </c:pt>
                <c:pt idx="19">
                  <c:v>2.2637</c:v>
                </c:pt>
                <c:pt idx="20">
                  <c:v>2.2643</c:v>
                </c:pt>
                <c:pt idx="21">
                  <c:v>2.2646000000000002</c:v>
                </c:pt>
                <c:pt idx="22">
                  <c:v>2.2648999999999999</c:v>
                </c:pt>
                <c:pt idx="23">
                  <c:v>2.2650999999999999</c:v>
                </c:pt>
                <c:pt idx="24">
                  <c:v>2.2656999999999998</c:v>
                </c:pt>
                <c:pt idx="25">
                  <c:v>2.266</c:v>
                </c:pt>
                <c:pt idx="26">
                  <c:v>2.2662</c:v>
                </c:pt>
                <c:pt idx="27">
                  <c:v>2.2663000000000002</c:v>
                </c:pt>
                <c:pt idx="28">
                  <c:v>2.2664</c:v>
                </c:pt>
                <c:pt idx="29">
                  <c:v>2.2664</c:v>
                </c:pt>
                <c:pt idx="30">
                  <c:v>2.2664</c:v>
                </c:pt>
                <c:pt idx="31">
                  <c:v>2.2664</c:v>
                </c:pt>
                <c:pt idx="32">
                  <c:v>2.2664</c:v>
                </c:pt>
                <c:pt idx="33">
                  <c:v>2.2664</c:v>
                </c:pt>
                <c:pt idx="34">
                  <c:v>2.2663000000000002</c:v>
                </c:pt>
                <c:pt idx="35">
                  <c:v>2.2663000000000002</c:v>
                </c:pt>
                <c:pt idx="36">
                  <c:v>2.2664</c:v>
                </c:pt>
                <c:pt idx="37">
                  <c:v>2.2665000000000002</c:v>
                </c:pt>
                <c:pt idx="38">
                  <c:v>2.2665999999999999</c:v>
                </c:pt>
                <c:pt idx="39">
                  <c:v>2.2667000000000002</c:v>
                </c:pt>
                <c:pt idx="40">
                  <c:v>2.2667000000000002</c:v>
                </c:pt>
                <c:pt idx="41">
                  <c:v>2.2667000000000002</c:v>
                </c:pt>
                <c:pt idx="42">
                  <c:v>2.2667000000000002</c:v>
                </c:pt>
                <c:pt idx="43">
                  <c:v>2.2667000000000002</c:v>
                </c:pt>
                <c:pt idx="44">
                  <c:v>2.2667000000000002</c:v>
                </c:pt>
                <c:pt idx="45">
                  <c:v>2.2667000000000002</c:v>
                </c:pt>
                <c:pt idx="46">
                  <c:v>2.2667000000000002</c:v>
                </c:pt>
                <c:pt idx="47">
                  <c:v>2.2667000000000002</c:v>
                </c:pt>
                <c:pt idx="48">
                  <c:v>2.2667000000000002</c:v>
                </c:pt>
                <c:pt idx="49">
                  <c:v>2.2667000000000002</c:v>
                </c:pt>
                <c:pt idx="50">
                  <c:v>2.2667000000000002</c:v>
                </c:pt>
                <c:pt idx="51">
                  <c:v>2.2667000000000002</c:v>
                </c:pt>
                <c:pt idx="52">
                  <c:v>2.2665999999999999</c:v>
                </c:pt>
                <c:pt idx="53">
                  <c:v>2.2665999999999999</c:v>
                </c:pt>
                <c:pt idx="54">
                  <c:v>2.2667000000000002</c:v>
                </c:pt>
                <c:pt idx="55">
                  <c:v>2.2667000000000002</c:v>
                </c:pt>
                <c:pt idx="56">
                  <c:v>2.2667999999999999</c:v>
                </c:pt>
                <c:pt idx="57">
                  <c:v>2.2667999999999999</c:v>
                </c:pt>
                <c:pt idx="58">
                  <c:v>2.2667999999999999</c:v>
                </c:pt>
                <c:pt idx="59">
                  <c:v>2.2667999999999999</c:v>
                </c:pt>
                <c:pt idx="60">
                  <c:v>2.2667999999999999</c:v>
                </c:pt>
                <c:pt idx="61">
                  <c:v>2.2667999999999999</c:v>
                </c:pt>
                <c:pt idx="62">
                  <c:v>2.2667999999999999</c:v>
                </c:pt>
                <c:pt idx="63">
                  <c:v>2.2667999999999999</c:v>
                </c:pt>
                <c:pt idx="64">
                  <c:v>2.2667999999999999</c:v>
                </c:pt>
                <c:pt idx="65">
                  <c:v>2.2667999999999999</c:v>
                </c:pt>
                <c:pt idx="66">
                  <c:v>2.2667999999999999</c:v>
                </c:pt>
                <c:pt idx="67">
                  <c:v>2.2667999999999999</c:v>
                </c:pt>
                <c:pt idx="68">
                  <c:v>2.2667999999999999</c:v>
                </c:pt>
                <c:pt idx="69">
                  <c:v>2.2667999999999999</c:v>
                </c:pt>
                <c:pt idx="70">
                  <c:v>2.2667999999999999</c:v>
                </c:pt>
                <c:pt idx="71">
                  <c:v>2.2667999999999999</c:v>
                </c:pt>
                <c:pt idx="72">
                  <c:v>2.2667999999999999</c:v>
                </c:pt>
                <c:pt idx="73">
                  <c:v>2.2667999999999999</c:v>
                </c:pt>
                <c:pt idx="74">
                  <c:v>2.2667999999999999</c:v>
                </c:pt>
                <c:pt idx="75">
                  <c:v>2.2669000000000001</c:v>
                </c:pt>
                <c:pt idx="76">
                  <c:v>2.2669000000000001</c:v>
                </c:pt>
                <c:pt idx="77">
                  <c:v>2.2669000000000001</c:v>
                </c:pt>
                <c:pt idx="78">
                  <c:v>2.2669000000000001</c:v>
                </c:pt>
                <c:pt idx="79">
                  <c:v>2.2669000000000001</c:v>
                </c:pt>
                <c:pt idx="80">
                  <c:v>2.2669000000000001</c:v>
                </c:pt>
                <c:pt idx="81">
                  <c:v>2.2669000000000001</c:v>
                </c:pt>
                <c:pt idx="82">
                  <c:v>2.2669000000000001</c:v>
                </c:pt>
                <c:pt idx="83">
                  <c:v>2.2669000000000001</c:v>
                </c:pt>
                <c:pt idx="84">
                  <c:v>2.2669000000000001</c:v>
                </c:pt>
                <c:pt idx="85">
                  <c:v>2.2667999999999999</c:v>
                </c:pt>
                <c:pt idx="86">
                  <c:v>2.2667999999999999</c:v>
                </c:pt>
                <c:pt idx="87">
                  <c:v>2.2667999999999999</c:v>
                </c:pt>
                <c:pt idx="88">
                  <c:v>2.2667999999999999</c:v>
                </c:pt>
                <c:pt idx="89">
                  <c:v>2.2667999999999999</c:v>
                </c:pt>
                <c:pt idx="90">
                  <c:v>2.2667999999999999</c:v>
                </c:pt>
                <c:pt idx="91">
                  <c:v>2.2667999999999999</c:v>
                </c:pt>
                <c:pt idx="92">
                  <c:v>2.2667999999999999</c:v>
                </c:pt>
                <c:pt idx="93">
                  <c:v>2.2669000000000001</c:v>
                </c:pt>
                <c:pt idx="94">
                  <c:v>2.2669000000000001</c:v>
                </c:pt>
                <c:pt idx="95">
                  <c:v>2.2669000000000001</c:v>
                </c:pt>
                <c:pt idx="96">
                  <c:v>2.2669000000000001</c:v>
                </c:pt>
                <c:pt idx="97">
                  <c:v>2.2669000000000001</c:v>
                </c:pt>
                <c:pt idx="98">
                  <c:v>2.2669000000000001</c:v>
                </c:pt>
                <c:pt idx="99">
                  <c:v>2.2669000000000001</c:v>
                </c:pt>
                <c:pt idx="100">
                  <c:v>2.2669000000000001</c:v>
                </c:pt>
                <c:pt idx="101">
                  <c:v>2.2669000000000001</c:v>
                </c:pt>
                <c:pt idx="102">
                  <c:v>2.2669000000000001</c:v>
                </c:pt>
                <c:pt idx="103">
                  <c:v>2.2669000000000001</c:v>
                </c:pt>
                <c:pt idx="104">
                  <c:v>2.2669000000000001</c:v>
                </c:pt>
                <c:pt idx="105">
                  <c:v>2.2669000000000001</c:v>
                </c:pt>
                <c:pt idx="106">
                  <c:v>2.2667999999999999</c:v>
                </c:pt>
                <c:pt idx="107">
                  <c:v>2.2667999999999999</c:v>
                </c:pt>
                <c:pt idx="108">
                  <c:v>2.2669000000000001</c:v>
                </c:pt>
                <c:pt idx="109">
                  <c:v>2.2669000000000001</c:v>
                </c:pt>
                <c:pt idx="110">
                  <c:v>2.2669999999999999</c:v>
                </c:pt>
                <c:pt idx="111">
                  <c:v>2.2669000000000001</c:v>
                </c:pt>
                <c:pt idx="112">
                  <c:v>2.2669000000000001</c:v>
                </c:pt>
                <c:pt idx="113">
                  <c:v>2.2669000000000001</c:v>
                </c:pt>
                <c:pt idx="114">
                  <c:v>2.2669999999999999</c:v>
                </c:pt>
                <c:pt idx="115">
                  <c:v>2.2669000000000001</c:v>
                </c:pt>
                <c:pt idx="116">
                  <c:v>2.2669000000000001</c:v>
                </c:pt>
                <c:pt idx="117">
                  <c:v>2.2669000000000001</c:v>
                </c:pt>
                <c:pt idx="118">
                  <c:v>2.2669000000000001</c:v>
                </c:pt>
                <c:pt idx="119">
                  <c:v>2.2669000000000001</c:v>
                </c:pt>
                <c:pt idx="120">
                  <c:v>2.2667999999999999</c:v>
                </c:pt>
                <c:pt idx="121">
                  <c:v>2.2667999999999999</c:v>
                </c:pt>
                <c:pt idx="122">
                  <c:v>2.2667999999999999</c:v>
                </c:pt>
                <c:pt idx="123">
                  <c:v>2.2667999999999999</c:v>
                </c:pt>
                <c:pt idx="124">
                  <c:v>2.2667999999999999</c:v>
                </c:pt>
                <c:pt idx="125">
                  <c:v>2.2667999999999999</c:v>
                </c:pt>
                <c:pt idx="126">
                  <c:v>2.2667999999999999</c:v>
                </c:pt>
                <c:pt idx="127">
                  <c:v>2.2667999999999999</c:v>
                </c:pt>
                <c:pt idx="128">
                  <c:v>2.2667999999999999</c:v>
                </c:pt>
                <c:pt idx="129">
                  <c:v>2.2667999999999999</c:v>
                </c:pt>
                <c:pt idx="130">
                  <c:v>2.2667999999999999</c:v>
                </c:pt>
                <c:pt idx="131">
                  <c:v>2.2667999999999999</c:v>
                </c:pt>
                <c:pt idx="132">
                  <c:v>2.2667999999999999</c:v>
                </c:pt>
                <c:pt idx="133">
                  <c:v>2.2667999999999999</c:v>
                </c:pt>
                <c:pt idx="134">
                  <c:v>2.2667999999999999</c:v>
                </c:pt>
                <c:pt idx="135">
                  <c:v>2.2667999999999999</c:v>
                </c:pt>
                <c:pt idx="136">
                  <c:v>2.2667999999999999</c:v>
                </c:pt>
                <c:pt idx="137">
                  <c:v>2.2667999999999999</c:v>
                </c:pt>
                <c:pt idx="138">
                  <c:v>2.2667999999999999</c:v>
                </c:pt>
                <c:pt idx="139">
                  <c:v>2.2667999999999999</c:v>
                </c:pt>
              </c:numCache>
            </c:numRef>
          </c:yVal>
          <c:smooth val="0"/>
          <c:extLst>
            <c:ext xmlns:c16="http://schemas.microsoft.com/office/drawing/2014/chart" uri="{C3380CC4-5D6E-409C-BE32-E72D297353CC}">
              <c16:uniqueId val="{00000000-10FF-47D8-AD33-0DF43E63A3F6}"/>
            </c:ext>
          </c:extLst>
        </c:ser>
        <c:ser>
          <c:idx val="1"/>
          <c:order val="1"/>
          <c:tx>
            <c:strRef>
              <c:f>Sheet1!$B$143</c:f>
              <c:strCache>
                <c:ptCount val="1"/>
                <c:pt idx="0">
                  <c:v>x_lift = 11 µm</c:v>
                </c:pt>
              </c:strCache>
            </c:strRef>
          </c:tx>
          <c:spPr>
            <a:ln w="19050">
              <a:solidFill>
                <a:srgbClr val="EB6834"/>
              </a:solidFill>
            </a:ln>
          </c:spPr>
          <c:marker>
            <c:symbol val="circle"/>
            <c:size val="3"/>
            <c:spPr>
              <a:solidFill>
                <a:srgbClr val="EB6834"/>
              </a:solidFill>
              <a:ln>
                <a:solidFill>
                  <a:srgbClr val="EB6834"/>
                </a:solidFill>
              </a:ln>
            </c:spPr>
          </c:marker>
          <c:xVal>
            <c:numRef>
              <c:f>Sheet1!$A$144:$A$224</c:f>
              <c:numCache>
                <c:formatCode>General</c:formatCode>
                <c:ptCount val="81"/>
                <c:pt idx="0">
                  <c:v>12</c:v>
                </c:pt>
                <c:pt idx="1">
                  <c:v>12.1</c:v>
                </c:pt>
                <c:pt idx="2">
                  <c:v>12.2</c:v>
                </c:pt>
                <c:pt idx="3">
                  <c:v>12.3</c:v>
                </c:pt>
                <c:pt idx="4">
                  <c:v>12.4</c:v>
                </c:pt>
                <c:pt idx="5">
                  <c:v>12.5</c:v>
                </c:pt>
                <c:pt idx="6">
                  <c:v>12.6</c:v>
                </c:pt>
                <c:pt idx="7">
                  <c:v>12.7</c:v>
                </c:pt>
                <c:pt idx="8">
                  <c:v>12.8</c:v>
                </c:pt>
                <c:pt idx="9">
                  <c:v>12.9</c:v>
                </c:pt>
                <c:pt idx="10">
                  <c:v>13</c:v>
                </c:pt>
                <c:pt idx="11">
                  <c:v>13.1</c:v>
                </c:pt>
                <c:pt idx="12">
                  <c:v>13.2</c:v>
                </c:pt>
                <c:pt idx="13">
                  <c:v>13.3</c:v>
                </c:pt>
                <c:pt idx="14">
                  <c:v>13.4</c:v>
                </c:pt>
                <c:pt idx="15">
                  <c:v>13.5</c:v>
                </c:pt>
                <c:pt idx="16">
                  <c:v>13.6</c:v>
                </c:pt>
                <c:pt idx="17">
                  <c:v>13.7</c:v>
                </c:pt>
                <c:pt idx="18">
                  <c:v>13.8</c:v>
                </c:pt>
                <c:pt idx="19">
                  <c:v>13.9</c:v>
                </c:pt>
                <c:pt idx="20">
                  <c:v>14</c:v>
                </c:pt>
                <c:pt idx="21">
                  <c:v>14.1</c:v>
                </c:pt>
                <c:pt idx="22">
                  <c:v>14.2</c:v>
                </c:pt>
                <c:pt idx="23">
                  <c:v>14.3</c:v>
                </c:pt>
                <c:pt idx="24">
                  <c:v>14.4</c:v>
                </c:pt>
                <c:pt idx="25">
                  <c:v>14.5</c:v>
                </c:pt>
                <c:pt idx="26">
                  <c:v>14.6</c:v>
                </c:pt>
                <c:pt idx="27">
                  <c:v>14.7</c:v>
                </c:pt>
                <c:pt idx="28">
                  <c:v>14.8</c:v>
                </c:pt>
                <c:pt idx="29">
                  <c:v>14.9</c:v>
                </c:pt>
                <c:pt idx="30">
                  <c:v>15</c:v>
                </c:pt>
                <c:pt idx="31">
                  <c:v>15.1</c:v>
                </c:pt>
                <c:pt idx="32">
                  <c:v>15.2</c:v>
                </c:pt>
                <c:pt idx="33">
                  <c:v>15.3</c:v>
                </c:pt>
                <c:pt idx="34">
                  <c:v>15.4</c:v>
                </c:pt>
                <c:pt idx="35">
                  <c:v>15.5</c:v>
                </c:pt>
                <c:pt idx="36">
                  <c:v>15.6</c:v>
                </c:pt>
                <c:pt idx="37">
                  <c:v>15.7</c:v>
                </c:pt>
                <c:pt idx="38">
                  <c:v>15.8</c:v>
                </c:pt>
                <c:pt idx="39">
                  <c:v>15.9</c:v>
                </c:pt>
                <c:pt idx="40">
                  <c:v>16</c:v>
                </c:pt>
                <c:pt idx="41">
                  <c:v>16.100000000000001</c:v>
                </c:pt>
                <c:pt idx="42">
                  <c:v>16.2</c:v>
                </c:pt>
                <c:pt idx="43">
                  <c:v>16.3</c:v>
                </c:pt>
                <c:pt idx="44">
                  <c:v>16.399999999999999</c:v>
                </c:pt>
                <c:pt idx="45">
                  <c:v>16.5</c:v>
                </c:pt>
                <c:pt idx="46">
                  <c:v>16.600000000000001</c:v>
                </c:pt>
                <c:pt idx="47">
                  <c:v>16.7</c:v>
                </c:pt>
                <c:pt idx="48">
                  <c:v>16.8</c:v>
                </c:pt>
                <c:pt idx="49">
                  <c:v>16.899999999999999</c:v>
                </c:pt>
                <c:pt idx="50">
                  <c:v>17</c:v>
                </c:pt>
                <c:pt idx="51">
                  <c:v>17.100000000000001</c:v>
                </c:pt>
                <c:pt idx="52">
                  <c:v>17.2</c:v>
                </c:pt>
                <c:pt idx="53">
                  <c:v>17.3</c:v>
                </c:pt>
                <c:pt idx="54">
                  <c:v>17.399999999999999</c:v>
                </c:pt>
                <c:pt idx="55">
                  <c:v>17.5</c:v>
                </c:pt>
                <c:pt idx="56">
                  <c:v>17.600000000000001</c:v>
                </c:pt>
                <c:pt idx="57">
                  <c:v>17.7</c:v>
                </c:pt>
                <c:pt idx="58">
                  <c:v>17.8</c:v>
                </c:pt>
                <c:pt idx="59">
                  <c:v>17.899999999999999</c:v>
                </c:pt>
                <c:pt idx="60">
                  <c:v>18</c:v>
                </c:pt>
                <c:pt idx="61">
                  <c:v>18.100000000000001</c:v>
                </c:pt>
                <c:pt idx="62">
                  <c:v>18.2</c:v>
                </c:pt>
                <c:pt idx="63">
                  <c:v>18.3</c:v>
                </c:pt>
                <c:pt idx="64">
                  <c:v>18.399999999999999</c:v>
                </c:pt>
                <c:pt idx="65">
                  <c:v>18.5</c:v>
                </c:pt>
                <c:pt idx="66">
                  <c:v>18.600000000000001</c:v>
                </c:pt>
                <c:pt idx="67">
                  <c:v>18.7</c:v>
                </c:pt>
                <c:pt idx="68">
                  <c:v>18.8</c:v>
                </c:pt>
                <c:pt idx="69">
                  <c:v>18.899999999999999</c:v>
                </c:pt>
                <c:pt idx="70">
                  <c:v>19</c:v>
                </c:pt>
                <c:pt idx="71">
                  <c:v>19.100000000000001</c:v>
                </c:pt>
                <c:pt idx="72">
                  <c:v>19.2</c:v>
                </c:pt>
                <c:pt idx="73">
                  <c:v>19.3</c:v>
                </c:pt>
                <c:pt idx="74">
                  <c:v>19.399999999999999</c:v>
                </c:pt>
                <c:pt idx="75">
                  <c:v>19.5</c:v>
                </c:pt>
                <c:pt idx="76">
                  <c:v>19.600000000000001</c:v>
                </c:pt>
                <c:pt idx="77">
                  <c:v>19.7</c:v>
                </c:pt>
                <c:pt idx="78">
                  <c:v>19.8</c:v>
                </c:pt>
                <c:pt idx="79">
                  <c:v>19.899999999999999</c:v>
                </c:pt>
                <c:pt idx="80">
                  <c:v>20</c:v>
                </c:pt>
              </c:numCache>
            </c:numRef>
          </c:xVal>
          <c:yVal>
            <c:numRef>
              <c:f>Sheet1!$B$144:$B$224</c:f>
              <c:numCache>
                <c:formatCode>General</c:formatCode>
                <c:ptCount val="81"/>
                <c:pt idx="0">
                  <c:v>2.2667999999999999</c:v>
                </c:pt>
                <c:pt idx="1">
                  <c:v>2.2669000000000001</c:v>
                </c:pt>
                <c:pt idx="2">
                  <c:v>2.2669000000000001</c:v>
                </c:pt>
                <c:pt idx="3">
                  <c:v>2.2669000000000001</c:v>
                </c:pt>
                <c:pt idx="4">
                  <c:v>2.2669999999999999</c:v>
                </c:pt>
                <c:pt idx="5">
                  <c:v>2.2669000000000001</c:v>
                </c:pt>
                <c:pt idx="6">
                  <c:v>2.2669000000000001</c:v>
                </c:pt>
                <c:pt idx="7">
                  <c:v>2.2669000000000001</c:v>
                </c:pt>
                <c:pt idx="8">
                  <c:v>2.2669000000000001</c:v>
                </c:pt>
                <c:pt idx="9">
                  <c:v>2.2669000000000001</c:v>
                </c:pt>
                <c:pt idx="10">
                  <c:v>2.2669000000000001</c:v>
                </c:pt>
                <c:pt idx="11">
                  <c:v>2.2669000000000001</c:v>
                </c:pt>
                <c:pt idx="12">
                  <c:v>2.2669000000000001</c:v>
                </c:pt>
                <c:pt idx="13">
                  <c:v>2.2669000000000001</c:v>
                </c:pt>
                <c:pt idx="14">
                  <c:v>2.2669000000000001</c:v>
                </c:pt>
                <c:pt idx="15">
                  <c:v>2.2669000000000001</c:v>
                </c:pt>
                <c:pt idx="16">
                  <c:v>2.2669000000000001</c:v>
                </c:pt>
                <c:pt idx="17">
                  <c:v>2.2669000000000001</c:v>
                </c:pt>
                <c:pt idx="18">
                  <c:v>2.2669000000000001</c:v>
                </c:pt>
                <c:pt idx="19">
                  <c:v>2.2669000000000001</c:v>
                </c:pt>
                <c:pt idx="20">
                  <c:v>2.2669000000000001</c:v>
                </c:pt>
                <c:pt idx="21">
                  <c:v>2.2669999999999999</c:v>
                </c:pt>
                <c:pt idx="22">
                  <c:v>2.2669999999999999</c:v>
                </c:pt>
                <c:pt idx="23">
                  <c:v>2.2669000000000001</c:v>
                </c:pt>
                <c:pt idx="24">
                  <c:v>2.2669000000000001</c:v>
                </c:pt>
                <c:pt idx="25">
                  <c:v>2.2669000000000001</c:v>
                </c:pt>
                <c:pt idx="26">
                  <c:v>2.2669000000000001</c:v>
                </c:pt>
                <c:pt idx="27">
                  <c:v>2.2669000000000001</c:v>
                </c:pt>
                <c:pt idx="28">
                  <c:v>2.2669000000000001</c:v>
                </c:pt>
                <c:pt idx="29">
                  <c:v>2.2669000000000001</c:v>
                </c:pt>
                <c:pt idx="30">
                  <c:v>2.2669000000000001</c:v>
                </c:pt>
                <c:pt idx="31">
                  <c:v>2.2669000000000001</c:v>
                </c:pt>
                <c:pt idx="32">
                  <c:v>2.2669000000000001</c:v>
                </c:pt>
                <c:pt idx="33">
                  <c:v>2.2669000000000001</c:v>
                </c:pt>
                <c:pt idx="34">
                  <c:v>2.2669000000000001</c:v>
                </c:pt>
                <c:pt idx="35">
                  <c:v>2.2669000000000001</c:v>
                </c:pt>
                <c:pt idx="36">
                  <c:v>2.2669000000000001</c:v>
                </c:pt>
                <c:pt idx="37">
                  <c:v>2.2669000000000001</c:v>
                </c:pt>
                <c:pt idx="38">
                  <c:v>2.2669000000000001</c:v>
                </c:pt>
                <c:pt idx="39">
                  <c:v>2.2669000000000001</c:v>
                </c:pt>
                <c:pt idx="40">
                  <c:v>2.2669999999999999</c:v>
                </c:pt>
                <c:pt idx="41">
                  <c:v>2.2669000000000001</c:v>
                </c:pt>
                <c:pt idx="42">
                  <c:v>2.2669000000000001</c:v>
                </c:pt>
                <c:pt idx="43">
                  <c:v>2.2669000000000001</c:v>
                </c:pt>
                <c:pt idx="44">
                  <c:v>2.2669000000000001</c:v>
                </c:pt>
                <c:pt idx="45">
                  <c:v>2.2669000000000001</c:v>
                </c:pt>
                <c:pt idx="46">
                  <c:v>2.2669000000000001</c:v>
                </c:pt>
                <c:pt idx="47">
                  <c:v>2.2669000000000001</c:v>
                </c:pt>
                <c:pt idx="48">
                  <c:v>2.2669000000000001</c:v>
                </c:pt>
                <c:pt idx="49">
                  <c:v>2.2669000000000001</c:v>
                </c:pt>
                <c:pt idx="50">
                  <c:v>2.2669000000000001</c:v>
                </c:pt>
                <c:pt idx="51">
                  <c:v>2.2669000000000001</c:v>
                </c:pt>
                <c:pt idx="52">
                  <c:v>2.2669000000000001</c:v>
                </c:pt>
                <c:pt idx="53">
                  <c:v>2.2669000000000001</c:v>
                </c:pt>
                <c:pt idx="54">
                  <c:v>2.2669000000000001</c:v>
                </c:pt>
                <c:pt idx="55">
                  <c:v>2.2669000000000001</c:v>
                </c:pt>
                <c:pt idx="56">
                  <c:v>2.2669000000000001</c:v>
                </c:pt>
                <c:pt idx="57">
                  <c:v>2.2669000000000001</c:v>
                </c:pt>
                <c:pt idx="58">
                  <c:v>2.2669000000000001</c:v>
                </c:pt>
                <c:pt idx="59">
                  <c:v>2.2669000000000001</c:v>
                </c:pt>
                <c:pt idx="60">
                  <c:v>2.2669000000000001</c:v>
                </c:pt>
                <c:pt idx="61">
                  <c:v>2.2669000000000001</c:v>
                </c:pt>
                <c:pt idx="62">
                  <c:v>2.2669000000000001</c:v>
                </c:pt>
                <c:pt idx="63">
                  <c:v>2.2669000000000001</c:v>
                </c:pt>
                <c:pt idx="64">
                  <c:v>2.2669000000000001</c:v>
                </c:pt>
                <c:pt idx="65">
                  <c:v>2.2669000000000001</c:v>
                </c:pt>
                <c:pt idx="66">
                  <c:v>2.2669000000000001</c:v>
                </c:pt>
                <c:pt idx="67">
                  <c:v>2.2669000000000001</c:v>
                </c:pt>
                <c:pt idx="68">
                  <c:v>2.2669000000000001</c:v>
                </c:pt>
                <c:pt idx="69">
                  <c:v>2.2669000000000001</c:v>
                </c:pt>
                <c:pt idx="70">
                  <c:v>2.2669000000000001</c:v>
                </c:pt>
                <c:pt idx="71">
                  <c:v>2.2669000000000001</c:v>
                </c:pt>
                <c:pt idx="72">
                  <c:v>2.2669000000000001</c:v>
                </c:pt>
                <c:pt idx="73">
                  <c:v>2.2669000000000001</c:v>
                </c:pt>
                <c:pt idx="74">
                  <c:v>2.2669000000000001</c:v>
                </c:pt>
                <c:pt idx="75">
                  <c:v>2.2669000000000001</c:v>
                </c:pt>
                <c:pt idx="76">
                  <c:v>2.2669000000000001</c:v>
                </c:pt>
                <c:pt idx="77">
                  <c:v>2.2669000000000001</c:v>
                </c:pt>
                <c:pt idx="78">
                  <c:v>2.2669000000000001</c:v>
                </c:pt>
                <c:pt idx="79">
                  <c:v>2.2669000000000001</c:v>
                </c:pt>
                <c:pt idx="80">
                  <c:v>2.2669000000000001</c:v>
                </c:pt>
              </c:numCache>
            </c:numRef>
          </c:yVal>
          <c:smooth val="0"/>
          <c:extLst>
            <c:ext xmlns:c16="http://schemas.microsoft.com/office/drawing/2014/chart" uri="{C3380CC4-5D6E-409C-BE32-E72D297353CC}">
              <c16:uniqueId val="{00000001-10FF-47D8-AD33-0DF43E63A3F6}"/>
            </c:ext>
          </c:extLst>
        </c:ser>
        <c:ser>
          <c:idx val="2"/>
          <c:order val="2"/>
          <c:tx>
            <c:strRef>
              <c:f>Sheet1!$B$226</c:f>
              <c:strCache>
                <c:ptCount val="1"/>
                <c:pt idx="0">
                  <c:v>_v4.2</c:v>
                </c:pt>
              </c:strCache>
            </c:strRef>
          </c:tx>
          <c:spPr>
            <a:ln w="12700">
              <a:solidFill>
                <a:srgbClr val="B0B0B0"/>
              </a:solidFill>
              <a:prstDash val="dash"/>
            </a:ln>
          </c:spPr>
          <c:marker>
            <c:symbol val="none"/>
          </c:marker>
          <c:xVal>
            <c:numRef>
              <c:f>Sheet1!$A$227:$A$228</c:f>
              <c:numCache>
                <c:formatCode>General</c:formatCode>
                <c:ptCount val="2"/>
                <c:pt idx="0">
                  <c:v>4.2</c:v>
                </c:pt>
                <c:pt idx="1">
                  <c:v>4.2</c:v>
                </c:pt>
              </c:numCache>
            </c:numRef>
          </c:xVal>
          <c:yVal>
            <c:numRef>
              <c:f>Sheet1!$B$227:$B$228</c:f>
              <c:numCache>
                <c:formatCode>General</c:formatCode>
                <c:ptCount val="2"/>
                <c:pt idx="0">
                  <c:v>2</c:v>
                </c:pt>
                <c:pt idx="1">
                  <c:v>6</c:v>
                </c:pt>
              </c:numCache>
            </c:numRef>
          </c:yVal>
          <c:smooth val="0"/>
          <c:extLst>
            <c:ext xmlns:c16="http://schemas.microsoft.com/office/drawing/2014/chart" uri="{C3380CC4-5D6E-409C-BE32-E72D297353CC}">
              <c16:uniqueId val="{00000002-10FF-47D8-AD33-0DF43E63A3F6}"/>
            </c:ext>
          </c:extLst>
        </c:ser>
        <c:ser>
          <c:idx val="3"/>
          <c:order val="3"/>
          <c:tx>
            <c:strRef>
              <c:f>Sheet1!$B$230</c:f>
              <c:strCache>
                <c:ptCount val="1"/>
                <c:pt idx="0">
                  <c:v>_v14.0</c:v>
                </c:pt>
              </c:strCache>
            </c:strRef>
          </c:tx>
          <c:spPr>
            <a:ln w="12700">
              <a:solidFill>
                <a:srgbClr val="B0B0B0"/>
              </a:solidFill>
              <a:prstDash val="dash"/>
            </a:ln>
          </c:spPr>
          <c:marker>
            <c:symbol val="none"/>
          </c:marker>
          <c:xVal>
            <c:numRef>
              <c:f>Sheet1!$A$231:$A$232</c:f>
              <c:numCache>
                <c:formatCode>General</c:formatCode>
                <c:ptCount val="2"/>
                <c:pt idx="0">
                  <c:v>14</c:v>
                </c:pt>
                <c:pt idx="1">
                  <c:v>14</c:v>
                </c:pt>
              </c:numCache>
            </c:numRef>
          </c:xVal>
          <c:yVal>
            <c:numRef>
              <c:f>Sheet1!$B$231:$B$232</c:f>
              <c:numCache>
                <c:formatCode>General</c:formatCode>
                <c:ptCount val="2"/>
                <c:pt idx="0">
                  <c:v>2</c:v>
                </c:pt>
                <c:pt idx="1">
                  <c:v>6</c:v>
                </c:pt>
              </c:numCache>
            </c:numRef>
          </c:yVal>
          <c:smooth val="0"/>
          <c:extLst>
            <c:ext xmlns:c16="http://schemas.microsoft.com/office/drawing/2014/chart" uri="{C3380CC4-5D6E-409C-BE32-E72D297353CC}">
              <c16:uniqueId val="{00000003-10FF-47D8-AD33-0DF43E63A3F6}"/>
            </c:ext>
          </c:extLst>
        </c:ser>
        <c:dLbls>
          <c:showLegendKey val="0"/>
          <c:showVal val="0"/>
          <c:showCatName val="0"/>
          <c:showSerName val="0"/>
          <c:showPercent val="0"/>
          <c:showBubbleSize val="0"/>
        </c:dLbls>
        <c:axId val="-2128940872"/>
        <c:axId val="-2129643912"/>
      </c:scatterChart>
      <c:valAx>
        <c:axId val="-2128940872"/>
        <c:scaling>
          <c:orientation val="minMax"/>
          <c:max val="20"/>
          <c:min val="2"/>
        </c:scaling>
        <c:delete val="0"/>
        <c:axPos val="b"/>
        <c:title>
          <c:tx>
            <c:rich>
              <a:bodyPr/>
              <a:lstStyle/>
              <a:p>
                <a:r>
                  <a:rPr lang="en-US" sz="1100" b="0">
                    <a:latin typeface="Arial"/>
                  </a:rPr>
                  <a:t>slab_w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2"/>
      </c:valAx>
      <c:valAx>
        <c:axId val="-2129643912"/>
        <c:scaling>
          <c:orientation val="minMax"/>
          <c:max val="6"/>
          <c:min val="2"/>
        </c:scaling>
        <c:delete val="0"/>
        <c:axPos val="l"/>
        <c:majorGridlines>
          <c:spPr>
            <a:ln>
              <a:solidFill>
                <a:srgbClr val="E3E3E3"/>
              </a:solidFill>
            </a:ln>
          </c:spPr>
        </c:majorGridlines>
        <c:title>
          <c:tx>
            <c:rich>
              <a:bodyPr/>
              <a:lstStyle/>
              <a:p>
                <a:r>
                  <a:rPr lang="en-US" sz="1100" b="0">
                    <a:latin typeface="Arial"/>
                  </a:rPr>
                  <a:t>V</a:t>
                </a:r>
                <a:r>
                  <a:rPr lang="el-GR" sz="1100" b="0">
                    <a:latin typeface="Arial"/>
                  </a:rPr>
                  <a:t>π·</a:t>
                </a:r>
                <a:r>
                  <a:rPr lang="en-US" sz="1100" b="0">
                    <a:latin typeface="Arial"/>
                  </a:rPr>
                  <a:t>L (V·cm)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1"/>
      </c:valAx>
    </c:plotArea>
    <c:plotVisOnly val="1"/>
    <c:dispBlanksAs val="gap"/>
    <c:showDLblsOverMax val="0"/>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no spacer</c:v>
                </c:pt>
              </c:strCache>
            </c:strRef>
          </c:tx>
          <c:spPr>
            <a:ln w="19050">
              <a:solidFill>
                <a:srgbClr val="2A78D6"/>
              </a:solidFill>
            </a:ln>
          </c:spPr>
          <c:marker>
            <c:symbol val="circle"/>
            <c:size val="3"/>
            <c:spPr>
              <a:solidFill>
                <a:srgbClr val="2A78D6"/>
              </a:solidFill>
              <a:ln>
                <a:solidFill>
                  <a:srgbClr val="2A78D6"/>
                </a:solidFill>
              </a:ln>
            </c:spPr>
          </c:marker>
          <c:xVal>
            <c:numRef>
              <c:f>Sheet1!$A$2:$A$22</c:f>
              <c:numCache>
                <c:formatCode>General</c:formatCode>
                <c:ptCount val="21"/>
                <c:pt idx="0">
                  <c:v>6</c:v>
                </c:pt>
                <c:pt idx="1">
                  <c:v>6.2</c:v>
                </c:pt>
                <c:pt idx="2">
                  <c:v>6.4</c:v>
                </c:pt>
                <c:pt idx="3">
                  <c:v>6.45</c:v>
                </c:pt>
                <c:pt idx="4">
                  <c:v>6.5</c:v>
                </c:pt>
                <c:pt idx="5">
                  <c:v>6.55</c:v>
                </c:pt>
                <c:pt idx="6">
                  <c:v>6.6</c:v>
                </c:pt>
                <c:pt idx="7">
                  <c:v>6.65</c:v>
                </c:pt>
                <c:pt idx="8">
                  <c:v>6.7</c:v>
                </c:pt>
                <c:pt idx="9">
                  <c:v>6.75</c:v>
                </c:pt>
                <c:pt idx="10">
                  <c:v>6.8</c:v>
                </c:pt>
                <c:pt idx="11">
                  <c:v>6.85</c:v>
                </c:pt>
                <c:pt idx="12">
                  <c:v>6.9</c:v>
                </c:pt>
                <c:pt idx="13">
                  <c:v>6.95</c:v>
                </c:pt>
                <c:pt idx="14">
                  <c:v>7</c:v>
                </c:pt>
                <c:pt idx="15">
                  <c:v>7.05</c:v>
                </c:pt>
                <c:pt idx="16">
                  <c:v>7.2</c:v>
                </c:pt>
                <c:pt idx="17">
                  <c:v>7.4</c:v>
                </c:pt>
                <c:pt idx="18">
                  <c:v>7.6</c:v>
                </c:pt>
                <c:pt idx="19">
                  <c:v>7.8</c:v>
                </c:pt>
                <c:pt idx="20">
                  <c:v>8</c:v>
                </c:pt>
              </c:numCache>
            </c:numRef>
          </c:xVal>
          <c:yVal>
            <c:numRef>
              <c:f>Sheet1!$B$2:$B$22</c:f>
              <c:numCache>
                <c:formatCode>General</c:formatCode>
                <c:ptCount val="21"/>
                <c:pt idx="0">
                  <c:v>4.0597000000000001E-2</c:v>
                </c:pt>
                <c:pt idx="1">
                  <c:v>5.9429999999999997E-2</c:v>
                </c:pt>
                <c:pt idx="2">
                  <c:v>0.13186</c:v>
                </c:pt>
                <c:pt idx="3">
                  <c:v>0.17595</c:v>
                </c:pt>
                <c:pt idx="4">
                  <c:v>0.24573999999999999</c:v>
                </c:pt>
                <c:pt idx="5">
                  <c:v>0.36587999999999998</c:v>
                </c:pt>
                <c:pt idx="6">
                  <c:v>0.59079999999999999</c:v>
                </c:pt>
                <c:pt idx="7">
                  <c:v>1.0475000000000001</c:v>
                </c:pt>
                <c:pt idx="8">
                  <c:v>1.9426000000000001</c:v>
                </c:pt>
                <c:pt idx="9">
                  <c:v>2.8834</c:v>
                </c:pt>
                <c:pt idx="10">
                  <c:v>2.3294000000000001</c:v>
                </c:pt>
                <c:pt idx="11">
                  <c:v>1.3523000000000001</c:v>
                </c:pt>
                <c:pt idx="12">
                  <c:v>0.79579</c:v>
                </c:pt>
                <c:pt idx="13">
                  <c:v>0.51346000000000003</c:v>
                </c:pt>
                <c:pt idx="14">
                  <c:v>0.35857</c:v>
                </c:pt>
                <c:pt idx="15">
                  <c:v>0.2676</c:v>
                </c:pt>
                <c:pt idx="16">
                  <c:v>0.14144999999999999</c:v>
                </c:pt>
                <c:pt idx="17">
                  <c:v>8.7430999999999995E-2</c:v>
                </c:pt>
                <c:pt idx="18">
                  <c:v>7.145E-2</c:v>
                </c:pt>
                <c:pt idx="19">
                  <c:v>7.6405000000000001E-2</c:v>
                </c:pt>
                <c:pt idx="20">
                  <c:v>0.10839</c:v>
                </c:pt>
              </c:numCache>
            </c:numRef>
          </c:yVal>
          <c:smooth val="0"/>
          <c:extLst>
            <c:ext xmlns:c16="http://schemas.microsoft.com/office/drawing/2014/chart" uri="{C3380CC4-5D6E-409C-BE32-E72D297353CC}">
              <c16:uniqueId val="{00000000-53E1-4420-AFC6-0E8CF4F31441}"/>
            </c:ext>
          </c:extLst>
        </c:ser>
        <c:ser>
          <c:idx val="1"/>
          <c:order val="1"/>
          <c:tx>
            <c:strRef>
              <c:f>Sheet1!$B$24</c:f>
              <c:strCache>
                <c:ptCount val="1"/>
                <c:pt idx="0">
                  <c:v>100 nm</c:v>
                </c:pt>
              </c:strCache>
            </c:strRef>
          </c:tx>
          <c:spPr>
            <a:ln w="19050">
              <a:solidFill>
                <a:srgbClr val="1BAF7A"/>
              </a:solidFill>
            </a:ln>
          </c:spPr>
          <c:marker>
            <c:symbol val="circle"/>
            <c:size val="3"/>
            <c:spPr>
              <a:solidFill>
                <a:srgbClr val="1BAF7A"/>
              </a:solidFill>
              <a:ln>
                <a:solidFill>
                  <a:srgbClr val="1BAF7A"/>
                </a:solidFill>
              </a:ln>
            </c:spPr>
          </c:marker>
          <c:xVal>
            <c:numRef>
              <c:f>Sheet1!$A$25:$A$45</c:f>
              <c:numCache>
                <c:formatCode>General</c:formatCode>
                <c:ptCount val="21"/>
                <c:pt idx="0">
                  <c:v>6</c:v>
                </c:pt>
                <c:pt idx="1">
                  <c:v>6.1</c:v>
                </c:pt>
                <c:pt idx="2">
                  <c:v>6.2</c:v>
                </c:pt>
                <c:pt idx="3">
                  <c:v>6.3</c:v>
                </c:pt>
                <c:pt idx="4">
                  <c:v>6.4</c:v>
                </c:pt>
                <c:pt idx="5">
                  <c:v>6.5</c:v>
                </c:pt>
                <c:pt idx="6">
                  <c:v>6.6</c:v>
                </c:pt>
                <c:pt idx="7">
                  <c:v>6.7</c:v>
                </c:pt>
                <c:pt idx="8">
                  <c:v>6.8</c:v>
                </c:pt>
                <c:pt idx="9">
                  <c:v>6.9</c:v>
                </c:pt>
                <c:pt idx="10">
                  <c:v>7</c:v>
                </c:pt>
                <c:pt idx="11">
                  <c:v>7.1</c:v>
                </c:pt>
                <c:pt idx="12">
                  <c:v>7.2</c:v>
                </c:pt>
                <c:pt idx="13">
                  <c:v>7.3</c:v>
                </c:pt>
                <c:pt idx="14">
                  <c:v>7.4</c:v>
                </c:pt>
                <c:pt idx="15">
                  <c:v>7.5</c:v>
                </c:pt>
                <c:pt idx="16">
                  <c:v>7.6</c:v>
                </c:pt>
                <c:pt idx="17">
                  <c:v>7.7</c:v>
                </c:pt>
                <c:pt idx="18">
                  <c:v>7.8</c:v>
                </c:pt>
                <c:pt idx="19">
                  <c:v>7.9</c:v>
                </c:pt>
                <c:pt idx="20">
                  <c:v>8</c:v>
                </c:pt>
              </c:numCache>
            </c:numRef>
          </c:xVal>
          <c:yVal>
            <c:numRef>
              <c:f>Sheet1!$B$25:$B$45</c:f>
              <c:numCache>
                <c:formatCode>General</c:formatCode>
                <c:ptCount val="21"/>
                <c:pt idx="0">
                  <c:v>4.9280407630066463E-2</c:v>
                </c:pt>
                <c:pt idx="1">
                  <c:v>6.5399972831519784E-2</c:v>
                </c:pt>
                <c:pt idx="2">
                  <c:v>9.6609973641814298E-2</c:v>
                </c:pt>
                <c:pt idx="3">
                  <c:v>0.16403008974772085</c:v>
                </c:pt>
                <c:pt idx="4">
                  <c:v>0.3392627921988593</c:v>
                </c:pt>
                <c:pt idx="5">
                  <c:v>0.9510612770513529</c:v>
                </c:pt>
                <c:pt idx="6">
                  <c:v>2.881666811798071</c:v>
                </c:pt>
                <c:pt idx="7">
                  <c:v>1.4574484779413763</c:v>
                </c:pt>
                <c:pt idx="8">
                  <c:v>0.53227136943148001</c:v>
                </c:pt>
                <c:pt idx="9">
                  <c:v>0.27205404614396062</c:v>
                </c:pt>
                <c:pt idx="10">
                  <c:v>0.16990687018230058</c:v>
                </c:pt>
                <c:pt idx="11">
                  <c:v>0.12156203490915424</c:v>
                </c:pt>
                <c:pt idx="12">
                  <c:v>9.5116522953545501E-2</c:v>
                </c:pt>
                <c:pt idx="13">
                  <c:v>8.0175085905250854E-2</c:v>
                </c:pt>
                <c:pt idx="14">
                  <c:v>7.2343998769549112E-2</c:v>
                </c:pt>
                <c:pt idx="15">
                  <c:v>6.9741721584189814E-2</c:v>
                </c:pt>
                <c:pt idx="16">
                  <c:v>7.1626726629243687E-2</c:v>
                </c:pt>
                <c:pt idx="17">
                  <c:v>7.8789052783887717E-2</c:v>
                </c:pt>
                <c:pt idx="18">
                  <c:v>9.3266168736525726E-2</c:v>
                </c:pt>
                <c:pt idx="19">
                  <c:v>0.12104227248864305</c:v>
                </c:pt>
                <c:pt idx="20">
                  <c:v>0.1714696225266375</c:v>
                </c:pt>
              </c:numCache>
            </c:numRef>
          </c:yVal>
          <c:smooth val="0"/>
          <c:extLst>
            <c:ext xmlns:c16="http://schemas.microsoft.com/office/drawing/2014/chart" uri="{C3380CC4-5D6E-409C-BE32-E72D297353CC}">
              <c16:uniqueId val="{00000001-53E1-4420-AFC6-0E8CF4F31441}"/>
            </c:ext>
          </c:extLst>
        </c:ser>
        <c:ser>
          <c:idx val="2"/>
          <c:order val="2"/>
          <c:tx>
            <c:strRef>
              <c:f>Sheet1!$B$47</c:f>
              <c:strCache>
                <c:ptCount val="1"/>
                <c:pt idx="0">
                  <c:v>300 nm</c:v>
                </c:pt>
              </c:strCache>
            </c:strRef>
          </c:tx>
          <c:spPr>
            <a:ln w="19050">
              <a:solidFill>
                <a:srgbClr val="EB6834"/>
              </a:solidFill>
            </a:ln>
          </c:spPr>
          <c:marker>
            <c:symbol val="circle"/>
            <c:size val="3"/>
            <c:spPr>
              <a:solidFill>
                <a:srgbClr val="EB6834"/>
              </a:solidFill>
              <a:ln>
                <a:solidFill>
                  <a:srgbClr val="EB6834"/>
                </a:solidFill>
              </a:ln>
            </c:spPr>
          </c:marker>
          <c:xVal>
            <c:numRef>
              <c:f>Sheet1!$A$48:$A$68</c:f>
              <c:numCache>
                <c:formatCode>General</c:formatCode>
                <c:ptCount val="21"/>
                <c:pt idx="0">
                  <c:v>6</c:v>
                </c:pt>
                <c:pt idx="1">
                  <c:v>6.1</c:v>
                </c:pt>
                <c:pt idx="2">
                  <c:v>6.2</c:v>
                </c:pt>
                <c:pt idx="3">
                  <c:v>6.3</c:v>
                </c:pt>
                <c:pt idx="4">
                  <c:v>6.4</c:v>
                </c:pt>
                <c:pt idx="5">
                  <c:v>6.5</c:v>
                </c:pt>
                <c:pt idx="6">
                  <c:v>6.6</c:v>
                </c:pt>
                <c:pt idx="7">
                  <c:v>6.7</c:v>
                </c:pt>
                <c:pt idx="8">
                  <c:v>6.8</c:v>
                </c:pt>
                <c:pt idx="9">
                  <c:v>6.9</c:v>
                </c:pt>
                <c:pt idx="10">
                  <c:v>7</c:v>
                </c:pt>
                <c:pt idx="11">
                  <c:v>7.1</c:v>
                </c:pt>
                <c:pt idx="12">
                  <c:v>7.2</c:v>
                </c:pt>
                <c:pt idx="13">
                  <c:v>7.3</c:v>
                </c:pt>
                <c:pt idx="14">
                  <c:v>7.4</c:v>
                </c:pt>
                <c:pt idx="15">
                  <c:v>7.5</c:v>
                </c:pt>
                <c:pt idx="16">
                  <c:v>7.6</c:v>
                </c:pt>
                <c:pt idx="17">
                  <c:v>7.7</c:v>
                </c:pt>
                <c:pt idx="18">
                  <c:v>7.8</c:v>
                </c:pt>
                <c:pt idx="19">
                  <c:v>7.9</c:v>
                </c:pt>
                <c:pt idx="20">
                  <c:v>8</c:v>
                </c:pt>
              </c:numCache>
            </c:numRef>
          </c:xVal>
          <c:yVal>
            <c:numRef>
              <c:f>Sheet1!$B$48:$B$68</c:f>
              <c:numCache>
                <c:formatCode>General</c:formatCode>
                <c:ptCount val="21"/>
                <c:pt idx="0">
                  <c:v>6.3379829557133005E-2</c:v>
                </c:pt>
                <c:pt idx="1">
                  <c:v>9.4146299768591304E-2</c:v>
                </c:pt>
                <c:pt idx="2">
                  <c:v>0.16014919700790406</c:v>
                </c:pt>
                <c:pt idx="3">
                  <c:v>0.33290090017180246</c:v>
                </c:pt>
                <c:pt idx="4">
                  <c:v>0.94555179539393441</c:v>
                </c:pt>
                <c:pt idx="5">
                  <c:v>2.9348558328303818</c:v>
                </c:pt>
                <c:pt idx="6">
                  <c:v>1.4491669300412315</c:v>
                </c:pt>
                <c:pt idx="7">
                  <c:v>0.52593026790124364</c:v>
                </c:pt>
                <c:pt idx="8">
                  <c:v>0.26752864800270998</c:v>
                </c:pt>
                <c:pt idx="9">
                  <c:v>0.16716945476760836</c:v>
                </c:pt>
                <c:pt idx="10">
                  <c:v>0.11939289307422092</c:v>
                </c:pt>
                <c:pt idx="11">
                  <c:v>9.3484468953140401E-2</c:v>
                </c:pt>
                <c:pt idx="12">
                  <c:v>7.9042003828536489E-2</c:v>
                </c:pt>
                <c:pt idx="13">
                  <c:v>7.1148545202373403E-2</c:v>
                </c:pt>
                <c:pt idx="14">
                  <c:v>6.8546268017014106E-2</c:v>
                </c:pt>
                <c:pt idx="15">
                  <c:v>7.0472854055708883E-2</c:v>
                </c:pt>
                <c:pt idx="16">
                  <c:v>7.7520832477840446E-2</c:v>
                </c:pt>
                <c:pt idx="17">
                  <c:v>9.1855880035538726E-2</c:v>
                </c:pt>
                <c:pt idx="18">
                  <c:v>0.11842266988926672</c:v>
                </c:pt>
                <c:pt idx="19">
                  <c:v>0.16947026974907117</c:v>
                </c:pt>
                <c:pt idx="20">
                  <c:v>0.27337424269205901</c:v>
                </c:pt>
              </c:numCache>
            </c:numRef>
          </c:yVal>
          <c:smooth val="0"/>
          <c:extLst>
            <c:ext xmlns:c16="http://schemas.microsoft.com/office/drawing/2014/chart" uri="{C3380CC4-5D6E-409C-BE32-E72D297353CC}">
              <c16:uniqueId val="{00000002-53E1-4420-AFC6-0E8CF4F31441}"/>
            </c:ext>
          </c:extLst>
        </c:ser>
        <c:ser>
          <c:idx val="3"/>
          <c:order val="3"/>
          <c:tx>
            <c:strRef>
              <c:f>Sheet1!$B$70</c:f>
              <c:strCache>
                <c:ptCount val="1"/>
                <c:pt idx="0">
                  <c:v>600 nm</c:v>
                </c:pt>
              </c:strCache>
            </c:strRef>
          </c:tx>
          <c:spPr>
            <a:ln w="19050">
              <a:solidFill>
                <a:srgbClr val="EDA100"/>
              </a:solidFill>
            </a:ln>
          </c:spPr>
          <c:marker>
            <c:symbol val="circle"/>
            <c:size val="3"/>
            <c:spPr>
              <a:solidFill>
                <a:srgbClr val="EDA100"/>
              </a:solidFill>
              <a:ln>
                <a:solidFill>
                  <a:srgbClr val="EDA100"/>
                </a:solidFill>
              </a:ln>
            </c:spPr>
          </c:marker>
          <c:xVal>
            <c:numRef>
              <c:f>Sheet1!$A$71:$A$90</c:f>
              <c:numCache>
                <c:formatCode>General</c:formatCode>
                <c:ptCount val="20"/>
                <c:pt idx="0">
                  <c:v>6</c:v>
                </c:pt>
                <c:pt idx="1">
                  <c:v>6.1</c:v>
                </c:pt>
                <c:pt idx="2">
                  <c:v>6.2</c:v>
                </c:pt>
                <c:pt idx="3">
                  <c:v>6.3</c:v>
                </c:pt>
                <c:pt idx="4">
                  <c:v>6.4</c:v>
                </c:pt>
                <c:pt idx="5">
                  <c:v>6.5</c:v>
                </c:pt>
                <c:pt idx="6">
                  <c:v>6.6</c:v>
                </c:pt>
                <c:pt idx="7">
                  <c:v>6.7</c:v>
                </c:pt>
                <c:pt idx="8">
                  <c:v>6.8</c:v>
                </c:pt>
                <c:pt idx="9">
                  <c:v>6.9</c:v>
                </c:pt>
                <c:pt idx="10">
                  <c:v>7</c:v>
                </c:pt>
                <c:pt idx="11">
                  <c:v>7.1</c:v>
                </c:pt>
                <c:pt idx="12">
                  <c:v>7.2</c:v>
                </c:pt>
                <c:pt idx="13">
                  <c:v>7.3</c:v>
                </c:pt>
                <c:pt idx="14">
                  <c:v>7.4</c:v>
                </c:pt>
                <c:pt idx="15">
                  <c:v>7.5</c:v>
                </c:pt>
                <c:pt idx="16">
                  <c:v>7.6</c:v>
                </c:pt>
                <c:pt idx="17">
                  <c:v>7.7</c:v>
                </c:pt>
                <c:pt idx="18">
                  <c:v>7.8</c:v>
                </c:pt>
                <c:pt idx="19">
                  <c:v>7.9</c:v>
                </c:pt>
              </c:numCache>
            </c:numRef>
          </c:xVal>
          <c:yVal>
            <c:numRef>
              <c:f>Sheet1!$B$71:$B$90</c:f>
              <c:numCache>
                <c:formatCode>General</c:formatCode>
                <c:ptCount val="20"/>
                <c:pt idx="0">
                  <c:v>6.6297429277602418E-2</c:v>
                </c:pt>
                <c:pt idx="1">
                  <c:v>9.9887941973838129E-2</c:v>
                </c:pt>
                <c:pt idx="2">
                  <c:v>0.17445998898597848</c:v>
                </c:pt>
                <c:pt idx="3">
                  <c:v>0.37540707092120662</c:v>
                </c:pt>
                <c:pt idx="4">
                  <c:v>1.131245582828561</c:v>
                </c:pt>
                <c:pt idx="5">
                  <c:v>3.0429317654686723</c:v>
                </c:pt>
                <c:pt idx="6">
                  <c:v>1.2278174405595379</c:v>
                </c:pt>
                <c:pt idx="7">
                  <c:v>0.47031568890654757</c:v>
                </c:pt>
                <c:pt idx="8">
                  <c:v>0.24763214254554208</c:v>
                </c:pt>
                <c:pt idx="9">
                  <c:v>0.1582780522940638</c:v>
                </c:pt>
                <c:pt idx="10">
                  <c:v>0.11490561084380775</c:v>
                </c:pt>
                <c:pt idx="11">
                  <c:v>9.0840610774140226E-2</c:v>
                </c:pt>
                <c:pt idx="12">
                  <c:v>7.7517367395037035E-2</c:v>
                </c:pt>
                <c:pt idx="13">
                  <c:v>7.0479784221315692E-2</c:v>
                </c:pt>
                <c:pt idx="14">
                  <c:v>6.8393804373664172E-2</c:v>
                </c:pt>
                <c:pt idx="15">
                  <c:v>7.0895594157724631E-2</c:v>
                </c:pt>
                <c:pt idx="16">
                  <c:v>7.8723216210622976E-2</c:v>
                </c:pt>
                <c:pt idx="17">
                  <c:v>9.4416576227257132E-2</c:v>
                </c:pt>
                <c:pt idx="18">
                  <c:v>0.12373464182689095</c:v>
                </c:pt>
                <c:pt idx="19">
                  <c:v>0.17921061750945066</c:v>
                </c:pt>
              </c:numCache>
            </c:numRef>
          </c:yVal>
          <c:smooth val="0"/>
          <c:extLst>
            <c:ext xmlns:c16="http://schemas.microsoft.com/office/drawing/2014/chart" uri="{C3380CC4-5D6E-409C-BE32-E72D297353CC}">
              <c16:uniqueId val="{00000003-53E1-4420-AFC6-0E8CF4F31441}"/>
            </c:ext>
          </c:extLst>
        </c:ser>
        <c:dLbls>
          <c:showLegendKey val="0"/>
          <c:showVal val="0"/>
          <c:showCatName val="0"/>
          <c:showSerName val="0"/>
          <c:showPercent val="0"/>
          <c:showBubbleSize val="0"/>
        </c:dLbls>
        <c:axId val="-2128940872"/>
        <c:axId val="-2129643912"/>
      </c:scatterChart>
      <c:valAx>
        <c:axId val="-2128940872"/>
        <c:scaling>
          <c:orientation val="minMax"/>
          <c:max val="8"/>
          <c:min val="6"/>
        </c:scaling>
        <c:delete val="0"/>
        <c:axPos val="b"/>
        <c:title>
          <c:tx>
            <c:rich>
              <a:bodyPr/>
              <a:lstStyle/>
              <a:p>
                <a:r>
                  <a:rPr lang="en-US" sz="1100" b="0">
                    <a:latin typeface="Arial"/>
                  </a:rPr>
                  <a:t>slab_w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5"/>
      </c:valAx>
      <c:valAx>
        <c:axId val="-2129643912"/>
        <c:scaling>
          <c:logBase val="10"/>
          <c:orientation val="minMax"/>
          <c:max val="10"/>
          <c:min val="0.02"/>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legend>
      <c:legendPos val="t"/>
      <c:overlay val="0"/>
      <c:txPr>
        <a:bodyPr/>
        <a:lstStyle/>
        <a:p>
          <a:pPr>
            <a:defRPr sz="11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slab 175 nm</c:v>
                </c:pt>
              </c:strCache>
            </c:strRef>
          </c:tx>
          <c:spPr>
            <a:ln w="19050">
              <a:solidFill>
                <a:srgbClr val="EB6834"/>
              </a:solidFill>
            </a:ln>
          </c:spPr>
          <c:marker>
            <c:symbol val="circle"/>
            <c:size val="4"/>
            <c:spPr>
              <a:solidFill>
                <a:srgbClr val="EB6834"/>
              </a:solidFill>
              <a:ln>
                <a:solidFill>
                  <a:srgbClr val="EB6834"/>
                </a:solidFill>
              </a:ln>
            </c:spPr>
          </c:marker>
          <c:xVal>
            <c:numRef>
              <c:f>Sheet1!$A$2:$A$17</c:f>
              <c:numCache>
                <c:formatCode>General</c:formatCode>
                <c:ptCount val="1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numCache>
            </c:numRef>
          </c:xVal>
          <c:yVal>
            <c:numRef>
              <c:f>Sheet1!$B$2:$B$17</c:f>
              <c:numCache>
                <c:formatCode>General</c:formatCode>
                <c:ptCount val="16"/>
                <c:pt idx="0">
                  <c:v>0.12335001763571268</c:v>
                </c:pt>
                <c:pt idx="1">
                  <c:v>0.12300697443817529</c:v>
                </c:pt>
                <c:pt idx="2">
                  <c:v>0.12245602627243345</c:v>
                </c:pt>
                <c:pt idx="3">
                  <c:v>0.12186696219585412</c:v>
                </c:pt>
                <c:pt idx="4">
                  <c:v>0.12173875413212804</c:v>
                </c:pt>
                <c:pt idx="5">
                  <c:v>0.1210214819918226</c:v>
                </c:pt>
                <c:pt idx="6">
                  <c:v>0.12162787148241898</c:v>
                </c:pt>
                <c:pt idx="7">
                  <c:v>0.12195705434874272</c:v>
                </c:pt>
                <c:pt idx="8">
                  <c:v>0.12187735744426434</c:v>
                </c:pt>
                <c:pt idx="9">
                  <c:v>0.12209912274368245</c:v>
                </c:pt>
                <c:pt idx="10">
                  <c:v>0.12224119113862217</c:v>
                </c:pt>
                <c:pt idx="11">
                  <c:v>0.12251493268009139</c:v>
                </c:pt>
                <c:pt idx="12">
                  <c:v>0.1230035093553719</c:v>
                </c:pt>
                <c:pt idx="13">
                  <c:v>0.12308320625985028</c:v>
                </c:pt>
                <c:pt idx="14">
                  <c:v>0.12329111122805475</c:v>
                </c:pt>
                <c:pt idx="15">
                  <c:v>0.12337427321533655</c:v>
                </c:pt>
              </c:numCache>
            </c:numRef>
          </c:yVal>
          <c:smooth val="0"/>
          <c:extLst>
            <c:ext xmlns:c16="http://schemas.microsoft.com/office/drawing/2014/chart" uri="{C3380CC4-5D6E-409C-BE32-E72D297353CC}">
              <c16:uniqueId val="{00000000-A52B-4BFA-9048-EAD1CD9DCD14}"/>
            </c:ext>
          </c:extLst>
        </c:ser>
        <c:ser>
          <c:idx val="1"/>
          <c:order val="1"/>
          <c:tx>
            <c:strRef>
              <c:f>Sheet1!$B$19</c:f>
              <c:strCache>
                <c:ptCount val="1"/>
                <c:pt idx="0">
                  <c:v>slab 150 nm</c:v>
                </c:pt>
              </c:strCache>
            </c:strRef>
          </c:tx>
          <c:spPr>
            <a:ln w="19050">
              <a:solidFill>
                <a:srgbClr val="2A78D6"/>
              </a:solidFill>
            </a:ln>
          </c:spPr>
          <c:marker>
            <c:symbol val="circle"/>
            <c:size val="4"/>
            <c:spPr>
              <a:solidFill>
                <a:srgbClr val="2A78D6"/>
              </a:solidFill>
              <a:ln>
                <a:solidFill>
                  <a:srgbClr val="2A78D6"/>
                </a:solidFill>
              </a:ln>
            </c:spPr>
          </c:marker>
          <c:xVal>
            <c:numRef>
              <c:f>Sheet1!$A$20:$A$35</c:f>
              <c:numCache>
                <c:formatCode>General</c:formatCode>
                <c:ptCount val="1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numCache>
            </c:numRef>
          </c:xVal>
          <c:yVal>
            <c:numRef>
              <c:f>Sheet1!$B$20:$B$35</c:f>
              <c:numCache>
                <c:formatCode>General</c:formatCode>
                <c:ptCount val="16"/>
                <c:pt idx="0">
                  <c:v>3.4375353951207584E-3</c:v>
                </c:pt>
                <c:pt idx="1">
                  <c:v>3.4367384260759752E-3</c:v>
                </c:pt>
                <c:pt idx="2">
                  <c:v>3.4374660934646905E-3</c:v>
                </c:pt>
                <c:pt idx="3">
                  <c:v>3.4376739984328946E-3</c:v>
                </c:pt>
                <c:pt idx="4">
                  <c:v>3.4379858558852019E-3</c:v>
                </c:pt>
                <c:pt idx="5">
                  <c:v>3.4388867774140879E-3</c:v>
                </c:pt>
                <c:pt idx="6">
                  <c:v>3.4388521265860533E-3</c:v>
                </c:pt>
                <c:pt idx="7">
                  <c:v>3.4367037752479406E-3</c:v>
                </c:pt>
                <c:pt idx="8">
                  <c:v>3.436114711171361E-3</c:v>
                </c:pt>
                <c:pt idx="9">
                  <c:v>3.4363919177956338E-3</c:v>
                </c:pt>
                <c:pt idx="10">
                  <c:v>3.4365998227638386E-3</c:v>
                </c:pt>
                <c:pt idx="11">
                  <c:v>3.43711958518435E-3</c:v>
                </c:pt>
                <c:pt idx="12">
                  <c:v>3.4348326305341003E-3</c:v>
                </c:pt>
                <c:pt idx="13">
                  <c:v>3.4364265686236679E-3</c:v>
                </c:pt>
                <c:pt idx="14">
                  <c:v>3.435109837158373E-3</c:v>
                </c:pt>
                <c:pt idx="15">
                  <c:v>3.4365305211077704E-3</c:v>
                </c:pt>
              </c:numCache>
            </c:numRef>
          </c:yVal>
          <c:smooth val="0"/>
          <c:extLst>
            <c:ext xmlns:c16="http://schemas.microsoft.com/office/drawing/2014/chart" uri="{C3380CC4-5D6E-409C-BE32-E72D297353CC}">
              <c16:uniqueId val="{00000001-A52B-4BFA-9048-EAD1CD9DCD14}"/>
            </c:ext>
          </c:extLst>
        </c:ser>
        <c:ser>
          <c:idx val="2"/>
          <c:order val="2"/>
          <c:tx>
            <c:strRef>
              <c:f>Sheet1!$B$37</c:f>
              <c:strCache>
                <c:ptCount val="1"/>
                <c:pt idx="0">
                  <c:v>slab 275 nm (today)</c:v>
                </c:pt>
              </c:strCache>
            </c:strRef>
          </c:tx>
          <c:spPr>
            <a:ln w="15875">
              <a:solidFill>
                <a:srgbClr val="B0B0B0"/>
              </a:solidFill>
            </a:ln>
          </c:spPr>
          <c:marker>
            <c:symbol val="circle"/>
            <c:size val="3"/>
            <c:spPr>
              <a:solidFill>
                <a:srgbClr val="B0B0B0"/>
              </a:solidFill>
              <a:ln>
                <a:solidFill>
                  <a:srgbClr val="B0B0B0"/>
                </a:solidFill>
              </a:ln>
            </c:spPr>
          </c:marker>
          <c:xVal>
            <c:numRef>
              <c:f>Sheet1!$A$38:$A$53</c:f>
              <c:numCache>
                <c:formatCode>General</c:formatCode>
                <c:ptCount val="1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numCache>
            </c:numRef>
          </c:xVal>
          <c:yVal>
            <c:numRef>
              <c:f>Sheet1!$B$38:$B$53</c:f>
              <c:numCache>
                <c:formatCode>General</c:formatCode>
                <c:ptCount val="16"/>
                <c:pt idx="0">
                  <c:v>0.63924000000000003</c:v>
                </c:pt>
                <c:pt idx="1">
                  <c:v>0.33574999999999999</c:v>
                </c:pt>
                <c:pt idx="2">
                  <c:v>0.22159999999999999</c:v>
                </c:pt>
                <c:pt idx="3">
                  <c:v>0.18184</c:v>
                </c:pt>
                <c:pt idx="4">
                  <c:v>0.18385000000000001</c:v>
                </c:pt>
                <c:pt idx="5">
                  <c:v>0.22925000000000001</c:v>
                </c:pt>
                <c:pt idx="6">
                  <c:v>0.35663</c:v>
                </c:pt>
                <c:pt idx="7">
                  <c:v>0.65156999999999998</c:v>
                </c:pt>
                <c:pt idx="8">
                  <c:v>0.88615999999999995</c:v>
                </c:pt>
                <c:pt idx="9">
                  <c:v>0.60414000000000001</c:v>
                </c:pt>
                <c:pt idx="10">
                  <c:v>0.35337000000000002</c:v>
                </c:pt>
                <c:pt idx="11">
                  <c:v>0.24609</c:v>
                </c:pt>
                <c:pt idx="12">
                  <c:v>0.20746000000000001</c:v>
                </c:pt>
                <c:pt idx="13">
                  <c:v>0.21190999999999999</c:v>
                </c:pt>
                <c:pt idx="14">
                  <c:v>0.26211000000000001</c:v>
                </c:pt>
                <c:pt idx="15">
                  <c:v>0.39057999999999998</c:v>
                </c:pt>
              </c:numCache>
            </c:numRef>
          </c:yVal>
          <c:smooth val="0"/>
          <c:extLst>
            <c:ext xmlns:c16="http://schemas.microsoft.com/office/drawing/2014/chart" uri="{C3380CC4-5D6E-409C-BE32-E72D297353CC}">
              <c16:uniqueId val="{00000002-A52B-4BFA-9048-EAD1CD9DCD14}"/>
            </c:ext>
          </c:extLst>
        </c:ser>
        <c:dLbls>
          <c:showLegendKey val="0"/>
          <c:showVal val="0"/>
          <c:showCatName val="0"/>
          <c:showSerName val="0"/>
          <c:showPercent val="0"/>
          <c:showBubbleSize val="0"/>
        </c:dLbls>
        <c:axId val="-2128940872"/>
        <c:axId val="-2129643912"/>
      </c:scatterChart>
      <c:valAx>
        <c:axId val="-2128940872"/>
        <c:scaling>
          <c:orientation val="minMax"/>
          <c:max val="8"/>
          <c:min val="6.5"/>
        </c:scaling>
        <c:delete val="0"/>
        <c:axPos val="b"/>
        <c:title>
          <c:tx>
            <c:rich>
              <a:bodyPr/>
              <a:lstStyle/>
              <a:p>
                <a:r>
                  <a:rPr lang="en-US" sz="1100" b="0">
                    <a:latin typeface="Arial"/>
                  </a:rPr>
                  <a:t>x_lift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5"/>
      </c:valAx>
      <c:valAx>
        <c:axId val="-2129643912"/>
        <c:scaling>
          <c:logBase val="10"/>
          <c:orientation val="minMax"/>
          <c:max val="2"/>
          <c:min val="1E-3"/>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legend>
      <c:legendPos val="t"/>
      <c:overlay val="0"/>
      <c:txPr>
        <a:bodyPr/>
        <a:lstStyle/>
        <a:p>
          <a:pPr>
            <a:defRPr sz="11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125 nm left</c:v>
                </c:pt>
              </c:strCache>
            </c:strRef>
          </c:tx>
          <c:spPr>
            <a:ln w="19050">
              <a:solidFill>
                <a:srgbClr val="2A78D6"/>
              </a:solidFill>
            </a:ln>
          </c:spPr>
          <c:marker>
            <c:symbol val="circle"/>
            <c:size val="5"/>
            <c:spPr>
              <a:solidFill>
                <a:srgbClr val="2A78D6"/>
              </a:solidFill>
              <a:ln>
                <a:solidFill>
                  <a:srgbClr val="2A78D6"/>
                </a:solidFill>
              </a:ln>
            </c:spPr>
          </c:marker>
          <c:xVal>
            <c:numRef>
              <c:f>Sheet1!$A$2:$A$11</c:f>
              <c:numCache>
                <c:formatCode>General</c:formatCode>
                <c:ptCount val="10"/>
                <c:pt idx="0">
                  <c:v>2.4</c:v>
                </c:pt>
                <c:pt idx="1">
                  <c:v>2.8</c:v>
                </c:pt>
                <c:pt idx="2">
                  <c:v>3.2</c:v>
                </c:pt>
                <c:pt idx="3">
                  <c:v>3.6</c:v>
                </c:pt>
                <c:pt idx="4">
                  <c:v>4</c:v>
                </c:pt>
                <c:pt idx="5">
                  <c:v>4.4000000000000004</c:v>
                </c:pt>
                <c:pt idx="6">
                  <c:v>4.8</c:v>
                </c:pt>
                <c:pt idx="7">
                  <c:v>5.2</c:v>
                </c:pt>
                <c:pt idx="8">
                  <c:v>6</c:v>
                </c:pt>
                <c:pt idx="9">
                  <c:v>7</c:v>
                </c:pt>
              </c:numCache>
            </c:numRef>
          </c:xVal>
          <c:yVal>
            <c:numRef>
              <c:f>Sheet1!$B$2:$B$11</c:f>
              <c:numCache>
                <c:formatCode>General</c:formatCode>
                <c:ptCount val="10"/>
                <c:pt idx="0">
                  <c:v>1.8591208765124144E-3</c:v>
                </c:pt>
                <c:pt idx="1">
                  <c:v>3.8143631499913625E-3</c:v>
                </c:pt>
                <c:pt idx="2">
                  <c:v>7.9385047026073879E-3</c:v>
                </c:pt>
                <c:pt idx="3">
                  <c:v>1.7569702354679511E-2</c:v>
                </c:pt>
                <c:pt idx="4">
                  <c:v>5.9391519250410571E-2</c:v>
                </c:pt>
                <c:pt idx="5">
                  <c:v>2.4183852409824413</c:v>
                </c:pt>
                <c:pt idx="6">
                  <c:v>0.67406255774692925</c:v>
                </c:pt>
                <c:pt idx="7">
                  <c:v>9.913255392269521E-2</c:v>
                </c:pt>
                <c:pt idx="8">
                  <c:v>8.3158522198985022E-2</c:v>
                </c:pt>
                <c:pt idx="9">
                  <c:v>0.17293881763528243</c:v>
                </c:pt>
              </c:numCache>
            </c:numRef>
          </c:yVal>
          <c:smooth val="0"/>
          <c:extLst>
            <c:ext xmlns:c16="http://schemas.microsoft.com/office/drawing/2014/chart" uri="{C3380CC4-5D6E-409C-BE32-E72D297353CC}">
              <c16:uniqueId val="{00000000-8CBC-4AD6-A4C6-B494C29CDD5B}"/>
            </c:ext>
          </c:extLst>
        </c:ser>
        <c:ser>
          <c:idx val="1"/>
          <c:order val="1"/>
          <c:tx>
            <c:strRef>
              <c:f>Sheet1!$B$13</c:f>
              <c:strCache>
                <c:ptCount val="1"/>
                <c:pt idx="0">
                  <c:v>_v4.2</c:v>
                </c:pt>
              </c:strCache>
            </c:strRef>
          </c:tx>
          <c:spPr>
            <a:ln w="12700">
              <a:solidFill>
                <a:srgbClr val="B0B0B0"/>
              </a:solidFill>
              <a:prstDash val="dash"/>
            </a:ln>
          </c:spPr>
          <c:marker>
            <c:symbol val="none"/>
          </c:marker>
          <c:xVal>
            <c:numRef>
              <c:f>Sheet1!$A$14:$A$15</c:f>
              <c:numCache>
                <c:formatCode>General</c:formatCode>
                <c:ptCount val="2"/>
                <c:pt idx="0">
                  <c:v>4.2</c:v>
                </c:pt>
                <c:pt idx="1">
                  <c:v>4.2</c:v>
                </c:pt>
              </c:numCache>
            </c:numRef>
          </c:xVal>
          <c:yVal>
            <c:numRef>
              <c:f>Sheet1!$B$14:$B$15</c:f>
              <c:numCache>
                <c:formatCode>General</c:formatCode>
                <c:ptCount val="2"/>
                <c:pt idx="0">
                  <c:v>1E-3</c:v>
                </c:pt>
                <c:pt idx="1">
                  <c:v>10</c:v>
                </c:pt>
              </c:numCache>
            </c:numRef>
          </c:yVal>
          <c:smooth val="0"/>
          <c:extLst>
            <c:ext xmlns:c16="http://schemas.microsoft.com/office/drawing/2014/chart" uri="{C3380CC4-5D6E-409C-BE32-E72D297353CC}">
              <c16:uniqueId val="{00000001-8CBC-4AD6-A4C6-B494C29CDD5B}"/>
            </c:ext>
          </c:extLst>
        </c:ser>
        <c:dLbls>
          <c:showLegendKey val="0"/>
          <c:showVal val="0"/>
          <c:showCatName val="0"/>
          <c:showSerName val="0"/>
          <c:showPercent val="0"/>
          <c:showBubbleSize val="0"/>
        </c:dLbls>
        <c:axId val="-2128940872"/>
        <c:axId val="-2129643912"/>
      </c:scatterChart>
      <c:valAx>
        <c:axId val="-2128940872"/>
        <c:scaling>
          <c:orientation val="minMax"/>
          <c:max val="7"/>
          <c:min val="2"/>
        </c:scaling>
        <c:delete val="0"/>
        <c:axPos val="b"/>
        <c:title>
          <c:tx>
            <c:rich>
              <a:bodyPr/>
              <a:lstStyle/>
              <a:p>
                <a:r>
                  <a:rPr lang="en-US" sz="1100" b="0">
                    <a:latin typeface="Arial"/>
                  </a:rPr>
                  <a:t>slab_w (µm)   [step under the gold for slab_w &gt; 4.2]</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1"/>
      </c:valAx>
      <c:valAx>
        <c:axId val="-2129643912"/>
        <c:scaling>
          <c:logBase val="10"/>
          <c:orientation val="minMax"/>
          <c:max val="10"/>
          <c:min val="1E-3"/>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partial 2nd etch (100 – 150 nm left)</c:v>
                </c:pt>
              </c:strCache>
            </c:strRef>
          </c:tx>
          <c:spPr>
            <a:ln>
              <a:noFill/>
            </a:ln>
          </c:spPr>
          <c:marker>
            <c:symbol val="circle"/>
            <c:size val="8"/>
            <c:spPr>
              <a:solidFill>
                <a:srgbClr val="EB6834"/>
              </a:solidFill>
              <a:ln>
                <a:solidFill>
                  <a:srgbClr val="EB6834"/>
                </a:solidFill>
              </a:ln>
            </c:spPr>
          </c:marker>
          <c:xVal>
            <c:numRef>
              <c:f>Sheet1!$A$2:$A$12</c:f>
              <c:numCache>
                <c:formatCode>General</c:formatCode>
                <c:ptCount val="11"/>
                <c:pt idx="0">
                  <c:v>1.8511</c:v>
                </c:pt>
                <c:pt idx="1">
                  <c:v>1.9343999999999999</c:v>
                </c:pt>
                <c:pt idx="2">
                  <c:v>2.0327999999999999</c:v>
                </c:pt>
                <c:pt idx="3">
                  <c:v>2.0554999999999999</c:v>
                </c:pt>
                <c:pt idx="4">
                  <c:v>2.1766000000000001</c:v>
                </c:pt>
                <c:pt idx="5">
                  <c:v>2.2732999999999999</c:v>
                </c:pt>
                <c:pt idx="6">
                  <c:v>2.375</c:v>
                </c:pt>
                <c:pt idx="7">
                  <c:v>2.4664000000000001</c:v>
                </c:pt>
                <c:pt idx="8">
                  <c:v>2.5396999999999998</c:v>
                </c:pt>
                <c:pt idx="9">
                  <c:v>2.5790999999999999</c:v>
                </c:pt>
                <c:pt idx="10">
                  <c:v>2.6886999999999999</c:v>
                </c:pt>
              </c:numCache>
            </c:numRef>
          </c:xVal>
          <c:yVal>
            <c:numRef>
              <c:f>Sheet1!$B$2:$B$12</c:f>
              <c:numCache>
                <c:formatCode>General</c:formatCode>
                <c:ptCount val="11"/>
                <c:pt idx="0">
                  <c:v>0.74967066451728859</c:v>
                </c:pt>
                <c:pt idx="1">
                  <c:v>0.45475746711924636</c:v>
                </c:pt>
                <c:pt idx="2">
                  <c:v>0.2084940322810504</c:v>
                </c:pt>
                <c:pt idx="3">
                  <c:v>0.23814128074700797</c:v>
                </c:pt>
                <c:pt idx="4">
                  <c:v>0.12440340280794866</c:v>
                </c:pt>
                <c:pt idx="5">
                  <c:v>5.6917450128777358E-2</c:v>
                </c:pt>
                <c:pt idx="6">
                  <c:v>5.9391519250410571E-2</c:v>
                </c:pt>
                <c:pt idx="7">
                  <c:v>5.518144364427003E-2</c:v>
                </c:pt>
                <c:pt idx="8">
                  <c:v>1.7569702354679511E-2</c:v>
                </c:pt>
                <c:pt idx="9">
                  <c:v>2.8044301161101102E-2</c:v>
                </c:pt>
                <c:pt idx="10">
                  <c:v>7.9385047026073879E-3</c:v>
                </c:pt>
              </c:numCache>
            </c:numRef>
          </c:yVal>
          <c:smooth val="0"/>
          <c:extLst>
            <c:ext xmlns:c16="http://schemas.microsoft.com/office/drawing/2014/chart" uri="{C3380CC4-5D6E-409C-BE32-E72D297353CC}">
              <c16:uniqueId val="{00000000-70F9-4F67-BAC3-D0CA8DBE1D40}"/>
            </c:ext>
          </c:extLst>
        </c:ser>
        <c:ser>
          <c:idx val="1"/>
          <c:order val="1"/>
          <c:tx>
            <c:strRef>
              <c:f>Sheet1!$B$14</c:f>
              <c:strCache>
                <c:ptCount val="1"/>
                <c:pt idx="0">
                  <c:v>buffered 200 nm (gap 2.4 – 3.6 µm)</c:v>
                </c:pt>
              </c:strCache>
            </c:strRef>
          </c:tx>
          <c:spPr>
            <a:ln w="25400">
              <a:solidFill>
                <a:srgbClr val="2A78D6"/>
              </a:solidFill>
            </a:ln>
          </c:spPr>
          <c:marker>
            <c:symbol val="circle"/>
            <c:size val="6"/>
            <c:spPr>
              <a:solidFill>
                <a:srgbClr val="2A78D6"/>
              </a:solidFill>
              <a:ln>
                <a:solidFill>
                  <a:srgbClr val="2A78D6"/>
                </a:solidFill>
              </a:ln>
            </c:spPr>
          </c:marker>
          <c:xVal>
            <c:numRef>
              <c:f>Sheet1!$A$15:$A$21</c:f>
              <c:numCache>
                <c:formatCode>General</c:formatCode>
                <c:ptCount val="7"/>
                <c:pt idx="0">
                  <c:v>1.6353</c:v>
                </c:pt>
                <c:pt idx="1">
                  <c:v>1.7704</c:v>
                </c:pt>
                <c:pt idx="2">
                  <c:v>1.8993</c:v>
                </c:pt>
                <c:pt idx="3">
                  <c:v>2.0249000000000001</c:v>
                </c:pt>
                <c:pt idx="4">
                  <c:v>2.1484000000000001</c:v>
                </c:pt>
                <c:pt idx="5">
                  <c:v>2.2707000000000002</c:v>
                </c:pt>
                <c:pt idx="6">
                  <c:v>2.3919999999999999</c:v>
                </c:pt>
              </c:numCache>
            </c:numRef>
          </c:xVal>
          <c:yVal>
            <c:numRef>
              <c:f>Sheet1!$B$15:$B$21</c:f>
              <c:numCache>
                <c:formatCode>General</c:formatCode>
                <c:ptCount val="7"/>
                <c:pt idx="0">
                  <c:v>0.65090000000000003</c:v>
                </c:pt>
                <c:pt idx="1">
                  <c:v>0.32569999999999999</c:v>
                </c:pt>
                <c:pt idx="2">
                  <c:v>0.16889999999999999</c:v>
                </c:pt>
                <c:pt idx="3">
                  <c:v>8.9499999999999996E-2</c:v>
                </c:pt>
                <c:pt idx="4">
                  <c:v>4.8099999999999997E-2</c:v>
                </c:pt>
                <c:pt idx="5">
                  <c:v>2.5999999999999999E-2</c:v>
                </c:pt>
                <c:pt idx="6">
                  <c:v>1.4200000000000001E-2</c:v>
                </c:pt>
              </c:numCache>
            </c:numRef>
          </c:yVal>
          <c:smooth val="0"/>
          <c:extLst>
            <c:ext xmlns:c16="http://schemas.microsoft.com/office/drawing/2014/chart" uri="{C3380CC4-5D6E-409C-BE32-E72D297353CC}">
              <c16:uniqueId val="{00000001-70F9-4F67-BAC3-D0CA8DBE1D40}"/>
            </c:ext>
          </c:extLst>
        </c:ser>
        <c:ser>
          <c:idx val="2"/>
          <c:order val="2"/>
          <c:tx>
            <c:strRef>
              <c:f>Sheet1!$B$23</c:f>
              <c:strCache>
                <c:ptCount val="1"/>
                <c:pt idx="0">
                  <c:v>full etch, slab ends in the gap</c:v>
                </c:pt>
              </c:strCache>
            </c:strRef>
          </c:tx>
          <c:spPr>
            <a:ln>
              <a:noFill/>
            </a:ln>
          </c:spPr>
          <c:marker>
            <c:symbol val="circle"/>
            <c:size val="8"/>
            <c:spPr>
              <a:solidFill>
                <a:srgbClr val="EDA100"/>
              </a:solidFill>
              <a:ln>
                <a:solidFill>
                  <a:srgbClr val="EDA100"/>
                </a:solidFill>
              </a:ln>
            </c:spPr>
          </c:marker>
          <c:xVal>
            <c:numRef>
              <c:f>Sheet1!$A$24:$A$30</c:f>
              <c:numCache>
                <c:formatCode>General</c:formatCode>
                <c:ptCount val="7"/>
                <c:pt idx="0">
                  <c:v>2.4710999999999999</c:v>
                </c:pt>
                <c:pt idx="1">
                  <c:v>2.7077</c:v>
                </c:pt>
                <c:pt idx="2">
                  <c:v>2.8807999999999998</c:v>
                </c:pt>
                <c:pt idx="3">
                  <c:v>3.0594999999999999</c:v>
                </c:pt>
                <c:pt idx="4">
                  <c:v>3.1049000000000002</c:v>
                </c:pt>
                <c:pt idx="5">
                  <c:v>3.7256</c:v>
                </c:pt>
                <c:pt idx="6">
                  <c:v>4.2476000000000003</c:v>
                </c:pt>
              </c:numCache>
            </c:numRef>
          </c:xVal>
          <c:yVal>
            <c:numRef>
              <c:f>Sheet1!$B$24:$B$30</c:f>
              <c:numCache>
                <c:formatCode>General</c:formatCode>
                <c:ptCount val="7"/>
                <c:pt idx="0">
                  <c:v>8.2843199663874906E-2</c:v>
                </c:pt>
                <c:pt idx="1">
                  <c:v>2.173992950858086E-2</c:v>
                </c:pt>
                <c:pt idx="2">
                  <c:v>3.257281787687482E-2</c:v>
                </c:pt>
                <c:pt idx="3">
                  <c:v>2.9237999999999998E-3</c:v>
                </c:pt>
                <c:pt idx="4">
                  <c:v>8.5341524365131951E-3</c:v>
                </c:pt>
                <c:pt idx="5">
                  <c:v>5.6997000000000005E-4</c:v>
                </c:pt>
                <c:pt idx="6">
                  <c:v>1.6374E-4</c:v>
                </c:pt>
              </c:numCache>
            </c:numRef>
          </c:yVal>
          <c:smooth val="0"/>
          <c:extLst>
            <c:ext xmlns:c16="http://schemas.microsoft.com/office/drawing/2014/chart" uri="{C3380CC4-5D6E-409C-BE32-E72D297353CC}">
              <c16:uniqueId val="{00000002-70F9-4F67-BAC3-D0CA8DBE1D40}"/>
            </c:ext>
          </c:extLst>
        </c:ser>
        <c:ser>
          <c:idx val="3"/>
          <c:order val="3"/>
          <c:tx>
            <c:strRef>
              <c:f>Sheet1!$B$32</c:f>
              <c:strCache>
                <c:ptCount val="1"/>
                <c:pt idx="0">
                  <c:v>deeper rib etch (125 – 150 nm slab)</c:v>
                </c:pt>
              </c:strCache>
            </c:strRef>
          </c:tx>
          <c:spPr>
            <a:ln>
              <a:noFill/>
            </a:ln>
          </c:spPr>
          <c:marker>
            <c:symbol val="circle"/>
            <c:size val="8"/>
            <c:spPr>
              <a:solidFill>
                <a:srgbClr val="1BAF7A"/>
              </a:solidFill>
              <a:ln>
                <a:solidFill>
                  <a:srgbClr val="1BAF7A"/>
                </a:solidFill>
              </a:ln>
            </c:spPr>
          </c:marker>
          <c:xVal>
            <c:numRef>
              <c:f>Sheet1!$A$33:$A$38</c:f>
              <c:numCache>
                <c:formatCode>General</c:formatCode>
                <c:ptCount val="6"/>
                <c:pt idx="0">
                  <c:v>2.2198000000000002</c:v>
                </c:pt>
                <c:pt idx="1">
                  <c:v>2.3969</c:v>
                </c:pt>
                <c:pt idx="2">
                  <c:v>2.5945</c:v>
                </c:pt>
                <c:pt idx="3">
                  <c:v>2.8123999999999998</c:v>
                </c:pt>
                <c:pt idx="4">
                  <c:v>3.1515</c:v>
                </c:pt>
                <c:pt idx="5">
                  <c:v>3.4283000000000001</c:v>
                </c:pt>
              </c:numCache>
            </c:numRef>
          </c:xVal>
          <c:yVal>
            <c:numRef>
              <c:f>Sheet1!$B$33:$B$38</c:f>
              <c:numCache>
                <c:formatCode>General</c:formatCode>
                <c:ptCount val="6"/>
                <c:pt idx="0">
                  <c:v>0.35686887792297461</c:v>
                </c:pt>
                <c:pt idx="1">
                  <c:v>8.0098854083575893E-2</c:v>
                </c:pt>
                <c:pt idx="2">
                  <c:v>5.4831470281125831E-2</c:v>
                </c:pt>
                <c:pt idx="3">
                  <c:v>1.0973224221831984E-2</c:v>
                </c:pt>
                <c:pt idx="4">
                  <c:v>3.4388867774140879E-3</c:v>
                </c:pt>
                <c:pt idx="5">
                  <c:v>5.846634214190067E-4</c:v>
                </c:pt>
              </c:numCache>
            </c:numRef>
          </c:yVal>
          <c:smooth val="0"/>
          <c:extLst>
            <c:ext xmlns:c16="http://schemas.microsoft.com/office/drawing/2014/chart" uri="{C3380CC4-5D6E-409C-BE32-E72D297353CC}">
              <c16:uniqueId val="{00000003-70F9-4F67-BAC3-D0CA8DBE1D40}"/>
            </c:ext>
          </c:extLst>
        </c:ser>
        <c:ser>
          <c:idx val="4"/>
          <c:order val="4"/>
          <c:tx>
            <c:strRef>
              <c:f>Sheet1!$B$40</c:f>
              <c:strCache>
                <c:ptCount val="1"/>
                <c:pt idx="0">
                  <c:v>standard lifted: ripple range</c:v>
                </c:pt>
              </c:strCache>
            </c:strRef>
          </c:tx>
          <c:spPr>
            <a:ln w="25400">
              <a:solidFill>
                <a:srgbClr val="8A8A8A"/>
              </a:solidFill>
            </a:ln>
          </c:spPr>
          <c:marker>
            <c:symbol val="circle"/>
            <c:size val="6"/>
            <c:spPr>
              <a:solidFill>
                <a:srgbClr val="8A8A8A"/>
              </a:solidFill>
              <a:ln>
                <a:solidFill>
                  <a:srgbClr val="8A8A8A"/>
                </a:solidFill>
              </a:ln>
            </c:spPr>
          </c:marker>
          <c:xVal>
            <c:numRef>
              <c:f>Sheet1!$A$41:$A$42</c:f>
              <c:numCache>
                <c:formatCode>General</c:formatCode>
                <c:ptCount val="2"/>
                <c:pt idx="0">
                  <c:v>2.2667999999999999</c:v>
                </c:pt>
                <c:pt idx="1">
                  <c:v>2.2667999999999999</c:v>
                </c:pt>
              </c:numCache>
            </c:numRef>
          </c:xVal>
          <c:yVal>
            <c:numRef>
              <c:f>Sheet1!$B$41:$B$42</c:f>
              <c:numCache>
                <c:formatCode>General</c:formatCode>
                <c:ptCount val="2"/>
                <c:pt idx="0">
                  <c:v>0.18184</c:v>
                </c:pt>
                <c:pt idx="1">
                  <c:v>0.88615999999999995</c:v>
                </c:pt>
              </c:numCache>
            </c:numRef>
          </c:yVal>
          <c:smooth val="0"/>
          <c:extLst>
            <c:ext xmlns:c16="http://schemas.microsoft.com/office/drawing/2014/chart" uri="{C3380CC4-5D6E-409C-BE32-E72D297353CC}">
              <c16:uniqueId val="{00000004-70F9-4F67-BAC3-D0CA8DBE1D40}"/>
            </c:ext>
          </c:extLst>
        </c:ser>
        <c:dLbls>
          <c:showLegendKey val="0"/>
          <c:showVal val="0"/>
          <c:showCatName val="0"/>
          <c:showSerName val="0"/>
          <c:showPercent val="0"/>
          <c:showBubbleSize val="0"/>
        </c:dLbls>
        <c:axId val="-2128940872"/>
        <c:axId val="-2129643912"/>
      </c:scatterChart>
      <c:valAx>
        <c:axId val="-2128940872"/>
        <c:scaling>
          <c:orientation val="minMax"/>
          <c:max val="3.6"/>
          <c:min val="1.6"/>
        </c:scaling>
        <c:delete val="0"/>
        <c:axPos val="b"/>
        <c:title>
          <c:tx>
            <c:rich>
              <a:bodyPr/>
              <a:lstStyle/>
              <a:p>
                <a:r>
                  <a:rPr lang="en-US" sz="1100" b="0">
                    <a:latin typeface="Arial"/>
                  </a:rPr>
                  <a:t>V</a:t>
                </a:r>
                <a:r>
                  <a:rPr lang="el-GR" sz="1100" b="0">
                    <a:latin typeface="Arial"/>
                  </a:rPr>
                  <a:t>π·</a:t>
                </a:r>
                <a:r>
                  <a:rPr lang="en-US" sz="1100" b="0">
                    <a:latin typeface="Arial"/>
                  </a:rPr>
                  <a:t>L (V·cm)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2"/>
      </c:valAx>
      <c:valAx>
        <c:axId val="-2129643912"/>
        <c:scaling>
          <c:logBase val="10"/>
          <c:orientation val="minMax"/>
          <c:max val="2"/>
          <c:min val="5.0000000000000001E-4"/>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legend>
      <c:legendPos val="t"/>
      <c:overlay val="0"/>
      <c:txPr>
        <a:bodyPr/>
        <a:lstStyle/>
        <a:p>
          <a:pPr>
            <a:defRPr sz="11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Vπ·L</c:v>
                </c:pt>
              </c:strCache>
            </c:strRef>
          </c:tx>
          <c:spPr>
            <a:ln w="25400">
              <a:solidFill>
                <a:srgbClr val="2A78D6"/>
              </a:solidFill>
            </a:ln>
          </c:spPr>
          <c:marker>
            <c:symbol val="circle"/>
            <c:size val="6"/>
            <c:spPr>
              <a:solidFill>
                <a:srgbClr val="2A78D6"/>
              </a:solidFill>
              <a:ln>
                <a:solidFill>
                  <a:srgbClr val="2A78D6"/>
                </a:solidFill>
              </a:ln>
            </c:spPr>
          </c:marker>
          <c:xVal>
            <c:numRef>
              <c:f>Sheet1!$A$2:$A$11</c:f>
              <c:numCache>
                <c:formatCode>General</c:formatCode>
                <c:ptCount val="10"/>
                <c:pt idx="0">
                  <c:v>0</c:v>
                </c:pt>
                <c:pt idx="1">
                  <c:v>15</c:v>
                </c:pt>
                <c:pt idx="2">
                  <c:v>30</c:v>
                </c:pt>
                <c:pt idx="3">
                  <c:v>45</c:v>
                </c:pt>
                <c:pt idx="4">
                  <c:v>60</c:v>
                </c:pt>
                <c:pt idx="5">
                  <c:v>75</c:v>
                </c:pt>
                <c:pt idx="6">
                  <c:v>90</c:v>
                </c:pt>
                <c:pt idx="7">
                  <c:v>105</c:v>
                </c:pt>
                <c:pt idx="8">
                  <c:v>120</c:v>
                </c:pt>
                <c:pt idx="9">
                  <c:v>125</c:v>
                </c:pt>
              </c:numCache>
            </c:numRef>
          </c:xVal>
          <c:yVal>
            <c:numRef>
              <c:f>Sheet1!$B$2:$B$11</c:f>
              <c:numCache>
                <c:formatCode>General</c:formatCode>
                <c:ptCount val="10"/>
                <c:pt idx="0">
                  <c:v>2.2707000000000002</c:v>
                </c:pt>
                <c:pt idx="1">
                  <c:v>2.3292999999999999</c:v>
                </c:pt>
                <c:pt idx="2">
                  <c:v>2.3914</c:v>
                </c:pt>
                <c:pt idx="3">
                  <c:v>2.4571000000000001</c:v>
                </c:pt>
                <c:pt idx="4">
                  <c:v>2.5268999999999999</c:v>
                </c:pt>
                <c:pt idx="5">
                  <c:v>2.6012</c:v>
                </c:pt>
                <c:pt idx="6">
                  <c:v>2.6808000000000001</c:v>
                </c:pt>
                <c:pt idx="7">
                  <c:v>2.766</c:v>
                </c:pt>
                <c:pt idx="8">
                  <c:v>2.8578999999999999</c:v>
                </c:pt>
                <c:pt idx="9">
                  <c:v>2.8900999999999999</c:v>
                </c:pt>
              </c:numCache>
            </c:numRef>
          </c:yVal>
          <c:smooth val="0"/>
          <c:extLst>
            <c:ext xmlns:c16="http://schemas.microsoft.com/office/drawing/2014/chart" uri="{C3380CC4-5D6E-409C-BE32-E72D297353CC}">
              <c16:uniqueId val="{00000000-7917-46E1-BE79-60AF0A6C287B}"/>
            </c:ext>
          </c:extLst>
        </c:ser>
        <c:dLbls>
          <c:showLegendKey val="0"/>
          <c:showVal val="0"/>
          <c:showCatName val="0"/>
          <c:showSerName val="0"/>
          <c:showPercent val="0"/>
          <c:showBubbleSize val="0"/>
        </c:dLbls>
        <c:axId val="-2128940872"/>
        <c:axId val="-2129643912"/>
      </c:scatterChart>
      <c:valAx>
        <c:axId val="-2128940872"/>
        <c:scaling>
          <c:orientation val="minMax"/>
          <c:max val="125"/>
          <c:min val="0"/>
        </c:scaling>
        <c:delete val="0"/>
        <c:axPos val="b"/>
        <c:title>
          <c:tx>
            <c:rich>
              <a:bodyPr/>
              <a:lstStyle/>
              <a:p>
                <a:r>
                  <a:rPr sz="1100" b="0">
                    <a:latin typeface="Arial"/>
                  </a:rPr>
                  <a:t>over-etch (nm)  [slab = 275 − over-etch]</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25"/>
      </c:valAx>
      <c:valAx>
        <c:axId val="-2129643912"/>
        <c:scaling>
          <c:orientation val="minMax"/>
          <c:max val="3"/>
          <c:min val="2.2000000000000002"/>
        </c:scaling>
        <c:delete val="0"/>
        <c:axPos val="l"/>
        <c:majorGridlines>
          <c:spPr>
            <a:ln>
              <a:solidFill>
                <a:srgbClr val="E3E3E3"/>
              </a:solidFill>
            </a:ln>
          </c:spPr>
        </c:majorGridlines>
        <c:title>
          <c:tx>
            <c:rich>
              <a:bodyPr/>
              <a:lstStyle/>
              <a:p>
                <a:r>
                  <a:rPr sz="1100" b="0">
                    <a:latin typeface="Arial"/>
                  </a:rPr>
                  <a:t>Vπ·L (V·cm)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majorUnit val="0.2"/>
      </c:valAx>
    </c:plotArea>
    <c:plotVisOnly val="1"/>
    <c:dispBlanksAs val="gap"/>
    <c:showDLblsOverMax val="0"/>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IL</c:v>
                </c:pt>
              </c:strCache>
            </c:strRef>
          </c:tx>
          <c:spPr>
            <a:ln w="25400">
              <a:solidFill>
                <a:srgbClr val="EB6834"/>
              </a:solidFill>
            </a:ln>
          </c:spPr>
          <c:marker>
            <c:symbol val="circle"/>
            <c:size val="6"/>
            <c:spPr>
              <a:solidFill>
                <a:srgbClr val="EB6834"/>
              </a:solidFill>
              <a:ln>
                <a:solidFill>
                  <a:srgbClr val="EB6834"/>
                </a:solidFill>
              </a:ln>
            </c:spPr>
          </c:marker>
          <c:xVal>
            <c:numRef>
              <c:f>Sheet1!$A$2:$A$11</c:f>
              <c:numCache>
                <c:formatCode>General</c:formatCode>
                <c:ptCount val="10"/>
                <c:pt idx="0">
                  <c:v>0</c:v>
                </c:pt>
                <c:pt idx="1">
                  <c:v>15</c:v>
                </c:pt>
                <c:pt idx="2">
                  <c:v>30</c:v>
                </c:pt>
                <c:pt idx="3">
                  <c:v>45</c:v>
                </c:pt>
                <c:pt idx="4">
                  <c:v>60</c:v>
                </c:pt>
                <c:pt idx="5">
                  <c:v>75</c:v>
                </c:pt>
                <c:pt idx="6">
                  <c:v>90</c:v>
                </c:pt>
                <c:pt idx="7">
                  <c:v>105</c:v>
                </c:pt>
                <c:pt idx="8">
                  <c:v>120</c:v>
                </c:pt>
                <c:pt idx="9">
                  <c:v>125</c:v>
                </c:pt>
              </c:numCache>
            </c:numRef>
          </c:xVal>
          <c:yVal>
            <c:numRef>
              <c:f>Sheet1!$B$2:$B$11</c:f>
              <c:numCache>
                <c:formatCode>General</c:formatCode>
                <c:ptCount val="10"/>
                <c:pt idx="0">
                  <c:v>2.6030000000000001E-2</c:v>
                </c:pt>
                <c:pt idx="1">
                  <c:v>1.9050000000000001E-2</c:v>
                </c:pt>
                <c:pt idx="2">
                  <c:v>1.4019999999999999E-2</c:v>
                </c:pt>
                <c:pt idx="3">
                  <c:v>1.038E-2</c:v>
                </c:pt>
                <c:pt idx="4">
                  <c:v>7.7499999999999999E-3</c:v>
                </c:pt>
                <c:pt idx="5">
                  <c:v>5.8199999999999997E-3</c:v>
                </c:pt>
                <c:pt idx="6">
                  <c:v>4.4200000000000003E-3</c:v>
                </c:pt>
                <c:pt idx="7">
                  <c:v>3.3899999999999998E-3</c:v>
                </c:pt>
                <c:pt idx="8">
                  <c:v>2.63E-3</c:v>
                </c:pt>
                <c:pt idx="9">
                  <c:v>2.4199999999999998E-3</c:v>
                </c:pt>
              </c:numCache>
            </c:numRef>
          </c:yVal>
          <c:smooth val="0"/>
          <c:extLst>
            <c:ext xmlns:c16="http://schemas.microsoft.com/office/drawing/2014/chart" uri="{C3380CC4-5D6E-409C-BE32-E72D297353CC}">
              <c16:uniqueId val="{00000000-9381-41DD-B081-A3741EA77BDD}"/>
            </c:ext>
          </c:extLst>
        </c:ser>
        <c:dLbls>
          <c:showLegendKey val="0"/>
          <c:showVal val="0"/>
          <c:showCatName val="0"/>
          <c:showSerName val="0"/>
          <c:showPercent val="0"/>
          <c:showBubbleSize val="0"/>
        </c:dLbls>
        <c:axId val="-2128940872"/>
        <c:axId val="-2129643912"/>
      </c:scatterChart>
      <c:valAx>
        <c:axId val="-2128940872"/>
        <c:scaling>
          <c:orientation val="minMax"/>
          <c:max val="125"/>
          <c:min val="0"/>
        </c:scaling>
        <c:delete val="0"/>
        <c:axPos val="b"/>
        <c:title>
          <c:tx>
            <c:rich>
              <a:bodyPr/>
              <a:lstStyle/>
              <a:p>
                <a:r>
                  <a:rPr sz="1100" b="0">
                    <a:latin typeface="Arial"/>
                  </a:rPr>
                  <a:t>over-etch (nm)  [slab = 275 − over-etch]</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25"/>
      </c:valAx>
      <c:valAx>
        <c:axId val="-2129643912"/>
        <c:scaling>
          <c:logBase val="10"/>
          <c:orientation val="minMax"/>
          <c:max val="0.1"/>
          <c:min val="1E-3"/>
        </c:scaling>
        <c:delete val="0"/>
        <c:axPos val="l"/>
        <c:majorGridlines>
          <c:spPr>
            <a:ln>
              <a:solidFill>
                <a:srgbClr val="E3E3E3"/>
              </a:solidFill>
            </a:ln>
          </c:spPr>
        </c:majorGridlines>
        <c:title>
          <c:tx>
            <c:rich>
              <a:bodyPr/>
              <a:lstStyle/>
              <a:p>
                <a:r>
                  <a:rPr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plotVisOnly val="1"/>
    <c:dispBlanksAs val="gap"/>
    <c:showDLblsOverMax val="0"/>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gap 3.9 µm</c:v>
                </c:pt>
              </c:strCache>
            </c:strRef>
          </c:tx>
          <c:spPr>
            <a:ln w="15875">
              <a:solidFill>
                <a:srgbClr val="EB6834"/>
              </a:solidFill>
            </a:ln>
          </c:spPr>
          <c:marker>
            <c:symbol val="circle"/>
            <c:size val="3"/>
            <c:spPr>
              <a:solidFill>
                <a:srgbClr val="EB6834"/>
              </a:solidFill>
              <a:ln>
                <a:solidFill>
                  <a:srgbClr val="EB6834"/>
                </a:solidFill>
              </a:ln>
            </c:spPr>
          </c:marker>
          <c:xVal>
            <c:numRef>
              <c:f>Sheet1!$A$2:$A$47</c:f>
              <c:numCache>
                <c:formatCode>General</c:formatCode>
                <c:ptCount val="4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pt idx="26">
                  <c:v>9.1</c:v>
                </c:pt>
                <c:pt idx="27">
                  <c:v>9.1999999999999993</c:v>
                </c:pt>
                <c:pt idx="28">
                  <c:v>9.3000000000000007</c:v>
                </c:pt>
                <c:pt idx="29">
                  <c:v>9.4</c:v>
                </c:pt>
                <c:pt idx="30">
                  <c:v>9.5</c:v>
                </c:pt>
                <c:pt idx="31">
                  <c:v>9.6</c:v>
                </c:pt>
                <c:pt idx="32">
                  <c:v>9.6999999999999993</c:v>
                </c:pt>
                <c:pt idx="33">
                  <c:v>9.8000000000000007</c:v>
                </c:pt>
                <c:pt idx="34">
                  <c:v>9.9</c:v>
                </c:pt>
                <c:pt idx="35">
                  <c:v>10</c:v>
                </c:pt>
                <c:pt idx="36">
                  <c:v>10.1</c:v>
                </c:pt>
                <c:pt idx="37">
                  <c:v>10.199999999999999</c:v>
                </c:pt>
                <c:pt idx="38">
                  <c:v>10.3</c:v>
                </c:pt>
                <c:pt idx="39">
                  <c:v>10.4</c:v>
                </c:pt>
                <c:pt idx="40">
                  <c:v>10.5</c:v>
                </c:pt>
                <c:pt idx="41">
                  <c:v>10.6</c:v>
                </c:pt>
                <c:pt idx="42">
                  <c:v>10.7</c:v>
                </c:pt>
                <c:pt idx="43">
                  <c:v>10.8</c:v>
                </c:pt>
                <c:pt idx="44">
                  <c:v>10.9</c:v>
                </c:pt>
                <c:pt idx="45">
                  <c:v>11</c:v>
                </c:pt>
              </c:numCache>
            </c:numRef>
          </c:xVal>
          <c:yVal>
            <c:numRef>
              <c:f>Sheet1!$B$2:$B$47</c:f>
              <c:numCache>
                <c:formatCode>General</c:formatCode>
                <c:ptCount val="46"/>
                <c:pt idx="0">
                  <c:v>0.73587999999999998</c:v>
                </c:pt>
                <c:pt idx="1">
                  <c:v>0.52942999999999996</c:v>
                </c:pt>
                <c:pt idx="2">
                  <c:v>0.47226000000000001</c:v>
                </c:pt>
                <c:pt idx="3">
                  <c:v>0.51920999999999995</c:v>
                </c:pt>
                <c:pt idx="4">
                  <c:v>0.70943999999999996</c:v>
                </c:pt>
                <c:pt idx="5">
                  <c:v>1.18502</c:v>
                </c:pt>
                <c:pt idx="6">
                  <c:v>2.1106500000000001</c:v>
                </c:pt>
                <c:pt idx="7">
                  <c:v>2.1613799999999999</c:v>
                </c:pt>
                <c:pt idx="8">
                  <c:v>1.29196</c:v>
                </c:pt>
                <c:pt idx="9">
                  <c:v>0.79547999999999996</c:v>
                </c:pt>
                <c:pt idx="10">
                  <c:v>0.59662000000000004</c:v>
                </c:pt>
                <c:pt idx="11">
                  <c:v>0.54183000000000003</c:v>
                </c:pt>
                <c:pt idx="12">
                  <c:v>0.59669000000000005</c:v>
                </c:pt>
                <c:pt idx="13">
                  <c:v>0.79308999999999996</c:v>
                </c:pt>
                <c:pt idx="14">
                  <c:v>1.2515499999999999</c:v>
                </c:pt>
                <c:pt idx="15">
                  <c:v>1.94526</c:v>
                </c:pt>
                <c:pt idx="16">
                  <c:v>1.9313</c:v>
                </c:pt>
                <c:pt idx="17">
                  <c:v>1.2664200000000001</c:v>
                </c:pt>
                <c:pt idx="18">
                  <c:v>0.85053999999999996</c:v>
                </c:pt>
                <c:pt idx="19">
                  <c:v>0.66210999999999998</c:v>
                </c:pt>
                <c:pt idx="20">
                  <c:v>0.60773999999999995</c:v>
                </c:pt>
                <c:pt idx="21">
                  <c:v>0.66613</c:v>
                </c:pt>
                <c:pt idx="22">
                  <c:v>0.87233000000000005</c:v>
                </c:pt>
                <c:pt idx="23">
                  <c:v>1.28426</c:v>
                </c:pt>
                <c:pt idx="24">
                  <c:v>1.8092600000000001</c:v>
                </c:pt>
                <c:pt idx="25">
                  <c:v>1.7676099999999999</c:v>
                </c:pt>
                <c:pt idx="26">
                  <c:v>1.2582800000000001</c:v>
                </c:pt>
                <c:pt idx="27">
                  <c:v>0.89020999999999995</c:v>
                </c:pt>
                <c:pt idx="28">
                  <c:v>0.71567999999999998</c:v>
                </c:pt>
                <c:pt idx="29">
                  <c:v>0.66710000000000003</c:v>
                </c:pt>
                <c:pt idx="30">
                  <c:v>0.73065000000000002</c:v>
                </c:pt>
                <c:pt idx="31">
                  <c:v>0.91735</c:v>
                </c:pt>
                <c:pt idx="32">
                  <c:v>1.3018700000000001</c:v>
                </c:pt>
                <c:pt idx="33">
                  <c:v>1.6956</c:v>
                </c:pt>
                <c:pt idx="34">
                  <c:v>1.6482000000000001</c:v>
                </c:pt>
                <c:pt idx="35">
                  <c:v>1.2367900000000001</c:v>
                </c:pt>
                <c:pt idx="36">
                  <c:v>0.91474999999999995</c:v>
                </c:pt>
                <c:pt idx="37">
                  <c:v>0.76141999999999999</c:v>
                </c:pt>
                <c:pt idx="38">
                  <c:v>0.72153</c:v>
                </c:pt>
                <c:pt idx="39">
                  <c:v>0.78847999999999996</c:v>
                </c:pt>
                <c:pt idx="40">
                  <c:v>0.98214000000000001</c:v>
                </c:pt>
                <c:pt idx="41">
                  <c:v>1.3116699999999999</c:v>
                </c:pt>
                <c:pt idx="42">
                  <c:v>1.6075200000000001</c:v>
                </c:pt>
                <c:pt idx="43">
                  <c:v>1.5349299999999999</c:v>
                </c:pt>
                <c:pt idx="44">
                  <c:v>1.2180800000000001</c:v>
                </c:pt>
                <c:pt idx="45">
                  <c:v>0.95206999999999997</c:v>
                </c:pt>
              </c:numCache>
            </c:numRef>
          </c:yVal>
          <c:smooth val="0"/>
          <c:extLst>
            <c:ext xmlns:c16="http://schemas.microsoft.com/office/drawing/2014/chart" uri="{C3380CC4-5D6E-409C-BE32-E72D297353CC}">
              <c16:uniqueId val="{00000000-0A04-41DD-939F-14F4E3D7E8D1}"/>
            </c:ext>
          </c:extLst>
        </c:ser>
        <c:ser>
          <c:idx val="1"/>
          <c:order val="1"/>
          <c:tx>
            <c:strRef>
              <c:f>Sheet1!$B$49</c:f>
              <c:strCache>
                <c:ptCount val="1"/>
                <c:pt idx="0">
                  <c:v>gap 4.2 µm</c:v>
                </c:pt>
              </c:strCache>
            </c:strRef>
          </c:tx>
          <c:spPr>
            <a:ln w="15875">
              <a:solidFill>
                <a:srgbClr val="7F8C8D"/>
              </a:solidFill>
            </a:ln>
          </c:spPr>
          <c:marker>
            <c:symbol val="circle"/>
            <c:size val="3"/>
            <c:spPr>
              <a:solidFill>
                <a:srgbClr val="7F8C8D"/>
              </a:solidFill>
              <a:ln>
                <a:solidFill>
                  <a:srgbClr val="7F8C8D"/>
                </a:solidFill>
              </a:ln>
            </c:spPr>
          </c:marker>
          <c:xVal>
            <c:numRef>
              <c:f>Sheet1!$A$50:$A$95</c:f>
              <c:numCache>
                <c:formatCode>General</c:formatCode>
                <c:ptCount val="4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pt idx="26">
                  <c:v>9.1</c:v>
                </c:pt>
                <c:pt idx="27">
                  <c:v>9.1999999999999993</c:v>
                </c:pt>
                <c:pt idx="28">
                  <c:v>9.3000000000000007</c:v>
                </c:pt>
                <c:pt idx="29">
                  <c:v>9.4</c:v>
                </c:pt>
                <c:pt idx="30">
                  <c:v>9.5</c:v>
                </c:pt>
                <c:pt idx="31">
                  <c:v>9.6</c:v>
                </c:pt>
                <c:pt idx="32">
                  <c:v>9.6999999999999993</c:v>
                </c:pt>
                <c:pt idx="33">
                  <c:v>9.8000000000000007</c:v>
                </c:pt>
                <c:pt idx="34">
                  <c:v>9.9</c:v>
                </c:pt>
                <c:pt idx="35">
                  <c:v>10</c:v>
                </c:pt>
                <c:pt idx="36">
                  <c:v>10.1</c:v>
                </c:pt>
                <c:pt idx="37">
                  <c:v>10.199999999999999</c:v>
                </c:pt>
                <c:pt idx="38">
                  <c:v>10.3</c:v>
                </c:pt>
                <c:pt idx="39">
                  <c:v>10.4</c:v>
                </c:pt>
                <c:pt idx="40">
                  <c:v>10.5</c:v>
                </c:pt>
                <c:pt idx="41">
                  <c:v>10.6</c:v>
                </c:pt>
                <c:pt idx="42">
                  <c:v>10.7</c:v>
                </c:pt>
                <c:pt idx="43">
                  <c:v>10.8</c:v>
                </c:pt>
                <c:pt idx="44">
                  <c:v>10.9</c:v>
                </c:pt>
                <c:pt idx="45">
                  <c:v>11</c:v>
                </c:pt>
              </c:numCache>
            </c:numRef>
          </c:xVal>
          <c:yVal>
            <c:numRef>
              <c:f>Sheet1!$B$50:$B$95</c:f>
              <c:numCache>
                <c:formatCode>General</c:formatCode>
                <c:ptCount val="46"/>
                <c:pt idx="0">
                  <c:v>0.68149999999999999</c:v>
                </c:pt>
                <c:pt idx="1">
                  <c:v>0.35210000000000002</c:v>
                </c:pt>
                <c:pt idx="2">
                  <c:v>0.2271</c:v>
                </c:pt>
                <c:pt idx="3">
                  <c:v>0.18260000000000001</c:v>
                </c:pt>
                <c:pt idx="4">
                  <c:v>0.1807</c:v>
                </c:pt>
                <c:pt idx="5">
                  <c:v>0.22159999999999999</c:v>
                </c:pt>
                <c:pt idx="6">
                  <c:v>0.33450000000000002</c:v>
                </c:pt>
                <c:pt idx="7">
                  <c:v>0.60160000000000002</c:v>
                </c:pt>
                <c:pt idx="8">
                  <c:v>0.88270000000000004</c:v>
                </c:pt>
                <c:pt idx="9">
                  <c:v>0.63819999999999999</c:v>
                </c:pt>
                <c:pt idx="10">
                  <c:v>0.37309999999999999</c:v>
                </c:pt>
                <c:pt idx="11">
                  <c:v>0.25130000000000002</c:v>
                </c:pt>
                <c:pt idx="12">
                  <c:v>0.2077</c:v>
                </c:pt>
                <c:pt idx="13">
                  <c:v>0.20730000000000001</c:v>
                </c:pt>
                <c:pt idx="14">
                  <c:v>0.25090000000000001</c:v>
                </c:pt>
                <c:pt idx="15">
                  <c:v>0.36330000000000001</c:v>
                </c:pt>
                <c:pt idx="16">
                  <c:v>0.59650000000000003</c:v>
                </c:pt>
                <c:pt idx="17">
                  <c:v>0.78239999999999998</c:v>
                </c:pt>
                <c:pt idx="18">
                  <c:v>0.60019999999999996</c:v>
                </c:pt>
                <c:pt idx="19">
                  <c:v>0.38250000000000001</c:v>
                </c:pt>
                <c:pt idx="20">
                  <c:v>0.27510000000000001</c:v>
                </c:pt>
                <c:pt idx="21">
                  <c:v>0.23100000000000001</c:v>
                </c:pt>
                <c:pt idx="22">
                  <c:v>0.2329</c:v>
                </c:pt>
                <c:pt idx="23">
                  <c:v>0.2782</c:v>
                </c:pt>
                <c:pt idx="24">
                  <c:v>0.39100000000000001</c:v>
                </c:pt>
                <c:pt idx="25">
                  <c:v>0.58499999999999996</c:v>
                </c:pt>
                <c:pt idx="26">
                  <c:v>0.70760000000000001</c:v>
                </c:pt>
                <c:pt idx="27">
                  <c:v>0.56599999999999995</c:v>
                </c:pt>
                <c:pt idx="28">
                  <c:v>0.3916</c:v>
                </c:pt>
                <c:pt idx="29">
                  <c:v>0.29139999999999999</c:v>
                </c:pt>
                <c:pt idx="30">
                  <c:v>0.2525</c:v>
                </c:pt>
                <c:pt idx="31">
                  <c:v>0.25490000000000002</c:v>
                </c:pt>
                <c:pt idx="32">
                  <c:v>0.30509999999999998</c:v>
                </c:pt>
                <c:pt idx="33">
                  <c:v>0.40360000000000001</c:v>
                </c:pt>
                <c:pt idx="34">
                  <c:v>0.57420000000000004</c:v>
                </c:pt>
                <c:pt idx="35">
                  <c:v>0.64949999999999997</c:v>
                </c:pt>
                <c:pt idx="36">
                  <c:v>0.5403</c:v>
                </c:pt>
                <c:pt idx="37">
                  <c:v>0.39369999999999999</c:v>
                </c:pt>
                <c:pt idx="38">
                  <c:v>0.30709999999999998</c:v>
                </c:pt>
                <c:pt idx="39">
                  <c:v>0.27229999999999999</c:v>
                </c:pt>
                <c:pt idx="40">
                  <c:v>0.27600000000000002</c:v>
                </c:pt>
                <c:pt idx="41">
                  <c:v>0.32279999999999998</c:v>
                </c:pt>
                <c:pt idx="42">
                  <c:v>0.41689999999999999</c:v>
                </c:pt>
                <c:pt idx="43">
                  <c:v>0.5605</c:v>
                </c:pt>
                <c:pt idx="44">
                  <c:v>0.60709999999999997</c:v>
                </c:pt>
                <c:pt idx="45">
                  <c:v>0.51690000000000003</c:v>
                </c:pt>
              </c:numCache>
            </c:numRef>
          </c:yVal>
          <c:smooth val="0"/>
          <c:extLst>
            <c:ext xmlns:c16="http://schemas.microsoft.com/office/drawing/2014/chart" uri="{C3380CC4-5D6E-409C-BE32-E72D297353CC}">
              <c16:uniqueId val="{00000001-0A04-41DD-939F-14F4E3D7E8D1}"/>
            </c:ext>
          </c:extLst>
        </c:ser>
        <c:ser>
          <c:idx val="2"/>
          <c:order val="2"/>
          <c:tx>
            <c:strRef>
              <c:f>Sheet1!$B$97</c:f>
              <c:strCache>
                <c:ptCount val="1"/>
                <c:pt idx="0">
                  <c:v>gap 5.0 µm</c:v>
                </c:pt>
              </c:strCache>
            </c:strRef>
          </c:tx>
          <c:spPr>
            <a:ln w="15875">
              <a:solidFill>
                <a:srgbClr val="2A78D6"/>
              </a:solidFill>
            </a:ln>
          </c:spPr>
          <c:marker>
            <c:symbol val="circle"/>
            <c:size val="3"/>
            <c:spPr>
              <a:solidFill>
                <a:srgbClr val="2A78D6"/>
              </a:solidFill>
              <a:ln>
                <a:solidFill>
                  <a:srgbClr val="2A78D6"/>
                </a:solidFill>
              </a:ln>
            </c:spPr>
          </c:marker>
          <c:xVal>
            <c:numRef>
              <c:f>Sheet1!$A$98:$A$143</c:f>
              <c:numCache>
                <c:formatCode>General</c:formatCode>
                <c:ptCount val="46"/>
                <c:pt idx="0">
                  <c:v>6.5</c:v>
                </c:pt>
                <c:pt idx="1">
                  <c:v>6.6</c:v>
                </c:pt>
                <c:pt idx="2">
                  <c:v>6.7</c:v>
                </c:pt>
                <c:pt idx="3">
                  <c:v>6.8</c:v>
                </c:pt>
                <c:pt idx="4">
                  <c:v>6.9</c:v>
                </c:pt>
                <c:pt idx="5">
                  <c:v>7</c:v>
                </c:pt>
                <c:pt idx="6">
                  <c:v>7.1</c:v>
                </c:pt>
                <c:pt idx="7">
                  <c:v>7.2</c:v>
                </c:pt>
                <c:pt idx="8">
                  <c:v>7.3</c:v>
                </c:pt>
                <c:pt idx="9">
                  <c:v>7.4</c:v>
                </c:pt>
                <c:pt idx="10">
                  <c:v>7.5</c:v>
                </c:pt>
                <c:pt idx="11">
                  <c:v>7.6</c:v>
                </c:pt>
                <c:pt idx="12">
                  <c:v>7.7</c:v>
                </c:pt>
                <c:pt idx="13">
                  <c:v>7.8</c:v>
                </c:pt>
                <c:pt idx="14">
                  <c:v>7.9</c:v>
                </c:pt>
                <c:pt idx="15">
                  <c:v>8</c:v>
                </c:pt>
                <c:pt idx="16">
                  <c:v>8.1</c:v>
                </c:pt>
                <c:pt idx="17">
                  <c:v>8.1999999999999993</c:v>
                </c:pt>
                <c:pt idx="18">
                  <c:v>8.3000000000000007</c:v>
                </c:pt>
                <c:pt idx="19">
                  <c:v>8.4</c:v>
                </c:pt>
                <c:pt idx="20">
                  <c:v>8.5</c:v>
                </c:pt>
                <c:pt idx="21">
                  <c:v>8.6</c:v>
                </c:pt>
                <c:pt idx="22">
                  <c:v>8.6999999999999993</c:v>
                </c:pt>
                <c:pt idx="23">
                  <c:v>8.8000000000000007</c:v>
                </c:pt>
                <c:pt idx="24">
                  <c:v>8.9</c:v>
                </c:pt>
                <c:pt idx="25">
                  <c:v>9</c:v>
                </c:pt>
                <c:pt idx="26">
                  <c:v>9.1</c:v>
                </c:pt>
                <c:pt idx="27">
                  <c:v>9.1999999999999993</c:v>
                </c:pt>
                <c:pt idx="28">
                  <c:v>9.3000000000000007</c:v>
                </c:pt>
                <c:pt idx="29">
                  <c:v>9.4</c:v>
                </c:pt>
                <c:pt idx="30">
                  <c:v>9.5</c:v>
                </c:pt>
                <c:pt idx="31">
                  <c:v>9.6</c:v>
                </c:pt>
                <c:pt idx="32">
                  <c:v>9.6999999999999993</c:v>
                </c:pt>
                <c:pt idx="33">
                  <c:v>9.8000000000000007</c:v>
                </c:pt>
                <c:pt idx="34">
                  <c:v>9.9</c:v>
                </c:pt>
                <c:pt idx="35">
                  <c:v>10</c:v>
                </c:pt>
                <c:pt idx="36">
                  <c:v>10.1</c:v>
                </c:pt>
                <c:pt idx="37">
                  <c:v>10.199999999999999</c:v>
                </c:pt>
                <c:pt idx="38">
                  <c:v>10.3</c:v>
                </c:pt>
                <c:pt idx="39">
                  <c:v>10.4</c:v>
                </c:pt>
                <c:pt idx="40">
                  <c:v>10.5</c:v>
                </c:pt>
                <c:pt idx="41">
                  <c:v>10.6</c:v>
                </c:pt>
                <c:pt idx="42">
                  <c:v>10.7</c:v>
                </c:pt>
                <c:pt idx="43">
                  <c:v>10.8</c:v>
                </c:pt>
                <c:pt idx="44">
                  <c:v>10.9</c:v>
                </c:pt>
                <c:pt idx="45">
                  <c:v>11</c:v>
                </c:pt>
              </c:numCache>
            </c:numRef>
          </c:xVal>
          <c:yVal>
            <c:numRef>
              <c:f>Sheet1!$B$98:$B$143</c:f>
              <c:numCache>
                <c:formatCode>General</c:formatCode>
                <c:ptCount val="46"/>
                <c:pt idx="0">
                  <c:v>1.34E-2</c:v>
                </c:pt>
                <c:pt idx="1">
                  <c:v>2.1219999999999999E-2</c:v>
                </c:pt>
                <c:pt idx="2">
                  <c:v>4.283E-2</c:v>
                </c:pt>
                <c:pt idx="3">
                  <c:v>7.3480000000000004E-2</c:v>
                </c:pt>
                <c:pt idx="4">
                  <c:v>4.8890000000000003E-2</c:v>
                </c:pt>
                <c:pt idx="5">
                  <c:v>2.5319999999999999E-2</c:v>
                </c:pt>
                <c:pt idx="6">
                  <c:v>1.6250000000000001E-2</c:v>
                </c:pt>
                <c:pt idx="7">
                  <c:v>1.3050000000000001E-2</c:v>
                </c:pt>
                <c:pt idx="8">
                  <c:v>1.291E-2</c:v>
                </c:pt>
                <c:pt idx="9">
                  <c:v>1.5820000000000001E-2</c:v>
                </c:pt>
                <c:pt idx="10">
                  <c:v>2.4140000000000002E-2</c:v>
                </c:pt>
                <c:pt idx="11">
                  <c:v>4.3549999999999998E-2</c:v>
                </c:pt>
                <c:pt idx="12">
                  <c:v>6.3399999999999998E-2</c:v>
                </c:pt>
                <c:pt idx="13">
                  <c:v>4.5879999999999997E-2</c:v>
                </c:pt>
                <c:pt idx="14">
                  <c:v>2.6679999999999999E-2</c:v>
                </c:pt>
                <c:pt idx="15">
                  <c:v>1.804E-2</c:v>
                </c:pt>
                <c:pt idx="16">
                  <c:v>1.4930000000000001E-2</c:v>
                </c:pt>
                <c:pt idx="17">
                  <c:v>1.4800000000000001E-2</c:v>
                </c:pt>
                <c:pt idx="18">
                  <c:v>1.7999999999999999E-2</c:v>
                </c:pt>
                <c:pt idx="19">
                  <c:v>2.6159999999999999E-2</c:v>
                </c:pt>
                <c:pt idx="20">
                  <c:v>4.3180000000000003E-2</c:v>
                </c:pt>
                <c:pt idx="21">
                  <c:v>5.6079999999999998E-2</c:v>
                </c:pt>
                <c:pt idx="22">
                  <c:v>4.3119999999999999E-2</c:v>
                </c:pt>
                <c:pt idx="23">
                  <c:v>2.7480000000000001E-2</c:v>
                </c:pt>
                <c:pt idx="24">
                  <c:v>1.9689999999999999E-2</c:v>
                </c:pt>
                <c:pt idx="25">
                  <c:v>1.6570000000000001E-2</c:v>
                </c:pt>
                <c:pt idx="26">
                  <c:v>1.6629999999999999E-2</c:v>
                </c:pt>
                <c:pt idx="27">
                  <c:v>1.993E-2</c:v>
                </c:pt>
                <c:pt idx="28">
                  <c:v>2.7910000000000001E-2</c:v>
                </c:pt>
                <c:pt idx="29">
                  <c:v>4.1750000000000002E-2</c:v>
                </c:pt>
                <c:pt idx="30">
                  <c:v>5.067E-2</c:v>
                </c:pt>
                <c:pt idx="31">
                  <c:v>4.0840000000000001E-2</c:v>
                </c:pt>
                <c:pt idx="32">
                  <c:v>2.802E-2</c:v>
                </c:pt>
                <c:pt idx="33">
                  <c:v>2.095E-2</c:v>
                </c:pt>
                <c:pt idx="34">
                  <c:v>1.8100000000000002E-2</c:v>
                </c:pt>
                <c:pt idx="35">
                  <c:v>1.831E-2</c:v>
                </c:pt>
                <c:pt idx="36">
                  <c:v>2.1409999999999998E-2</c:v>
                </c:pt>
                <c:pt idx="37">
                  <c:v>2.9020000000000001E-2</c:v>
                </c:pt>
                <c:pt idx="38">
                  <c:v>4.0660000000000002E-2</c:v>
                </c:pt>
                <c:pt idx="39">
                  <c:v>4.6640000000000001E-2</c:v>
                </c:pt>
                <c:pt idx="40">
                  <c:v>3.8620000000000002E-2</c:v>
                </c:pt>
                <c:pt idx="41">
                  <c:v>2.8000000000000001E-2</c:v>
                </c:pt>
                <c:pt idx="42">
                  <c:v>2.2190000000000001E-2</c:v>
                </c:pt>
                <c:pt idx="43">
                  <c:v>1.9529999999999999E-2</c:v>
                </c:pt>
                <c:pt idx="44">
                  <c:v>1.9709999999999998E-2</c:v>
                </c:pt>
                <c:pt idx="45">
                  <c:v>2.3230000000000001E-2</c:v>
                </c:pt>
              </c:numCache>
            </c:numRef>
          </c:yVal>
          <c:smooth val="0"/>
          <c:extLst>
            <c:ext xmlns:c16="http://schemas.microsoft.com/office/drawing/2014/chart" uri="{C3380CC4-5D6E-409C-BE32-E72D297353CC}">
              <c16:uniqueId val="{00000002-0A04-41DD-939F-14F4E3D7E8D1}"/>
            </c:ext>
          </c:extLst>
        </c:ser>
        <c:dLbls>
          <c:showLegendKey val="0"/>
          <c:showVal val="0"/>
          <c:showCatName val="0"/>
          <c:showSerName val="0"/>
          <c:showPercent val="0"/>
          <c:showBubbleSize val="0"/>
        </c:dLbls>
        <c:axId val="-2128940872"/>
        <c:axId val="-2129643912"/>
      </c:scatterChart>
      <c:valAx>
        <c:axId val="-2128940872"/>
        <c:scaling>
          <c:orientation val="minMax"/>
          <c:max val="11"/>
          <c:min val="6.5"/>
        </c:scaling>
        <c:delete val="0"/>
        <c:axPos val="b"/>
        <c:title>
          <c:tx>
            <c:rich>
              <a:bodyPr/>
              <a:lstStyle/>
              <a:p>
                <a:r>
                  <a:rPr sz="1100" b="0">
                    <a:latin typeface="Arial"/>
                  </a:rPr>
                  <a:t>x_lift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5"/>
      </c:valAx>
      <c:valAx>
        <c:axId val="-2129643912"/>
        <c:scaling>
          <c:logBase val="10"/>
          <c:orientation val="minMax"/>
          <c:max val="3"/>
          <c:min val="0.01"/>
        </c:scaling>
        <c:delete val="0"/>
        <c:axPos val="l"/>
        <c:majorGridlines>
          <c:spPr>
            <a:ln>
              <a:solidFill>
                <a:srgbClr val="E3E3E3"/>
              </a:solidFill>
            </a:ln>
          </c:spPr>
        </c:majorGridlines>
        <c:title>
          <c:tx>
            <c:rich>
              <a:bodyPr/>
              <a:lstStyle/>
              <a:p>
                <a:r>
                  <a:rPr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legend>
      <c:legendPos val="t"/>
      <c:overlay val="0"/>
      <c:txPr>
        <a:bodyPr/>
        <a:lstStyle/>
        <a:p>
          <a:pPr>
            <a:defRPr sz="11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gap 3.9 µm</c:v>
                </c:pt>
              </c:strCache>
            </c:strRef>
          </c:tx>
          <c:spPr>
            <a:ln w="15875">
              <a:solidFill>
                <a:srgbClr val="EB6834"/>
              </a:solidFill>
            </a:ln>
          </c:spPr>
          <c:marker>
            <c:symbol val="circle"/>
            <c:size val="3"/>
            <c:spPr>
              <a:solidFill>
                <a:srgbClr val="EB6834"/>
              </a:solidFill>
              <a:ln>
                <a:solidFill>
                  <a:srgbClr val="EB6834"/>
                </a:solidFill>
              </a:ln>
            </c:spPr>
          </c:marker>
          <c:xVal>
            <c:numRef>
              <c:f>Sheet1!$A$2:$A$47</c:f>
              <c:numCache>
                <c:formatCode>General</c:formatCode>
                <c:ptCount val="46"/>
                <c:pt idx="0">
                  <c:v>4.55</c:v>
                </c:pt>
                <c:pt idx="1">
                  <c:v>4.6499999999999995</c:v>
                </c:pt>
                <c:pt idx="2">
                  <c:v>4.75</c:v>
                </c:pt>
                <c:pt idx="3">
                  <c:v>4.8499999999999996</c:v>
                </c:pt>
                <c:pt idx="4">
                  <c:v>4.95</c:v>
                </c:pt>
                <c:pt idx="5">
                  <c:v>5.05</c:v>
                </c:pt>
                <c:pt idx="6">
                  <c:v>5.1499999999999995</c:v>
                </c:pt>
                <c:pt idx="7">
                  <c:v>5.25</c:v>
                </c:pt>
                <c:pt idx="8">
                  <c:v>5.35</c:v>
                </c:pt>
                <c:pt idx="9">
                  <c:v>5.45</c:v>
                </c:pt>
                <c:pt idx="10">
                  <c:v>5.55</c:v>
                </c:pt>
                <c:pt idx="11">
                  <c:v>5.6499999999999995</c:v>
                </c:pt>
                <c:pt idx="12">
                  <c:v>5.75</c:v>
                </c:pt>
                <c:pt idx="13">
                  <c:v>5.85</c:v>
                </c:pt>
                <c:pt idx="14">
                  <c:v>5.95</c:v>
                </c:pt>
                <c:pt idx="15">
                  <c:v>6.05</c:v>
                </c:pt>
                <c:pt idx="16">
                  <c:v>6.1499999999999995</c:v>
                </c:pt>
                <c:pt idx="17">
                  <c:v>6.2499999999999991</c:v>
                </c:pt>
                <c:pt idx="18">
                  <c:v>6.3500000000000005</c:v>
                </c:pt>
                <c:pt idx="19">
                  <c:v>6.45</c:v>
                </c:pt>
                <c:pt idx="20">
                  <c:v>6.55</c:v>
                </c:pt>
                <c:pt idx="21">
                  <c:v>6.6499999999999995</c:v>
                </c:pt>
                <c:pt idx="22">
                  <c:v>6.7499999999999991</c:v>
                </c:pt>
                <c:pt idx="23">
                  <c:v>6.8500000000000005</c:v>
                </c:pt>
                <c:pt idx="24">
                  <c:v>6.95</c:v>
                </c:pt>
                <c:pt idx="25">
                  <c:v>7.05</c:v>
                </c:pt>
                <c:pt idx="26">
                  <c:v>7.1499999999999995</c:v>
                </c:pt>
                <c:pt idx="27">
                  <c:v>7.2499999999999991</c:v>
                </c:pt>
                <c:pt idx="28">
                  <c:v>7.3500000000000005</c:v>
                </c:pt>
                <c:pt idx="29">
                  <c:v>7.45</c:v>
                </c:pt>
                <c:pt idx="30">
                  <c:v>7.55</c:v>
                </c:pt>
                <c:pt idx="31">
                  <c:v>7.6499999999999995</c:v>
                </c:pt>
                <c:pt idx="32">
                  <c:v>7.7499999999999991</c:v>
                </c:pt>
                <c:pt idx="33">
                  <c:v>7.8500000000000005</c:v>
                </c:pt>
                <c:pt idx="34">
                  <c:v>7.95</c:v>
                </c:pt>
                <c:pt idx="35">
                  <c:v>8.0500000000000007</c:v>
                </c:pt>
                <c:pt idx="36">
                  <c:v>8.15</c:v>
                </c:pt>
                <c:pt idx="37">
                  <c:v>8.25</c:v>
                </c:pt>
                <c:pt idx="38">
                  <c:v>8.3500000000000014</c:v>
                </c:pt>
                <c:pt idx="39">
                  <c:v>8.4500000000000011</c:v>
                </c:pt>
                <c:pt idx="40">
                  <c:v>8.5500000000000007</c:v>
                </c:pt>
                <c:pt idx="41">
                  <c:v>8.65</c:v>
                </c:pt>
                <c:pt idx="42">
                  <c:v>8.75</c:v>
                </c:pt>
                <c:pt idx="43">
                  <c:v>8.8500000000000014</c:v>
                </c:pt>
                <c:pt idx="44">
                  <c:v>8.9500000000000011</c:v>
                </c:pt>
                <c:pt idx="45">
                  <c:v>9.0500000000000007</c:v>
                </c:pt>
              </c:numCache>
            </c:numRef>
          </c:xVal>
          <c:yVal>
            <c:numRef>
              <c:f>Sheet1!$B$2:$B$47</c:f>
              <c:numCache>
                <c:formatCode>General</c:formatCode>
                <c:ptCount val="46"/>
                <c:pt idx="0">
                  <c:v>0.66734379250929532</c:v>
                </c:pt>
                <c:pt idx="1">
                  <c:v>0.48012151990568602</c:v>
                </c:pt>
                <c:pt idx="2">
                  <c:v>0.42827604969620026</c:v>
                </c:pt>
                <c:pt idx="3">
                  <c:v>0.47085335993470567</c:v>
                </c:pt>
                <c:pt idx="4">
                  <c:v>0.6433662827604969</c:v>
                </c:pt>
                <c:pt idx="5">
                  <c:v>1.0746531241498141</c:v>
                </c:pt>
                <c:pt idx="6">
                  <c:v>1.9140745443003537</c:v>
                </c:pt>
                <c:pt idx="7">
                  <c:v>1.9600798041171668</c:v>
                </c:pt>
                <c:pt idx="8">
                  <c:v>1.171633263807019</c:v>
                </c:pt>
                <c:pt idx="9">
                  <c:v>0.72139294459055048</c:v>
                </c:pt>
                <c:pt idx="10">
                  <c:v>0.54105377709259095</c:v>
                </c:pt>
                <c:pt idx="11">
                  <c:v>0.49136664550648412</c:v>
                </c:pt>
                <c:pt idx="12">
                  <c:v>0.54111725764033736</c:v>
                </c:pt>
                <c:pt idx="13">
                  <c:v>0.71922553731749339</c:v>
                </c:pt>
                <c:pt idx="14">
                  <c:v>1.1349868504579668</c:v>
                </c:pt>
                <c:pt idx="15">
                  <c:v>1.7640881472748708</c:v>
                </c:pt>
                <c:pt idx="16">
                  <c:v>1.7514283123242949</c:v>
                </c:pt>
                <c:pt idx="17">
                  <c:v>1.1484719325292465</c:v>
                </c:pt>
                <c:pt idx="18">
                  <c:v>0.77132492971796496</c:v>
                </c:pt>
                <c:pt idx="19">
                  <c:v>0.60044436383422506</c:v>
                </c:pt>
                <c:pt idx="20">
                  <c:v>0.5511381155345968</c:v>
                </c:pt>
                <c:pt idx="21">
                  <c:v>0.60408996100480639</c:v>
                </c:pt>
                <c:pt idx="22">
                  <c:v>0.79108551736646415</c:v>
                </c:pt>
                <c:pt idx="23">
                  <c:v>1.1646504035549106</c:v>
                </c:pt>
                <c:pt idx="24">
                  <c:v>1.640754511653215</c:v>
                </c:pt>
                <c:pt idx="25">
                  <c:v>1.6029835857440826</c:v>
                </c:pt>
                <c:pt idx="26">
                  <c:v>1.1410900516913032</c:v>
                </c:pt>
                <c:pt idx="27">
                  <c:v>0.80730026299084057</c:v>
                </c:pt>
                <c:pt idx="28">
                  <c:v>0.64902512015960823</c:v>
                </c:pt>
                <c:pt idx="29">
                  <c:v>0.60496962002357846</c:v>
                </c:pt>
                <c:pt idx="30">
                  <c:v>0.66260088872766842</c:v>
                </c:pt>
                <c:pt idx="31">
                  <c:v>0.83191257821710352</c:v>
                </c:pt>
                <c:pt idx="32">
                  <c:v>1.1806202956379797</c:v>
                </c:pt>
                <c:pt idx="33">
                  <c:v>1.5376802394123514</c:v>
                </c:pt>
                <c:pt idx="34">
                  <c:v>1.4946948399383333</c:v>
                </c:pt>
                <c:pt idx="35">
                  <c:v>1.121601523533146</c:v>
                </c:pt>
                <c:pt idx="36">
                  <c:v>0.82955472930080709</c:v>
                </c:pt>
                <c:pt idx="37">
                  <c:v>0.69050512378706808</c:v>
                </c:pt>
                <c:pt idx="38">
                  <c:v>0.65433028022127504</c:v>
                </c:pt>
                <c:pt idx="39">
                  <c:v>0.71504488981590641</c:v>
                </c:pt>
                <c:pt idx="40">
                  <c:v>0.89066835948127321</c:v>
                </c:pt>
                <c:pt idx="41">
                  <c:v>1.1895075723224811</c:v>
                </c:pt>
                <c:pt idx="42">
                  <c:v>1.4578035730479733</c:v>
                </c:pt>
                <c:pt idx="43">
                  <c:v>1.3919742450349142</c:v>
                </c:pt>
                <c:pt idx="44">
                  <c:v>1.1046340799854901</c:v>
                </c:pt>
                <c:pt idx="45">
                  <c:v>0.86339892989933797</c:v>
                </c:pt>
              </c:numCache>
            </c:numRef>
          </c:yVal>
          <c:smooth val="0"/>
          <c:extLst>
            <c:ext xmlns:c16="http://schemas.microsoft.com/office/drawing/2014/chart" uri="{C3380CC4-5D6E-409C-BE32-E72D297353CC}">
              <c16:uniqueId val="{00000000-43B7-45FC-B582-D951D6C3BBDF}"/>
            </c:ext>
          </c:extLst>
        </c:ser>
        <c:ser>
          <c:idx val="1"/>
          <c:order val="1"/>
          <c:tx>
            <c:strRef>
              <c:f>Sheet1!$B$49</c:f>
              <c:strCache>
                <c:ptCount val="1"/>
                <c:pt idx="0">
                  <c:v>gap 4.2 µm</c:v>
                </c:pt>
              </c:strCache>
            </c:strRef>
          </c:tx>
          <c:spPr>
            <a:ln w="15875">
              <a:solidFill>
                <a:srgbClr val="7F8C8D"/>
              </a:solidFill>
            </a:ln>
          </c:spPr>
          <c:marker>
            <c:symbol val="circle"/>
            <c:size val="3"/>
            <c:spPr>
              <a:solidFill>
                <a:srgbClr val="7F8C8D"/>
              </a:solidFill>
              <a:ln>
                <a:solidFill>
                  <a:srgbClr val="7F8C8D"/>
                </a:solidFill>
              </a:ln>
            </c:spPr>
          </c:marker>
          <c:xVal>
            <c:numRef>
              <c:f>Sheet1!$A$50:$A$95</c:f>
              <c:numCache>
                <c:formatCode>General</c:formatCode>
                <c:ptCount val="46"/>
                <c:pt idx="0">
                  <c:v>4.4000000000000004</c:v>
                </c:pt>
                <c:pt idx="1">
                  <c:v>4.5</c:v>
                </c:pt>
                <c:pt idx="2">
                  <c:v>4.5999999999999996</c:v>
                </c:pt>
                <c:pt idx="3">
                  <c:v>4.6999999999999993</c:v>
                </c:pt>
                <c:pt idx="4">
                  <c:v>4.8000000000000007</c:v>
                </c:pt>
                <c:pt idx="5">
                  <c:v>4.9000000000000004</c:v>
                </c:pt>
                <c:pt idx="6">
                  <c:v>5</c:v>
                </c:pt>
                <c:pt idx="7">
                  <c:v>5.0999999999999996</c:v>
                </c:pt>
                <c:pt idx="8">
                  <c:v>5.1999999999999993</c:v>
                </c:pt>
                <c:pt idx="9">
                  <c:v>5.3000000000000007</c:v>
                </c:pt>
                <c:pt idx="10">
                  <c:v>5.4</c:v>
                </c:pt>
                <c:pt idx="11">
                  <c:v>5.5</c:v>
                </c:pt>
                <c:pt idx="12">
                  <c:v>5.6</c:v>
                </c:pt>
                <c:pt idx="13">
                  <c:v>5.6999999999999993</c:v>
                </c:pt>
                <c:pt idx="14">
                  <c:v>5.8000000000000007</c:v>
                </c:pt>
                <c:pt idx="15">
                  <c:v>5.9</c:v>
                </c:pt>
                <c:pt idx="16">
                  <c:v>6</c:v>
                </c:pt>
                <c:pt idx="17">
                  <c:v>6.1</c:v>
                </c:pt>
                <c:pt idx="18">
                  <c:v>6.2000000000000011</c:v>
                </c:pt>
                <c:pt idx="19">
                  <c:v>6.3000000000000007</c:v>
                </c:pt>
                <c:pt idx="20">
                  <c:v>6.4</c:v>
                </c:pt>
                <c:pt idx="21">
                  <c:v>6.5</c:v>
                </c:pt>
                <c:pt idx="22">
                  <c:v>6.6</c:v>
                </c:pt>
                <c:pt idx="23">
                  <c:v>6.7000000000000011</c:v>
                </c:pt>
                <c:pt idx="24">
                  <c:v>6.8000000000000007</c:v>
                </c:pt>
                <c:pt idx="25">
                  <c:v>6.9</c:v>
                </c:pt>
                <c:pt idx="26">
                  <c:v>7</c:v>
                </c:pt>
                <c:pt idx="27">
                  <c:v>7.1</c:v>
                </c:pt>
                <c:pt idx="28">
                  <c:v>7.2000000000000011</c:v>
                </c:pt>
                <c:pt idx="29">
                  <c:v>7.3000000000000007</c:v>
                </c:pt>
                <c:pt idx="30">
                  <c:v>7.4</c:v>
                </c:pt>
                <c:pt idx="31">
                  <c:v>7.5</c:v>
                </c:pt>
                <c:pt idx="32">
                  <c:v>7.6</c:v>
                </c:pt>
                <c:pt idx="33">
                  <c:v>7.7000000000000011</c:v>
                </c:pt>
                <c:pt idx="34">
                  <c:v>7.8000000000000007</c:v>
                </c:pt>
                <c:pt idx="35">
                  <c:v>7.9</c:v>
                </c:pt>
                <c:pt idx="36">
                  <c:v>8</c:v>
                </c:pt>
                <c:pt idx="37">
                  <c:v>8.1</c:v>
                </c:pt>
                <c:pt idx="38">
                  <c:v>8.2000000000000011</c:v>
                </c:pt>
                <c:pt idx="39">
                  <c:v>8.3000000000000007</c:v>
                </c:pt>
                <c:pt idx="40">
                  <c:v>8.4</c:v>
                </c:pt>
                <c:pt idx="41">
                  <c:v>8.5</c:v>
                </c:pt>
                <c:pt idx="42">
                  <c:v>8.6</c:v>
                </c:pt>
                <c:pt idx="43">
                  <c:v>8.7000000000000011</c:v>
                </c:pt>
                <c:pt idx="44">
                  <c:v>8.8000000000000007</c:v>
                </c:pt>
                <c:pt idx="45">
                  <c:v>8.9</c:v>
                </c:pt>
              </c:numCache>
            </c:numRef>
          </c:xVal>
          <c:yVal>
            <c:numRef>
              <c:f>Sheet1!$B$50:$B$95</c:f>
              <c:numCache>
                <c:formatCode>General</c:formatCode>
                <c:ptCount val="46"/>
                <c:pt idx="0">
                  <c:v>1.6557337220602526</c:v>
                </c:pt>
                <c:pt idx="1">
                  <c:v>0.85544217687074831</c:v>
                </c:pt>
                <c:pt idx="2">
                  <c:v>0.55174927113702621</c:v>
                </c:pt>
                <c:pt idx="3">
                  <c:v>0.44363459669582117</c:v>
                </c:pt>
                <c:pt idx="4">
                  <c:v>0.43901846452866861</c:v>
                </c:pt>
                <c:pt idx="5">
                  <c:v>0.53838678328474243</c:v>
                </c:pt>
                <c:pt idx="6">
                  <c:v>0.81268221574344024</c:v>
                </c:pt>
                <c:pt idx="7">
                  <c:v>1.4616132167152576</c:v>
                </c:pt>
                <c:pt idx="8">
                  <c:v>2.1445578231292517</c:v>
                </c:pt>
                <c:pt idx="9">
                  <c:v>1.5505344995140913</c:v>
                </c:pt>
                <c:pt idx="10">
                  <c:v>0.90646258503401356</c:v>
                </c:pt>
                <c:pt idx="11">
                  <c:v>0.6105442176870749</c:v>
                </c:pt>
                <c:pt idx="12">
                  <c:v>0.50461613216715251</c:v>
                </c:pt>
                <c:pt idx="13">
                  <c:v>0.50364431486880468</c:v>
                </c:pt>
                <c:pt idx="14">
                  <c:v>0.60957240038872695</c:v>
                </c:pt>
                <c:pt idx="15">
                  <c:v>0.88265306122448983</c:v>
                </c:pt>
                <c:pt idx="16">
                  <c:v>1.4492225461613217</c:v>
                </c:pt>
                <c:pt idx="17">
                  <c:v>1.9008746355685129</c:v>
                </c:pt>
                <c:pt idx="18">
                  <c:v>1.4582118561710398</c:v>
                </c:pt>
                <c:pt idx="19">
                  <c:v>0.92930029154518945</c:v>
                </c:pt>
                <c:pt idx="20">
                  <c:v>0.66836734693877553</c:v>
                </c:pt>
                <c:pt idx="21">
                  <c:v>0.56122448979591832</c:v>
                </c:pt>
                <c:pt idx="22">
                  <c:v>0.56584062196307094</c:v>
                </c:pt>
                <c:pt idx="23">
                  <c:v>0.67589893100097176</c:v>
                </c:pt>
                <c:pt idx="24">
                  <c:v>0.94995140913508258</c:v>
                </c:pt>
                <c:pt idx="25">
                  <c:v>1.421282798833819</c:v>
                </c:pt>
                <c:pt idx="26">
                  <c:v>1.7191448007774537</c:v>
                </c:pt>
                <c:pt idx="27">
                  <c:v>1.3751214771622933</c:v>
                </c:pt>
                <c:pt idx="28">
                  <c:v>0.95140913508260438</c:v>
                </c:pt>
                <c:pt idx="29">
                  <c:v>0.70796890184645278</c:v>
                </c:pt>
                <c:pt idx="30">
                  <c:v>0.61345966958211851</c:v>
                </c:pt>
                <c:pt idx="31">
                  <c:v>0.61929057337220605</c:v>
                </c:pt>
                <c:pt idx="32">
                  <c:v>0.74125364431486873</c:v>
                </c:pt>
                <c:pt idx="33">
                  <c:v>0.9805636540330418</c:v>
                </c:pt>
                <c:pt idx="34">
                  <c:v>1.3950437317784257</c:v>
                </c:pt>
                <c:pt idx="35">
                  <c:v>1.5779883381924196</c:v>
                </c:pt>
                <c:pt idx="36">
                  <c:v>1.3126822157434401</c:v>
                </c:pt>
                <c:pt idx="37">
                  <c:v>0.95651117589893098</c:v>
                </c:pt>
                <c:pt idx="38">
                  <c:v>0.74611273080660823</c:v>
                </c:pt>
                <c:pt idx="39">
                  <c:v>0.66156462585034004</c:v>
                </c:pt>
                <c:pt idx="40">
                  <c:v>0.67055393586005829</c:v>
                </c:pt>
                <c:pt idx="41">
                  <c:v>0.78425655976676378</c:v>
                </c:pt>
                <c:pt idx="42">
                  <c:v>1.0128765792031098</c:v>
                </c:pt>
                <c:pt idx="43">
                  <c:v>1.3617589893100097</c:v>
                </c:pt>
                <c:pt idx="44">
                  <c:v>1.4749757045675411</c:v>
                </c:pt>
                <c:pt idx="45">
                  <c:v>1.2558309037900874</c:v>
                </c:pt>
              </c:numCache>
            </c:numRef>
          </c:yVal>
          <c:smooth val="0"/>
          <c:extLst>
            <c:ext xmlns:c16="http://schemas.microsoft.com/office/drawing/2014/chart" uri="{C3380CC4-5D6E-409C-BE32-E72D297353CC}">
              <c16:uniqueId val="{00000001-43B7-45FC-B582-D951D6C3BBDF}"/>
            </c:ext>
          </c:extLst>
        </c:ser>
        <c:ser>
          <c:idx val="2"/>
          <c:order val="2"/>
          <c:tx>
            <c:strRef>
              <c:f>Sheet1!$B$97</c:f>
              <c:strCache>
                <c:ptCount val="1"/>
                <c:pt idx="0">
                  <c:v>gap 5.0 µm</c:v>
                </c:pt>
              </c:strCache>
            </c:strRef>
          </c:tx>
          <c:spPr>
            <a:ln w="15875">
              <a:solidFill>
                <a:srgbClr val="2A78D6"/>
              </a:solidFill>
            </a:ln>
          </c:spPr>
          <c:marker>
            <c:symbol val="circle"/>
            <c:size val="3"/>
            <c:spPr>
              <a:solidFill>
                <a:srgbClr val="2A78D6"/>
              </a:solidFill>
              <a:ln>
                <a:solidFill>
                  <a:srgbClr val="2A78D6"/>
                </a:solidFill>
              </a:ln>
            </c:spPr>
          </c:marker>
          <c:xVal>
            <c:numRef>
              <c:f>Sheet1!$A$98:$A$143</c:f>
              <c:numCache>
                <c:formatCode>General</c:formatCode>
                <c:ptCount val="46"/>
                <c:pt idx="0">
                  <c:v>4</c:v>
                </c:pt>
                <c:pt idx="1">
                  <c:v>4.0999999999999996</c:v>
                </c:pt>
                <c:pt idx="2">
                  <c:v>4.2</c:v>
                </c:pt>
                <c:pt idx="3">
                  <c:v>4.3</c:v>
                </c:pt>
                <c:pt idx="4">
                  <c:v>4.4000000000000004</c:v>
                </c:pt>
                <c:pt idx="5">
                  <c:v>4.5</c:v>
                </c:pt>
                <c:pt idx="6">
                  <c:v>4.5999999999999996</c:v>
                </c:pt>
                <c:pt idx="7">
                  <c:v>4.7</c:v>
                </c:pt>
                <c:pt idx="8">
                  <c:v>4.8</c:v>
                </c:pt>
                <c:pt idx="9">
                  <c:v>4.9000000000000004</c:v>
                </c:pt>
                <c:pt idx="10">
                  <c:v>5</c:v>
                </c:pt>
                <c:pt idx="11">
                  <c:v>5.0999999999999996</c:v>
                </c:pt>
                <c:pt idx="12">
                  <c:v>5.2</c:v>
                </c:pt>
                <c:pt idx="13">
                  <c:v>5.3</c:v>
                </c:pt>
                <c:pt idx="14">
                  <c:v>5.4</c:v>
                </c:pt>
                <c:pt idx="15">
                  <c:v>5.5</c:v>
                </c:pt>
                <c:pt idx="16">
                  <c:v>5.6</c:v>
                </c:pt>
                <c:pt idx="17">
                  <c:v>5.6999999999999993</c:v>
                </c:pt>
                <c:pt idx="18">
                  <c:v>5.8000000000000007</c:v>
                </c:pt>
                <c:pt idx="19">
                  <c:v>5.9</c:v>
                </c:pt>
                <c:pt idx="20">
                  <c:v>6</c:v>
                </c:pt>
                <c:pt idx="21">
                  <c:v>6.1</c:v>
                </c:pt>
                <c:pt idx="22">
                  <c:v>6.1999999999999993</c:v>
                </c:pt>
                <c:pt idx="23">
                  <c:v>6.3000000000000007</c:v>
                </c:pt>
                <c:pt idx="24">
                  <c:v>6.4</c:v>
                </c:pt>
                <c:pt idx="25">
                  <c:v>6.5</c:v>
                </c:pt>
                <c:pt idx="26">
                  <c:v>6.6</c:v>
                </c:pt>
                <c:pt idx="27">
                  <c:v>6.6999999999999993</c:v>
                </c:pt>
                <c:pt idx="28">
                  <c:v>6.8000000000000007</c:v>
                </c:pt>
                <c:pt idx="29">
                  <c:v>6.9</c:v>
                </c:pt>
                <c:pt idx="30">
                  <c:v>7</c:v>
                </c:pt>
                <c:pt idx="31">
                  <c:v>7.1</c:v>
                </c:pt>
                <c:pt idx="32">
                  <c:v>7.1999999999999993</c:v>
                </c:pt>
                <c:pt idx="33">
                  <c:v>7.3000000000000007</c:v>
                </c:pt>
                <c:pt idx="34">
                  <c:v>7.4</c:v>
                </c:pt>
                <c:pt idx="35">
                  <c:v>7.5</c:v>
                </c:pt>
                <c:pt idx="36">
                  <c:v>7.6</c:v>
                </c:pt>
                <c:pt idx="37">
                  <c:v>7.6999999999999993</c:v>
                </c:pt>
                <c:pt idx="38">
                  <c:v>7.8000000000000007</c:v>
                </c:pt>
                <c:pt idx="39">
                  <c:v>7.9</c:v>
                </c:pt>
                <c:pt idx="40">
                  <c:v>8</c:v>
                </c:pt>
                <c:pt idx="41">
                  <c:v>8.1</c:v>
                </c:pt>
                <c:pt idx="42">
                  <c:v>8.1999999999999993</c:v>
                </c:pt>
                <c:pt idx="43">
                  <c:v>8.3000000000000007</c:v>
                </c:pt>
                <c:pt idx="44">
                  <c:v>8.4</c:v>
                </c:pt>
                <c:pt idx="45">
                  <c:v>8.5</c:v>
                </c:pt>
              </c:numCache>
            </c:numRef>
          </c:xVal>
          <c:yVal>
            <c:numRef>
              <c:f>Sheet1!$B$98:$B$143</c:f>
              <c:numCache>
                <c:formatCode>General</c:formatCode>
                <c:ptCount val="46"/>
                <c:pt idx="0">
                  <c:v>0.45423728813559328</c:v>
                </c:pt>
                <c:pt idx="1">
                  <c:v>0.71932203389830507</c:v>
                </c:pt>
                <c:pt idx="2">
                  <c:v>1.4518644067796611</c:v>
                </c:pt>
                <c:pt idx="3">
                  <c:v>2.4908474576271189</c:v>
                </c:pt>
                <c:pt idx="4">
                  <c:v>1.6572881355932205</c:v>
                </c:pt>
                <c:pt idx="5">
                  <c:v>0.85830508474576273</c:v>
                </c:pt>
                <c:pt idx="6">
                  <c:v>0.55084745762711873</c:v>
                </c:pt>
                <c:pt idx="7">
                  <c:v>0.44237288135593228</c:v>
                </c:pt>
                <c:pt idx="8">
                  <c:v>0.43762711864406778</c:v>
                </c:pt>
                <c:pt idx="9">
                  <c:v>0.53627118644067806</c:v>
                </c:pt>
                <c:pt idx="10">
                  <c:v>0.8183050847457628</c:v>
                </c:pt>
                <c:pt idx="11">
                  <c:v>1.4762711864406779</c:v>
                </c:pt>
                <c:pt idx="12">
                  <c:v>2.1491525423728812</c:v>
                </c:pt>
                <c:pt idx="13">
                  <c:v>1.5552542372881355</c:v>
                </c:pt>
                <c:pt idx="14">
                  <c:v>0.90440677966101701</c:v>
                </c:pt>
                <c:pt idx="15">
                  <c:v>0.61152542372881358</c:v>
                </c:pt>
                <c:pt idx="16">
                  <c:v>0.50610169491525425</c:v>
                </c:pt>
                <c:pt idx="17">
                  <c:v>0.50169491525423737</c:v>
                </c:pt>
                <c:pt idx="18">
                  <c:v>0.61016949152542377</c:v>
                </c:pt>
                <c:pt idx="19">
                  <c:v>0.88677966101694916</c:v>
                </c:pt>
                <c:pt idx="20">
                  <c:v>1.4637288135593223</c:v>
                </c:pt>
                <c:pt idx="21">
                  <c:v>1.9010169491525424</c:v>
                </c:pt>
                <c:pt idx="22">
                  <c:v>1.4616949152542373</c:v>
                </c:pt>
                <c:pt idx="23">
                  <c:v>0.93152542372881364</c:v>
                </c:pt>
                <c:pt idx="24">
                  <c:v>0.66745762711864409</c:v>
                </c:pt>
                <c:pt idx="25">
                  <c:v>0.56169491525423731</c:v>
                </c:pt>
                <c:pt idx="26">
                  <c:v>0.56372881355932203</c:v>
                </c:pt>
                <c:pt idx="27">
                  <c:v>0.67559322033898306</c:v>
                </c:pt>
                <c:pt idx="28">
                  <c:v>0.94610169491525431</c:v>
                </c:pt>
                <c:pt idx="29">
                  <c:v>1.4152542372881358</c:v>
                </c:pt>
                <c:pt idx="30">
                  <c:v>1.7176271186440679</c:v>
                </c:pt>
                <c:pt idx="31">
                  <c:v>1.3844067796610171</c:v>
                </c:pt>
                <c:pt idx="32">
                  <c:v>0.94983050847457628</c:v>
                </c:pt>
                <c:pt idx="33">
                  <c:v>0.71016949152542375</c:v>
                </c:pt>
                <c:pt idx="34">
                  <c:v>0.6135593220338984</c:v>
                </c:pt>
                <c:pt idx="35">
                  <c:v>0.6206779661016949</c:v>
                </c:pt>
                <c:pt idx="36">
                  <c:v>0.72576271186440677</c:v>
                </c:pt>
                <c:pt idx="37">
                  <c:v>0.98372881355932207</c:v>
                </c:pt>
                <c:pt idx="38">
                  <c:v>1.3783050847457627</c:v>
                </c:pt>
                <c:pt idx="39">
                  <c:v>1.5810169491525425</c:v>
                </c:pt>
                <c:pt idx="40">
                  <c:v>1.3091525423728814</c:v>
                </c:pt>
                <c:pt idx="41">
                  <c:v>0.94915254237288138</c:v>
                </c:pt>
                <c:pt idx="42">
                  <c:v>0.75220338983050861</c:v>
                </c:pt>
                <c:pt idx="43">
                  <c:v>0.66203389830508474</c:v>
                </c:pt>
                <c:pt idx="44">
                  <c:v>0.668135593220339</c:v>
                </c:pt>
                <c:pt idx="45">
                  <c:v>0.78745762711864409</c:v>
                </c:pt>
              </c:numCache>
            </c:numRef>
          </c:yVal>
          <c:smooth val="0"/>
          <c:extLst>
            <c:ext xmlns:c16="http://schemas.microsoft.com/office/drawing/2014/chart" uri="{C3380CC4-5D6E-409C-BE32-E72D297353CC}">
              <c16:uniqueId val="{00000002-43B7-45FC-B582-D951D6C3BBDF}"/>
            </c:ext>
          </c:extLst>
        </c:ser>
        <c:dLbls>
          <c:showLegendKey val="0"/>
          <c:showVal val="0"/>
          <c:showCatName val="0"/>
          <c:showSerName val="0"/>
          <c:showPercent val="0"/>
          <c:showBubbleSize val="0"/>
        </c:dLbls>
        <c:axId val="-2128940872"/>
        <c:axId val="-2129643912"/>
      </c:scatterChart>
      <c:valAx>
        <c:axId val="-2128940872"/>
        <c:scaling>
          <c:orientation val="minMax"/>
          <c:max val="9"/>
          <c:min val="4"/>
        </c:scaling>
        <c:delete val="0"/>
        <c:axPos val="b"/>
        <c:title>
          <c:tx>
            <c:rich>
              <a:bodyPr/>
              <a:lstStyle/>
              <a:p>
                <a:r>
                  <a:rPr sz="1100" b="0">
                    <a:latin typeface="Arial"/>
                  </a:rPr>
                  <a:t>cavity length L = x_lift − gap/2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0.5"/>
      </c:valAx>
      <c:valAx>
        <c:axId val="-2129643912"/>
        <c:scaling>
          <c:logBase val="10"/>
          <c:orientation val="minMax"/>
          <c:max val="3"/>
          <c:min val="0.3"/>
        </c:scaling>
        <c:delete val="0"/>
        <c:axPos val="l"/>
        <c:majorGridlines>
          <c:spPr>
            <a:ln>
              <a:solidFill>
                <a:srgbClr val="E3E3E3"/>
              </a:solidFill>
            </a:ln>
          </c:spPr>
        </c:majorGridlines>
        <c:title>
          <c:tx>
            <c:rich>
              <a:bodyPr/>
              <a:lstStyle/>
              <a:p>
                <a:r>
                  <a:rPr sz="1100" b="0">
                    <a:latin typeface="Arial"/>
                  </a:rPr>
                  <a:t>IL / IL∞</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legend>
      <c:legendPos val="t"/>
      <c:overlay val="0"/>
      <c:txPr>
        <a:bodyPr/>
        <a:lstStyle/>
        <a:p>
          <a:pPr>
            <a:defRPr sz="11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_envU</c:v>
                </c:pt>
              </c:strCache>
            </c:strRef>
          </c:tx>
          <c:spPr>
            <a:ln w="9525">
              <a:solidFill>
                <a:srgbClr val="F3B094"/>
              </a:solidFill>
              <a:prstDash val="dash"/>
            </a:ln>
          </c:spPr>
          <c:marker>
            <c:symbol val="none"/>
          </c:marker>
          <c:xVal>
            <c:numRef>
              <c:f>Sheet1!$A$2:$A$301</c:f>
              <c:numCache>
                <c:formatCode>General</c:formatCode>
                <c:ptCount val="300"/>
                <c:pt idx="0">
                  <c:v>5</c:v>
                </c:pt>
                <c:pt idx="1">
                  <c:v>5.1505016722408028</c:v>
                </c:pt>
                <c:pt idx="2">
                  <c:v>5.3010033444816056</c:v>
                </c:pt>
                <c:pt idx="3">
                  <c:v>5.4515050167224084</c:v>
                </c:pt>
                <c:pt idx="4">
                  <c:v>5.6020066889632112</c:v>
                </c:pt>
                <c:pt idx="5">
                  <c:v>5.7525083612040131</c:v>
                </c:pt>
                <c:pt idx="6">
                  <c:v>5.9030100334448159</c:v>
                </c:pt>
                <c:pt idx="7">
                  <c:v>6.0535117056856187</c:v>
                </c:pt>
                <c:pt idx="8">
                  <c:v>6.2040133779264215</c:v>
                </c:pt>
                <c:pt idx="9">
                  <c:v>6.3545150501672243</c:v>
                </c:pt>
                <c:pt idx="10">
                  <c:v>6.5050167224080271</c:v>
                </c:pt>
                <c:pt idx="11">
                  <c:v>6.6555183946488299</c:v>
                </c:pt>
                <c:pt idx="12">
                  <c:v>6.8060200668896318</c:v>
                </c:pt>
                <c:pt idx="13">
                  <c:v>6.9565217391304355</c:v>
                </c:pt>
                <c:pt idx="14">
                  <c:v>7.1070234113712374</c:v>
                </c:pt>
                <c:pt idx="15">
                  <c:v>7.2575250836120402</c:v>
                </c:pt>
                <c:pt idx="16">
                  <c:v>7.408026755852843</c:v>
                </c:pt>
                <c:pt idx="17">
                  <c:v>7.5585284280936458</c:v>
                </c:pt>
                <c:pt idx="18">
                  <c:v>7.7090301003344486</c:v>
                </c:pt>
                <c:pt idx="19">
                  <c:v>7.8595317725752505</c:v>
                </c:pt>
                <c:pt idx="20">
                  <c:v>8.0100334448160542</c:v>
                </c:pt>
                <c:pt idx="21">
                  <c:v>8.1605351170568561</c:v>
                </c:pt>
                <c:pt idx="22">
                  <c:v>8.3110367892976598</c:v>
                </c:pt>
                <c:pt idx="23">
                  <c:v>8.4615384615384617</c:v>
                </c:pt>
                <c:pt idx="24">
                  <c:v>8.6120401337792636</c:v>
                </c:pt>
                <c:pt idx="25">
                  <c:v>8.7625418060200673</c:v>
                </c:pt>
                <c:pt idx="26">
                  <c:v>8.913043478260871</c:v>
                </c:pt>
                <c:pt idx="27">
                  <c:v>9.0635451505016729</c:v>
                </c:pt>
                <c:pt idx="28">
                  <c:v>9.2140468227424748</c:v>
                </c:pt>
                <c:pt idx="29">
                  <c:v>9.3645484949832785</c:v>
                </c:pt>
                <c:pt idx="30">
                  <c:v>9.5150501672240804</c:v>
                </c:pt>
                <c:pt idx="31">
                  <c:v>9.6655518394648823</c:v>
                </c:pt>
                <c:pt idx="32">
                  <c:v>9.816053511705686</c:v>
                </c:pt>
                <c:pt idx="33">
                  <c:v>9.9665551839464896</c:v>
                </c:pt>
                <c:pt idx="34">
                  <c:v>10.117056856187292</c:v>
                </c:pt>
                <c:pt idx="35">
                  <c:v>10.267558528428093</c:v>
                </c:pt>
                <c:pt idx="36">
                  <c:v>10.418060200668897</c:v>
                </c:pt>
                <c:pt idx="37">
                  <c:v>10.568561872909699</c:v>
                </c:pt>
                <c:pt idx="38">
                  <c:v>10.719063545150501</c:v>
                </c:pt>
                <c:pt idx="39">
                  <c:v>10.869565217391305</c:v>
                </c:pt>
                <c:pt idx="40">
                  <c:v>11.020066889632108</c:v>
                </c:pt>
                <c:pt idx="41">
                  <c:v>11.17056856187291</c:v>
                </c:pt>
                <c:pt idx="42">
                  <c:v>11.321070234113712</c:v>
                </c:pt>
                <c:pt idx="43">
                  <c:v>11.471571906354516</c:v>
                </c:pt>
                <c:pt idx="44">
                  <c:v>11.622073578595318</c:v>
                </c:pt>
                <c:pt idx="45">
                  <c:v>11.77257525083612</c:v>
                </c:pt>
                <c:pt idx="46">
                  <c:v>11.923076923076923</c:v>
                </c:pt>
                <c:pt idx="47">
                  <c:v>12.073578595317727</c:v>
                </c:pt>
                <c:pt idx="48">
                  <c:v>12.224080267558529</c:v>
                </c:pt>
                <c:pt idx="49">
                  <c:v>12.374581939799331</c:v>
                </c:pt>
                <c:pt idx="50">
                  <c:v>12.525083612040135</c:v>
                </c:pt>
                <c:pt idx="51">
                  <c:v>12.675585284280938</c:v>
                </c:pt>
                <c:pt idx="52">
                  <c:v>12.82608695652174</c:v>
                </c:pt>
                <c:pt idx="53">
                  <c:v>12.976588628762542</c:v>
                </c:pt>
                <c:pt idx="54">
                  <c:v>13.127090301003346</c:v>
                </c:pt>
                <c:pt idx="55">
                  <c:v>13.277591973244148</c:v>
                </c:pt>
                <c:pt idx="56">
                  <c:v>13.42809364548495</c:v>
                </c:pt>
                <c:pt idx="57">
                  <c:v>13.578595317725753</c:v>
                </c:pt>
                <c:pt idx="58">
                  <c:v>13.729096989966555</c:v>
                </c:pt>
                <c:pt idx="59">
                  <c:v>13.879598662207359</c:v>
                </c:pt>
                <c:pt idx="60">
                  <c:v>14.030100334448161</c:v>
                </c:pt>
                <c:pt idx="61">
                  <c:v>14.180602006688964</c:v>
                </c:pt>
                <c:pt idx="62">
                  <c:v>14.331103678929766</c:v>
                </c:pt>
                <c:pt idx="63">
                  <c:v>14.48160535117057</c:v>
                </c:pt>
                <c:pt idx="64">
                  <c:v>14.632107023411372</c:v>
                </c:pt>
                <c:pt idx="65">
                  <c:v>14.782608695652174</c:v>
                </c:pt>
                <c:pt idx="66">
                  <c:v>14.933110367892978</c:v>
                </c:pt>
                <c:pt idx="67">
                  <c:v>15.083612040133779</c:v>
                </c:pt>
                <c:pt idx="68">
                  <c:v>15.234113712374583</c:v>
                </c:pt>
                <c:pt idx="69">
                  <c:v>15.384615384615385</c:v>
                </c:pt>
                <c:pt idx="70">
                  <c:v>15.535117056856189</c:v>
                </c:pt>
                <c:pt idx="71">
                  <c:v>15.685618729096991</c:v>
                </c:pt>
                <c:pt idx="72">
                  <c:v>15.836120401337794</c:v>
                </c:pt>
                <c:pt idx="73">
                  <c:v>15.986622073578596</c:v>
                </c:pt>
                <c:pt idx="74">
                  <c:v>16.137123745819398</c:v>
                </c:pt>
                <c:pt idx="75">
                  <c:v>16.287625418060202</c:v>
                </c:pt>
                <c:pt idx="76">
                  <c:v>16.438127090301002</c:v>
                </c:pt>
                <c:pt idx="77">
                  <c:v>16.588628762541809</c:v>
                </c:pt>
                <c:pt idx="78">
                  <c:v>16.739130434782609</c:v>
                </c:pt>
                <c:pt idx="79">
                  <c:v>16.889632107023413</c:v>
                </c:pt>
                <c:pt idx="80">
                  <c:v>17.040133779264217</c:v>
                </c:pt>
                <c:pt idx="81">
                  <c:v>17.190635451505017</c:v>
                </c:pt>
                <c:pt idx="82">
                  <c:v>17.341137123745821</c:v>
                </c:pt>
                <c:pt idx="83">
                  <c:v>17.491638795986624</c:v>
                </c:pt>
                <c:pt idx="84">
                  <c:v>17.642140468227424</c:v>
                </c:pt>
                <c:pt idx="85">
                  <c:v>17.792642140468228</c:v>
                </c:pt>
                <c:pt idx="86">
                  <c:v>17.943143812709032</c:v>
                </c:pt>
                <c:pt idx="87">
                  <c:v>18.093645484949832</c:v>
                </c:pt>
                <c:pt idx="88">
                  <c:v>18.244147157190636</c:v>
                </c:pt>
                <c:pt idx="89">
                  <c:v>18.394648829431439</c:v>
                </c:pt>
                <c:pt idx="90">
                  <c:v>18.545150501672239</c:v>
                </c:pt>
                <c:pt idx="91">
                  <c:v>18.695652173913047</c:v>
                </c:pt>
                <c:pt idx="92">
                  <c:v>18.846153846153847</c:v>
                </c:pt>
                <c:pt idx="93">
                  <c:v>18.99665551839465</c:v>
                </c:pt>
                <c:pt idx="94">
                  <c:v>19.147157190635454</c:v>
                </c:pt>
                <c:pt idx="95">
                  <c:v>19.297658862876254</c:v>
                </c:pt>
                <c:pt idx="96">
                  <c:v>19.448160535117058</c:v>
                </c:pt>
                <c:pt idx="97">
                  <c:v>19.598662207357862</c:v>
                </c:pt>
                <c:pt idx="98">
                  <c:v>19.749163879598662</c:v>
                </c:pt>
                <c:pt idx="99">
                  <c:v>19.899665551839465</c:v>
                </c:pt>
                <c:pt idx="100">
                  <c:v>20.050167224080269</c:v>
                </c:pt>
                <c:pt idx="101">
                  <c:v>20.200668896321069</c:v>
                </c:pt>
                <c:pt idx="102">
                  <c:v>20.351170568561876</c:v>
                </c:pt>
                <c:pt idx="103">
                  <c:v>20.501672240802677</c:v>
                </c:pt>
                <c:pt idx="104">
                  <c:v>20.65217391304348</c:v>
                </c:pt>
                <c:pt idx="105">
                  <c:v>20.802675585284284</c:v>
                </c:pt>
                <c:pt idx="106">
                  <c:v>20.953177257525084</c:v>
                </c:pt>
                <c:pt idx="107">
                  <c:v>21.103678929765888</c:v>
                </c:pt>
                <c:pt idx="108">
                  <c:v>21.254180602006691</c:v>
                </c:pt>
                <c:pt idx="109">
                  <c:v>21.404682274247492</c:v>
                </c:pt>
                <c:pt idx="110">
                  <c:v>21.555183946488295</c:v>
                </c:pt>
                <c:pt idx="111">
                  <c:v>21.705685618729099</c:v>
                </c:pt>
                <c:pt idx="112">
                  <c:v>21.856187290969899</c:v>
                </c:pt>
                <c:pt idx="113">
                  <c:v>22.006688963210703</c:v>
                </c:pt>
                <c:pt idx="114">
                  <c:v>22.157190635451506</c:v>
                </c:pt>
                <c:pt idx="115">
                  <c:v>22.30769230769231</c:v>
                </c:pt>
                <c:pt idx="116">
                  <c:v>22.45819397993311</c:v>
                </c:pt>
                <c:pt idx="117">
                  <c:v>22.608695652173914</c:v>
                </c:pt>
                <c:pt idx="118">
                  <c:v>22.759197324414718</c:v>
                </c:pt>
                <c:pt idx="119">
                  <c:v>22.909698996655521</c:v>
                </c:pt>
                <c:pt idx="120">
                  <c:v>23.060200668896321</c:v>
                </c:pt>
                <c:pt idx="121">
                  <c:v>23.210702341137125</c:v>
                </c:pt>
                <c:pt idx="122">
                  <c:v>23.361204013377929</c:v>
                </c:pt>
                <c:pt idx="123">
                  <c:v>23.511705685618729</c:v>
                </c:pt>
                <c:pt idx="124">
                  <c:v>23.662207357859533</c:v>
                </c:pt>
                <c:pt idx="125">
                  <c:v>23.812709030100336</c:v>
                </c:pt>
                <c:pt idx="126">
                  <c:v>23.96321070234114</c:v>
                </c:pt>
                <c:pt idx="127">
                  <c:v>24.11371237458194</c:v>
                </c:pt>
                <c:pt idx="128">
                  <c:v>24.264214046822744</c:v>
                </c:pt>
                <c:pt idx="129">
                  <c:v>24.414715719063548</c:v>
                </c:pt>
                <c:pt idx="130">
                  <c:v>24.565217391304348</c:v>
                </c:pt>
                <c:pt idx="131">
                  <c:v>24.715719063545151</c:v>
                </c:pt>
                <c:pt idx="132">
                  <c:v>24.866220735785955</c:v>
                </c:pt>
                <c:pt idx="133">
                  <c:v>25.016722408026759</c:v>
                </c:pt>
                <c:pt idx="134">
                  <c:v>25.167224080267559</c:v>
                </c:pt>
                <c:pt idx="135">
                  <c:v>25.317725752508363</c:v>
                </c:pt>
                <c:pt idx="136">
                  <c:v>25.468227424749166</c:v>
                </c:pt>
                <c:pt idx="137">
                  <c:v>25.618729096989966</c:v>
                </c:pt>
                <c:pt idx="138">
                  <c:v>25.76923076923077</c:v>
                </c:pt>
                <c:pt idx="139">
                  <c:v>25.919732441471574</c:v>
                </c:pt>
                <c:pt idx="140">
                  <c:v>26.070234113712377</c:v>
                </c:pt>
                <c:pt idx="141">
                  <c:v>26.220735785953178</c:v>
                </c:pt>
                <c:pt idx="142">
                  <c:v>26.371237458193981</c:v>
                </c:pt>
                <c:pt idx="143">
                  <c:v>26.521739130434785</c:v>
                </c:pt>
                <c:pt idx="144">
                  <c:v>26.672240802675589</c:v>
                </c:pt>
                <c:pt idx="145">
                  <c:v>26.822742474916389</c:v>
                </c:pt>
                <c:pt idx="146">
                  <c:v>26.973244147157192</c:v>
                </c:pt>
                <c:pt idx="147">
                  <c:v>27.123745819397996</c:v>
                </c:pt>
                <c:pt idx="148">
                  <c:v>27.274247491638796</c:v>
                </c:pt>
                <c:pt idx="149">
                  <c:v>27.4247491638796</c:v>
                </c:pt>
                <c:pt idx="150">
                  <c:v>27.575250836120404</c:v>
                </c:pt>
                <c:pt idx="151">
                  <c:v>27.725752508361207</c:v>
                </c:pt>
                <c:pt idx="152">
                  <c:v>27.876254180602007</c:v>
                </c:pt>
                <c:pt idx="153">
                  <c:v>28.026755852842811</c:v>
                </c:pt>
                <c:pt idx="154">
                  <c:v>28.177257525083615</c:v>
                </c:pt>
                <c:pt idx="155">
                  <c:v>28.327759197324415</c:v>
                </c:pt>
                <c:pt idx="156">
                  <c:v>28.478260869565219</c:v>
                </c:pt>
                <c:pt idx="157">
                  <c:v>28.628762541806022</c:v>
                </c:pt>
                <c:pt idx="158">
                  <c:v>28.779264214046826</c:v>
                </c:pt>
                <c:pt idx="159">
                  <c:v>28.929765886287626</c:v>
                </c:pt>
                <c:pt idx="160">
                  <c:v>29.08026755852843</c:v>
                </c:pt>
                <c:pt idx="161">
                  <c:v>29.230769230769234</c:v>
                </c:pt>
                <c:pt idx="162">
                  <c:v>29.381270903010034</c:v>
                </c:pt>
                <c:pt idx="163">
                  <c:v>29.531772575250837</c:v>
                </c:pt>
                <c:pt idx="164">
                  <c:v>29.682274247491641</c:v>
                </c:pt>
                <c:pt idx="165">
                  <c:v>29.832775919732445</c:v>
                </c:pt>
                <c:pt idx="166">
                  <c:v>29.983277591973245</c:v>
                </c:pt>
                <c:pt idx="167">
                  <c:v>30.133779264214049</c:v>
                </c:pt>
                <c:pt idx="168">
                  <c:v>30.284280936454852</c:v>
                </c:pt>
                <c:pt idx="169">
                  <c:v>30.434782608695652</c:v>
                </c:pt>
                <c:pt idx="170">
                  <c:v>30.585284280936456</c:v>
                </c:pt>
                <c:pt idx="171">
                  <c:v>30.73578595317726</c:v>
                </c:pt>
                <c:pt idx="172">
                  <c:v>30.886287625418063</c:v>
                </c:pt>
                <c:pt idx="173">
                  <c:v>31.036789297658864</c:v>
                </c:pt>
                <c:pt idx="174">
                  <c:v>31.187290969899667</c:v>
                </c:pt>
                <c:pt idx="175">
                  <c:v>31.337792642140471</c:v>
                </c:pt>
                <c:pt idx="176">
                  <c:v>31.488294314381271</c:v>
                </c:pt>
                <c:pt idx="177">
                  <c:v>31.638795986622075</c:v>
                </c:pt>
                <c:pt idx="178">
                  <c:v>31.789297658862878</c:v>
                </c:pt>
                <c:pt idx="179">
                  <c:v>31.939799331103682</c:v>
                </c:pt>
                <c:pt idx="180">
                  <c:v>32.090301003344479</c:v>
                </c:pt>
                <c:pt idx="181">
                  <c:v>32.240802675585286</c:v>
                </c:pt>
                <c:pt idx="182">
                  <c:v>32.391304347826093</c:v>
                </c:pt>
                <c:pt idx="183">
                  <c:v>32.541806020066893</c:v>
                </c:pt>
                <c:pt idx="184">
                  <c:v>32.692307692307693</c:v>
                </c:pt>
                <c:pt idx="185">
                  <c:v>32.842809364548501</c:v>
                </c:pt>
                <c:pt idx="186">
                  <c:v>32.993311036789301</c:v>
                </c:pt>
                <c:pt idx="187">
                  <c:v>33.143812709030101</c:v>
                </c:pt>
                <c:pt idx="188">
                  <c:v>33.294314381270908</c:v>
                </c:pt>
                <c:pt idx="189">
                  <c:v>33.444816053511708</c:v>
                </c:pt>
                <c:pt idx="190">
                  <c:v>33.595317725752508</c:v>
                </c:pt>
                <c:pt idx="191">
                  <c:v>33.745819397993316</c:v>
                </c:pt>
                <c:pt idx="192">
                  <c:v>33.896321070234116</c:v>
                </c:pt>
                <c:pt idx="193">
                  <c:v>34.046822742474916</c:v>
                </c:pt>
                <c:pt idx="194">
                  <c:v>34.197324414715723</c:v>
                </c:pt>
                <c:pt idx="195">
                  <c:v>34.347826086956523</c:v>
                </c:pt>
                <c:pt idx="196">
                  <c:v>34.498327759197323</c:v>
                </c:pt>
                <c:pt idx="197">
                  <c:v>34.648829431438131</c:v>
                </c:pt>
                <c:pt idx="198">
                  <c:v>34.799331103678931</c:v>
                </c:pt>
                <c:pt idx="199">
                  <c:v>34.949832775919731</c:v>
                </c:pt>
                <c:pt idx="200">
                  <c:v>35.100334448160538</c:v>
                </c:pt>
                <c:pt idx="201">
                  <c:v>35.250836120401338</c:v>
                </c:pt>
                <c:pt idx="202">
                  <c:v>35.401337792642138</c:v>
                </c:pt>
                <c:pt idx="203">
                  <c:v>35.551839464882946</c:v>
                </c:pt>
                <c:pt idx="204">
                  <c:v>35.702341137123753</c:v>
                </c:pt>
                <c:pt idx="205">
                  <c:v>35.852842809364546</c:v>
                </c:pt>
                <c:pt idx="206">
                  <c:v>36.003344481605353</c:v>
                </c:pt>
                <c:pt idx="207">
                  <c:v>36.15384615384616</c:v>
                </c:pt>
                <c:pt idx="208">
                  <c:v>36.304347826086961</c:v>
                </c:pt>
                <c:pt idx="209">
                  <c:v>36.454849498327761</c:v>
                </c:pt>
                <c:pt idx="210">
                  <c:v>36.605351170568568</c:v>
                </c:pt>
                <c:pt idx="211">
                  <c:v>36.755852842809368</c:v>
                </c:pt>
                <c:pt idx="212">
                  <c:v>36.906354515050168</c:v>
                </c:pt>
                <c:pt idx="213">
                  <c:v>37.056856187290975</c:v>
                </c:pt>
                <c:pt idx="214">
                  <c:v>37.207357859531776</c:v>
                </c:pt>
                <c:pt idx="215">
                  <c:v>37.357859531772576</c:v>
                </c:pt>
                <c:pt idx="216">
                  <c:v>37.508361204013383</c:v>
                </c:pt>
                <c:pt idx="217">
                  <c:v>37.658862876254183</c:v>
                </c:pt>
                <c:pt idx="218">
                  <c:v>37.809364548494983</c:v>
                </c:pt>
                <c:pt idx="219">
                  <c:v>37.95986622073579</c:v>
                </c:pt>
                <c:pt idx="220">
                  <c:v>38.110367892976591</c:v>
                </c:pt>
                <c:pt idx="221">
                  <c:v>38.260869565217391</c:v>
                </c:pt>
                <c:pt idx="222">
                  <c:v>38.411371237458198</c:v>
                </c:pt>
                <c:pt idx="223">
                  <c:v>38.561872909698998</c:v>
                </c:pt>
                <c:pt idx="224">
                  <c:v>38.712374581939798</c:v>
                </c:pt>
                <c:pt idx="225">
                  <c:v>38.862876254180605</c:v>
                </c:pt>
                <c:pt idx="226">
                  <c:v>39.013377926421406</c:v>
                </c:pt>
                <c:pt idx="227">
                  <c:v>39.163879598662213</c:v>
                </c:pt>
                <c:pt idx="228">
                  <c:v>39.314381270903013</c:v>
                </c:pt>
                <c:pt idx="229">
                  <c:v>39.464882943143813</c:v>
                </c:pt>
                <c:pt idx="230">
                  <c:v>39.61538461538462</c:v>
                </c:pt>
                <c:pt idx="231">
                  <c:v>39.76588628762542</c:v>
                </c:pt>
                <c:pt idx="232">
                  <c:v>39.916387959866221</c:v>
                </c:pt>
                <c:pt idx="233">
                  <c:v>40.066889632107028</c:v>
                </c:pt>
                <c:pt idx="234">
                  <c:v>40.217391304347828</c:v>
                </c:pt>
                <c:pt idx="235">
                  <c:v>40.367892976588628</c:v>
                </c:pt>
                <c:pt idx="236">
                  <c:v>40.518394648829435</c:v>
                </c:pt>
                <c:pt idx="237">
                  <c:v>40.668896321070235</c:v>
                </c:pt>
                <c:pt idx="238">
                  <c:v>40.819397993311043</c:v>
                </c:pt>
                <c:pt idx="239">
                  <c:v>40.969899665551843</c:v>
                </c:pt>
                <c:pt idx="240">
                  <c:v>41.120401337792643</c:v>
                </c:pt>
                <c:pt idx="241">
                  <c:v>41.27090301003345</c:v>
                </c:pt>
                <c:pt idx="242">
                  <c:v>41.42140468227425</c:v>
                </c:pt>
                <c:pt idx="243">
                  <c:v>41.57190635451505</c:v>
                </c:pt>
                <c:pt idx="244">
                  <c:v>41.722408026755858</c:v>
                </c:pt>
                <c:pt idx="245">
                  <c:v>41.872909698996658</c:v>
                </c:pt>
                <c:pt idx="246">
                  <c:v>42.023411371237458</c:v>
                </c:pt>
                <c:pt idx="247">
                  <c:v>42.173913043478265</c:v>
                </c:pt>
                <c:pt idx="248">
                  <c:v>42.324414715719065</c:v>
                </c:pt>
                <c:pt idx="249">
                  <c:v>42.474916387959865</c:v>
                </c:pt>
                <c:pt idx="250">
                  <c:v>42.625418060200673</c:v>
                </c:pt>
                <c:pt idx="251">
                  <c:v>42.775919732441473</c:v>
                </c:pt>
                <c:pt idx="252">
                  <c:v>42.92642140468228</c:v>
                </c:pt>
                <c:pt idx="253">
                  <c:v>43.07692307692308</c:v>
                </c:pt>
                <c:pt idx="254">
                  <c:v>43.22742474916388</c:v>
                </c:pt>
                <c:pt idx="255">
                  <c:v>43.377926421404688</c:v>
                </c:pt>
                <c:pt idx="256">
                  <c:v>43.528428093645488</c:v>
                </c:pt>
                <c:pt idx="257">
                  <c:v>43.678929765886288</c:v>
                </c:pt>
                <c:pt idx="258">
                  <c:v>43.829431438127095</c:v>
                </c:pt>
                <c:pt idx="259">
                  <c:v>43.979933110367895</c:v>
                </c:pt>
                <c:pt idx="260">
                  <c:v>44.130434782608695</c:v>
                </c:pt>
                <c:pt idx="261">
                  <c:v>44.280936454849503</c:v>
                </c:pt>
                <c:pt idx="262">
                  <c:v>44.431438127090303</c:v>
                </c:pt>
                <c:pt idx="263">
                  <c:v>44.58193979933111</c:v>
                </c:pt>
                <c:pt idx="264">
                  <c:v>44.73244147157191</c:v>
                </c:pt>
                <c:pt idx="265">
                  <c:v>44.88294314381271</c:v>
                </c:pt>
                <c:pt idx="266">
                  <c:v>45.033444816053517</c:v>
                </c:pt>
                <c:pt idx="267">
                  <c:v>45.183946488294318</c:v>
                </c:pt>
                <c:pt idx="268">
                  <c:v>45.334448160535118</c:v>
                </c:pt>
                <c:pt idx="269">
                  <c:v>45.484949832775925</c:v>
                </c:pt>
                <c:pt idx="270">
                  <c:v>45.635451505016725</c:v>
                </c:pt>
                <c:pt idx="271">
                  <c:v>45.785953177257525</c:v>
                </c:pt>
                <c:pt idx="272">
                  <c:v>45.936454849498332</c:v>
                </c:pt>
                <c:pt idx="273">
                  <c:v>46.086956521739133</c:v>
                </c:pt>
                <c:pt idx="274">
                  <c:v>46.237458193979933</c:v>
                </c:pt>
                <c:pt idx="275">
                  <c:v>46.38795986622074</c:v>
                </c:pt>
                <c:pt idx="276">
                  <c:v>46.53846153846154</c:v>
                </c:pt>
                <c:pt idx="277">
                  <c:v>46.688963210702347</c:v>
                </c:pt>
                <c:pt idx="278">
                  <c:v>46.839464882943147</c:v>
                </c:pt>
                <c:pt idx="279">
                  <c:v>46.989966555183948</c:v>
                </c:pt>
                <c:pt idx="280">
                  <c:v>47.140468227424755</c:v>
                </c:pt>
                <c:pt idx="281">
                  <c:v>47.290969899665555</c:v>
                </c:pt>
                <c:pt idx="282">
                  <c:v>47.441471571906355</c:v>
                </c:pt>
                <c:pt idx="283">
                  <c:v>47.591973244147162</c:v>
                </c:pt>
                <c:pt idx="284">
                  <c:v>47.742474916387962</c:v>
                </c:pt>
                <c:pt idx="285">
                  <c:v>47.892976588628763</c:v>
                </c:pt>
                <c:pt idx="286">
                  <c:v>48.04347826086957</c:v>
                </c:pt>
                <c:pt idx="287">
                  <c:v>48.19397993311037</c:v>
                </c:pt>
                <c:pt idx="288">
                  <c:v>48.344481605351177</c:v>
                </c:pt>
                <c:pt idx="289">
                  <c:v>48.494983277591977</c:v>
                </c:pt>
                <c:pt idx="290">
                  <c:v>48.645484949832777</c:v>
                </c:pt>
                <c:pt idx="291">
                  <c:v>48.795986622073585</c:v>
                </c:pt>
                <c:pt idx="292">
                  <c:v>48.946488294314385</c:v>
                </c:pt>
                <c:pt idx="293">
                  <c:v>49.096989966555185</c:v>
                </c:pt>
                <c:pt idx="294">
                  <c:v>49.247491638795992</c:v>
                </c:pt>
                <c:pt idx="295">
                  <c:v>49.397993311036792</c:v>
                </c:pt>
                <c:pt idx="296">
                  <c:v>49.548494983277592</c:v>
                </c:pt>
                <c:pt idx="297">
                  <c:v>49.6989966555184</c:v>
                </c:pt>
                <c:pt idx="298">
                  <c:v>49.8494983277592</c:v>
                </c:pt>
                <c:pt idx="299">
                  <c:v>50</c:v>
                </c:pt>
              </c:numCache>
            </c:numRef>
          </c:xVal>
          <c:yVal>
            <c:numRef>
              <c:f>Sheet1!$B$2:$B$301</c:f>
              <c:numCache>
                <c:formatCode>General</c:formatCode>
                <c:ptCount val="300"/>
                <c:pt idx="0">
                  <c:v>6.6384596671342777</c:v>
                </c:pt>
                <c:pt idx="1">
                  <c:v>5.995725804014679</c:v>
                </c:pt>
                <c:pt idx="2">
                  <c:v>5.466913213161825</c:v>
                </c:pt>
                <c:pt idx="3">
                  <c:v>5.0242364396521122</c:v>
                </c:pt>
                <c:pt idx="4">
                  <c:v>4.6482664733928951</c:v>
                </c:pt>
                <c:pt idx="5">
                  <c:v>4.3250089406194041</c:v>
                </c:pt>
                <c:pt idx="6">
                  <c:v>4.0441280933581867</c:v>
                </c:pt>
                <c:pt idx="7">
                  <c:v>3.7978245401255113</c:v>
                </c:pt>
                <c:pt idx="8">
                  <c:v>3.5801022001825733</c:v>
                </c:pt>
                <c:pt idx="9">
                  <c:v>3.3862755990291333</c:v>
                </c:pt>
                <c:pt idx="10">
                  <c:v>3.2126303352983987</c:v>
                </c:pt>
                <c:pt idx="11">
                  <c:v>3.0561839016514658</c:v>
                </c:pt>
                <c:pt idx="12">
                  <c:v>2.9145138796756496</c:v>
                </c:pt>
                <c:pt idx="13">
                  <c:v>2.7856323601139534</c:v>
                </c:pt>
                <c:pt idx="14">
                  <c:v>2.6678927010610618</c:v>
                </c:pt>
                <c:pt idx="15">
                  <c:v>2.5599193087097634</c:v>
                </c:pt>
                <c:pt idx="16">
                  <c:v>2.4605540708034899</c:v>
                </c:pt>
                <c:pt idx="17">
                  <c:v>2.3688150105366281</c:v>
                </c:pt>
                <c:pt idx="18">
                  <c:v>2.2838640274687063</c:v>
                </c:pt>
                <c:pt idx="19">
                  <c:v>2.2049814777910557</c:v>
                </c:pt>
                <c:pt idx="20">
                  <c:v>2.1315459599778244</c:v>
                </c:pt>
                <c:pt idx="21">
                  <c:v>2.0630181032622694</c:v>
                </c:pt>
                <c:pt idx="22">
                  <c:v>1.9989274637412944</c:v>
                </c:pt>
                <c:pt idx="23">
                  <c:v>1.9388618546310359</c:v>
                </c:pt>
                <c:pt idx="24">
                  <c:v>1.88245859899199</c:v>
                </c:pt>
                <c:pt idx="25">
                  <c:v>1.8293973125843681</c:v>
                </c:pt>
                <c:pt idx="26">
                  <c:v>1.7793939134295078</c:v>
                </c:pt>
                <c:pt idx="27">
                  <c:v>1.7321956215232328</c:v>
                </c:pt>
                <c:pt idx="28">
                  <c:v>1.6875767628823966</c:v>
                </c:pt>
                <c:pt idx="29">
                  <c:v>1.645335230919013</c:v>
                </c:pt>
                <c:pt idx="30">
                  <c:v>1.6052894880610964</c:v>
                </c:pt>
                <c:pt idx="31">
                  <c:v>1.567276013781101</c:v>
                </c:pt>
                <c:pt idx="32">
                  <c:v>1.5311471233699125</c:v>
                </c:pt>
                <c:pt idx="33">
                  <c:v>1.4967690961038467</c:v>
                </c:pt>
                <c:pt idx="34">
                  <c:v>1.4640205627874692</c:v>
                </c:pt>
                <c:pt idx="35">
                  <c:v>1.432791111687453</c:v>
                </c:pt>
                <c:pt idx="36">
                  <c:v>1.4029800791105991</c:v>
                </c:pt>
                <c:pt idx="37">
                  <c:v>1.3744954967101413</c:v>
                </c:pt>
                <c:pt idx="38">
                  <c:v>1.3472531723259169</c:v>
                </c:pt>
                <c:pt idx="39">
                  <c:v>1.3211758850057331</c:v>
                </c:pt>
                <c:pt idx="40">
                  <c:v>1.2961926779956194</c:v>
                </c:pt>
                <c:pt idx="41">
                  <c:v>1.2722382360651543</c:v>
                </c:pt>
                <c:pt idx="42">
                  <c:v>1.2492523356601919</c:v>
                </c:pt>
                <c:pt idx="43">
                  <c:v>1.227179358135549</c:v>
                </c:pt>
                <c:pt idx="44">
                  <c:v>1.2059678577832496</c:v>
                </c:pt>
                <c:pt idx="45">
                  <c:v>1.1855701775924579</c:v>
                </c:pt>
                <c:pt idx="46">
                  <c:v>1.1659421066991242</c:v>
                </c:pt>
                <c:pt idx="47">
                  <c:v>1.1470425743419139</c:v>
                </c:pt>
                <c:pt idx="48">
                  <c:v>1.1288333758646598</c:v>
                </c:pt>
                <c:pt idx="49">
                  <c:v>1.1112789269175742</c:v>
                </c:pt>
                <c:pt idx="50">
                  <c:v>1.0943460425285347</c:v>
                </c:pt>
                <c:pt idx="51">
                  <c:v>1.0780037381573655</c:v>
                </c:pt>
                <c:pt idx="52">
                  <c:v>1.0622230502228369</c:v>
                </c:pt>
                <c:pt idx="53">
                  <c:v>1.0469768739144292</c:v>
                </c:pt>
                <c:pt idx="54">
                  <c:v>1.0322398163774464</c:v>
                </c:pt>
                <c:pt idx="55">
                  <c:v>1.0179880635978547</c:v>
                </c:pt>
                <c:pt idx="56">
                  <c:v>1.0041992595182772</c:v>
                </c:pt>
                <c:pt idx="57">
                  <c:v>0.99085239609377473</c:v>
                </c:pt>
                <c:pt idx="58">
                  <c:v>0.97792771314953431</c:v>
                </c:pt>
                <c:pt idx="59">
                  <c:v>0.96540660703588921</c:v>
                </c:pt>
                <c:pt idx="60">
                  <c:v>0.95327154719204399</c:v>
                </c:pt>
                <c:pt idx="61">
                  <c:v>0.94150599983101313</c:v>
                </c:pt>
                <c:pt idx="62">
                  <c:v>0.9300943580466321</c:v>
                </c:pt>
                <c:pt idx="63">
                  <c:v>0.91902187772086452</c:v>
                </c:pt>
                <c:pt idx="64">
                  <c:v>0.90827461867749149</c:v>
                </c:pt>
                <c:pt idx="65">
                  <c:v>0.89783939058790019</c:v>
                </c:pt>
                <c:pt idx="66">
                  <c:v>0.88770370318721459</c:v>
                </c:pt>
                <c:pt idx="67">
                  <c:v>0.87785572040532134</c:v>
                </c:pt>
                <c:pt idx="68">
                  <c:v>0.86828421805827061</c:v>
                </c:pt>
                <c:pt idx="69">
                  <c:v>0.85897854478175639</c:v>
                </c:pt>
                <c:pt idx="70">
                  <c:v>0.84992858592048615</c:v>
                </c:pt>
                <c:pt idx="71">
                  <c:v>0.84112473011576905</c:v>
                </c:pt>
                <c:pt idx="72">
                  <c:v>0.83255783835899899</c:v>
                </c:pt>
                <c:pt idx="73">
                  <c:v>0.82421921530129794</c:v>
                </c:pt>
                <c:pt idx="74">
                  <c:v>0.81610058262972252</c:v>
                </c:pt>
                <c:pt idx="75">
                  <c:v>0.80819405433843639</c:v>
                </c:pt>
                <c:pt idx="76">
                  <c:v>0.80049211373933493</c:v>
                </c:pt>
                <c:pt idx="77">
                  <c:v>0.79298759207103375</c:v>
                </c:pt>
                <c:pt idx="78">
                  <c:v>0.78567364857805888</c:v>
                </c:pt>
                <c:pt idx="79">
                  <c:v>0.77854375194367886</c:v>
                </c:pt>
                <c:pt idx="80">
                  <c:v>0.77159166297028192</c:v>
                </c:pt>
                <c:pt idx="81">
                  <c:v>0.76481141841057776</c:v>
                </c:pt>
                <c:pt idx="82">
                  <c:v>0.75819731586139083</c:v>
                </c:pt>
                <c:pt idx="83">
                  <c:v>0.75174389963946275</c:v>
                </c:pt>
                <c:pt idx="84">
                  <c:v>0.74544594756558025</c:v>
                </c:pt>
                <c:pt idx="85">
                  <c:v>0.73929845858960186</c:v>
                </c:pt>
                <c:pt idx="86">
                  <c:v>0.73329664119461901</c:v>
                </c:pt>
                <c:pt idx="87">
                  <c:v>0.72743590252361467</c:v>
                </c:pt>
                <c:pt idx="88">
                  <c:v>0.72171183817663798</c:v>
                </c:pt>
                <c:pt idx="89">
                  <c:v>0.71612022263075059</c:v>
                </c:pt>
                <c:pt idx="90">
                  <c:v>0.71065700023883538</c:v>
                </c:pt>
                <c:pt idx="91">
                  <c:v>0.70531827676687586</c:v>
                </c:pt>
                <c:pt idx="92">
                  <c:v>0.7001003114324893</c:v>
                </c:pt>
                <c:pt idx="93">
                  <c:v>0.69499950941041522</c:v>
                </c:pt>
                <c:pt idx="94">
                  <c:v>0.69001241477331832</c:v>
                </c:pt>
                <c:pt idx="95">
                  <c:v>0.68513570383868683</c:v>
                </c:pt>
                <c:pt idx="96">
                  <c:v>0.68036617889482842</c:v>
                </c:pt>
                <c:pt idx="97">
                  <c:v>0.67570076228100051</c:v>
                </c:pt>
                <c:pt idx="98">
                  <c:v>0.67113649079857163</c:v>
                </c:pt>
                <c:pt idx="99">
                  <c:v>0.66667051043181447</c:v>
                </c:pt>
                <c:pt idx="100">
                  <c:v>0.66230007135850066</c:v>
                </c:pt>
                <c:pt idx="101">
                  <c:v>0.65802252323190558</c:v>
                </c:pt>
                <c:pt idx="102">
                  <c:v>0.65383531071714951</c:v>
                </c:pt>
                <c:pt idx="103">
                  <c:v>0.64973596926602728</c:v>
                </c:pt>
                <c:pt idx="104">
                  <c:v>0.64572212111557947</c:v>
                </c:pt>
                <c:pt idx="105">
                  <c:v>0.641791471496717</c:v>
                </c:pt>
                <c:pt idx="106">
                  <c:v>0.63794180504013009</c:v>
                </c:pt>
                <c:pt idx="107">
                  <c:v>0.63417098236762004</c:v>
                </c:pt>
                <c:pt idx="108">
                  <c:v>0.63047693685777628</c:v>
                </c:pt>
                <c:pt idx="109">
                  <c:v>0.62685767157569205</c:v>
                </c:pt>
                <c:pt idx="110">
                  <c:v>0.62331125635708218</c:v>
                </c:pt>
                <c:pt idx="111">
                  <c:v>0.61983582503782875</c:v>
                </c:pt>
                <c:pt idx="112">
                  <c:v>0.61642957282055211</c:v>
                </c:pt>
                <c:pt idx="113">
                  <c:v>0.61309075377036926</c:v>
                </c:pt>
                <c:pt idx="114">
                  <c:v>0.60981767843250356</c:v>
                </c:pt>
                <c:pt idx="115">
                  <c:v>0.60660871156488105</c:v>
                </c:pt>
                <c:pt idx="116">
                  <c:v>0.60346226997929209</c:v>
                </c:pt>
                <c:pt idx="117">
                  <c:v>0.60037682048509633</c:v>
                </c:pt>
                <c:pt idx="118">
                  <c:v>0.59735087792983588</c:v>
                </c:pt>
                <c:pt idx="119">
                  <c:v>0.5943830033314671</c:v>
                </c:pt>
                <c:pt idx="120">
                  <c:v>0.59147180209724848</c:v>
                </c:pt>
                <c:pt idx="121">
                  <c:v>0.58861592232463111</c:v>
                </c:pt>
                <c:pt idx="122">
                  <c:v>0.58581405317977975</c:v>
                </c:pt>
                <c:pt idx="123">
                  <c:v>0.58306492334961268</c:v>
                </c:pt>
                <c:pt idx="124">
                  <c:v>0.58036729956350375</c:v>
                </c:pt>
                <c:pt idx="125">
                  <c:v>0.57771998518101164</c:v>
                </c:pt>
                <c:pt idx="126">
                  <c:v>0.57512181884222158</c:v>
                </c:pt>
                <c:pt idx="127">
                  <c:v>0.57257167317748281</c:v>
                </c:pt>
                <c:pt idx="128">
                  <c:v>0.57006845357351243</c:v>
                </c:pt>
                <c:pt idx="129">
                  <c:v>0.56761109699301315</c:v>
                </c:pt>
                <c:pt idx="130">
                  <c:v>0.56519857084511527</c:v>
                </c:pt>
                <c:pt idx="131">
                  <c:v>0.56282987190410505</c:v>
                </c:pt>
                <c:pt idx="132">
                  <c:v>0.56050402527404941</c:v>
                </c:pt>
                <c:pt idx="133">
                  <c:v>0.55822008339705664</c:v>
                </c:pt>
                <c:pt idx="134">
                  <c:v>0.5559771251030412</c:v>
                </c:pt>
                <c:pt idx="135">
                  <c:v>0.55377425469898145</c:v>
                </c:pt>
                <c:pt idx="136">
                  <c:v>0.55161060109576188</c:v>
                </c:pt>
                <c:pt idx="137">
                  <c:v>0.54948531697080927</c:v>
                </c:pt>
                <c:pt idx="138">
                  <c:v>0.54739757796481059</c:v>
                </c:pt>
                <c:pt idx="139">
                  <c:v>0.54534658191091523</c:v>
                </c:pt>
                <c:pt idx="140">
                  <c:v>0.54333154809488826</c:v>
                </c:pt>
                <c:pt idx="141">
                  <c:v>0.54135171654477909</c:v>
                </c:pt>
                <c:pt idx="142">
                  <c:v>0.53940634734873605</c:v>
                </c:pt>
                <c:pt idx="143">
                  <c:v>0.53749471999967602</c:v>
                </c:pt>
                <c:pt idx="144">
                  <c:v>0.53561613276557907</c:v>
                </c:pt>
                <c:pt idx="145">
                  <c:v>0.5337699020842479</c:v>
                </c:pt>
                <c:pt idx="146">
                  <c:v>0.53195536198142757</c:v>
                </c:pt>
                <c:pt idx="147">
                  <c:v>0.53017186351124013</c:v>
                </c:pt>
                <c:pt idx="148">
                  <c:v>0.52841877421794003</c:v>
                </c:pt>
                <c:pt idx="149">
                  <c:v>0.52669547761804647</c:v>
                </c:pt>
                <c:pt idx="150">
                  <c:v>0.52500137270195901</c:v>
                </c:pt>
                <c:pt idx="151">
                  <c:v>0.52333587345420429</c:v>
                </c:pt>
                <c:pt idx="152">
                  <c:v>0.52169840839150361</c:v>
                </c:pt>
                <c:pt idx="153">
                  <c:v>0.52008842011789547</c:v>
                </c:pt>
                <c:pt idx="154">
                  <c:v>0.51850536489617971</c:v>
                </c:pt>
                <c:pt idx="155">
                  <c:v>0.51694871223498706</c:v>
                </c:pt>
                <c:pt idx="156">
                  <c:v>0.51541794449081502</c:v>
                </c:pt>
                <c:pt idx="157">
                  <c:v>0.51391255648439638</c:v>
                </c:pt>
                <c:pt idx="158">
                  <c:v>0.51243205513080337</c:v>
                </c:pt>
                <c:pt idx="159">
                  <c:v>0.51097595908271376</c:v>
                </c:pt>
                <c:pt idx="160">
                  <c:v>0.5095437983862966</c:v>
                </c:pt>
                <c:pt idx="161">
                  <c:v>0.50813511414919643</c:v>
                </c:pt>
                <c:pt idx="162">
                  <c:v>0.50674945822012274</c:v>
                </c:pt>
                <c:pt idx="163">
                  <c:v>0.5053863928795741</c:v>
                </c:pt>
                <c:pt idx="164">
                  <c:v>0.50404549054124403</c:v>
                </c:pt>
                <c:pt idx="165">
                  <c:v>0.50272633346368223</c:v>
                </c:pt>
                <c:pt idx="166">
                  <c:v>0.50142851347179995</c:v>
                </c:pt>
                <c:pt idx="167">
                  <c:v>0.50015163168782995</c:v>
                </c:pt>
                <c:pt idx="168">
                  <c:v>0.49889529827136569</c:v>
                </c:pt>
                <c:pt idx="169">
                  <c:v>0.49765913216812468</c:v>
                </c:pt>
                <c:pt idx="170">
                  <c:v>0.49644276086709493</c:v>
                </c:pt>
                <c:pt idx="171">
                  <c:v>0.49524582016573881</c:v>
                </c:pt>
                <c:pt idx="172">
                  <c:v>0.49406795394294301</c:v>
                </c:pt>
                <c:pt idx="173">
                  <c:v>0.49290881393941699</c:v>
                </c:pt>
                <c:pt idx="174">
                  <c:v>0.49176805954525638</c:v>
                </c:pt>
                <c:pt idx="175">
                  <c:v>0.49064535759439726</c:v>
                </c:pt>
                <c:pt idx="176">
                  <c:v>0.48954038216570306</c:v>
                </c:pt>
                <c:pt idx="177">
                  <c:v>0.48845281439043264</c:v>
                </c:pt>
                <c:pt idx="178">
                  <c:v>0.4873823422658537</c:v>
                </c:pt>
                <c:pt idx="179">
                  <c:v>0.4863286604747693</c:v>
                </c:pt>
                <c:pt idx="180">
                  <c:v>0.48529147021074326</c:v>
                </c:pt>
                <c:pt idx="181">
                  <c:v>0.48427047900880987</c:v>
                </c:pt>
                <c:pt idx="182">
                  <c:v>0.4832654005814726</c:v>
                </c:pt>
                <c:pt idx="183">
                  <c:v>0.48227595465979406</c:v>
                </c:pt>
                <c:pt idx="184">
                  <c:v>0.48130186683939608</c:v>
                </c:pt>
                <c:pt idx="185">
                  <c:v>0.48034286843119217</c:v>
                </c:pt>
                <c:pt idx="186">
                  <c:v>0.47939869631668308</c:v>
                </c:pt>
                <c:pt idx="187">
                  <c:v>0.47846909280765049</c:v>
                </c:pt>
                <c:pt idx="188">
                  <c:v>0.47755380551009713</c:v>
                </c:pt>
                <c:pt idx="189">
                  <c:v>0.47665258719227849</c:v>
                </c:pt>
                <c:pt idx="190">
                  <c:v>0.47576519565668668</c:v>
                </c:pt>
                <c:pt idx="191">
                  <c:v>0.47489139361584537</c:v>
                </c:pt>
                <c:pt idx="192">
                  <c:v>0.47403094857178485</c:v>
                </c:pt>
                <c:pt idx="193">
                  <c:v>0.47318363269906916</c:v>
                </c:pt>
                <c:pt idx="194">
                  <c:v>0.47234922273125346</c:v>
                </c:pt>
                <c:pt idx="195">
                  <c:v>0.4715274998506544</c:v>
                </c:pt>
                <c:pt idx="196">
                  <c:v>0.47071824958131925</c:v>
                </c:pt>
                <c:pt idx="197">
                  <c:v>0.46992126168508647</c:v>
                </c:pt>
                <c:pt idx="198">
                  <c:v>0.46913633006063421</c:v>
                </c:pt>
                <c:pt idx="199">
                  <c:v>0.46836325264541306</c:v>
                </c:pt>
                <c:pt idx="200">
                  <c:v>0.46760183132037098</c:v>
                </c:pt>
                <c:pt idx="201">
                  <c:v>0.46685187181737392</c:v>
                </c:pt>
                <c:pt idx="202">
                  <c:v>0.46611318362923493</c:v>
                </c:pt>
                <c:pt idx="203">
                  <c:v>0.46538557992226531</c:v>
                </c:pt>
                <c:pt idx="204">
                  <c:v>0.46466887745126451</c:v>
                </c:pt>
                <c:pt idx="205">
                  <c:v>0.46396289647687017</c:v>
                </c:pt>
                <c:pt idx="206">
                  <c:v>0.46326746068519081</c:v>
                </c:pt>
                <c:pt idx="207">
                  <c:v>0.46258239710964777</c:v>
                </c:pt>
                <c:pt idx="208">
                  <c:v>0.4619075360549556</c:v>
                </c:pt>
                <c:pt idx="209">
                  <c:v>0.46124271102317116</c:v>
                </c:pt>
                <c:pt idx="210">
                  <c:v>0.46058775864174734</c:v>
                </c:pt>
                <c:pt idx="211">
                  <c:v>0.45994251859352631</c:v>
                </c:pt>
                <c:pt idx="212">
                  <c:v>0.45930683354861152</c:v>
                </c:pt>
                <c:pt idx="213">
                  <c:v>0.45868054909805966</c:v>
                </c:pt>
                <c:pt idx="214">
                  <c:v>0.45806351368933507</c:v>
                </c:pt>
                <c:pt idx="215">
                  <c:v>0.45745557856347163</c:v>
                </c:pt>
                <c:pt idx="216">
                  <c:v>0.4568565976938912</c:v>
                </c:pt>
                <c:pt idx="217">
                  <c:v>0.45626642772682313</c:v>
                </c:pt>
                <c:pt idx="218">
                  <c:v>0.45568492792328086</c:v>
                </c:pt>
                <c:pt idx="219">
                  <c:v>0.45511196010254329</c:v>
                </c:pt>
                <c:pt idx="220">
                  <c:v>0.45454738858709931</c:v>
                </c:pt>
                <c:pt idx="221">
                  <c:v>0.45399108014900663</c:v>
                </c:pt>
                <c:pt idx="222">
                  <c:v>0.45344290395762671</c:v>
                </c:pt>
                <c:pt idx="223">
                  <c:v>0.45290273152869137</c:v>
                </c:pt>
                <c:pt idx="224">
                  <c:v>0.45237043667466176</c:v>
                </c:pt>
                <c:pt idx="225">
                  <c:v>0.45184589545634246</c:v>
                </c:pt>
                <c:pt idx="226">
                  <c:v>0.45132898613571232</c:v>
                </c:pt>
                <c:pt idx="227">
                  <c:v>0.4508195891299363</c:v>
                </c:pt>
                <c:pt idx="228">
                  <c:v>0.45031758696652385</c:v>
                </c:pt>
                <c:pt idx="229">
                  <c:v>0.44982286423959994</c:v>
                </c:pt>
                <c:pt idx="230">
                  <c:v>0.44933530756725715</c:v>
                </c:pt>
                <c:pt idx="231">
                  <c:v>0.44885480554995544</c:v>
                </c:pt>
                <c:pt idx="232">
                  <c:v>0.44838124872994262</c:v>
                </c:pt>
                <c:pt idx="233">
                  <c:v>0.44791452955166244</c:v>
                </c:pt>
                <c:pt idx="234">
                  <c:v>0.44745454232312498</c:v>
                </c:pt>
                <c:pt idx="235">
                  <c:v>0.44700118317820986</c:v>
                </c:pt>
                <c:pt idx="236">
                  <c:v>0.44655435003987726</c:v>
                </c:pt>
                <c:pt idx="237">
                  <c:v>0.44611394258426029</c:v>
                </c:pt>
                <c:pt idx="238">
                  <c:v>0.44567986220561379</c:v>
                </c:pt>
                <c:pt idx="239">
                  <c:v>0.44525201198209607</c:v>
                </c:pt>
                <c:pt idx="240">
                  <c:v>0.44483029664235957</c:v>
                </c:pt>
                <c:pt idx="241">
                  <c:v>0.44441462253292963</c:v>
                </c:pt>
                <c:pt idx="242">
                  <c:v>0.44400489758634604</c:v>
                </c:pt>
                <c:pt idx="243">
                  <c:v>0.44360103129005157</c:v>
                </c:pt>
                <c:pt idx="244">
                  <c:v>0.44320293465600158</c:v>
                </c:pt>
                <c:pt idx="245">
                  <c:v>0.44281052019097866</c:v>
                </c:pt>
                <c:pt idx="246">
                  <c:v>0.44242370186759133</c:v>
                </c:pt>
                <c:pt idx="247">
                  <c:v>0.44204239509593957</c:v>
                </c:pt>
                <c:pt idx="248">
                  <c:v>0.44166651669592732</c:v>
                </c:pt>
                <c:pt idx="249">
                  <c:v>0.4412959848702066</c:v>
                </c:pt>
                <c:pt idx="250">
                  <c:v>0.44093071917773413</c:v>
                </c:pt>
                <c:pt idx="251">
                  <c:v>0.4405706405079271</c:v>
                </c:pt>
                <c:pt idx="252">
                  <c:v>0.44021567105539866</c:v>
                </c:pt>
                <c:pt idx="253">
                  <c:v>0.43986573429526027</c:v>
                </c:pt>
                <c:pt idx="254">
                  <c:v>0.43952075495897563</c:v>
                </c:pt>
                <c:pt idx="255">
                  <c:v>0.43918065901075004</c:v>
                </c:pt>
                <c:pt idx="256">
                  <c:v>0.43884537362444426</c:v>
                </c:pt>
                <c:pt idx="257">
                  <c:v>0.43851482716099521</c:v>
                </c:pt>
                <c:pt idx="258">
                  <c:v>0.43818894914633483</c:v>
                </c:pt>
                <c:pt idx="259">
                  <c:v>0.43786767024979001</c:v>
                </c:pt>
                <c:pt idx="260">
                  <c:v>0.43755092226295461</c:v>
                </c:pt>
                <c:pt idx="261">
                  <c:v>0.43723863807901875</c:v>
                </c:pt>
                <c:pt idx="262">
                  <c:v>0.43693075167254641</c:v>
                </c:pt>
                <c:pt idx="263">
                  <c:v>0.43662719807968697</c:v>
                </c:pt>
                <c:pt idx="264">
                  <c:v>0.43632791337881249</c:v>
                </c:pt>
                <c:pt idx="265">
                  <c:v>0.43603283467156811</c:v>
                </c:pt>
                <c:pt idx="266">
                  <c:v>0.43574190006432567</c:v>
                </c:pt>
                <c:pt idx="267">
                  <c:v>0.43545504865003126</c:v>
                </c:pt>
                <c:pt idx="268">
                  <c:v>0.43517222049043552</c:v>
                </c:pt>
                <c:pt idx="269">
                  <c:v>0.43489335659869838</c:v>
                </c:pt>
                <c:pt idx="270">
                  <c:v>0.43461839892235832</c:v>
                </c:pt>
                <c:pt idx="271">
                  <c:v>0.43434729032665731</c:v>
                </c:pt>
                <c:pt idx="272">
                  <c:v>0.43407997457821257</c:v>
                </c:pt>
                <c:pt idx="273">
                  <c:v>0.4338163963290273</c:v>
                </c:pt>
                <c:pt idx="274">
                  <c:v>0.43355650110083122</c:v>
                </c:pt>
                <c:pt idx="275">
                  <c:v>0.43330023526974371</c:v>
                </c:pt>
                <c:pt idx="276">
                  <c:v>0.43304754605125079</c:v>
                </c:pt>
                <c:pt idx="277">
                  <c:v>0.43279838148548988</c:v>
                </c:pt>
                <c:pt idx="278">
                  <c:v>0.43255269042283345</c:v>
                </c:pt>
                <c:pt idx="279">
                  <c:v>0.43231042250976492</c:v>
                </c:pt>
                <c:pt idx="280">
                  <c:v>0.43207152817504091</c:v>
                </c:pt>
                <c:pt idx="281">
                  <c:v>0.43183595861613061</c:v>
                </c:pt>
                <c:pt idx="282">
                  <c:v>0.43160366578592885</c:v>
                </c:pt>
                <c:pt idx="283">
                  <c:v>0.4313746023797338</c:v>
                </c:pt>
                <c:pt idx="284">
                  <c:v>0.43114872182248415</c:v>
                </c:pt>
                <c:pt idx="285">
                  <c:v>0.43092597825625023</c:v>
                </c:pt>
                <c:pt idx="286">
                  <c:v>0.43070632652797208</c:v>
                </c:pt>
                <c:pt idx="287">
                  <c:v>0.43048972217743964</c:v>
                </c:pt>
                <c:pt idx="288">
                  <c:v>0.43027612142550853</c:v>
                </c:pt>
                <c:pt idx="289">
                  <c:v>0.43006548116254761</c:v>
                </c:pt>
                <c:pt idx="290">
                  <c:v>0.42985775893711037</c:v>
                </c:pt>
                <c:pt idx="291">
                  <c:v>0.42965291294482871</c:v>
                </c:pt>
                <c:pt idx="292">
                  <c:v>0.42945090201751984</c:v>
                </c:pt>
                <c:pt idx="293">
                  <c:v>0.42925168561250499</c:v>
                </c:pt>
                <c:pt idx="294">
                  <c:v>0.42905522380213357</c:v>
                </c:pt>
                <c:pt idx="295">
                  <c:v>0.42886147726350787</c:v>
                </c:pt>
                <c:pt idx="296">
                  <c:v>0.42867040726840455</c:v>
                </c:pt>
                <c:pt idx="297">
                  <c:v>0.4284819756733883</c:v>
                </c:pt>
                <c:pt idx="298">
                  <c:v>0.42829614491011331</c:v>
                </c:pt>
                <c:pt idx="299">
                  <c:v>0.42811287797580838</c:v>
                </c:pt>
              </c:numCache>
            </c:numRef>
          </c:yVal>
          <c:smooth val="0"/>
          <c:extLst>
            <c:ext xmlns:c16="http://schemas.microsoft.com/office/drawing/2014/chart" uri="{C3380CC4-5D6E-409C-BE32-E72D297353CC}">
              <c16:uniqueId val="{00000000-B1A6-4750-83D8-67F325B5B099}"/>
            </c:ext>
          </c:extLst>
        </c:ser>
        <c:ser>
          <c:idx val="1"/>
          <c:order val="1"/>
          <c:tx>
            <c:strRef>
              <c:f>Sheet1!$B$303</c:f>
              <c:strCache>
                <c:ptCount val="1"/>
                <c:pt idx="0">
                  <c:v>_envL</c:v>
                </c:pt>
              </c:strCache>
            </c:strRef>
          </c:tx>
          <c:spPr>
            <a:ln w="9525">
              <a:solidFill>
                <a:srgbClr val="F3B094"/>
              </a:solidFill>
              <a:prstDash val="dash"/>
            </a:ln>
          </c:spPr>
          <c:marker>
            <c:symbol val="none"/>
          </c:marker>
          <c:xVal>
            <c:numRef>
              <c:f>Sheet1!$A$304:$A$603</c:f>
              <c:numCache>
                <c:formatCode>General</c:formatCode>
                <c:ptCount val="300"/>
                <c:pt idx="0">
                  <c:v>5</c:v>
                </c:pt>
                <c:pt idx="1">
                  <c:v>5.1505016722408028</c:v>
                </c:pt>
                <c:pt idx="2">
                  <c:v>5.3010033444816056</c:v>
                </c:pt>
                <c:pt idx="3">
                  <c:v>5.4515050167224084</c:v>
                </c:pt>
                <c:pt idx="4">
                  <c:v>5.6020066889632112</c:v>
                </c:pt>
                <c:pt idx="5">
                  <c:v>5.7525083612040131</c:v>
                </c:pt>
                <c:pt idx="6">
                  <c:v>5.9030100334448159</c:v>
                </c:pt>
                <c:pt idx="7">
                  <c:v>6.0535117056856187</c:v>
                </c:pt>
                <c:pt idx="8">
                  <c:v>6.2040133779264215</c:v>
                </c:pt>
                <c:pt idx="9">
                  <c:v>6.3545150501672243</c:v>
                </c:pt>
                <c:pt idx="10">
                  <c:v>6.5050167224080271</c:v>
                </c:pt>
                <c:pt idx="11">
                  <c:v>6.6555183946488299</c:v>
                </c:pt>
                <c:pt idx="12">
                  <c:v>6.8060200668896318</c:v>
                </c:pt>
                <c:pt idx="13">
                  <c:v>6.9565217391304355</c:v>
                </c:pt>
                <c:pt idx="14">
                  <c:v>7.1070234113712374</c:v>
                </c:pt>
                <c:pt idx="15">
                  <c:v>7.2575250836120402</c:v>
                </c:pt>
                <c:pt idx="16">
                  <c:v>7.408026755852843</c:v>
                </c:pt>
                <c:pt idx="17">
                  <c:v>7.5585284280936458</c:v>
                </c:pt>
                <c:pt idx="18">
                  <c:v>7.7090301003344486</c:v>
                </c:pt>
                <c:pt idx="19">
                  <c:v>7.8595317725752505</c:v>
                </c:pt>
                <c:pt idx="20">
                  <c:v>8.0100334448160542</c:v>
                </c:pt>
                <c:pt idx="21">
                  <c:v>8.1605351170568561</c:v>
                </c:pt>
                <c:pt idx="22">
                  <c:v>8.3110367892976598</c:v>
                </c:pt>
                <c:pt idx="23">
                  <c:v>8.4615384615384617</c:v>
                </c:pt>
                <c:pt idx="24">
                  <c:v>8.6120401337792636</c:v>
                </c:pt>
                <c:pt idx="25">
                  <c:v>8.7625418060200673</c:v>
                </c:pt>
                <c:pt idx="26">
                  <c:v>8.913043478260871</c:v>
                </c:pt>
                <c:pt idx="27">
                  <c:v>9.0635451505016729</c:v>
                </c:pt>
                <c:pt idx="28">
                  <c:v>9.2140468227424748</c:v>
                </c:pt>
                <c:pt idx="29">
                  <c:v>9.3645484949832785</c:v>
                </c:pt>
                <c:pt idx="30">
                  <c:v>9.5150501672240804</c:v>
                </c:pt>
                <c:pt idx="31">
                  <c:v>9.6655518394648823</c:v>
                </c:pt>
                <c:pt idx="32">
                  <c:v>9.816053511705686</c:v>
                </c:pt>
                <c:pt idx="33">
                  <c:v>9.9665551839464896</c:v>
                </c:pt>
                <c:pt idx="34">
                  <c:v>10.117056856187292</c:v>
                </c:pt>
                <c:pt idx="35">
                  <c:v>10.267558528428093</c:v>
                </c:pt>
                <c:pt idx="36">
                  <c:v>10.418060200668897</c:v>
                </c:pt>
                <c:pt idx="37">
                  <c:v>10.568561872909699</c:v>
                </c:pt>
                <c:pt idx="38">
                  <c:v>10.719063545150501</c:v>
                </c:pt>
                <c:pt idx="39">
                  <c:v>10.869565217391305</c:v>
                </c:pt>
                <c:pt idx="40">
                  <c:v>11.020066889632108</c:v>
                </c:pt>
                <c:pt idx="41">
                  <c:v>11.17056856187291</c:v>
                </c:pt>
                <c:pt idx="42">
                  <c:v>11.321070234113712</c:v>
                </c:pt>
                <c:pt idx="43">
                  <c:v>11.471571906354516</c:v>
                </c:pt>
                <c:pt idx="44">
                  <c:v>11.622073578595318</c:v>
                </c:pt>
                <c:pt idx="45">
                  <c:v>11.77257525083612</c:v>
                </c:pt>
                <c:pt idx="46">
                  <c:v>11.923076923076923</c:v>
                </c:pt>
                <c:pt idx="47">
                  <c:v>12.073578595317727</c:v>
                </c:pt>
                <c:pt idx="48">
                  <c:v>12.224080267558529</c:v>
                </c:pt>
                <c:pt idx="49">
                  <c:v>12.374581939799331</c:v>
                </c:pt>
                <c:pt idx="50">
                  <c:v>12.525083612040135</c:v>
                </c:pt>
                <c:pt idx="51">
                  <c:v>12.675585284280938</c:v>
                </c:pt>
                <c:pt idx="52">
                  <c:v>12.82608695652174</c:v>
                </c:pt>
                <c:pt idx="53">
                  <c:v>12.976588628762542</c:v>
                </c:pt>
                <c:pt idx="54">
                  <c:v>13.127090301003346</c:v>
                </c:pt>
                <c:pt idx="55">
                  <c:v>13.277591973244148</c:v>
                </c:pt>
                <c:pt idx="56">
                  <c:v>13.42809364548495</c:v>
                </c:pt>
                <c:pt idx="57">
                  <c:v>13.578595317725753</c:v>
                </c:pt>
                <c:pt idx="58">
                  <c:v>13.729096989966555</c:v>
                </c:pt>
                <c:pt idx="59">
                  <c:v>13.879598662207359</c:v>
                </c:pt>
                <c:pt idx="60">
                  <c:v>14.030100334448161</c:v>
                </c:pt>
                <c:pt idx="61">
                  <c:v>14.180602006688964</c:v>
                </c:pt>
                <c:pt idx="62">
                  <c:v>14.331103678929766</c:v>
                </c:pt>
                <c:pt idx="63">
                  <c:v>14.48160535117057</c:v>
                </c:pt>
                <c:pt idx="64">
                  <c:v>14.632107023411372</c:v>
                </c:pt>
                <c:pt idx="65">
                  <c:v>14.782608695652174</c:v>
                </c:pt>
                <c:pt idx="66">
                  <c:v>14.933110367892978</c:v>
                </c:pt>
                <c:pt idx="67">
                  <c:v>15.083612040133779</c:v>
                </c:pt>
                <c:pt idx="68">
                  <c:v>15.234113712374583</c:v>
                </c:pt>
                <c:pt idx="69">
                  <c:v>15.384615384615385</c:v>
                </c:pt>
                <c:pt idx="70">
                  <c:v>15.535117056856189</c:v>
                </c:pt>
                <c:pt idx="71">
                  <c:v>15.685618729096991</c:v>
                </c:pt>
                <c:pt idx="72">
                  <c:v>15.836120401337794</c:v>
                </c:pt>
                <c:pt idx="73">
                  <c:v>15.986622073578596</c:v>
                </c:pt>
                <c:pt idx="74">
                  <c:v>16.137123745819398</c:v>
                </c:pt>
                <c:pt idx="75">
                  <c:v>16.287625418060202</c:v>
                </c:pt>
                <c:pt idx="76">
                  <c:v>16.438127090301002</c:v>
                </c:pt>
                <c:pt idx="77">
                  <c:v>16.588628762541809</c:v>
                </c:pt>
                <c:pt idx="78">
                  <c:v>16.739130434782609</c:v>
                </c:pt>
                <c:pt idx="79">
                  <c:v>16.889632107023413</c:v>
                </c:pt>
                <c:pt idx="80">
                  <c:v>17.040133779264217</c:v>
                </c:pt>
                <c:pt idx="81">
                  <c:v>17.190635451505017</c:v>
                </c:pt>
                <c:pt idx="82">
                  <c:v>17.341137123745821</c:v>
                </c:pt>
                <c:pt idx="83">
                  <c:v>17.491638795986624</c:v>
                </c:pt>
                <c:pt idx="84">
                  <c:v>17.642140468227424</c:v>
                </c:pt>
                <c:pt idx="85">
                  <c:v>17.792642140468228</c:v>
                </c:pt>
                <c:pt idx="86">
                  <c:v>17.943143812709032</c:v>
                </c:pt>
                <c:pt idx="87">
                  <c:v>18.093645484949832</c:v>
                </c:pt>
                <c:pt idx="88">
                  <c:v>18.244147157190636</c:v>
                </c:pt>
                <c:pt idx="89">
                  <c:v>18.394648829431439</c:v>
                </c:pt>
                <c:pt idx="90">
                  <c:v>18.545150501672239</c:v>
                </c:pt>
                <c:pt idx="91">
                  <c:v>18.695652173913047</c:v>
                </c:pt>
                <c:pt idx="92">
                  <c:v>18.846153846153847</c:v>
                </c:pt>
                <c:pt idx="93">
                  <c:v>18.99665551839465</c:v>
                </c:pt>
                <c:pt idx="94">
                  <c:v>19.147157190635454</c:v>
                </c:pt>
                <c:pt idx="95">
                  <c:v>19.297658862876254</c:v>
                </c:pt>
                <c:pt idx="96">
                  <c:v>19.448160535117058</c:v>
                </c:pt>
                <c:pt idx="97">
                  <c:v>19.598662207357862</c:v>
                </c:pt>
                <c:pt idx="98">
                  <c:v>19.749163879598662</c:v>
                </c:pt>
                <c:pt idx="99">
                  <c:v>19.899665551839465</c:v>
                </c:pt>
                <c:pt idx="100">
                  <c:v>20.050167224080269</c:v>
                </c:pt>
                <c:pt idx="101">
                  <c:v>20.200668896321069</c:v>
                </c:pt>
                <c:pt idx="102">
                  <c:v>20.351170568561876</c:v>
                </c:pt>
                <c:pt idx="103">
                  <c:v>20.501672240802677</c:v>
                </c:pt>
                <c:pt idx="104">
                  <c:v>20.65217391304348</c:v>
                </c:pt>
                <c:pt idx="105">
                  <c:v>20.802675585284284</c:v>
                </c:pt>
                <c:pt idx="106">
                  <c:v>20.953177257525084</c:v>
                </c:pt>
                <c:pt idx="107">
                  <c:v>21.103678929765888</c:v>
                </c:pt>
                <c:pt idx="108">
                  <c:v>21.254180602006691</c:v>
                </c:pt>
                <c:pt idx="109">
                  <c:v>21.404682274247492</c:v>
                </c:pt>
                <c:pt idx="110">
                  <c:v>21.555183946488295</c:v>
                </c:pt>
                <c:pt idx="111">
                  <c:v>21.705685618729099</c:v>
                </c:pt>
                <c:pt idx="112">
                  <c:v>21.856187290969899</c:v>
                </c:pt>
                <c:pt idx="113">
                  <c:v>22.006688963210703</c:v>
                </c:pt>
                <c:pt idx="114">
                  <c:v>22.157190635451506</c:v>
                </c:pt>
                <c:pt idx="115">
                  <c:v>22.30769230769231</c:v>
                </c:pt>
                <c:pt idx="116">
                  <c:v>22.45819397993311</c:v>
                </c:pt>
                <c:pt idx="117">
                  <c:v>22.608695652173914</c:v>
                </c:pt>
                <c:pt idx="118">
                  <c:v>22.759197324414718</c:v>
                </c:pt>
                <c:pt idx="119">
                  <c:v>22.909698996655521</c:v>
                </c:pt>
                <c:pt idx="120">
                  <c:v>23.060200668896321</c:v>
                </c:pt>
                <c:pt idx="121">
                  <c:v>23.210702341137125</c:v>
                </c:pt>
                <c:pt idx="122">
                  <c:v>23.361204013377929</c:v>
                </c:pt>
                <c:pt idx="123">
                  <c:v>23.511705685618729</c:v>
                </c:pt>
                <c:pt idx="124">
                  <c:v>23.662207357859533</c:v>
                </c:pt>
                <c:pt idx="125">
                  <c:v>23.812709030100336</c:v>
                </c:pt>
                <c:pt idx="126">
                  <c:v>23.96321070234114</c:v>
                </c:pt>
                <c:pt idx="127">
                  <c:v>24.11371237458194</c:v>
                </c:pt>
                <c:pt idx="128">
                  <c:v>24.264214046822744</c:v>
                </c:pt>
                <c:pt idx="129">
                  <c:v>24.414715719063548</c:v>
                </c:pt>
                <c:pt idx="130">
                  <c:v>24.565217391304348</c:v>
                </c:pt>
                <c:pt idx="131">
                  <c:v>24.715719063545151</c:v>
                </c:pt>
                <c:pt idx="132">
                  <c:v>24.866220735785955</c:v>
                </c:pt>
                <c:pt idx="133">
                  <c:v>25.016722408026759</c:v>
                </c:pt>
                <c:pt idx="134">
                  <c:v>25.167224080267559</c:v>
                </c:pt>
                <c:pt idx="135">
                  <c:v>25.317725752508363</c:v>
                </c:pt>
                <c:pt idx="136">
                  <c:v>25.468227424749166</c:v>
                </c:pt>
                <c:pt idx="137">
                  <c:v>25.618729096989966</c:v>
                </c:pt>
                <c:pt idx="138">
                  <c:v>25.76923076923077</c:v>
                </c:pt>
                <c:pt idx="139">
                  <c:v>25.919732441471574</c:v>
                </c:pt>
                <c:pt idx="140">
                  <c:v>26.070234113712377</c:v>
                </c:pt>
                <c:pt idx="141">
                  <c:v>26.220735785953178</c:v>
                </c:pt>
                <c:pt idx="142">
                  <c:v>26.371237458193981</c:v>
                </c:pt>
                <c:pt idx="143">
                  <c:v>26.521739130434785</c:v>
                </c:pt>
                <c:pt idx="144">
                  <c:v>26.672240802675589</c:v>
                </c:pt>
                <c:pt idx="145">
                  <c:v>26.822742474916389</c:v>
                </c:pt>
                <c:pt idx="146">
                  <c:v>26.973244147157192</c:v>
                </c:pt>
                <c:pt idx="147">
                  <c:v>27.123745819397996</c:v>
                </c:pt>
                <c:pt idx="148">
                  <c:v>27.274247491638796</c:v>
                </c:pt>
                <c:pt idx="149">
                  <c:v>27.4247491638796</c:v>
                </c:pt>
                <c:pt idx="150">
                  <c:v>27.575250836120404</c:v>
                </c:pt>
                <c:pt idx="151">
                  <c:v>27.725752508361207</c:v>
                </c:pt>
                <c:pt idx="152">
                  <c:v>27.876254180602007</c:v>
                </c:pt>
                <c:pt idx="153">
                  <c:v>28.026755852842811</c:v>
                </c:pt>
                <c:pt idx="154">
                  <c:v>28.177257525083615</c:v>
                </c:pt>
                <c:pt idx="155">
                  <c:v>28.327759197324415</c:v>
                </c:pt>
                <c:pt idx="156">
                  <c:v>28.478260869565219</c:v>
                </c:pt>
                <c:pt idx="157">
                  <c:v>28.628762541806022</c:v>
                </c:pt>
                <c:pt idx="158">
                  <c:v>28.779264214046826</c:v>
                </c:pt>
                <c:pt idx="159">
                  <c:v>28.929765886287626</c:v>
                </c:pt>
                <c:pt idx="160">
                  <c:v>29.08026755852843</c:v>
                </c:pt>
                <c:pt idx="161">
                  <c:v>29.230769230769234</c:v>
                </c:pt>
                <c:pt idx="162">
                  <c:v>29.381270903010034</c:v>
                </c:pt>
                <c:pt idx="163">
                  <c:v>29.531772575250837</c:v>
                </c:pt>
                <c:pt idx="164">
                  <c:v>29.682274247491641</c:v>
                </c:pt>
                <c:pt idx="165">
                  <c:v>29.832775919732445</c:v>
                </c:pt>
                <c:pt idx="166">
                  <c:v>29.983277591973245</c:v>
                </c:pt>
                <c:pt idx="167">
                  <c:v>30.133779264214049</c:v>
                </c:pt>
                <c:pt idx="168">
                  <c:v>30.284280936454852</c:v>
                </c:pt>
                <c:pt idx="169">
                  <c:v>30.434782608695652</c:v>
                </c:pt>
                <c:pt idx="170">
                  <c:v>30.585284280936456</c:v>
                </c:pt>
                <c:pt idx="171">
                  <c:v>30.73578595317726</c:v>
                </c:pt>
                <c:pt idx="172">
                  <c:v>30.886287625418063</c:v>
                </c:pt>
                <c:pt idx="173">
                  <c:v>31.036789297658864</c:v>
                </c:pt>
                <c:pt idx="174">
                  <c:v>31.187290969899667</c:v>
                </c:pt>
                <c:pt idx="175">
                  <c:v>31.337792642140471</c:v>
                </c:pt>
                <c:pt idx="176">
                  <c:v>31.488294314381271</c:v>
                </c:pt>
                <c:pt idx="177">
                  <c:v>31.638795986622075</c:v>
                </c:pt>
                <c:pt idx="178">
                  <c:v>31.789297658862878</c:v>
                </c:pt>
                <c:pt idx="179">
                  <c:v>31.939799331103682</c:v>
                </c:pt>
                <c:pt idx="180">
                  <c:v>32.090301003344479</c:v>
                </c:pt>
                <c:pt idx="181">
                  <c:v>32.240802675585286</c:v>
                </c:pt>
                <c:pt idx="182">
                  <c:v>32.391304347826093</c:v>
                </c:pt>
                <c:pt idx="183">
                  <c:v>32.541806020066893</c:v>
                </c:pt>
                <c:pt idx="184">
                  <c:v>32.692307692307693</c:v>
                </c:pt>
                <c:pt idx="185">
                  <c:v>32.842809364548501</c:v>
                </c:pt>
                <c:pt idx="186">
                  <c:v>32.993311036789301</c:v>
                </c:pt>
                <c:pt idx="187">
                  <c:v>33.143812709030101</c:v>
                </c:pt>
                <c:pt idx="188">
                  <c:v>33.294314381270908</c:v>
                </c:pt>
                <c:pt idx="189">
                  <c:v>33.444816053511708</c:v>
                </c:pt>
                <c:pt idx="190">
                  <c:v>33.595317725752508</c:v>
                </c:pt>
                <c:pt idx="191">
                  <c:v>33.745819397993316</c:v>
                </c:pt>
                <c:pt idx="192">
                  <c:v>33.896321070234116</c:v>
                </c:pt>
                <c:pt idx="193">
                  <c:v>34.046822742474916</c:v>
                </c:pt>
                <c:pt idx="194">
                  <c:v>34.197324414715723</c:v>
                </c:pt>
                <c:pt idx="195">
                  <c:v>34.347826086956523</c:v>
                </c:pt>
                <c:pt idx="196">
                  <c:v>34.498327759197323</c:v>
                </c:pt>
                <c:pt idx="197">
                  <c:v>34.648829431438131</c:v>
                </c:pt>
                <c:pt idx="198">
                  <c:v>34.799331103678931</c:v>
                </c:pt>
                <c:pt idx="199">
                  <c:v>34.949832775919731</c:v>
                </c:pt>
                <c:pt idx="200">
                  <c:v>35.100334448160538</c:v>
                </c:pt>
                <c:pt idx="201">
                  <c:v>35.250836120401338</c:v>
                </c:pt>
                <c:pt idx="202">
                  <c:v>35.401337792642138</c:v>
                </c:pt>
                <c:pt idx="203">
                  <c:v>35.551839464882946</c:v>
                </c:pt>
                <c:pt idx="204">
                  <c:v>35.702341137123753</c:v>
                </c:pt>
                <c:pt idx="205">
                  <c:v>35.852842809364546</c:v>
                </c:pt>
                <c:pt idx="206">
                  <c:v>36.003344481605353</c:v>
                </c:pt>
                <c:pt idx="207">
                  <c:v>36.15384615384616</c:v>
                </c:pt>
                <c:pt idx="208">
                  <c:v>36.304347826086961</c:v>
                </c:pt>
                <c:pt idx="209">
                  <c:v>36.454849498327761</c:v>
                </c:pt>
                <c:pt idx="210">
                  <c:v>36.605351170568568</c:v>
                </c:pt>
                <c:pt idx="211">
                  <c:v>36.755852842809368</c:v>
                </c:pt>
                <c:pt idx="212">
                  <c:v>36.906354515050168</c:v>
                </c:pt>
                <c:pt idx="213">
                  <c:v>37.056856187290975</c:v>
                </c:pt>
                <c:pt idx="214">
                  <c:v>37.207357859531776</c:v>
                </c:pt>
                <c:pt idx="215">
                  <c:v>37.357859531772576</c:v>
                </c:pt>
                <c:pt idx="216">
                  <c:v>37.508361204013383</c:v>
                </c:pt>
                <c:pt idx="217">
                  <c:v>37.658862876254183</c:v>
                </c:pt>
                <c:pt idx="218">
                  <c:v>37.809364548494983</c:v>
                </c:pt>
                <c:pt idx="219">
                  <c:v>37.95986622073579</c:v>
                </c:pt>
                <c:pt idx="220">
                  <c:v>38.110367892976591</c:v>
                </c:pt>
                <c:pt idx="221">
                  <c:v>38.260869565217391</c:v>
                </c:pt>
                <c:pt idx="222">
                  <c:v>38.411371237458198</c:v>
                </c:pt>
                <c:pt idx="223">
                  <c:v>38.561872909698998</c:v>
                </c:pt>
                <c:pt idx="224">
                  <c:v>38.712374581939798</c:v>
                </c:pt>
                <c:pt idx="225">
                  <c:v>38.862876254180605</c:v>
                </c:pt>
                <c:pt idx="226">
                  <c:v>39.013377926421406</c:v>
                </c:pt>
                <c:pt idx="227">
                  <c:v>39.163879598662213</c:v>
                </c:pt>
                <c:pt idx="228">
                  <c:v>39.314381270903013</c:v>
                </c:pt>
                <c:pt idx="229">
                  <c:v>39.464882943143813</c:v>
                </c:pt>
                <c:pt idx="230">
                  <c:v>39.61538461538462</c:v>
                </c:pt>
                <c:pt idx="231">
                  <c:v>39.76588628762542</c:v>
                </c:pt>
                <c:pt idx="232">
                  <c:v>39.916387959866221</c:v>
                </c:pt>
                <c:pt idx="233">
                  <c:v>40.066889632107028</c:v>
                </c:pt>
                <c:pt idx="234">
                  <c:v>40.217391304347828</c:v>
                </c:pt>
                <c:pt idx="235">
                  <c:v>40.367892976588628</c:v>
                </c:pt>
                <c:pt idx="236">
                  <c:v>40.518394648829435</c:v>
                </c:pt>
                <c:pt idx="237">
                  <c:v>40.668896321070235</c:v>
                </c:pt>
                <c:pt idx="238">
                  <c:v>40.819397993311043</c:v>
                </c:pt>
                <c:pt idx="239">
                  <c:v>40.969899665551843</c:v>
                </c:pt>
                <c:pt idx="240">
                  <c:v>41.120401337792643</c:v>
                </c:pt>
                <c:pt idx="241">
                  <c:v>41.27090301003345</c:v>
                </c:pt>
                <c:pt idx="242">
                  <c:v>41.42140468227425</c:v>
                </c:pt>
                <c:pt idx="243">
                  <c:v>41.57190635451505</c:v>
                </c:pt>
                <c:pt idx="244">
                  <c:v>41.722408026755858</c:v>
                </c:pt>
                <c:pt idx="245">
                  <c:v>41.872909698996658</c:v>
                </c:pt>
                <c:pt idx="246">
                  <c:v>42.023411371237458</c:v>
                </c:pt>
                <c:pt idx="247">
                  <c:v>42.173913043478265</c:v>
                </c:pt>
                <c:pt idx="248">
                  <c:v>42.324414715719065</c:v>
                </c:pt>
                <c:pt idx="249">
                  <c:v>42.474916387959865</c:v>
                </c:pt>
                <c:pt idx="250">
                  <c:v>42.625418060200673</c:v>
                </c:pt>
                <c:pt idx="251">
                  <c:v>42.775919732441473</c:v>
                </c:pt>
                <c:pt idx="252">
                  <c:v>42.92642140468228</c:v>
                </c:pt>
                <c:pt idx="253">
                  <c:v>43.07692307692308</c:v>
                </c:pt>
                <c:pt idx="254">
                  <c:v>43.22742474916388</c:v>
                </c:pt>
                <c:pt idx="255">
                  <c:v>43.377926421404688</c:v>
                </c:pt>
                <c:pt idx="256">
                  <c:v>43.528428093645488</c:v>
                </c:pt>
                <c:pt idx="257">
                  <c:v>43.678929765886288</c:v>
                </c:pt>
                <c:pt idx="258">
                  <c:v>43.829431438127095</c:v>
                </c:pt>
                <c:pt idx="259">
                  <c:v>43.979933110367895</c:v>
                </c:pt>
                <c:pt idx="260">
                  <c:v>44.130434782608695</c:v>
                </c:pt>
                <c:pt idx="261">
                  <c:v>44.280936454849503</c:v>
                </c:pt>
                <c:pt idx="262">
                  <c:v>44.431438127090303</c:v>
                </c:pt>
                <c:pt idx="263">
                  <c:v>44.58193979933111</c:v>
                </c:pt>
                <c:pt idx="264">
                  <c:v>44.73244147157191</c:v>
                </c:pt>
                <c:pt idx="265">
                  <c:v>44.88294314381271</c:v>
                </c:pt>
                <c:pt idx="266">
                  <c:v>45.033444816053517</c:v>
                </c:pt>
                <c:pt idx="267">
                  <c:v>45.183946488294318</c:v>
                </c:pt>
                <c:pt idx="268">
                  <c:v>45.334448160535118</c:v>
                </c:pt>
                <c:pt idx="269">
                  <c:v>45.484949832775925</c:v>
                </c:pt>
                <c:pt idx="270">
                  <c:v>45.635451505016725</c:v>
                </c:pt>
                <c:pt idx="271">
                  <c:v>45.785953177257525</c:v>
                </c:pt>
                <c:pt idx="272">
                  <c:v>45.936454849498332</c:v>
                </c:pt>
                <c:pt idx="273">
                  <c:v>46.086956521739133</c:v>
                </c:pt>
                <c:pt idx="274">
                  <c:v>46.237458193979933</c:v>
                </c:pt>
                <c:pt idx="275">
                  <c:v>46.38795986622074</c:v>
                </c:pt>
                <c:pt idx="276">
                  <c:v>46.53846153846154</c:v>
                </c:pt>
                <c:pt idx="277">
                  <c:v>46.688963210702347</c:v>
                </c:pt>
                <c:pt idx="278">
                  <c:v>46.839464882943147</c:v>
                </c:pt>
                <c:pt idx="279">
                  <c:v>46.989966555183948</c:v>
                </c:pt>
                <c:pt idx="280">
                  <c:v>47.140468227424755</c:v>
                </c:pt>
                <c:pt idx="281">
                  <c:v>47.290969899665555</c:v>
                </c:pt>
                <c:pt idx="282">
                  <c:v>47.441471571906355</c:v>
                </c:pt>
                <c:pt idx="283">
                  <c:v>47.591973244147162</c:v>
                </c:pt>
                <c:pt idx="284">
                  <c:v>47.742474916387962</c:v>
                </c:pt>
                <c:pt idx="285">
                  <c:v>47.892976588628763</c:v>
                </c:pt>
                <c:pt idx="286">
                  <c:v>48.04347826086957</c:v>
                </c:pt>
                <c:pt idx="287">
                  <c:v>48.19397993311037</c:v>
                </c:pt>
                <c:pt idx="288">
                  <c:v>48.344481605351177</c:v>
                </c:pt>
                <c:pt idx="289">
                  <c:v>48.494983277591977</c:v>
                </c:pt>
                <c:pt idx="290">
                  <c:v>48.645484949832777</c:v>
                </c:pt>
                <c:pt idx="291">
                  <c:v>48.795986622073585</c:v>
                </c:pt>
                <c:pt idx="292">
                  <c:v>48.946488294314385</c:v>
                </c:pt>
                <c:pt idx="293">
                  <c:v>49.096989966555185</c:v>
                </c:pt>
                <c:pt idx="294">
                  <c:v>49.247491638795992</c:v>
                </c:pt>
                <c:pt idx="295">
                  <c:v>49.397993311036792</c:v>
                </c:pt>
                <c:pt idx="296">
                  <c:v>49.548494983277592</c:v>
                </c:pt>
                <c:pt idx="297">
                  <c:v>49.6989966555184</c:v>
                </c:pt>
                <c:pt idx="298">
                  <c:v>49.8494983277592</c:v>
                </c:pt>
                <c:pt idx="299">
                  <c:v>50</c:v>
                </c:pt>
              </c:numCache>
            </c:numRef>
          </c:xVal>
          <c:yVal>
            <c:numRef>
              <c:f>Sheet1!$B$304:$B$603</c:f>
              <c:numCache>
                <c:formatCode>General</c:formatCode>
                <c:ptCount val="300"/>
                <c:pt idx="0">
                  <c:v>2.5918518546076408E-2</c:v>
                </c:pt>
                <c:pt idx="1">
                  <c:v>2.8696949397651068E-2</c:v>
                </c:pt>
                <c:pt idx="2">
                  <c:v>3.1472795212069686E-2</c:v>
                </c:pt>
                <c:pt idx="3">
                  <c:v>3.4245808704797681E-2</c:v>
                </c:pt>
                <c:pt idx="4">
                  <c:v>3.7015743607833537E-2</c:v>
                </c:pt>
                <c:pt idx="5">
                  <c:v>3.9782354756325349E-2</c:v>
                </c:pt>
                <c:pt idx="6">
                  <c:v>4.2545398174350262E-2</c:v>
                </c:pt>
                <c:pt idx="7">
                  <c:v>4.5304631159793857E-2</c:v>
                </c:pt>
                <c:pt idx="8">
                  <c:v>4.8059812368268583E-2</c:v>
                </c:pt>
                <c:pt idx="9">
                  <c:v>5.0810701896009412E-2</c:v>
                </c:pt>
                <c:pt idx="10">
                  <c:v>5.355706136168905E-2</c:v>
                </c:pt>
                <c:pt idx="11">
                  <c:v>5.6298653987093092E-2</c:v>
                </c:pt>
                <c:pt idx="12">
                  <c:v>5.9035244676600443E-2</c:v>
                </c:pt>
                <c:pt idx="13">
                  <c:v>6.1766600095412981E-2</c:v>
                </c:pt>
                <c:pt idx="14">
                  <c:v>6.4492488746481252E-2</c:v>
                </c:pt>
                <c:pt idx="15">
                  <c:v>6.7212681046075737E-2</c:v>
                </c:pt>
                <c:pt idx="16">
                  <c:v>6.9926949397951813E-2</c:v>
                </c:pt>
                <c:pt idx="17">
                  <c:v>7.263506826606185E-2</c:v>
                </c:pt>
                <c:pt idx="18">
                  <c:v>7.5336814245767339E-2</c:v>
                </c:pt>
                <c:pt idx="19">
                  <c:v>7.8031966133506145E-2</c:v>
                </c:pt>
                <c:pt idx="20">
                  <c:v>8.0720304994873329E-2</c:v>
                </c:pt>
                <c:pt idx="21">
                  <c:v>8.3401614231073132E-2</c:v>
                </c:pt>
                <c:pt idx="22">
                  <c:v>8.6075679643705313E-2</c:v>
                </c:pt>
                <c:pt idx="23">
                  <c:v>8.8742289497847029E-2</c:v>
                </c:pt>
                <c:pt idx="24">
                  <c:v>9.1401234583397148E-2</c:v>
                </c:pt>
                <c:pt idx="25">
                  <c:v>9.4052308274649332E-2</c:v>
                </c:pt>
                <c:pt idx="26">
                  <c:v>9.6695306588063287E-2</c:v>
                </c:pt>
                <c:pt idx="27">
                  <c:v>9.9330028238206289E-2</c:v>
                </c:pt>
                <c:pt idx="28">
                  <c:v>0.10195627469183778</c:v>
                </c:pt>
                <c:pt idx="29">
                  <c:v>0.10457385022011305</c:v>
                </c:pt>
                <c:pt idx="30">
                  <c:v>0.10718256194888354</c:v>
                </c:pt>
                <c:pt idx="31">
                  <c:v>0.10978221990707451</c:v>
                </c:pt>
                <c:pt idx="32">
                  <c:v>0.11237263707312073</c:v>
                </c:pt>
                <c:pt idx="33">
                  <c:v>0.11495362941944551</c:v>
                </c:pt>
                <c:pt idx="34">
                  <c:v>0.11752501595496898</c:v>
                </c:pt>
                <c:pt idx="35">
                  <c:v>0.12008661876563395</c:v>
                </c:pt>
                <c:pt idx="36">
                  <c:v>0.12263826305293984</c:v>
                </c:pt>
                <c:pt idx="37">
                  <c:v>0.12517977717047729</c:v>
                </c:pt>
                <c:pt idx="38">
                  <c:v>0.12771099265845842</c:v>
                </c:pt>
                <c:pt idx="39">
                  <c:v>0.13023174427623871</c:v>
                </c:pt>
                <c:pt idx="40">
                  <c:v>0.13274187003282972</c:v>
                </c:pt>
                <c:pt idx="41">
                  <c:v>0.13524121121540356</c:v>
                </c:pt>
                <c:pt idx="42">
                  <c:v>0.1377296124157911</c:v>
                </c:pt>
                <c:pt idx="43">
                  <c:v>0.14020692155497869</c:v>
                </c:pt>
                <c:pt idx="44">
                  <c:v>0.14267298990561025</c:v>
                </c:pt>
                <c:pt idx="45">
                  <c:v>0.14512767211250285</c:v>
                </c:pt>
                <c:pt idx="46">
                  <c:v>0.14757082621118553</c:v>
                </c:pt>
                <c:pt idx="47">
                  <c:v>0.15000231364447342</c:v>
                </c:pt>
                <c:pt idx="48">
                  <c:v>0.15242199927709155</c:v>
                </c:pt>
                <c:pt idx="49">
                  <c:v>0.15482975140836261</c:v>
                </c:pt>
                <c:pt idx="50">
                  <c:v>0.15722544178297571</c:v>
                </c:pt>
                <c:pt idx="51">
                  <c:v>0.15960894559985567</c:v>
                </c:pt>
                <c:pt idx="52">
                  <c:v>0.1619801415191516</c:v>
                </c:pt>
                <c:pt idx="53">
                  <c:v>0.16433891166736753</c:v>
                </c:pt>
                <c:pt idx="54">
                  <c:v>0.16668514164065659</c:v>
                </c:pt>
                <c:pt idx="55">
                  <c:v>0.16901872050630457</c:v>
                </c:pt>
                <c:pt idx="56">
                  <c:v>0.17133954080242819</c:v>
                </c:pt>
                <c:pt idx="57">
                  <c:v>0.17364749853591338</c:v>
                </c:pt>
                <c:pt idx="58">
                  <c:v>0.1759424931786247</c:v>
                </c:pt>
                <c:pt idx="59">
                  <c:v>0.17822442766191229</c:v>
                </c:pt>
                <c:pt idx="60">
                  <c:v>0.18049320836944835</c:v>
                </c:pt>
                <c:pt idx="61">
                  <c:v>0.18274874512842421</c:v>
                </c:pt>
                <c:pt idx="62">
                  <c:v>0.18499095119914002</c:v>
                </c:pt>
                <c:pt idx="63">
                  <c:v>0.18721974326302129</c:v>
                </c:pt>
                <c:pt idx="64">
                  <c:v>0.18943504140909437</c:v>
                </c:pt>
                <c:pt idx="65">
                  <c:v>0.19163676911895869</c:v>
                </c:pt>
                <c:pt idx="66">
                  <c:v>0.19382485325028903</c:v>
                </c:pt>
                <c:pt idx="67">
                  <c:v>0.19599922401890521</c:v>
                </c:pt>
                <c:pt idx="68">
                  <c:v>0.19815981497944612</c:v>
                </c:pt>
                <c:pt idx="69">
                  <c:v>0.20030656300468555</c:v>
                </c:pt>
                <c:pt idx="70">
                  <c:v>0.20243940826352763</c:v>
                </c:pt>
                <c:pt idx="71">
                  <c:v>0.20455829419772079</c:v>
                </c:pt>
                <c:pt idx="72">
                  <c:v>0.20666316749732902</c:v>
                </c:pt>
                <c:pt idx="73">
                  <c:v>0.20875397807499896</c:v>
                </c:pt>
                <c:pt idx="74">
                  <c:v>0.21083067903906383</c:v>
                </c:pt>
                <c:pt idx="75">
                  <c:v>0.21289322666552205</c:v>
                </c:pt>
                <c:pt idx="76">
                  <c:v>0.2149415803689326</c:v>
                </c:pt>
                <c:pt idx="77">
                  <c:v>0.21697570267226501</c:v>
                </c:pt>
                <c:pt idx="78">
                  <c:v>0.21899555917574531</c:v>
                </c:pt>
                <c:pt idx="79">
                  <c:v>0.22100111852473903</c:v>
                </c:pt>
                <c:pt idx="80">
                  <c:v>0.22299235237670897</c:v>
                </c:pt>
                <c:pt idx="81">
                  <c:v>0.22496923536728983</c:v>
                </c:pt>
                <c:pt idx="82">
                  <c:v>0.22693174507551916</c:v>
                </c:pt>
                <c:pt idx="83">
                  <c:v>0.22887986198826452</c:v>
                </c:pt>
                <c:pt idx="84">
                  <c:v>0.23081356946388548</c:v>
                </c:pt>
                <c:pt idx="85">
                  <c:v>0.23273285369517199</c:v>
                </c:pt>
                <c:pt idx="86">
                  <c:v>0.23463770367159648</c:v>
                </c:pt>
                <c:pt idx="87">
                  <c:v>0.23652811114091865</c:v>
                </c:pt>
                <c:pt idx="88">
                  <c:v>0.2384040705701834</c:v>
                </c:pt>
                <c:pt idx="89">
                  <c:v>0.24026557910614671</c:v>
                </c:pt>
                <c:pt idx="90">
                  <c:v>0.24211263653517087</c:v>
                </c:pt>
                <c:pt idx="91">
                  <c:v>0.24394524524262329</c:v>
                </c:pt>
                <c:pt idx="92">
                  <c:v>0.24576341017181746</c:v>
                </c:pt>
                <c:pt idx="93">
                  <c:v>0.24756713878253217</c:v>
                </c:pt>
                <c:pt idx="94">
                  <c:v>0.24935644100914409</c:v>
                </c:pt>
                <c:pt idx="95">
                  <c:v>0.25113132921840953</c:v>
                </c:pt>
                <c:pt idx="96">
                  <c:v>0.25289181816693018</c:v>
                </c:pt>
                <c:pt idx="97">
                  <c:v>0.25463792495833626</c:v>
                </c:pt>
                <c:pt idx="98">
                  <c:v>0.25636966900022146</c:v>
                </c:pt>
                <c:pt idx="99">
                  <c:v>0.25808707196086156</c:v>
                </c:pt>
                <c:pt idx="100">
                  <c:v>0.25979015772574943</c:v>
                </c:pt>
                <c:pt idx="101">
                  <c:v>0.26147895235397828</c:v>
                </c:pt>
                <c:pt idx="102">
                  <c:v>0.26315348403450345</c:v>
                </c:pt>
                <c:pt idx="103">
                  <c:v>0.26481378304231196</c:v>
                </c:pt>
                <c:pt idx="104">
                  <c:v>0.26645988169453266</c:v>
                </c:pt>
                <c:pt idx="105">
                  <c:v>0.26809181430651052</c:v>
                </c:pt>
                <c:pt idx="106">
                  <c:v>0.26970961714787839</c:v>
                </c:pt>
                <c:pt idx="107">
                  <c:v>0.27131332839864913</c:v>
                </c:pt>
                <c:pt idx="108">
                  <c:v>0.27290298810535757</c:v>
                </c:pt>
                <c:pt idx="109">
                  <c:v>0.27447863813727635</c:v>
                </c:pt>
                <c:pt idx="110">
                  <c:v>0.276040322142732</c:v>
                </c:pt>
                <c:pt idx="111">
                  <c:v>0.27758808550554365</c:v>
                </c:pt>
                <c:pt idx="112">
                  <c:v>0.27912197530160976</c:v>
                </c:pt>
                <c:pt idx="113">
                  <c:v>0.28064204025566508</c:v>
                </c:pt>
                <c:pt idx="114">
                  <c:v>0.28214833069822853</c:v>
                </c:pt>
                <c:pt idx="115">
                  <c:v>0.28364089852276558</c:v>
                </c:pt>
                <c:pt idx="116">
                  <c:v>0.28511979714308272</c:v>
                </c:pt>
                <c:pt idx="117">
                  <c:v>0.28658508145097711</c:v>
                </c:pt>
                <c:pt idx="118">
                  <c:v>0.28803680777415691</c:v>
                </c:pt>
                <c:pt idx="119">
                  <c:v>0.28947503383445261</c:v>
                </c:pt>
                <c:pt idx="120">
                  <c:v>0.29089981870633697</c:v>
                </c:pt>
                <c:pt idx="121">
                  <c:v>0.29231122277576899</c:v>
                </c:pt>
                <c:pt idx="122">
                  <c:v>0.29370930769937847</c:v>
                </c:pt>
                <c:pt idx="123">
                  <c:v>0.29509413636400716</c:v>
                </c:pt>
                <c:pt idx="124">
                  <c:v>0.29646577284662007</c:v>
                </c:pt>
                <c:pt idx="125">
                  <c:v>0.29782428237460118</c:v>
                </c:pt>
                <c:pt idx="126">
                  <c:v>0.29916973128644686</c:v>
                </c:pt>
                <c:pt idx="127">
                  <c:v>0.30050218699286935</c:v>
                </c:pt>
                <c:pt idx="128">
                  <c:v>0.30182171793832185</c:v>
                </c:pt>
                <c:pt idx="129">
                  <c:v>0.30312839356295729</c:v>
                </c:pt>
                <c:pt idx="130">
                  <c:v>0.30442228426502932</c:v>
                </c:pt>
                <c:pt idx="131">
                  <c:v>0.30570346136374832</c:v>
                </c:pt>
                <c:pt idx="132">
                  <c:v>0.30697199706259826</c:v>
                </c:pt>
                <c:pt idx="133">
                  <c:v>0.30822796441312567</c:v>
                </c:pt>
                <c:pt idx="134">
                  <c:v>0.30947143727920762</c:v>
                </c:pt>
                <c:pt idx="135">
                  <c:v>0.3107024903018058</c:v>
                </c:pt>
                <c:pt idx="136">
                  <c:v>0.31192119886421443</c:v>
                </c:pt>
                <c:pt idx="137">
                  <c:v>0.31312763905780661</c:v>
                </c:pt>
                <c:pt idx="138">
                  <c:v>0.31432188764828767</c:v>
                </c:pt>
                <c:pt idx="139">
                  <c:v>0.31550402204245703</c:v>
                </c:pt>
                <c:pt idx="140">
                  <c:v>0.31667412025548597</c:v>
                </c:pt>
                <c:pt idx="141">
                  <c:v>0.31783226087871425</c:v>
                </c:pt>
                <c:pt idx="142">
                  <c:v>0.31897852304796975</c:v>
                </c:pt>
                <c:pt idx="143">
                  <c:v>0.32011298641241298</c:v>
                </c:pt>
                <c:pt idx="144">
                  <c:v>0.32123573110391052</c:v>
                </c:pt>
                <c:pt idx="145">
                  <c:v>0.32234683770693939</c:v>
                </c:pt>
                <c:pt idx="146">
                  <c:v>0.32344638722902314</c:v>
                </c:pt>
                <c:pt idx="147">
                  <c:v>0.32453446107170147</c:v>
                </c:pt>
                <c:pt idx="148">
                  <c:v>0.3256111410020347</c:v>
                </c:pt>
                <c:pt idx="149">
                  <c:v>0.32667650912464313</c:v>
                </c:pt>
                <c:pt idx="150">
                  <c:v>0.3277306478542813</c:v>
                </c:pt>
                <c:pt idx="151">
                  <c:v>0.32877363988894681</c:v>
                </c:pt>
                <c:pt idx="152">
                  <c:v>0.32980556818352402</c:v>
                </c:pt>
                <c:pt idx="153">
                  <c:v>0.33082651592395973</c:v>
                </c:pt>
                <c:pt idx="154">
                  <c:v>0.33183656650197124</c:v>
                </c:pt>
                <c:pt idx="155">
                  <c:v>0.33283580349028496</c:v>
                </c:pt>
                <c:pt idx="156">
                  <c:v>0.33382431061840184</c:v>
                </c:pt>
                <c:pt idx="157">
                  <c:v>0.33480217174889004</c:v>
                </c:pt>
                <c:pt idx="158">
                  <c:v>0.33576947085419984</c:v>
                </c:pt>
                <c:pt idx="159">
                  <c:v>0.33672629199399984</c:v>
                </c:pt>
                <c:pt idx="160">
                  <c:v>0.33767271929302961</c:v>
                </c:pt>
                <c:pt idx="161">
                  <c:v>0.33860883691946703</c:v>
                </c:pt>
                <c:pt idx="162">
                  <c:v>0.33953472906380627</c:v>
                </c:pt>
                <c:pt idx="163">
                  <c:v>0.34045047991824157</c:v>
                </c:pt>
                <c:pt idx="164">
                  <c:v>0.3413561736565543</c:v>
                </c:pt>
                <c:pt idx="165">
                  <c:v>0.34225189441449827</c:v>
                </c:pt>
                <c:pt idx="166">
                  <c:v>0.34313772627067907</c:v>
                </c:pt>
                <c:pt idx="167">
                  <c:v>0.34401375322792266</c:v>
                </c:pt>
                <c:pt idx="168">
                  <c:v>0.34488005919512871</c:v>
                </c:pt>
                <c:pt idx="169">
                  <c:v>0.34573672796960375</c:v>
                </c:pt>
                <c:pt idx="170">
                  <c:v>0.34658384321986868</c:v>
                </c:pt>
                <c:pt idx="171">
                  <c:v>0.347421488468936</c:v>
                </c:pt>
                <c:pt idx="172">
                  <c:v>0.3482497470780509</c:v>
                </c:pt>
                <c:pt idx="173">
                  <c:v>0.34906870223089098</c:v>
                </c:pt>
                <c:pt idx="174">
                  <c:v>0.34987843691821913</c:v>
                </c:pt>
                <c:pt idx="175">
                  <c:v>0.3506790339229835</c:v>
                </c:pt>
                <c:pt idx="176">
                  <c:v>0.35147057580585916</c:v>
                </c:pt>
                <c:pt idx="177">
                  <c:v>0.35225314489122561</c:v>
                </c:pt>
                <c:pt idx="178">
                  <c:v>0.3530268232535731</c:v>
                </c:pt>
                <c:pt idx="179">
                  <c:v>0.35379169270433408</c:v>
                </c:pt>
                <c:pt idx="180">
                  <c:v>0.35454783477913066</c:v>
                </c:pt>
                <c:pt idx="181">
                  <c:v>0.35529533072543518</c:v>
                </c:pt>
                <c:pt idx="182">
                  <c:v>0.356034261490634</c:v>
                </c:pt>
                <c:pt idx="183">
                  <c:v>0.35676470771049218</c:v>
                </c:pt>
                <c:pt idx="184">
                  <c:v>0.35748674969800975</c:v>
                </c:pt>
                <c:pt idx="185">
                  <c:v>0.3582004674326647</c:v>
                </c:pt>
                <c:pt idx="186">
                  <c:v>0.3589059405500355</c:v>
                </c:pt>
                <c:pt idx="187">
                  <c:v>0.35960324833179874</c:v>
                </c:pt>
                <c:pt idx="188">
                  <c:v>0.36029246969609185</c:v>
                </c:pt>
                <c:pt idx="189">
                  <c:v>0.36097368318823903</c:v>
                </c:pt>
                <c:pt idx="190">
                  <c:v>0.36164696697183002</c:v>
                </c:pt>
                <c:pt idx="191">
                  <c:v>0.36231239882014787</c:v>
                </c:pt>
                <c:pt idx="192">
                  <c:v>0.36297005610793837</c:v>
                </c:pt>
                <c:pt idx="193">
                  <c:v>0.36362001580351466</c:v>
                </c:pt>
                <c:pt idx="194">
                  <c:v>0.36426235446119121</c:v>
                </c:pt>
                <c:pt idx="195">
                  <c:v>0.36489714821404012</c:v>
                </c:pt>
                <c:pt idx="196">
                  <c:v>0.36552447276696426</c:v>
                </c:pt>
                <c:pt idx="197">
                  <c:v>0.36614440339008075</c:v>
                </c:pt>
                <c:pt idx="198">
                  <c:v>0.3667570149124072</c:v>
                </c:pt>
                <c:pt idx="199">
                  <c:v>0.36736238171584717</c:v>
                </c:pt>
                <c:pt idx="200">
                  <c:v>0.367960577729466</c:v>
                </c:pt>
                <c:pt idx="201">
                  <c:v>0.36855167642405245</c:v>
                </c:pt>
                <c:pt idx="202">
                  <c:v>0.36913575080695987</c:v>
                </c:pt>
                <c:pt idx="203">
                  <c:v>0.36971287341722003</c:v>
                </c:pt>
                <c:pt idx="204">
                  <c:v>0.37028311632092453</c:v>
                </c:pt>
                <c:pt idx="205">
                  <c:v>0.37084655110686771</c:v>
                </c:pt>
                <c:pt idx="206">
                  <c:v>0.37140324888244453</c:v>
                </c:pt>
                <c:pt idx="207">
                  <c:v>0.3719532802697984</c:v>
                </c:pt>
                <c:pt idx="208">
                  <c:v>0.37249671540221252</c:v>
                </c:pt>
                <c:pt idx="209">
                  <c:v>0.37303362392073958</c:v>
                </c:pt>
                <c:pt idx="210">
                  <c:v>0.37356407497106398</c:v>
                </c:pt>
                <c:pt idx="211">
                  <c:v>0.37408813720059003</c:v>
                </c:pt>
                <c:pt idx="212">
                  <c:v>0.37460587875575302</c:v>
                </c:pt>
                <c:pt idx="213">
                  <c:v>0.37511736727954453</c:v>
                </c:pt>
                <c:pt idx="214">
                  <c:v>0.37562266990924931</c:v>
                </c:pt>
                <c:pt idx="215">
                  <c:v>0.37612185327438724</c:v>
                </c:pt>
                <c:pt idx="216">
                  <c:v>0.37661498349485401</c:v>
                </c:pt>
                <c:pt idx="217">
                  <c:v>0.37710212617925853</c:v>
                </c:pt>
                <c:pt idx="218">
                  <c:v>0.37758334642344782</c:v>
                </c:pt>
                <c:pt idx="219">
                  <c:v>0.37805870880921827</c:v>
                </c:pt>
                <c:pt idx="220">
                  <c:v>0.3785282774032051</c:v>
                </c:pt>
                <c:pt idx="221">
                  <c:v>0.3789921157559476</c:v>
                </c:pt>
                <c:pt idx="222">
                  <c:v>0.37945028690112342</c:v>
                </c:pt>
                <c:pt idx="223">
                  <c:v>0.37990285335494839</c:v>
                </c:pt>
                <c:pt idx="224">
                  <c:v>0.38034987711573726</c:v>
                </c:pt>
                <c:pt idx="225">
                  <c:v>0.3807914196636194</c:v>
                </c:pt>
                <c:pt idx="226">
                  <c:v>0.38122754196040654</c:v>
                </c:pt>
                <c:pt idx="227">
                  <c:v>0.38165830444960708</c:v>
                </c:pt>
                <c:pt idx="228">
                  <c:v>0.38208376705658337</c:v>
                </c:pt>
                <c:pt idx="229">
                  <c:v>0.3825039891888467</c:v>
                </c:pt>
                <c:pt idx="230">
                  <c:v>0.38291902973648689</c:v>
                </c:pt>
                <c:pt idx="231">
                  <c:v>0.3833289470727313</c:v>
                </c:pt>
                <c:pt idx="232">
                  <c:v>0.38373379905463029</c:v>
                </c:pt>
                <c:pt idx="233">
                  <c:v>0.38413364302386338</c:v>
                </c:pt>
                <c:pt idx="234">
                  <c:v>0.38452853580766472</c:v>
                </c:pt>
                <c:pt idx="235">
                  <c:v>0.38491853371986201</c:v>
                </c:pt>
                <c:pt idx="236">
                  <c:v>0.38530369256202551</c:v>
                </c:pt>
                <c:pt idx="237">
                  <c:v>0.38568406762472385</c:v>
                </c:pt>
                <c:pt idx="238">
                  <c:v>0.38605971368888281</c:v>
                </c:pt>
                <c:pt idx="239">
                  <c:v>0.38643068502724393</c:v>
                </c:pt>
                <c:pt idx="240">
                  <c:v>0.38679703540591853</c:v>
                </c:pt>
                <c:pt idx="241">
                  <c:v>0.38715881808603408</c:v>
                </c:pt>
                <c:pt idx="242">
                  <c:v>0.38751608582547115</c:v>
                </c:pt>
                <c:pt idx="243">
                  <c:v>0.38786889088068421</c:v>
                </c:pt>
                <c:pt idx="244">
                  <c:v>0.38821728500860703</c:v>
                </c:pt>
                <c:pt idx="245">
                  <c:v>0.38856131946863659</c:v>
                </c:pt>
                <c:pt idx="246">
                  <c:v>0.38890104502469414</c:v>
                </c:pt>
                <c:pt idx="247">
                  <c:v>0.38923651194735931</c:v>
                </c:pt>
                <c:pt idx="248">
                  <c:v>0.38956777001607507</c:v>
                </c:pt>
                <c:pt idx="249">
                  <c:v>0.38989486852142058</c:v>
                </c:pt>
                <c:pt idx="250">
                  <c:v>0.39021785626744904</c:v>
                </c:pt>
                <c:pt idx="251">
                  <c:v>0.39053678157408717</c:v>
                </c:pt>
                <c:pt idx="252">
                  <c:v>0.39085169227959476</c:v>
                </c:pt>
                <c:pt idx="253">
                  <c:v>0.39116263574308158</c:v>
                </c:pt>
                <c:pt idx="254">
                  <c:v>0.39146965884707724</c:v>
                </c:pt>
                <c:pt idx="255">
                  <c:v>0.39177280800015474</c:v>
                </c:pt>
                <c:pt idx="256">
                  <c:v>0.39207212913960204</c:v>
                </c:pt>
                <c:pt idx="257">
                  <c:v>0.39236766773414178</c:v>
                </c:pt>
                <c:pt idx="258">
                  <c:v>0.39265946878669511</c:v>
                </c:pt>
                <c:pt idx="259">
                  <c:v>0.39294757683718834</c:v>
                </c:pt>
                <c:pt idx="260">
                  <c:v>0.39323203596539974</c:v>
                </c:pt>
                <c:pt idx="261">
                  <c:v>0.39351288979384547</c:v>
                </c:pt>
                <c:pt idx="262">
                  <c:v>0.39379018149069994</c:v>
                </c:pt>
                <c:pt idx="263">
                  <c:v>0.39406395377275205</c:v>
                </c:pt>
                <c:pt idx="264">
                  <c:v>0.39433424890839208</c:v>
                </c:pt>
                <c:pt idx="265">
                  <c:v>0.39460110872063014</c:v>
                </c:pt>
                <c:pt idx="266">
                  <c:v>0.39486457459014174</c:v>
                </c:pt>
                <c:pt idx="267">
                  <c:v>0.3951246874583404</c:v>
                </c:pt>
                <c:pt idx="268">
                  <c:v>0.39538148783047516</c:v>
                </c:pt>
                <c:pt idx="269">
                  <c:v>0.39563501577875093</c:v>
                </c:pt>
                <c:pt idx="270">
                  <c:v>0.39588531094546964</c:v>
                </c:pt>
                <c:pt idx="271">
                  <c:v>0.39613241254619191</c:v>
                </c:pt>
                <c:pt idx="272">
                  <c:v>0.39637635937291643</c:v>
                </c:pt>
                <c:pt idx="273">
                  <c:v>0.39661718979727573</c:v>
                </c:pt>
                <c:pt idx="274">
                  <c:v>0.39685494177374736</c:v>
                </c:pt>
                <c:pt idx="275">
                  <c:v>0.39708965284287828</c:v>
                </c:pt>
                <c:pt idx="276">
                  <c:v>0.39732136013452202</c:v>
                </c:pt>
                <c:pt idx="277">
                  <c:v>0.39755010037108585</c:v>
                </c:pt>
                <c:pt idx="278">
                  <c:v>0.39777590987078831</c:v>
                </c:pt>
                <c:pt idx="279">
                  <c:v>0.39799882455092456</c:v>
                </c:pt>
                <c:pt idx="280">
                  <c:v>0.39821887993113819</c:v>
                </c:pt>
                <c:pt idx="281">
                  <c:v>0.39843611113670002</c:v>
                </c:pt>
                <c:pt idx="282">
                  <c:v>0.39865055290179019</c:v>
                </c:pt>
                <c:pt idx="283">
                  <c:v>0.39886223957278444</c:v>
                </c:pt>
                <c:pt idx="284">
                  <c:v>0.39907120511154259</c:v>
                </c:pt>
                <c:pt idx="285">
                  <c:v>0.39927748309869832</c:v>
                </c:pt>
                <c:pt idx="286">
                  <c:v>0.39948110673694898</c:v>
                </c:pt>
                <c:pt idx="287">
                  <c:v>0.39968210885434463</c:v>
                </c:pt>
                <c:pt idx="288">
                  <c:v>0.39988052190757623</c:v>
                </c:pt>
                <c:pt idx="289">
                  <c:v>0.40007637798525975</c:v>
                </c:pt>
                <c:pt idx="290">
                  <c:v>0.40026970881121821</c:v>
                </c:pt>
                <c:pt idx="291">
                  <c:v>0.40046054574775786</c:v>
                </c:pt>
                <c:pt idx="292">
                  <c:v>0.40064891979894057</c:v>
                </c:pt>
                <c:pt idx="293">
                  <c:v>0.40083486161384935</c:v>
                </c:pt>
                <c:pt idx="294">
                  <c:v>0.40101840148984663</c:v>
                </c:pt>
                <c:pt idx="295">
                  <c:v>0.40119956937582613</c:v>
                </c:pt>
                <c:pt idx="296">
                  <c:v>0.40137839487545546</c:v>
                </c:pt>
                <c:pt idx="297">
                  <c:v>0.40155490725041032</c:v>
                </c:pt>
                <c:pt idx="298">
                  <c:v>0.40172913542359834</c:v>
                </c:pt>
                <c:pt idx="299">
                  <c:v>0.40190110798237338</c:v>
                </c:pt>
              </c:numCache>
            </c:numRef>
          </c:yVal>
          <c:smooth val="0"/>
          <c:extLst>
            <c:ext xmlns:c16="http://schemas.microsoft.com/office/drawing/2014/chart" uri="{C3380CC4-5D6E-409C-BE32-E72D297353CC}">
              <c16:uniqueId val="{00000001-B1A6-4750-83D8-67F325B5B099}"/>
            </c:ext>
          </c:extLst>
        </c:ser>
        <c:ser>
          <c:idx val="2"/>
          <c:order val="2"/>
          <c:tx>
            <c:strRef>
              <c:f>Sheet1!$B$605</c:f>
              <c:strCache>
                <c:ptCount val="1"/>
                <c:pt idx="0">
                  <c:v>previous (SiO₂ lift)</c:v>
                </c:pt>
              </c:strCache>
            </c:strRef>
          </c:tx>
          <c:spPr>
            <a:ln w="15875">
              <a:solidFill>
                <a:srgbClr val="7F8C8D"/>
              </a:solidFill>
            </a:ln>
          </c:spPr>
          <c:marker>
            <c:symbol val="none"/>
          </c:marker>
          <c:xVal>
            <c:numRef>
              <c:f>Sheet1!$A$606:$A$751</c:f>
              <c:numCache>
                <c:formatCode>General</c:formatCode>
                <c:ptCount val="146"/>
                <c:pt idx="0">
                  <c:v>4</c:v>
                </c:pt>
                <c:pt idx="1">
                  <c:v>4.0999999999999996</c:v>
                </c:pt>
                <c:pt idx="2">
                  <c:v>4.1500000000000004</c:v>
                </c:pt>
                <c:pt idx="3">
                  <c:v>4.2</c:v>
                </c:pt>
                <c:pt idx="4">
                  <c:v>4.25</c:v>
                </c:pt>
                <c:pt idx="5">
                  <c:v>4.3</c:v>
                </c:pt>
                <c:pt idx="6">
                  <c:v>4.4000000000000004</c:v>
                </c:pt>
                <c:pt idx="7">
                  <c:v>4.5</c:v>
                </c:pt>
                <c:pt idx="8">
                  <c:v>4.5999999999999996</c:v>
                </c:pt>
                <c:pt idx="9">
                  <c:v>4.7</c:v>
                </c:pt>
                <c:pt idx="10">
                  <c:v>4.75</c:v>
                </c:pt>
                <c:pt idx="11">
                  <c:v>4.8</c:v>
                </c:pt>
                <c:pt idx="12">
                  <c:v>4.8499999999999996</c:v>
                </c:pt>
                <c:pt idx="13">
                  <c:v>4.9000000000000004</c:v>
                </c:pt>
                <c:pt idx="14">
                  <c:v>4.95</c:v>
                </c:pt>
                <c:pt idx="15">
                  <c:v>5</c:v>
                </c:pt>
                <c:pt idx="16">
                  <c:v>5.05</c:v>
                </c:pt>
                <c:pt idx="17">
                  <c:v>5.0999999999999996</c:v>
                </c:pt>
                <c:pt idx="18">
                  <c:v>5.15</c:v>
                </c:pt>
                <c:pt idx="19">
                  <c:v>5.2</c:v>
                </c:pt>
                <c:pt idx="20">
                  <c:v>5.4</c:v>
                </c:pt>
                <c:pt idx="21">
                  <c:v>5.6</c:v>
                </c:pt>
                <c:pt idx="22">
                  <c:v>5.8</c:v>
                </c:pt>
                <c:pt idx="23">
                  <c:v>6</c:v>
                </c:pt>
                <c:pt idx="24">
                  <c:v>6.2</c:v>
                </c:pt>
                <c:pt idx="25">
                  <c:v>6.4</c:v>
                </c:pt>
                <c:pt idx="26">
                  <c:v>6.45</c:v>
                </c:pt>
                <c:pt idx="27">
                  <c:v>6.5</c:v>
                </c:pt>
                <c:pt idx="28">
                  <c:v>6.55</c:v>
                </c:pt>
                <c:pt idx="29">
                  <c:v>6.6</c:v>
                </c:pt>
                <c:pt idx="30">
                  <c:v>6.65</c:v>
                </c:pt>
                <c:pt idx="31">
                  <c:v>6.7</c:v>
                </c:pt>
                <c:pt idx="32">
                  <c:v>6.75</c:v>
                </c:pt>
                <c:pt idx="33">
                  <c:v>6.8</c:v>
                </c:pt>
                <c:pt idx="34">
                  <c:v>6.85</c:v>
                </c:pt>
                <c:pt idx="35">
                  <c:v>6.9</c:v>
                </c:pt>
                <c:pt idx="36">
                  <c:v>6.95</c:v>
                </c:pt>
                <c:pt idx="37">
                  <c:v>7</c:v>
                </c:pt>
                <c:pt idx="38">
                  <c:v>7.05</c:v>
                </c:pt>
                <c:pt idx="39">
                  <c:v>7.2</c:v>
                </c:pt>
                <c:pt idx="40">
                  <c:v>7.4</c:v>
                </c:pt>
                <c:pt idx="41">
                  <c:v>7.6</c:v>
                </c:pt>
                <c:pt idx="42">
                  <c:v>7.8</c:v>
                </c:pt>
                <c:pt idx="43">
                  <c:v>8</c:v>
                </c:pt>
                <c:pt idx="44">
                  <c:v>8.1999999999999993</c:v>
                </c:pt>
                <c:pt idx="45">
                  <c:v>8.25</c:v>
                </c:pt>
                <c:pt idx="46">
                  <c:v>8.3000000000000007</c:v>
                </c:pt>
                <c:pt idx="47">
                  <c:v>8.35</c:v>
                </c:pt>
                <c:pt idx="48">
                  <c:v>8.4</c:v>
                </c:pt>
                <c:pt idx="49">
                  <c:v>8.4499999999999993</c:v>
                </c:pt>
                <c:pt idx="50">
                  <c:v>8.5</c:v>
                </c:pt>
                <c:pt idx="51">
                  <c:v>8.5500000000000007</c:v>
                </c:pt>
                <c:pt idx="52">
                  <c:v>8.6</c:v>
                </c:pt>
                <c:pt idx="53">
                  <c:v>8.65</c:v>
                </c:pt>
                <c:pt idx="54">
                  <c:v>8.6999999999999993</c:v>
                </c:pt>
                <c:pt idx="55">
                  <c:v>8.75</c:v>
                </c:pt>
                <c:pt idx="56">
                  <c:v>8.8000000000000007</c:v>
                </c:pt>
                <c:pt idx="57">
                  <c:v>8.85</c:v>
                </c:pt>
                <c:pt idx="58">
                  <c:v>9</c:v>
                </c:pt>
                <c:pt idx="59">
                  <c:v>9.1999999999999993</c:v>
                </c:pt>
                <c:pt idx="60">
                  <c:v>9.4</c:v>
                </c:pt>
                <c:pt idx="61">
                  <c:v>9.6</c:v>
                </c:pt>
                <c:pt idx="62">
                  <c:v>9.8000000000000007</c:v>
                </c:pt>
                <c:pt idx="63">
                  <c:v>10</c:v>
                </c:pt>
                <c:pt idx="64">
                  <c:v>10.050000000000001</c:v>
                </c:pt>
                <c:pt idx="65">
                  <c:v>10.1</c:v>
                </c:pt>
                <c:pt idx="66">
                  <c:v>10.15</c:v>
                </c:pt>
                <c:pt idx="67">
                  <c:v>10.199999999999999</c:v>
                </c:pt>
                <c:pt idx="68">
                  <c:v>10.25</c:v>
                </c:pt>
                <c:pt idx="69">
                  <c:v>10.3</c:v>
                </c:pt>
                <c:pt idx="70">
                  <c:v>10.35</c:v>
                </c:pt>
                <c:pt idx="71">
                  <c:v>10.4</c:v>
                </c:pt>
                <c:pt idx="72">
                  <c:v>10.45</c:v>
                </c:pt>
                <c:pt idx="73">
                  <c:v>10.5</c:v>
                </c:pt>
                <c:pt idx="74">
                  <c:v>10.55</c:v>
                </c:pt>
                <c:pt idx="75">
                  <c:v>10.6</c:v>
                </c:pt>
                <c:pt idx="76">
                  <c:v>10.65</c:v>
                </c:pt>
                <c:pt idx="77">
                  <c:v>10.8</c:v>
                </c:pt>
                <c:pt idx="78">
                  <c:v>11</c:v>
                </c:pt>
                <c:pt idx="79">
                  <c:v>11.2</c:v>
                </c:pt>
                <c:pt idx="80">
                  <c:v>11.4</c:v>
                </c:pt>
                <c:pt idx="81">
                  <c:v>11.6</c:v>
                </c:pt>
                <c:pt idx="82">
                  <c:v>11.8</c:v>
                </c:pt>
                <c:pt idx="83">
                  <c:v>11.85</c:v>
                </c:pt>
                <c:pt idx="84">
                  <c:v>11.9</c:v>
                </c:pt>
                <c:pt idx="85">
                  <c:v>11.95</c:v>
                </c:pt>
                <c:pt idx="86">
                  <c:v>12</c:v>
                </c:pt>
                <c:pt idx="87">
                  <c:v>12.05</c:v>
                </c:pt>
                <c:pt idx="88">
                  <c:v>12.1</c:v>
                </c:pt>
                <c:pt idx="89">
                  <c:v>12.15</c:v>
                </c:pt>
                <c:pt idx="90">
                  <c:v>12.2</c:v>
                </c:pt>
                <c:pt idx="91">
                  <c:v>12.25</c:v>
                </c:pt>
                <c:pt idx="92">
                  <c:v>12.3</c:v>
                </c:pt>
                <c:pt idx="93">
                  <c:v>12.35</c:v>
                </c:pt>
                <c:pt idx="94">
                  <c:v>12.4</c:v>
                </c:pt>
                <c:pt idx="95">
                  <c:v>12.45</c:v>
                </c:pt>
                <c:pt idx="96">
                  <c:v>12.6</c:v>
                </c:pt>
                <c:pt idx="97">
                  <c:v>12.8</c:v>
                </c:pt>
                <c:pt idx="98">
                  <c:v>13</c:v>
                </c:pt>
                <c:pt idx="99">
                  <c:v>13.2</c:v>
                </c:pt>
                <c:pt idx="100">
                  <c:v>13.4</c:v>
                </c:pt>
                <c:pt idx="101">
                  <c:v>13.6</c:v>
                </c:pt>
                <c:pt idx="102">
                  <c:v>13.65</c:v>
                </c:pt>
                <c:pt idx="103">
                  <c:v>13.7</c:v>
                </c:pt>
                <c:pt idx="104">
                  <c:v>13.75</c:v>
                </c:pt>
                <c:pt idx="105">
                  <c:v>13.8</c:v>
                </c:pt>
                <c:pt idx="106">
                  <c:v>13.85</c:v>
                </c:pt>
                <c:pt idx="107">
                  <c:v>13.9</c:v>
                </c:pt>
                <c:pt idx="108">
                  <c:v>13.95</c:v>
                </c:pt>
                <c:pt idx="109">
                  <c:v>14</c:v>
                </c:pt>
                <c:pt idx="110">
                  <c:v>14.05</c:v>
                </c:pt>
                <c:pt idx="111">
                  <c:v>14.1</c:v>
                </c:pt>
                <c:pt idx="112">
                  <c:v>14.2</c:v>
                </c:pt>
                <c:pt idx="113">
                  <c:v>14.3</c:v>
                </c:pt>
                <c:pt idx="114">
                  <c:v>14.4</c:v>
                </c:pt>
                <c:pt idx="115">
                  <c:v>14.5</c:v>
                </c:pt>
                <c:pt idx="116">
                  <c:v>14.6</c:v>
                </c:pt>
                <c:pt idx="117">
                  <c:v>14.7</c:v>
                </c:pt>
                <c:pt idx="118">
                  <c:v>14.8</c:v>
                </c:pt>
                <c:pt idx="119">
                  <c:v>14.9</c:v>
                </c:pt>
                <c:pt idx="120">
                  <c:v>15</c:v>
                </c:pt>
                <c:pt idx="121">
                  <c:v>15.2</c:v>
                </c:pt>
                <c:pt idx="122">
                  <c:v>15.4</c:v>
                </c:pt>
                <c:pt idx="123">
                  <c:v>15.6</c:v>
                </c:pt>
                <c:pt idx="124">
                  <c:v>15.8</c:v>
                </c:pt>
                <c:pt idx="125">
                  <c:v>16</c:v>
                </c:pt>
                <c:pt idx="126">
                  <c:v>16.399999999999999</c:v>
                </c:pt>
                <c:pt idx="127">
                  <c:v>16.8</c:v>
                </c:pt>
                <c:pt idx="128">
                  <c:v>17.2</c:v>
                </c:pt>
                <c:pt idx="129">
                  <c:v>17.600000000000001</c:v>
                </c:pt>
                <c:pt idx="130">
                  <c:v>18</c:v>
                </c:pt>
                <c:pt idx="131">
                  <c:v>18.399999999999999</c:v>
                </c:pt>
                <c:pt idx="132">
                  <c:v>18.8</c:v>
                </c:pt>
                <c:pt idx="133">
                  <c:v>19.2</c:v>
                </c:pt>
                <c:pt idx="134">
                  <c:v>19.600000000000001</c:v>
                </c:pt>
                <c:pt idx="135">
                  <c:v>20</c:v>
                </c:pt>
                <c:pt idx="136">
                  <c:v>20.399999999999999</c:v>
                </c:pt>
                <c:pt idx="137">
                  <c:v>20.8</c:v>
                </c:pt>
                <c:pt idx="138">
                  <c:v>21.2</c:v>
                </c:pt>
                <c:pt idx="139">
                  <c:v>21.6</c:v>
                </c:pt>
                <c:pt idx="140">
                  <c:v>22</c:v>
                </c:pt>
                <c:pt idx="141">
                  <c:v>22.4</c:v>
                </c:pt>
                <c:pt idx="142">
                  <c:v>22.8</c:v>
                </c:pt>
                <c:pt idx="143">
                  <c:v>23.2</c:v>
                </c:pt>
                <c:pt idx="144">
                  <c:v>23.6</c:v>
                </c:pt>
                <c:pt idx="145">
                  <c:v>24</c:v>
                </c:pt>
              </c:numCache>
            </c:numRef>
          </c:xVal>
          <c:yVal>
            <c:numRef>
              <c:f>Sheet1!$B$606:$B$751</c:f>
              <c:numCache>
                <c:formatCode>General</c:formatCode>
                <c:ptCount val="146"/>
                <c:pt idx="0">
                  <c:v>2.9237999999999998E-3</c:v>
                </c:pt>
                <c:pt idx="1">
                  <c:v>6.8434999999999998E-3</c:v>
                </c:pt>
                <c:pt idx="2">
                  <c:v>1.6258999999999999E-2</c:v>
                </c:pt>
                <c:pt idx="3">
                  <c:v>0.39921000000000001</c:v>
                </c:pt>
                <c:pt idx="4">
                  <c:v>0.27518999999999999</c:v>
                </c:pt>
                <c:pt idx="5">
                  <c:v>0.20288999999999999</c:v>
                </c:pt>
                <c:pt idx="6">
                  <c:v>0.12714</c:v>
                </c:pt>
                <c:pt idx="7">
                  <c:v>9.9458000000000005E-2</c:v>
                </c:pt>
                <c:pt idx="8">
                  <c:v>0.10403</c:v>
                </c:pt>
                <c:pt idx="9">
                  <c:v>0.15987000000000001</c:v>
                </c:pt>
                <c:pt idx="10">
                  <c:v>0.23638000000000001</c:v>
                </c:pt>
                <c:pt idx="11">
                  <c:v>0.40672999999999998</c:v>
                </c:pt>
                <c:pt idx="12">
                  <c:v>0.87285000000000001</c:v>
                </c:pt>
                <c:pt idx="13">
                  <c:v>2.6909000000000001</c:v>
                </c:pt>
                <c:pt idx="14">
                  <c:v>7.4013999999999998</c:v>
                </c:pt>
                <c:pt idx="15">
                  <c:v>2.6137000000000001</c:v>
                </c:pt>
                <c:pt idx="16">
                  <c:v>0.94994999999999996</c:v>
                </c:pt>
                <c:pt idx="17">
                  <c:v>0.47863</c:v>
                </c:pt>
                <c:pt idx="18">
                  <c:v>0.29343999999999998</c:v>
                </c:pt>
                <c:pt idx="19">
                  <c:v>0.20097999999999999</c:v>
                </c:pt>
                <c:pt idx="20">
                  <c:v>7.8119999999999995E-2</c:v>
                </c:pt>
                <c:pt idx="21">
                  <c:v>4.7692999999999999E-2</c:v>
                </c:pt>
                <c:pt idx="22">
                  <c:v>3.8337999999999997E-2</c:v>
                </c:pt>
                <c:pt idx="23">
                  <c:v>4.0597000000000001E-2</c:v>
                </c:pt>
                <c:pt idx="24">
                  <c:v>5.9429999999999997E-2</c:v>
                </c:pt>
                <c:pt idx="25">
                  <c:v>0.13186</c:v>
                </c:pt>
                <c:pt idx="26">
                  <c:v>0.17595</c:v>
                </c:pt>
                <c:pt idx="27">
                  <c:v>0.24573999999999999</c:v>
                </c:pt>
                <c:pt idx="28">
                  <c:v>0.36587999999999998</c:v>
                </c:pt>
                <c:pt idx="29">
                  <c:v>0.59079999999999999</c:v>
                </c:pt>
                <c:pt idx="30">
                  <c:v>1.0475000000000001</c:v>
                </c:pt>
                <c:pt idx="31">
                  <c:v>1.9426000000000001</c:v>
                </c:pt>
                <c:pt idx="32">
                  <c:v>2.8834</c:v>
                </c:pt>
                <c:pt idx="33">
                  <c:v>2.3294000000000001</c:v>
                </c:pt>
                <c:pt idx="34">
                  <c:v>1.3523000000000001</c:v>
                </c:pt>
                <c:pt idx="35">
                  <c:v>0.79579</c:v>
                </c:pt>
                <c:pt idx="36">
                  <c:v>0.51346000000000003</c:v>
                </c:pt>
                <c:pt idx="37">
                  <c:v>0.35857</c:v>
                </c:pt>
                <c:pt idx="38">
                  <c:v>0.2676</c:v>
                </c:pt>
                <c:pt idx="39">
                  <c:v>0.14144999999999999</c:v>
                </c:pt>
                <c:pt idx="40">
                  <c:v>8.7430999999999995E-2</c:v>
                </c:pt>
                <c:pt idx="41">
                  <c:v>7.145E-2</c:v>
                </c:pt>
                <c:pt idx="42">
                  <c:v>7.6405000000000001E-2</c:v>
                </c:pt>
                <c:pt idx="43">
                  <c:v>0.10839</c:v>
                </c:pt>
                <c:pt idx="44">
                  <c:v>0.22248999999999999</c:v>
                </c:pt>
                <c:pt idx="45">
                  <c:v>0.28742000000000001</c:v>
                </c:pt>
                <c:pt idx="46">
                  <c:v>0.38712000000000002</c:v>
                </c:pt>
                <c:pt idx="47">
                  <c:v>0.54357</c:v>
                </c:pt>
                <c:pt idx="48">
                  <c:v>0.78893000000000002</c:v>
                </c:pt>
                <c:pt idx="49">
                  <c:v>1.1759999999999999</c:v>
                </c:pt>
                <c:pt idx="50">
                  <c:v>1.6516</c:v>
                </c:pt>
                <c:pt idx="51">
                  <c:v>1.8869</c:v>
                </c:pt>
                <c:pt idx="52">
                  <c:v>1.6364000000000001</c:v>
                </c:pt>
                <c:pt idx="53">
                  <c:v>1.1974</c:v>
                </c:pt>
                <c:pt idx="54">
                  <c:v>0.83269000000000004</c:v>
                </c:pt>
                <c:pt idx="55">
                  <c:v>0.59772999999999998</c:v>
                </c:pt>
                <c:pt idx="56">
                  <c:v>0.44440000000000002</c:v>
                </c:pt>
                <c:pt idx="57">
                  <c:v>0.34445999999999999</c:v>
                </c:pt>
                <c:pt idx="58">
                  <c:v>0.19320999999999999</c:v>
                </c:pt>
                <c:pt idx="59">
                  <c:v>0.12381</c:v>
                </c:pt>
                <c:pt idx="60">
                  <c:v>0.10406</c:v>
                </c:pt>
                <c:pt idx="61">
                  <c:v>0.11143</c:v>
                </c:pt>
                <c:pt idx="62">
                  <c:v>0.15637000000000001</c:v>
                </c:pt>
                <c:pt idx="63">
                  <c:v>0.30754999999999999</c:v>
                </c:pt>
                <c:pt idx="64">
                  <c:v>0.38597999999999999</c:v>
                </c:pt>
                <c:pt idx="65">
                  <c:v>0.49568000000000001</c:v>
                </c:pt>
                <c:pt idx="66">
                  <c:v>0.65264999999999995</c:v>
                </c:pt>
                <c:pt idx="67">
                  <c:v>0.86814000000000002</c:v>
                </c:pt>
                <c:pt idx="68">
                  <c:v>1.1296999999999999</c:v>
                </c:pt>
                <c:pt idx="69">
                  <c:v>1.3567</c:v>
                </c:pt>
                <c:pt idx="70">
                  <c:v>1.401</c:v>
                </c:pt>
                <c:pt idx="71">
                  <c:v>1.2539</c:v>
                </c:pt>
                <c:pt idx="72">
                  <c:v>1.012</c:v>
                </c:pt>
                <c:pt idx="73">
                  <c:v>0.79193999999999998</c:v>
                </c:pt>
                <c:pt idx="74">
                  <c:v>0.61665000000000003</c:v>
                </c:pt>
                <c:pt idx="75">
                  <c:v>0.48683999999999999</c:v>
                </c:pt>
                <c:pt idx="76">
                  <c:v>0.39262999999999998</c:v>
                </c:pt>
                <c:pt idx="77">
                  <c:v>0.23702999999999999</c:v>
                </c:pt>
                <c:pt idx="78">
                  <c:v>0.15775</c:v>
                </c:pt>
                <c:pt idx="79">
                  <c:v>0.13489999999999999</c:v>
                </c:pt>
                <c:pt idx="80">
                  <c:v>0.1457</c:v>
                </c:pt>
                <c:pt idx="81">
                  <c:v>0.20227000000000001</c:v>
                </c:pt>
                <c:pt idx="82">
                  <c:v>0.37180000000000002</c:v>
                </c:pt>
                <c:pt idx="83">
                  <c:v>0.45101999999999998</c:v>
                </c:pt>
                <c:pt idx="84">
                  <c:v>0.56349000000000005</c:v>
                </c:pt>
                <c:pt idx="85">
                  <c:v>0.70054000000000005</c:v>
                </c:pt>
                <c:pt idx="86">
                  <c:v>0.85704999999999998</c:v>
                </c:pt>
                <c:pt idx="87">
                  <c:v>1.0124</c:v>
                </c:pt>
                <c:pt idx="88">
                  <c:v>1.1173</c:v>
                </c:pt>
                <c:pt idx="89">
                  <c:v>1.1232</c:v>
                </c:pt>
                <c:pt idx="90">
                  <c:v>1.0285</c:v>
                </c:pt>
                <c:pt idx="91">
                  <c:v>0.88238000000000005</c:v>
                </c:pt>
                <c:pt idx="92">
                  <c:v>0.72936999999999996</c:v>
                </c:pt>
                <c:pt idx="93">
                  <c:v>0.59735000000000005</c:v>
                </c:pt>
                <c:pt idx="94">
                  <c:v>0.49692999999999998</c:v>
                </c:pt>
                <c:pt idx="95">
                  <c:v>0.41352</c:v>
                </c:pt>
                <c:pt idx="96">
                  <c:v>0.26790000000000003</c:v>
                </c:pt>
                <c:pt idx="97">
                  <c:v>0.18706</c:v>
                </c:pt>
                <c:pt idx="98">
                  <c:v>0.1641</c:v>
                </c:pt>
                <c:pt idx="99">
                  <c:v>0.17824000000000001</c:v>
                </c:pt>
                <c:pt idx="100">
                  <c:v>0.24571999999999999</c:v>
                </c:pt>
                <c:pt idx="101">
                  <c:v>0.42104000000000003</c:v>
                </c:pt>
                <c:pt idx="102">
                  <c:v>0.49707000000000001</c:v>
                </c:pt>
                <c:pt idx="103">
                  <c:v>0.59762000000000004</c:v>
                </c:pt>
                <c:pt idx="104">
                  <c:v>0.70091999999999999</c:v>
                </c:pt>
                <c:pt idx="105">
                  <c:v>0.81596000000000002</c:v>
                </c:pt>
                <c:pt idx="106">
                  <c:v>0.90722999999999998</c:v>
                </c:pt>
                <c:pt idx="107">
                  <c:v>0.95569999999999999</c:v>
                </c:pt>
                <c:pt idx="108">
                  <c:v>0.92506999999999995</c:v>
                </c:pt>
                <c:pt idx="109">
                  <c:v>0.25020999999999999</c:v>
                </c:pt>
                <c:pt idx="110">
                  <c:v>0.21182000000000001</c:v>
                </c:pt>
                <c:pt idx="111">
                  <c:v>0.19434999999999999</c:v>
                </c:pt>
                <c:pt idx="112">
                  <c:v>0.18795999999999999</c:v>
                </c:pt>
                <c:pt idx="113">
                  <c:v>0.19386</c:v>
                </c:pt>
                <c:pt idx="114">
                  <c:v>0.20108999999999999</c:v>
                </c:pt>
                <c:pt idx="115">
                  <c:v>0.20655000000000001</c:v>
                </c:pt>
                <c:pt idx="116">
                  <c:v>0.21206</c:v>
                </c:pt>
                <c:pt idx="117">
                  <c:v>0.21629000000000001</c:v>
                </c:pt>
                <c:pt idx="118">
                  <c:v>0.21797</c:v>
                </c:pt>
                <c:pt idx="119">
                  <c:v>0.2208</c:v>
                </c:pt>
                <c:pt idx="120">
                  <c:v>0.22270000000000001</c:v>
                </c:pt>
                <c:pt idx="121">
                  <c:v>0.22459999999999999</c:v>
                </c:pt>
                <c:pt idx="122">
                  <c:v>0.22617999999999999</c:v>
                </c:pt>
                <c:pt idx="123">
                  <c:v>0.22705</c:v>
                </c:pt>
                <c:pt idx="124">
                  <c:v>0.22747999999999999</c:v>
                </c:pt>
                <c:pt idx="125">
                  <c:v>0.2288</c:v>
                </c:pt>
                <c:pt idx="126">
                  <c:v>0.22689999999999999</c:v>
                </c:pt>
                <c:pt idx="127">
                  <c:v>0.22685</c:v>
                </c:pt>
                <c:pt idx="128">
                  <c:v>0.22708</c:v>
                </c:pt>
                <c:pt idx="129">
                  <c:v>0.22721</c:v>
                </c:pt>
                <c:pt idx="130">
                  <c:v>0.22725000000000001</c:v>
                </c:pt>
                <c:pt idx="131">
                  <c:v>0.22703000000000001</c:v>
                </c:pt>
                <c:pt idx="132">
                  <c:v>0.22785</c:v>
                </c:pt>
                <c:pt idx="133">
                  <c:v>0.22713</c:v>
                </c:pt>
                <c:pt idx="134">
                  <c:v>0.22736000000000001</c:v>
                </c:pt>
                <c:pt idx="135">
                  <c:v>0.22745000000000001</c:v>
                </c:pt>
                <c:pt idx="136">
                  <c:v>0.22922999999999999</c:v>
                </c:pt>
                <c:pt idx="137">
                  <c:v>0.22928999999999999</c:v>
                </c:pt>
                <c:pt idx="138">
                  <c:v>0.22721</c:v>
                </c:pt>
                <c:pt idx="139">
                  <c:v>0.22694</c:v>
                </c:pt>
                <c:pt idx="140">
                  <c:v>0.22744</c:v>
                </c:pt>
                <c:pt idx="141">
                  <c:v>0.22871</c:v>
                </c:pt>
                <c:pt idx="142">
                  <c:v>0.22728999999999999</c:v>
                </c:pt>
                <c:pt idx="143">
                  <c:v>0.22864000000000001</c:v>
                </c:pt>
                <c:pt idx="144">
                  <c:v>0.22935</c:v>
                </c:pt>
                <c:pt idx="145">
                  <c:v>0.22925000000000001</c:v>
                </c:pt>
              </c:numCache>
            </c:numRef>
          </c:yVal>
          <c:smooth val="0"/>
          <c:extLst>
            <c:ext xmlns:c16="http://schemas.microsoft.com/office/drawing/2014/chart" uri="{C3380CC4-5D6E-409C-BE32-E72D297353CC}">
              <c16:uniqueId val="{00000002-B1A6-4750-83D8-67F325B5B099}"/>
            </c:ext>
          </c:extLst>
        </c:ser>
        <c:ser>
          <c:idx val="3"/>
          <c:order val="3"/>
          <c:tx>
            <c:strRef>
              <c:f>Sheet1!$B$753</c:f>
              <c:strCache>
                <c:ptCount val="1"/>
                <c:pt idx="0">
                  <c:v>SiO₂ removed</c:v>
                </c:pt>
              </c:strCache>
            </c:strRef>
          </c:tx>
          <c:spPr>
            <a:ln w="12700">
              <a:solidFill>
                <a:srgbClr val="EB6834"/>
              </a:solidFill>
            </a:ln>
          </c:spPr>
          <c:marker>
            <c:symbol val="circle"/>
            <c:size val="3"/>
            <c:spPr>
              <a:solidFill>
                <a:srgbClr val="EB6834"/>
              </a:solidFill>
              <a:ln>
                <a:solidFill>
                  <a:srgbClr val="EB6834"/>
                </a:solidFill>
              </a:ln>
            </c:spPr>
          </c:marker>
          <c:xVal>
            <c:numRef>
              <c:f>Sheet1!$A$754:$A$857</c:f>
              <c:numCache>
                <c:formatCode>General</c:formatCode>
                <c:ptCount val="104"/>
                <c:pt idx="0">
                  <c:v>4</c:v>
                </c:pt>
                <c:pt idx="1">
                  <c:v>4.5999999999999996</c:v>
                </c:pt>
                <c:pt idx="2">
                  <c:v>4.8499999999999996</c:v>
                </c:pt>
                <c:pt idx="3">
                  <c:v>5.05</c:v>
                </c:pt>
                <c:pt idx="4">
                  <c:v>5.4</c:v>
                </c:pt>
                <c:pt idx="5">
                  <c:v>6.2</c:v>
                </c:pt>
                <c:pt idx="6">
                  <c:v>6.55</c:v>
                </c:pt>
                <c:pt idx="7">
                  <c:v>6.75</c:v>
                </c:pt>
                <c:pt idx="8">
                  <c:v>6.95</c:v>
                </c:pt>
                <c:pt idx="9">
                  <c:v>7.4</c:v>
                </c:pt>
                <c:pt idx="10">
                  <c:v>8.1999999999999993</c:v>
                </c:pt>
                <c:pt idx="11">
                  <c:v>8.4</c:v>
                </c:pt>
                <c:pt idx="12">
                  <c:v>8.6</c:v>
                </c:pt>
                <c:pt idx="13">
                  <c:v>8.8000000000000007</c:v>
                </c:pt>
                <c:pt idx="14">
                  <c:v>9.4</c:v>
                </c:pt>
                <c:pt idx="15">
                  <c:v>10.050000000000001</c:v>
                </c:pt>
                <c:pt idx="16">
                  <c:v>10.25</c:v>
                </c:pt>
                <c:pt idx="17">
                  <c:v>10.45</c:v>
                </c:pt>
                <c:pt idx="18">
                  <c:v>10.65</c:v>
                </c:pt>
                <c:pt idx="19">
                  <c:v>11.4</c:v>
                </c:pt>
                <c:pt idx="20">
                  <c:v>11.9</c:v>
                </c:pt>
                <c:pt idx="21">
                  <c:v>12.1</c:v>
                </c:pt>
                <c:pt idx="22">
                  <c:v>12.3</c:v>
                </c:pt>
                <c:pt idx="23">
                  <c:v>12.6</c:v>
                </c:pt>
                <c:pt idx="24">
                  <c:v>13.4</c:v>
                </c:pt>
                <c:pt idx="25">
                  <c:v>13.75</c:v>
                </c:pt>
                <c:pt idx="26">
                  <c:v>13.95</c:v>
                </c:pt>
                <c:pt idx="27">
                  <c:v>14.2</c:v>
                </c:pt>
                <c:pt idx="28">
                  <c:v>14.4</c:v>
                </c:pt>
                <c:pt idx="29">
                  <c:v>14.6</c:v>
                </c:pt>
                <c:pt idx="30">
                  <c:v>14.8</c:v>
                </c:pt>
                <c:pt idx="31">
                  <c:v>15</c:v>
                </c:pt>
                <c:pt idx="32">
                  <c:v>15.2</c:v>
                </c:pt>
                <c:pt idx="33">
                  <c:v>15.4</c:v>
                </c:pt>
                <c:pt idx="34">
                  <c:v>15.6</c:v>
                </c:pt>
                <c:pt idx="35">
                  <c:v>15.8</c:v>
                </c:pt>
                <c:pt idx="36">
                  <c:v>16</c:v>
                </c:pt>
                <c:pt idx="37">
                  <c:v>16.2</c:v>
                </c:pt>
                <c:pt idx="38">
                  <c:v>16.399999999999999</c:v>
                </c:pt>
                <c:pt idx="39">
                  <c:v>16.600000000000001</c:v>
                </c:pt>
                <c:pt idx="40">
                  <c:v>16.8</c:v>
                </c:pt>
                <c:pt idx="41">
                  <c:v>17</c:v>
                </c:pt>
                <c:pt idx="42">
                  <c:v>17.2</c:v>
                </c:pt>
                <c:pt idx="43">
                  <c:v>17.399999999999999</c:v>
                </c:pt>
                <c:pt idx="44">
                  <c:v>17.600000000000001</c:v>
                </c:pt>
                <c:pt idx="45">
                  <c:v>17.8</c:v>
                </c:pt>
                <c:pt idx="46">
                  <c:v>18</c:v>
                </c:pt>
                <c:pt idx="47">
                  <c:v>18.2</c:v>
                </c:pt>
                <c:pt idx="48">
                  <c:v>18.399999999999999</c:v>
                </c:pt>
                <c:pt idx="49">
                  <c:v>18.600000000000001</c:v>
                </c:pt>
                <c:pt idx="50">
                  <c:v>18.8</c:v>
                </c:pt>
                <c:pt idx="51">
                  <c:v>19</c:v>
                </c:pt>
                <c:pt idx="52">
                  <c:v>19.2</c:v>
                </c:pt>
                <c:pt idx="53">
                  <c:v>19.399999999999999</c:v>
                </c:pt>
                <c:pt idx="54">
                  <c:v>19.600000000000001</c:v>
                </c:pt>
                <c:pt idx="55">
                  <c:v>19.8</c:v>
                </c:pt>
                <c:pt idx="56">
                  <c:v>20</c:v>
                </c:pt>
                <c:pt idx="57">
                  <c:v>20.2</c:v>
                </c:pt>
                <c:pt idx="58">
                  <c:v>20.399999999999999</c:v>
                </c:pt>
                <c:pt idx="59">
                  <c:v>20.6</c:v>
                </c:pt>
                <c:pt idx="60">
                  <c:v>20.8</c:v>
                </c:pt>
                <c:pt idx="61">
                  <c:v>21</c:v>
                </c:pt>
                <c:pt idx="62">
                  <c:v>21.2</c:v>
                </c:pt>
                <c:pt idx="63">
                  <c:v>21.4</c:v>
                </c:pt>
                <c:pt idx="64">
                  <c:v>21.6</c:v>
                </c:pt>
                <c:pt idx="65">
                  <c:v>21.8</c:v>
                </c:pt>
                <c:pt idx="66">
                  <c:v>22</c:v>
                </c:pt>
                <c:pt idx="67">
                  <c:v>22.2</c:v>
                </c:pt>
                <c:pt idx="68">
                  <c:v>22.4</c:v>
                </c:pt>
                <c:pt idx="69">
                  <c:v>22.6</c:v>
                </c:pt>
                <c:pt idx="70">
                  <c:v>22.8</c:v>
                </c:pt>
                <c:pt idx="71">
                  <c:v>23</c:v>
                </c:pt>
                <c:pt idx="72">
                  <c:v>23.2</c:v>
                </c:pt>
                <c:pt idx="73">
                  <c:v>23.4</c:v>
                </c:pt>
                <c:pt idx="74">
                  <c:v>23.6</c:v>
                </c:pt>
                <c:pt idx="75">
                  <c:v>23.8</c:v>
                </c:pt>
                <c:pt idx="76">
                  <c:v>24</c:v>
                </c:pt>
                <c:pt idx="77">
                  <c:v>24.4</c:v>
                </c:pt>
                <c:pt idx="78">
                  <c:v>24.8</c:v>
                </c:pt>
                <c:pt idx="79">
                  <c:v>25.2</c:v>
                </c:pt>
                <c:pt idx="80">
                  <c:v>25.6</c:v>
                </c:pt>
                <c:pt idx="81">
                  <c:v>26</c:v>
                </c:pt>
                <c:pt idx="82">
                  <c:v>26.4</c:v>
                </c:pt>
                <c:pt idx="83">
                  <c:v>26.8</c:v>
                </c:pt>
                <c:pt idx="84">
                  <c:v>27.2</c:v>
                </c:pt>
                <c:pt idx="85">
                  <c:v>27.6</c:v>
                </c:pt>
                <c:pt idx="86">
                  <c:v>28</c:v>
                </c:pt>
                <c:pt idx="87">
                  <c:v>28.4</c:v>
                </c:pt>
                <c:pt idx="88">
                  <c:v>28.8</c:v>
                </c:pt>
                <c:pt idx="89">
                  <c:v>29.2</c:v>
                </c:pt>
                <c:pt idx="90">
                  <c:v>29.6</c:v>
                </c:pt>
                <c:pt idx="91">
                  <c:v>30</c:v>
                </c:pt>
                <c:pt idx="92">
                  <c:v>31.6</c:v>
                </c:pt>
                <c:pt idx="93">
                  <c:v>33.200000000000003</c:v>
                </c:pt>
                <c:pt idx="94">
                  <c:v>34.799999999999997</c:v>
                </c:pt>
                <c:pt idx="95">
                  <c:v>36.4</c:v>
                </c:pt>
                <c:pt idx="96">
                  <c:v>38</c:v>
                </c:pt>
                <c:pt idx="97">
                  <c:v>39.6</c:v>
                </c:pt>
                <c:pt idx="98">
                  <c:v>41.2</c:v>
                </c:pt>
                <c:pt idx="99">
                  <c:v>42.8</c:v>
                </c:pt>
                <c:pt idx="100">
                  <c:v>44.4</c:v>
                </c:pt>
                <c:pt idx="101">
                  <c:v>46</c:v>
                </c:pt>
                <c:pt idx="102">
                  <c:v>47.6</c:v>
                </c:pt>
                <c:pt idx="103">
                  <c:v>49.2</c:v>
                </c:pt>
              </c:numCache>
            </c:numRef>
          </c:xVal>
          <c:yVal>
            <c:numRef>
              <c:f>Sheet1!$B$754:$B$857</c:f>
              <c:numCache>
                <c:formatCode>General</c:formatCode>
                <c:ptCount val="104"/>
                <c:pt idx="0">
                  <c:v>2.9299999999999999E-3</c:v>
                </c:pt>
                <c:pt idx="1">
                  <c:v>0.10403</c:v>
                </c:pt>
                <c:pt idx="2">
                  <c:v>0.87282000000000004</c:v>
                </c:pt>
                <c:pt idx="3">
                  <c:v>0.94987999999999995</c:v>
                </c:pt>
                <c:pt idx="4">
                  <c:v>7.8119999999999995E-2</c:v>
                </c:pt>
                <c:pt idx="5">
                  <c:v>5.9429999999999997E-2</c:v>
                </c:pt>
                <c:pt idx="6">
                  <c:v>0.36584</c:v>
                </c:pt>
                <c:pt idx="7">
                  <c:v>2.88375</c:v>
                </c:pt>
                <c:pt idx="8">
                  <c:v>0.51327999999999996</c:v>
                </c:pt>
                <c:pt idx="9">
                  <c:v>8.7440000000000004E-2</c:v>
                </c:pt>
                <c:pt idx="10">
                  <c:v>0.22259999999999999</c:v>
                </c:pt>
                <c:pt idx="11">
                  <c:v>0.78886000000000001</c:v>
                </c:pt>
                <c:pt idx="12">
                  <c:v>1.63663</c:v>
                </c:pt>
                <c:pt idx="13">
                  <c:v>0.44440000000000002</c:v>
                </c:pt>
                <c:pt idx="14">
                  <c:v>0.10409</c:v>
                </c:pt>
                <c:pt idx="15">
                  <c:v>0.38697999999999999</c:v>
                </c:pt>
                <c:pt idx="16">
                  <c:v>1.13086</c:v>
                </c:pt>
                <c:pt idx="17">
                  <c:v>1.0105900000000001</c:v>
                </c:pt>
                <c:pt idx="18">
                  <c:v>0.39266000000000001</c:v>
                </c:pt>
                <c:pt idx="19">
                  <c:v>0.14579</c:v>
                </c:pt>
                <c:pt idx="20">
                  <c:v>0.56211</c:v>
                </c:pt>
                <c:pt idx="21">
                  <c:v>1.1186700000000001</c:v>
                </c:pt>
                <c:pt idx="22">
                  <c:v>0.73079000000000005</c:v>
                </c:pt>
                <c:pt idx="23">
                  <c:v>0.26777000000000001</c:v>
                </c:pt>
                <c:pt idx="24">
                  <c:v>0.24232999999999999</c:v>
                </c:pt>
                <c:pt idx="25">
                  <c:v>0.69835000000000003</c:v>
                </c:pt>
                <c:pt idx="26">
                  <c:v>0.94474999999999998</c:v>
                </c:pt>
                <c:pt idx="27">
                  <c:v>0.49782999999999999</c:v>
                </c:pt>
                <c:pt idx="28">
                  <c:v>0.29643999999999998</c:v>
                </c:pt>
                <c:pt idx="29">
                  <c:v>0.21473</c:v>
                </c:pt>
                <c:pt idx="30">
                  <c:v>0.19167999999999999</c:v>
                </c:pt>
                <c:pt idx="31">
                  <c:v>0.20827000000000001</c:v>
                </c:pt>
                <c:pt idx="32">
                  <c:v>0.27695999999999998</c:v>
                </c:pt>
                <c:pt idx="33">
                  <c:v>0.44949</c:v>
                </c:pt>
                <c:pt idx="34">
                  <c:v>0.75056999999999996</c:v>
                </c:pt>
                <c:pt idx="35">
                  <c:v>0.77773999999999999</c:v>
                </c:pt>
                <c:pt idx="36">
                  <c:v>0.49259999999999998</c:v>
                </c:pt>
                <c:pt idx="37">
                  <c:v>0.31422</c:v>
                </c:pt>
                <c:pt idx="38">
                  <c:v>0.23949999999999999</c:v>
                </c:pt>
                <c:pt idx="39">
                  <c:v>0.21679999999999999</c:v>
                </c:pt>
                <c:pt idx="40">
                  <c:v>0.23568</c:v>
                </c:pt>
                <c:pt idx="41">
                  <c:v>0.30925999999999998</c:v>
                </c:pt>
                <c:pt idx="42">
                  <c:v>0.47520000000000001</c:v>
                </c:pt>
                <c:pt idx="43">
                  <c:v>0.70521</c:v>
                </c:pt>
                <c:pt idx="44">
                  <c:v>0.69898000000000005</c:v>
                </c:pt>
                <c:pt idx="45">
                  <c:v>0.48437999999999998</c:v>
                </c:pt>
                <c:pt idx="46">
                  <c:v>0.33110000000000001</c:v>
                </c:pt>
                <c:pt idx="47">
                  <c:v>0.26003999999999999</c:v>
                </c:pt>
                <c:pt idx="48">
                  <c:v>0.23998</c:v>
                </c:pt>
                <c:pt idx="49">
                  <c:v>0.26133000000000001</c:v>
                </c:pt>
                <c:pt idx="50">
                  <c:v>0.33659</c:v>
                </c:pt>
                <c:pt idx="51">
                  <c:v>0.48376000000000002</c:v>
                </c:pt>
                <c:pt idx="52">
                  <c:v>0.65368999999999999</c:v>
                </c:pt>
                <c:pt idx="53">
                  <c:v>0.64359999999999995</c:v>
                </c:pt>
                <c:pt idx="54">
                  <c:v>0.47364000000000001</c:v>
                </c:pt>
                <c:pt idx="55">
                  <c:v>0.34255999999999998</c:v>
                </c:pt>
                <c:pt idx="56">
                  <c:v>0.27862999999999999</c:v>
                </c:pt>
                <c:pt idx="57">
                  <c:v>0.26096999999999998</c:v>
                </c:pt>
                <c:pt idx="58">
                  <c:v>0.28476000000000001</c:v>
                </c:pt>
                <c:pt idx="59">
                  <c:v>0.35911999999999999</c:v>
                </c:pt>
                <c:pt idx="60">
                  <c:v>0.49170000000000003</c:v>
                </c:pt>
                <c:pt idx="61">
                  <c:v>0.61987000000000003</c:v>
                </c:pt>
                <c:pt idx="62">
                  <c:v>0.59409000000000001</c:v>
                </c:pt>
                <c:pt idx="63">
                  <c:v>0.45465</c:v>
                </c:pt>
                <c:pt idx="64">
                  <c:v>0.34523999999999999</c:v>
                </c:pt>
                <c:pt idx="65">
                  <c:v>0.2923</c:v>
                </c:pt>
                <c:pt idx="66">
                  <c:v>0.28044000000000002</c:v>
                </c:pt>
                <c:pt idx="67">
                  <c:v>0.30603000000000002</c:v>
                </c:pt>
                <c:pt idx="68">
                  <c:v>0.37498999999999999</c:v>
                </c:pt>
                <c:pt idx="69">
                  <c:v>0.49086000000000002</c:v>
                </c:pt>
                <c:pt idx="70">
                  <c:v>0.58892999999999995</c:v>
                </c:pt>
                <c:pt idx="71">
                  <c:v>0.55593999999999999</c:v>
                </c:pt>
                <c:pt idx="72">
                  <c:v>0.43861</c:v>
                </c:pt>
                <c:pt idx="73">
                  <c:v>0.35915999999999998</c:v>
                </c:pt>
                <c:pt idx="74">
                  <c:v>0.30892999999999998</c:v>
                </c:pt>
                <c:pt idx="75">
                  <c:v>0.29903000000000002</c:v>
                </c:pt>
                <c:pt idx="76">
                  <c:v>0.32686999999999999</c:v>
                </c:pt>
                <c:pt idx="77">
                  <c:v>0.48472999999999999</c:v>
                </c:pt>
                <c:pt idx="78">
                  <c:v>0.53098999999999996</c:v>
                </c:pt>
                <c:pt idx="79">
                  <c:v>0.36216999999999999</c:v>
                </c:pt>
                <c:pt idx="80">
                  <c:v>0.31455</c:v>
                </c:pt>
                <c:pt idx="81">
                  <c:v>0.40062999999999999</c:v>
                </c:pt>
                <c:pt idx="82">
                  <c:v>0.53598000000000001</c:v>
                </c:pt>
                <c:pt idx="83">
                  <c:v>0.42997999999999997</c:v>
                </c:pt>
                <c:pt idx="84">
                  <c:v>0.33117000000000002</c:v>
                </c:pt>
                <c:pt idx="85">
                  <c:v>0.35774</c:v>
                </c:pt>
                <c:pt idx="86">
                  <c:v>0.48427999999999999</c:v>
                </c:pt>
                <c:pt idx="87">
                  <c:v>0.49127999999999999</c:v>
                </c:pt>
                <c:pt idx="88">
                  <c:v>0.36768000000000001</c:v>
                </c:pt>
                <c:pt idx="89">
                  <c:v>0.34200999999999998</c:v>
                </c:pt>
                <c:pt idx="90">
                  <c:v>0.42291000000000001</c:v>
                </c:pt>
                <c:pt idx="91">
                  <c:v>0.50012000000000001</c:v>
                </c:pt>
                <c:pt idx="92">
                  <c:v>0.46903</c:v>
                </c:pt>
                <c:pt idx="93">
                  <c:v>0.43074000000000001</c:v>
                </c:pt>
                <c:pt idx="94">
                  <c:v>0.39473999999999998</c:v>
                </c:pt>
                <c:pt idx="95">
                  <c:v>0.37977</c:v>
                </c:pt>
                <c:pt idx="96">
                  <c:v>0.37758999999999998</c:v>
                </c:pt>
                <c:pt idx="97">
                  <c:v>0.39123999999999998</c:v>
                </c:pt>
                <c:pt idx="98">
                  <c:v>0.40753</c:v>
                </c:pt>
                <c:pt idx="99">
                  <c:v>0.42402000000000001</c:v>
                </c:pt>
                <c:pt idx="100">
                  <c:v>0.43667</c:v>
                </c:pt>
                <c:pt idx="101">
                  <c:v>0.43397000000000002</c:v>
                </c:pt>
                <c:pt idx="102">
                  <c:v>0.42637999999999998</c:v>
                </c:pt>
                <c:pt idx="103">
                  <c:v>0.41609000000000002</c:v>
                </c:pt>
              </c:numCache>
            </c:numRef>
          </c:yVal>
          <c:smooth val="0"/>
          <c:extLst>
            <c:ext xmlns:c16="http://schemas.microsoft.com/office/drawing/2014/chart" uri="{C3380CC4-5D6E-409C-BE32-E72D297353CC}">
              <c16:uniqueId val="{00000003-B1A6-4750-83D8-67F325B5B099}"/>
            </c:ext>
          </c:extLst>
        </c:ser>
        <c:ser>
          <c:idx val="4"/>
          <c:order val="4"/>
          <c:tx>
            <c:strRef>
              <c:f>Sheet1!$B$859</c:f>
              <c:strCache>
                <c:ptCount val="1"/>
                <c:pt idx="0">
                  <c:v>IL∞ = 0.415 dB/cm</c:v>
                </c:pt>
              </c:strCache>
            </c:strRef>
          </c:tx>
          <c:spPr>
            <a:ln w="12700">
              <a:solidFill>
                <a:srgbClr val="EB6834"/>
              </a:solidFill>
              <a:prstDash val="dash"/>
            </a:ln>
          </c:spPr>
          <c:marker>
            <c:symbol val="none"/>
          </c:marker>
          <c:xVal>
            <c:numRef>
              <c:f>Sheet1!$A$860:$A$861</c:f>
              <c:numCache>
                <c:formatCode>General</c:formatCode>
                <c:ptCount val="2"/>
                <c:pt idx="0">
                  <c:v>4.2</c:v>
                </c:pt>
                <c:pt idx="1">
                  <c:v>50</c:v>
                </c:pt>
              </c:numCache>
            </c:numRef>
          </c:xVal>
          <c:yVal>
            <c:numRef>
              <c:f>Sheet1!$B$860:$B$861</c:f>
              <c:numCache>
                <c:formatCode>General</c:formatCode>
                <c:ptCount val="2"/>
                <c:pt idx="0">
                  <c:v>0.4148</c:v>
                </c:pt>
                <c:pt idx="1">
                  <c:v>0.4148</c:v>
                </c:pt>
              </c:numCache>
            </c:numRef>
          </c:yVal>
          <c:smooth val="0"/>
          <c:extLst>
            <c:ext xmlns:c16="http://schemas.microsoft.com/office/drawing/2014/chart" uri="{C3380CC4-5D6E-409C-BE32-E72D297353CC}">
              <c16:uniqueId val="{00000004-B1A6-4750-83D8-67F325B5B099}"/>
            </c:ext>
          </c:extLst>
        </c:ser>
        <c:ser>
          <c:idx val="5"/>
          <c:order val="5"/>
          <c:tx>
            <c:strRef>
              <c:f>Sheet1!$B$863</c:f>
              <c:strCache>
                <c:ptCount val="1"/>
                <c:pt idx="0">
                  <c:v>_v14.0</c:v>
                </c:pt>
              </c:strCache>
            </c:strRef>
          </c:tx>
          <c:spPr>
            <a:ln w="12700">
              <a:solidFill>
                <a:srgbClr val="2A78D6"/>
              </a:solidFill>
              <a:prstDash val="dash"/>
            </a:ln>
          </c:spPr>
          <c:marker>
            <c:symbol val="none"/>
          </c:marker>
          <c:xVal>
            <c:numRef>
              <c:f>Sheet1!$A$864:$A$865</c:f>
              <c:numCache>
                <c:formatCode>General</c:formatCode>
                <c:ptCount val="2"/>
                <c:pt idx="0">
                  <c:v>14</c:v>
                </c:pt>
                <c:pt idx="1">
                  <c:v>14</c:v>
                </c:pt>
              </c:numCache>
            </c:numRef>
          </c:xVal>
          <c:yVal>
            <c:numRef>
              <c:f>Sheet1!$B$864:$B$865</c:f>
              <c:numCache>
                <c:formatCode>General</c:formatCode>
                <c:ptCount val="2"/>
                <c:pt idx="0">
                  <c:v>1E-3</c:v>
                </c:pt>
                <c:pt idx="1">
                  <c:v>10</c:v>
                </c:pt>
              </c:numCache>
            </c:numRef>
          </c:yVal>
          <c:smooth val="0"/>
          <c:extLst>
            <c:ext xmlns:c16="http://schemas.microsoft.com/office/drawing/2014/chart" uri="{C3380CC4-5D6E-409C-BE32-E72D297353CC}">
              <c16:uniqueId val="{00000005-B1A6-4750-83D8-67F325B5B099}"/>
            </c:ext>
          </c:extLst>
        </c:ser>
        <c:dLbls>
          <c:showLegendKey val="0"/>
          <c:showVal val="0"/>
          <c:showCatName val="0"/>
          <c:showSerName val="0"/>
          <c:showPercent val="0"/>
          <c:showBubbleSize val="0"/>
        </c:dLbls>
        <c:axId val="-2128940872"/>
        <c:axId val="-2129643912"/>
      </c:scatterChart>
      <c:valAx>
        <c:axId val="-2128940872"/>
        <c:scaling>
          <c:orientation val="minMax"/>
          <c:max val="50"/>
          <c:min val="2"/>
        </c:scaling>
        <c:delete val="0"/>
        <c:axPos val="b"/>
        <c:title>
          <c:tx>
            <c:rich>
              <a:bodyPr/>
              <a:lstStyle/>
              <a:p>
                <a:r>
                  <a:rPr lang="en-US" sz="1100" b="0">
                    <a:latin typeface="Arial"/>
                  </a:rPr>
                  <a:t>slab_w (µm)</a:t>
                </a:r>
              </a:p>
            </c:rich>
          </c:tx>
          <c:overlay val="0"/>
        </c:title>
        <c:numFmt formatCode="General" sourceLinked="1"/>
        <c:majorTickMark val="out"/>
        <c:minorTickMark val="none"/>
        <c:tickLblPos val="nextTo"/>
        <c:txPr>
          <a:bodyPr/>
          <a:lstStyle/>
          <a:p>
            <a:pPr>
              <a:defRPr sz="1000">
                <a:latin typeface="Arial"/>
              </a:defRPr>
            </a:pPr>
            <a:endParaRPr lang="en-US"/>
          </a:p>
        </c:txPr>
        <c:crossAx val="-2129643912"/>
        <c:crosses val="autoZero"/>
        <c:crossBetween val="midCat"/>
        <c:majorUnit val="4"/>
      </c:valAx>
      <c:valAx>
        <c:axId val="-2129643912"/>
        <c:scaling>
          <c:logBase val="10"/>
          <c:orientation val="minMax"/>
          <c:max val="10"/>
          <c:min val="1E-3"/>
        </c:scaling>
        <c:delete val="0"/>
        <c:axPos val="l"/>
        <c:majorGridlines>
          <c:spPr>
            <a:ln>
              <a:solidFill>
                <a:srgbClr val="E3E3E3"/>
              </a:solidFill>
            </a:ln>
          </c:spPr>
        </c:majorGridlines>
        <c:title>
          <c:tx>
            <c:rich>
              <a:bodyPr/>
              <a:lstStyle/>
              <a:p>
                <a:r>
                  <a:rPr lang="en-US" sz="1100" b="0">
                    <a:latin typeface="Arial"/>
                  </a:rPr>
                  <a:t>IL (dB/cm)</a:t>
                </a:r>
              </a:p>
            </c:rich>
          </c:tx>
          <c:overlay val="0"/>
        </c:title>
        <c:numFmt formatCode="General" sourceLinked="0"/>
        <c:majorTickMark val="out"/>
        <c:minorTickMark val="none"/>
        <c:tickLblPos val="nextTo"/>
        <c:txPr>
          <a:bodyPr/>
          <a:lstStyle/>
          <a:p>
            <a:pPr>
              <a:defRPr sz="1000">
                <a:latin typeface="Arial"/>
              </a:defRPr>
            </a:pPr>
            <a:endParaRPr lang="en-US"/>
          </a:p>
        </c:txPr>
        <c:crossAx val="-2128940872"/>
        <c:crosses val="autoZero"/>
        <c:crossBetween val="midCat"/>
      </c:valAx>
    </c:plotArea>
    <c:legend>
      <c:legendPos val="t"/>
      <c:legendEntry>
        <c:idx val="0"/>
        <c:delete val="1"/>
      </c:legendEntry>
      <c:legendEntry>
        <c:idx val="1"/>
        <c:delete val="1"/>
      </c:legendEntry>
      <c:legendEntry>
        <c:idx val="5"/>
        <c:delete val="1"/>
      </c:legendEntry>
      <c:overlay val="0"/>
      <c:txPr>
        <a:bodyPr/>
        <a:lstStyle/>
        <a:p>
          <a:pPr>
            <a:defRPr sz="1100">
              <a:latin typeface="Aria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34B894-4718-4C4D-B942-55BEF7CC3F90}"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6BACFE-D1E4-4E9E-9D2A-07301B51FADE}" type="slidenum">
              <a:rPr lang="en-US" smtClean="0"/>
              <a:t>‹#›</a:t>
            </a:fld>
            <a:endParaRPr lang="en-US"/>
          </a:p>
        </p:txBody>
      </p:sp>
    </p:spTree>
    <p:extLst>
      <p:ext uri="{BB962C8B-B14F-4D97-AF65-F5344CB8AC3E}">
        <p14:creationId xmlns:p14="http://schemas.microsoft.com/office/powerpoint/2010/main" val="26530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Lisbon lifted electrodes show an insertion loss that oscillates with the lift position. We show where it comes from, how a 200 nm SiO2 buffer removes it, what it costs in Vpi*L, and the final buffer/gap choice.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Cross-sections drawn from the model polygons, same scale; dimensions in um. x_lift = distance from the rib centre to the point where the gold leaves the LN slab and climbs onto the SiO2 lift. Vpi*L: Cordoba 2.260, Lisbon 2.265 V*cm at the same 4.2 um gap. IL of Lisbon oscillates with a 0.9 um period around the Cordoba value; the steepest 100 nm step is 7.1 -&gt; 7.2 um (0.33 -&gt; 0.60 dB/cm), so the IL of a fabricated device is not predictable. Envelopes: the rib mode leaks into the wave guided under the gold, which bounces between two cut-off regions (gap edge and lift). The leakage rate is that of a source inside a Fabry-Perot cavity (Airy function), with round-trip factor rho = rho0*exp(-2*alpha*L), where alpha = Im(k_x) is the gold absorption of the lateral wave. Peaks (1+rho)/(1-rho) and dips (1-rho)/(1+rho) times IL_inf, so peak*dip = IL_inf^2 (measured sqrt(P*D) = 0.40-0.41 at every period) and both converge to IL_inf when the step is far. Free fit of all 46 points 6.5-11 um: IL_inf 0.412, rho0 0.91, 2*alpha 0.175 1/um, period 0.895 um. Independent 1D prediction from the complex index of the gold-guided wave (2.072 - 0.0095i) and n_rib 1.8834: 2*alpha 0.181 1/um, period 0.91 um. Data: results/lift_sweep.csv (beyond 11 um only sparse points, not shown).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Top left: |E|^2 at slab mid-height vs x. Dip (</a:t>
            </a:r>
            <a:r>
              <a:rPr dirty="0" err="1"/>
              <a:t>x_lift</a:t>
            </a:r>
            <a:r>
              <a:rPr dirty="0"/>
              <a:t> 6.9 um, IL 0.18) and peak (7.3 um, IL 0.88) show ripples between the gap edge and the lift; Cordoba shows a smooth, slowly decaying travelling wave. Right: field maps, same dB scale. Indices: 1D mode solve of each vertical stack (TM-like wave under the gold: Au / 275 nm LN slab / SiO2 BOX, n = 2.065-2.080 depending on the in-plane LN permittivity; gold-free slab with air or SiO2 on top: TE 1.70-1.80, TM 1.48-1.60). Rib mode: 2D FEM </a:t>
            </a:r>
            <a:r>
              <a:rPr dirty="0" err="1"/>
              <a:t>n_eff</a:t>
            </a:r>
            <a:r>
              <a:rPr dirty="0"/>
              <a:t> 1.8834. n &gt; </a:t>
            </a:r>
            <a:r>
              <a:rPr dirty="0" err="1"/>
              <a:t>n_rib</a:t>
            </a:r>
            <a:r>
              <a:rPr dirty="0"/>
              <a:t> alone gives lateral leakage (a travelling wave, as in Cordoba, where 30 um of gold absorbs it: round trip attenuation e^-5). The standing wave needs the second mirror: in Lisbon the slab beyond </a:t>
            </a:r>
            <a:r>
              <a:rPr dirty="0" err="1"/>
              <a:t>x_lift</a:t>
            </a:r>
            <a:r>
              <a:rPr dirty="0"/>
              <a:t> has no gold, so the wave is cut off there and reflected. The gap edge is also cut off, so the wave bounces between two mirrors. Interference: at the dip the reflected wave returns out of phase at the gap edge and suppresses the leakage (destructive); at the peak it returns in phase and enhances it (constructive). Fringe period inside the cavity and IL period vs </a:t>
            </a:r>
            <a:r>
              <a:rPr dirty="0" err="1"/>
              <a:t>x_lift</a:t>
            </a:r>
            <a:r>
              <a:rPr dirty="0"/>
              <a:t> are both pi/</a:t>
            </a:r>
            <a:r>
              <a:rPr dirty="0" err="1"/>
              <a:t>k_x</a:t>
            </a:r>
            <a:r>
              <a:rPr dirty="0"/>
              <a:t>: the cavity length fixes the order m, not the spacing (as in a Fabry-Perot, where resonances are spaced by half a wavelength in length).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Chart top right: 1D effective index of the wave guided under the gold vs buffer thickness (mean of the two in-plane LN permittivities; cutoff 37-39 nm). Below the rib index the wave cannot be phase matched, so the rib mode cannot couple into a propagating wave: there is no standing wave to form, whatever x_lift. The 1D model matches the 2D simulations (period 0.90 vs 0.91 um at 0 nm; decay 28.98 vs 28.95 dB/um at 200 nm). Bottom: 200 nm buffer, 88 lift positions 3.8-30.1 um, IL 0.0480-0.0481 dB/cm. Chart shows up to 11 um; flat also at 12-30 um. Without buffer at gap 3.2 IL would be 4-30 dB/cm and still oscillating.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Left: </a:t>
            </a:r>
            <a:r>
              <a:rPr dirty="0" err="1"/>
              <a:t>Vpi</a:t>
            </a:r>
            <a:r>
              <a:rPr dirty="0"/>
              <a:t>*L vs buffer thickness at gap 3.2 um, </a:t>
            </a:r>
            <a:r>
              <a:rPr dirty="0" err="1"/>
              <a:t>x_lift</a:t>
            </a:r>
            <a:r>
              <a:rPr dirty="0"/>
              <a:t> 7 um (150, 250 nm added for this deck). 150 nm: </a:t>
            </a:r>
            <a:r>
              <a:rPr dirty="0" err="1"/>
              <a:t>Vpi</a:t>
            </a:r>
            <a:r>
              <a:rPr dirty="0"/>
              <a:t>*L 2.077 vs 2.148 V*cm (-3.3 %), IL 0.068 vs 0.048 dB/cm. Centre/right: gap scan at 200 nm (GAP_TOP fixed at 10 um). </a:t>
            </a:r>
            <a:r>
              <a:rPr dirty="0" err="1"/>
              <a:t>Vpi</a:t>
            </a:r>
            <a:r>
              <a:rPr dirty="0"/>
              <a:t>*L grows linearly with the gap, IL falls exponentially. Gap 3.4 um: </a:t>
            </a:r>
            <a:r>
              <a:rPr dirty="0" err="1"/>
              <a:t>Vpi</a:t>
            </a:r>
            <a:r>
              <a:rPr dirty="0"/>
              <a:t>*L 2.2707 V*cm, IL 0.0260 dB/cm, flat for </a:t>
            </a:r>
            <a:r>
              <a:rPr dirty="0" err="1"/>
              <a:t>x_lift</a:t>
            </a:r>
            <a:r>
              <a:rPr dirty="0"/>
              <a:t> 4.5-16 um (2.270-2.275 V*cm). On the 14.84 mm line with duty cycle 0.925: </a:t>
            </a:r>
            <a:r>
              <a:rPr dirty="0" err="1"/>
              <a:t>Vpi</a:t>
            </a:r>
            <a:r>
              <a:rPr dirty="0"/>
              <a:t> = 1.654 V. The 1.7 V limit allows </a:t>
            </a:r>
            <a:r>
              <a:rPr dirty="0" err="1"/>
              <a:t>Vpi</a:t>
            </a:r>
            <a:r>
              <a:rPr dirty="0"/>
              <a:t>*L up to 2.334 V*cm (gap about 3.5 um), so 3.4 um keeps about 0.05 V of margin. Gold loss over the line: 0.039 </a:t>
            </a:r>
            <a:r>
              <a:rPr dirty="0" err="1"/>
              <a:t>dB.</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Buffered lifted designs, gap 3.4 um, GAP_TOP 10 um, CAP_W 2.0 um, CAP_H 1.4 um from the buffer top (the cap moves with the buffer), 60 deg sidewalls. Lisbon: 550 nm film, 275 nm etch / 275 nm slab, 1575 nm. Jerez: 400 nm film, 170 nm etch / 230 nm slab, 1360 nm. Sellmeier LN (Zelmon) and SiO2 (Malitson), Johnson &amp; Christy gold, converged mesh. Buffer 130-270 nm in 10 nm steps (60 runs) plus the unbuffered references at gap 4.2 um (dashed). Vpi*L is linear in the buffer thickness (deviation &lt;= 6 mV*cm over the range): +1.3 mV*cm/nm (Lisbon) and +1.0 mV*cm/nm (Jerez), i.e. about +/-1.1 % at +/-20 nm and +/-2.3 % at +/-40 nm, the same for both rib widths. IL falls exponentially with the buffer (e-folding 150 nm Lisbon, 125 nm Jerez): about +/-15 % at +/-20 nm, but always below 0.036 dB/cm inside the +/-40 nm window. No ripple and no x_lift dependence appears anywhere in the range: the lateral wave under the gold stays cut off.</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Measured 'thick slab post etch' (the 200 nm buffer after etch-back of the ~1.4 um deposition): sil-A 0.194 +/- 0.018, sil-B 0.2135 +/- 0.016, sil-C 0.248 +/- 0.016 um (min-max 167-231, 189-246, 226-279 nm). Each wafer's mean and sigma are mapped through a quadratic fit of the simulated Vpi*L(buffer) and log IL(buffer), rib top 1.0 um (1.4 um behaves the same: Lisbon 2.167 / 2.192 / 2.233, Jerez 1.800 / 1.819 / 1.851 V*cm). IL ranges are for the thinnest/thickest chip; sil-C's thickest chip (279 nm) is a 9 nm extrapolation. Vpi*L sensitivity: +1.34 (Lisbon) / +1.02 (Jerez) mV*cm per nm. Chip-to-chip sigma of Vpi*L on sil-A: 0.025 V*cm (Lisbon), 0.019 V*cm (Jerez). Against the unbuffered gap-4.2 design: Jerez crosses at 235 nm, Lisbon at 196 nm (WG 1.0) / 199 nm (WG 1.4). Narrowing the gap by 0.1 um should recover about 0.06 V*cm for Lisbon (slope ~0.6 V*cm/um from the earlier 150 nm runs at gap 3.2/3.4) - to be checked with a simulation if pursued. Caveat: the model keeps the cap height constant above the buffer; if the cap top is set by the deposition, Vpi*L shifts by about -0.4 %.</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Follow-up of the lifted-electrode study: does a full etch of the LN slab remove the standing wave, how does it compare with the standard lifted and the buffered designs, and why the ripple behaves the way it does.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Etched slab: the slab is removed outside slab_w; gold fills the etched zone under the lower blocks, SiO2 under the pads, air in the gap. The spacer variant puts a SiO2 block between the slab end and the gold.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regimes. (1) slab_w &lt; gap: no slab under the gold, no leak, IL ~0, but Vpi*L rises because the DC field crosses the air pocket. (2) slab ends in the gold: the gold-wrapped slab end is a mirror, ripples up to 7 dB/cm, first resonance at slab_w 4.95 um. (3) slab past the gold/SiO2 edge: identical to the standard lifted design; the cavity is clamped by x_lift. The orange curve uses a longer gold lower block (x_lift = 11 um) so the slab still ends in the gold up to slab_w 20: the ripple keeps decaying toward IL_inf. Check: at slab_w 8.6 / 10.4 / 12.2 the x_lift = 11 model gives the same IL as the nominal one within 0.2 %.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Slab in the gap: the field never reaches the gold. Slab in the gold: a standing wave between the gold inner edge and the slab end. Slab past the edge: the standing wave stops at x_lift; beyond it the slab is under SiO2 and the field decays evanescently, so the slab end is invisible.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 the gold the wave can only be absorbed or reflected: beta of the rib mode exceeds k0*n of every cladding, so nothing can radiate away. A SiO2 spacer replaces the hard metal wall with a soft (evanescent) mirror: the peaks move by ~0.25 um in slab_w, their height does not drop (100, 300, 600 nm simulated). Wider spacers were not simulated: the spacer was judged not viable for fabrication, and from 300 to 600 nm the curve no longer changes.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gold-bound wave under the electrodes needs enough LN: below ~180 nm its index drops under the rib-mode index and the lateral wave is cut off, exactly like the SiO2 buffer does. Two ways to get there without new materials: etch the rib deeper (one etch step, thin slab everywhere), or a second partial etch that thins the slab only outside slab_w, keeping the nominal 275 nm slab around the rib.</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Deeper rib etch: one process step, no new material. The ripple disappears (flat IL vs x_lift at 150 nm, nearly flat at 175 nm, close to the cutoff). But Vpi*L rises because less LN carries the DC field and the mode, and recovering it with a smaller gap puts the metal close to the mode.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Partial second etch: the slab is thinned to 125 nm from slab_w outward, so the gold sits on LN that cannot carry the lateral wave. IL is flat in x_lift. The DC field still crosses LN instead of air, so the Vpi*L penalty of the full etch is much smaller. Requirement: the thickness step must lie in the gap with margin for the litho overlay; if it falls under the gold, a short cavity forms.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Trade-off between loss and drive voltage. The buffered curve is its gap scan (2.4 to 3.6 um, 200 nm SiO2; computed with the previous SiO2 constant, ~2 % lower IL). Every alternative point lies above the buffered curve: for the same Vpi*L the alternatives absorb more, because thin LN under the gold still brings the metal closer to the mode, or the rib mode is less confined. The standard lifted design is a vertical bar: its IL depends on x_lift.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last sweeps: over-etch robustness of the buffered design, gap dependence of the standard lifted ripple, and the full-etch geometry with no SiO2 inside the electrodes; then why the two mirrors are equivalent.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Etch-robustness study of the buffered design (gap 3.4 um, x_lift 7 um). The film stays 550 nm and the rib top 1.0 um with 60 deg sidewalls, so deeper etch thins the slab and widens the rib base. slab 275 nm: IL 0.0260 dB/cm, VpiL 2.271 V*cm; slab 260 nm: IL 0.0191 dB/cm, VpiL 2.329 V*cm; slab 245 nm: IL 0.0140 dB/cm, VpiL 2.391 V*cm; slab 230 nm: IL 0.0104 dB/cm, VpiL 2.457 V*cm; slab 215 nm: IL 0.0077 dB/cm, VpiL 2.527 V*cm; slab 200 nm: IL 0.0058 dB/cm, VpiL 2.601 V*cm; slab 185 nm: IL 0.0044 dB/cm, VpiL 2.681 V*cm; slab 170 nm: IL 0.0034 dB/cm, VpiL 2.766 V*cm; slab 155 nm: IL 0.0026 dB/cm, VpiL 2.858 V*cm; slab 150 nm: IL 0.0024 dB/cm, VpiL 2.890 V*cm. Vpi*L rises 2.6% for the first 15 nm and +27% at 150 nm: thinner slab, weaker EO overlap. IL keeps falling and stays flat in x_lift (the buffer keeps the wave under the gold cut off). Optically robust; the over-etch tolerance is set by Vpi*L.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Standard lifted design, no buffer, 1575 nm. x_lift 6.5-11 um (0.1 um step) plus far points to 30 um; the 4.2 um gap is the earlier sweep, same code and constants. Right: IL normalised to its fitted IL_inf and plotted against the cavity length L = x_lift - gap/2 (gold inner edge to the gold/SiO2 edge): the three curves collapse, same period (0.895 um), envelope decay and phase. Only IL_inf changes: 1.10 / 0.41 / 0.030 dB/cm, i.e. exp(-3.3 um^-1 x gap), the overlap of the rib-mode tail with the gold edge. Far points (12-30 um) settle on IL_inf for every gap. Vpi*L 2.08 / 2.26 / 2.76 V*cm.</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Full etch, gap 4.2 um, x_lift 7 um. Coworker's test: remove all SiO2 from the electrodes (lower block, column and pad fused in one solid gold body out to 32 um, air outside), so the slab can only end inside the gold. Slab ending between the gap and 14 um: identical to the previous sweep (median 0.03 %, max 2.1 % at slab_w 13.95, next to where the SiO2 used to start). Past 14 um the flat 0.228 dB/cm line is gone: the slab end remains the only mirror and the ripple decays slowly to IL_inf = 0.415 dB/cm (Airy fit: period 0.894 um of slab-end position, 2alpha 0.179/um, rho0 0.948), the Cordoba (no reflection) level. Dotted: Airy envelope. Above 30 um the 1.6 um step aliases the 1.79 um ripple period. A full etch ending in the gold therefore makes IL depend on the etch-edge position with a 0.9 um period, consistent with the messy IL measured on the earlier full-etch tapeout.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lateral wave is a hybrid (plasmon-assisted) mode of the vertical stack gold / LN slab / BOX. It needs both: the metal pulls the field to the top of the slab and raises its index to 2.07, above the rib mode (1.884), so it can be phase matched and propagate sideways (kx real, lateral wavelength 1.79 um, ripple period 0.9 um). Remove the LN (slab end inside the gold): the stack becomes gold on BOX, a gold/SiO2 surface plasmon with index 1.46. Remove the gold (gold edge, slab continues under SiO2): the stack becomes an oxide-clad LN slab, index 1.61. Both are below 1.884: kx becomes imaginary, the wave cannot continue and is reflected. So the mirror is simply the end of the gold-LN overlap; its height, the material that replaces the stack and the length of the overlap do not matter for the period, the decay and IL_inf, which belong to the overlap region. The termination only sets the reflection strength and phase: the gold-wrapped slab end is a hard mirror (node at the wall, rho0 0.957), the gold edge a soft one (evanescent tail into the oxide-clad slab, rho0 0.922; effective planes 0.3 um apart, hence the 0.34 um shift between the two IL curves). Indices: 1D TM model of each stack, average of the two in-plane LN permittivities, Sellmeier SiO2 and Johnson &amp; Christy gold.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recommendation: 200 nm SiO2 buffer, bottom gap 3.4 um: IL 0.026 dB/cm flat in x_lift, Vpi*L 2.27 V*cm. Over-etch: IL keeps decreasing and stays flat; Vpi*L +2.6% per 15 nm (+27% at 150 nm slab). The full-etch geometry ending in the gold reproduces the ripple whatever surrounds the electrodes; the messy IL of the earlier full-etch tapeout is consistent with this.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2A20-D9C5-BEC1-A331-516D50C93A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B255FB-8776-2600-FB0D-D37C26A924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FB4982-190C-6C07-7215-C2698E3AA75F}"/>
              </a:ext>
            </a:extLst>
          </p:cNvPr>
          <p:cNvSpPr>
            <a:spLocks noGrp="1"/>
          </p:cNvSpPr>
          <p:nvPr>
            <p:ph type="dt" sz="half" idx="10"/>
          </p:nvPr>
        </p:nvSpPr>
        <p:spPr/>
        <p:txBody>
          <a:bodyPr/>
          <a:lstStyle/>
          <a:p>
            <a:fld id="{AE7E38A5-0897-4509-B474-CA7BACA3876E}" type="datetimeFigureOut">
              <a:rPr lang="en-US" smtClean="0"/>
              <a:t>10/7/2026</a:t>
            </a:fld>
            <a:endParaRPr lang="en-US"/>
          </a:p>
        </p:txBody>
      </p:sp>
      <p:sp>
        <p:nvSpPr>
          <p:cNvPr id="5" name="Footer Placeholder 4">
            <a:extLst>
              <a:ext uri="{FF2B5EF4-FFF2-40B4-BE49-F238E27FC236}">
                <a16:creationId xmlns:a16="http://schemas.microsoft.com/office/drawing/2014/main" id="{2987267E-3FDA-B66E-4AD8-C6CE92D5E9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1F8C8B-ACEA-A9A3-B4F0-BCD03B8FF702}"/>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3177144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8482B-292E-DBE7-F2D3-E10B4F58EF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E01C4E-1EAF-9AB5-5CC4-FC701A9785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E75CCB-9B55-2936-B303-10802E385EAB}"/>
              </a:ext>
            </a:extLst>
          </p:cNvPr>
          <p:cNvSpPr>
            <a:spLocks noGrp="1"/>
          </p:cNvSpPr>
          <p:nvPr>
            <p:ph type="dt" sz="half" idx="10"/>
          </p:nvPr>
        </p:nvSpPr>
        <p:spPr/>
        <p:txBody>
          <a:bodyPr/>
          <a:lstStyle/>
          <a:p>
            <a:fld id="{AE7E38A5-0897-4509-B474-CA7BACA3876E}" type="datetimeFigureOut">
              <a:rPr lang="en-US" smtClean="0"/>
              <a:t>10/7/2026</a:t>
            </a:fld>
            <a:endParaRPr lang="en-US"/>
          </a:p>
        </p:txBody>
      </p:sp>
      <p:sp>
        <p:nvSpPr>
          <p:cNvPr id="5" name="Footer Placeholder 4">
            <a:extLst>
              <a:ext uri="{FF2B5EF4-FFF2-40B4-BE49-F238E27FC236}">
                <a16:creationId xmlns:a16="http://schemas.microsoft.com/office/drawing/2014/main" id="{90AFC055-00ED-86ED-9C00-23DE18ECAB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8B0205-9236-F40A-0142-178DCCE8C33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535083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4F1D0-DAB1-67E8-1B2F-73E26B789E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51E0F4-EFC3-E680-F6BE-0E77EFE3E5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3D891C-D277-DFAA-497C-2B8823A52BCA}"/>
              </a:ext>
            </a:extLst>
          </p:cNvPr>
          <p:cNvSpPr>
            <a:spLocks noGrp="1"/>
          </p:cNvSpPr>
          <p:nvPr>
            <p:ph type="dt" sz="half" idx="10"/>
          </p:nvPr>
        </p:nvSpPr>
        <p:spPr/>
        <p:txBody>
          <a:bodyPr/>
          <a:lstStyle/>
          <a:p>
            <a:fld id="{AE7E38A5-0897-4509-B474-CA7BACA3876E}" type="datetimeFigureOut">
              <a:rPr lang="en-US" smtClean="0"/>
              <a:t>10/7/2026</a:t>
            </a:fld>
            <a:endParaRPr lang="en-US"/>
          </a:p>
        </p:txBody>
      </p:sp>
      <p:sp>
        <p:nvSpPr>
          <p:cNvPr id="5" name="Footer Placeholder 4">
            <a:extLst>
              <a:ext uri="{FF2B5EF4-FFF2-40B4-BE49-F238E27FC236}">
                <a16:creationId xmlns:a16="http://schemas.microsoft.com/office/drawing/2014/main" id="{6F63FF4E-20C2-F541-1DAB-613C759BAF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1CAB07-57B8-0995-EE56-BB900832FFB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2088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9A6F8-85E3-4B22-2629-A5CD88BCA0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467E19-2A08-183A-315B-2C68CBD483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04FEB9-11F8-683F-4BCD-D299C05A43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7671DF-0476-B756-5E54-A09AD8F8BAE7}"/>
              </a:ext>
            </a:extLst>
          </p:cNvPr>
          <p:cNvSpPr>
            <a:spLocks noGrp="1"/>
          </p:cNvSpPr>
          <p:nvPr>
            <p:ph type="dt" sz="half" idx="10"/>
          </p:nvPr>
        </p:nvSpPr>
        <p:spPr/>
        <p:txBody>
          <a:bodyPr/>
          <a:lstStyle/>
          <a:p>
            <a:fld id="{AE7E38A5-0897-4509-B474-CA7BACA3876E}" type="datetimeFigureOut">
              <a:rPr lang="en-US" smtClean="0"/>
              <a:t>10/7/2026</a:t>
            </a:fld>
            <a:endParaRPr lang="en-US"/>
          </a:p>
        </p:txBody>
      </p:sp>
      <p:sp>
        <p:nvSpPr>
          <p:cNvPr id="6" name="Footer Placeholder 5">
            <a:extLst>
              <a:ext uri="{FF2B5EF4-FFF2-40B4-BE49-F238E27FC236}">
                <a16:creationId xmlns:a16="http://schemas.microsoft.com/office/drawing/2014/main" id="{4AC4C4BB-5CDA-73D0-C1DA-C42A6DE9F4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A1ABC2-6DE1-3D69-6A5D-C3CA3F61EB88}"/>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1466857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F1152-8B57-3EF5-D4C6-0E68766625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EA3013-0656-B7EA-B887-6A7B2A8570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D63B16-884B-1811-7BAE-21CA8A6B70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255C07-A3DB-F6DA-0F4A-E9B970AC63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87223D-1F4E-936C-E584-1AAB09D0A3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643326-229D-65B9-2C15-C2124F231C78}"/>
              </a:ext>
            </a:extLst>
          </p:cNvPr>
          <p:cNvSpPr>
            <a:spLocks noGrp="1"/>
          </p:cNvSpPr>
          <p:nvPr>
            <p:ph type="dt" sz="half" idx="10"/>
          </p:nvPr>
        </p:nvSpPr>
        <p:spPr/>
        <p:txBody>
          <a:bodyPr/>
          <a:lstStyle/>
          <a:p>
            <a:fld id="{AE7E38A5-0897-4509-B474-CA7BACA3876E}" type="datetimeFigureOut">
              <a:rPr lang="en-US" smtClean="0"/>
              <a:t>10/7/2026</a:t>
            </a:fld>
            <a:endParaRPr lang="en-US"/>
          </a:p>
        </p:txBody>
      </p:sp>
      <p:sp>
        <p:nvSpPr>
          <p:cNvPr id="8" name="Footer Placeholder 7">
            <a:extLst>
              <a:ext uri="{FF2B5EF4-FFF2-40B4-BE49-F238E27FC236}">
                <a16:creationId xmlns:a16="http://schemas.microsoft.com/office/drawing/2014/main" id="{E5F5B61B-ED00-86A7-6ACD-C43B67ACF90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119906-6F6F-6917-EF5E-B774E6919AA8}"/>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4036652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C6A1B-B2AF-E050-ECF5-ACC5B7AF4F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6D89E8-F0D6-0E88-9769-D89E6292FE8A}"/>
              </a:ext>
            </a:extLst>
          </p:cNvPr>
          <p:cNvSpPr>
            <a:spLocks noGrp="1"/>
          </p:cNvSpPr>
          <p:nvPr>
            <p:ph type="dt" sz="half" idx="10"/>
          </p:nvPr>
        </p:nvSpPr>
        <p:spPr/>
        <p:txBody>
          <a:bodyPr/>
          <a:lstStyle/>
          <a:p>
            <a:fld id="{AE7E38A5-0897-4509-B474-CA7BACA3876E}" type="datetimeFigureOut">
              <a:rPr lang="en-US" smtClean="0"/>
              <a:t>10/7/2026</a:t>
            </a:fld>
            <a:endParaRPr lang="en-US"/>
          </a:p>
        </p:txBody>
      </p:sp>
      <p:sp>
        <p:nvSpPr>
          <p:cNvPr id="4" name="Footer Placeholder 3">
            <a:extLst>
              <a:ext uri="{FF2B5EF4-FFF2-40B4-BE49-F238E27FC236}">
                <a16:creationId xmlns:a16="http://schemas.microsoft.com/office/drawing/2014/main" id="{892829C5-1B60-2268-F333-5B76066F89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AF9A2B-0D7A-2052-FFC8-8CBE90A14DEA}"/>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4266989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624D48-6995-0099-CD08-7A3FDDC78293}"/>
              </a:ext>
            </a:extLst>
          </p:cNvPr>
          <p:cNvSpPr>
            <a:spLocks noGrp="1"/>
          </p:cNvSpPr>
          <p:nvPr>
            <p:ph type="dt" sz="half" idx="10"/>
          </p:nvPr>
        </p:nvSpPr>
        <p:spPr/>
        <p:txBody>
          <a:bodyPr/>
          <a:lstStyle/>
          <a:p>
            <a:fld id="{AE7E38A5-0897-4509-B474-CA7BACA3876E}" type="datetimeFigureOut">
              <a:rPr lang="en-US" smtClean="0"/>
              <a:t>10/7/2026</a:t>
            </a:fld>
            <a:endParaRPr lang="en-US"/>
          </a:p>
        </p:txBody>
      </p:sp>
      <p:sp>
        <p:nvSpPr>
          <p:cNvPr id="3" name="Footer Placeholder 2">
            <a:extLst>
              <a:ext uri="{FF2B5EF4-FFF2-40B4-BE49-F238E27FC236}">
                <a16:creationId xmlns:a16="http://schemas.microsoft.com/office/drawing/2014/main" id="{C8EEC935-6C37-2907-F27F-AE46F371B85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2E360F-90C3-AD14-2358-FDAA383A91E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523614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657D0-E028-0FEC-8108-C43C000302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222123-834D-B3B6-8655-4F727434AC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6483FF-5EC4-3A43-0CAD-1E9C63C280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6F5EC1-48F3-74F5-A266-43E5E2B174E4}"/>
              </a:ext>
            </a:extLst>
          </p:cNvPr>
          <p:cNvSpPr>
            <a:spLocks noGrp="1"/>
          </p:cNvSpPr>
          <p:nvPr>
            <p:ph type="dt" sz="half" idx="10"/>
          </p:nvPr>
        </p:nvSpPr>
        <p:spPr/>
        <p:txBody>
          <a:bodyPr/>
          <a:lstStyle/>
          <a:p>
            <a:fld id="{AE7E38A5-0897-4509-B474-CA7BACA3876E}" type="datetimeFigureOut">
              <a:rPr lang="en-US" smtClean="0"/>
              <a:t>10/7/2026</a:t>
            </a:fld>
            <a:endParaRPr lang="en-US"/>
          </a:p>
        </p:txBody>
      </p:sp>
      <p:sp>
        <p:nvSpPr>
          <p:cNvPr id="6" name="Footer Placeholder 5">
            <a:extLst>
              <a:ext uri="{FF2B5EF4-FFF2-40B4-BE49-F238E27FC236}">
                <a16:creationId xmlns:a16="http://schemas.microsoft.com/office/drawing/2014/main" id="{F155FD67-83F7-52BD-E689-83B4411AC3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1C7BE6-67AB-39DB-47FB-E76563134D71}"/>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3913708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E4AD1-9B1D-6A0E-B035-2A091F8FBA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C267C1-026F-6542-5C48-B04F16F3C2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653625-A727-A9FB-C543-6910AD6867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DCE3EF-FE07-E44D-9BEE-561AE12BC6B1}"/>
              </a:ext>
            </a:extLst>
          </p:cNvPr>
          <p:cNvSpPr>
            <a:spLocks noGrp="1"/>
          </p:cNvSpPr>
          <p:nvPr>
            <p:ph type="dt" sz="half" idx="10"/>
          </p:nvPr>
        </p:nvSpPr>
        <p:spPr/>
        <p:txBody>
          <a:bodyPr/>
          <a:lstStyle/>
          <a:p>
            <a:fld id="{AE7E38A5-0897-4509-B474-CA7BACA3876E}" type="datetimeFigureOut">
              <a:rPr lang="en-US" smtClean="0"/>
              <a:t>10/7/2026</a:t>
            </a:fld>
            <a:endParaRPr lang="en-US"/>
          </a:p>
        </p:txBody>
      </p:sp>
      <p:sp>
        <p:nvSpPr>
          <p:cNvPr id="6" name="Footer Placeholder 5">
            <a:extLst>
              <a:ext uri="{FF2B5EF4-FFF2-40B4-BE49-F238E27FC236}">
                <a16:creationId xmlns:a16="http://schemas.microsoft.com/office/drawing/2014/main" id="{09148578-8457-617E-26C8-83CBD42AAD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0716A0-6376-1E8B-ACC0-3E99A468AADB}"/>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8478555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1CB6B-B40F-CD9E-5050-E8332EEE06E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8861BA-32AA-F138-FF9C-2534486911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BC3F75-3492-7080-C63D-3983901FBA19}"/>
              </a:ext>
            </a:extLst>
          </p:cNvPr>
          <p:cNvSpPr>
            <a:spLocks noGrp="1"/>
          </p:cNvSpPr>
          <p:nvPr>
            <p:ph type="dt" sz="half" idx="10"/>
          </p:nvPr>
        </p:nvSpPr>
        <p:spPr/>
        <p:txBody>
          <a:bodyPr/>
          <a:lstStyle/>
          <a:p>
            <a:fld id="{AE7E38A5-0897-4509-B474-CA7BACA3876E}" type="datetimeFigureOut">
              <a:rPr lang="en-US" smtClean="0"/>
              <a:t>10/7/2026</a:t>
            </a:fld>
            <a:endParaRPr lang="en-US"/>
          </a:p>
        </p:txBody>
      </p:sp>
      <p:sp>
        <p:nvSpPr>
          <p:cNvPr id="5" name="Footer Placeholder 4">
            <a:extLst>
              <a:ext uri="{FF2B5EF4-FFF2-40B4-BE49-F238E27FC236}">
                <a16:creationId xmlns:a16="http://schemas.microsoft.com/office/drawing/2014/main" id="{A161E4EE-94A7-4D60-6219-FE9FAEED38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F9FFF6-B663-682E-609B-32623E2A883E}"/>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2723808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BE4FA9-B5B0-671D-FF03-B5210A3B11F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E3531C-997D-F3F0-03A8-0A36E3B8A49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8CAC5E-DA02-76B9-65D8-7F5388545F99}"/>
              </a:ext>
            </a:extLst>
          </p:cNvPr>
          <p:cNvSpPr>
            <a:spLocks noGrp="1"/>
          </p:cNvSpPr>
          <p:nvPr>
            <p:ph type="dt" sz="half" idx="10"/>
          </p:nvPr>
        </p:nvSpPr>
        <p:spPr/>
        <p:txBody>
          <a:bodyPr/>
          <a:lstStyle/>
          <a:p>
            <a:fld id="{AE7E38A5-0897-4509-B474-CA7BACA3876E}" type="datetimeFigureOut">
              <a:rPr lang="en-US" smtClean="0"/>
              <a:t>10/7/2026</a:t>
            </a:fld>
            <a:endParaRPr lang="en-US"/>
          </a:p>
        </p:txBody>
      </p:sp>
      <p:sp>
        <p:nvSpPr>
          <p:cNvPr id="5" name="Footer Placeholder 4">
            <a:extLst>
              <a:ext uri="{FF2B5EF4-FFF2-40B4-BE49-F238E27FC236}">
                <a16:creationId xmlns:a16="http://schemas.microsoft.com/office/drawing/2014/main" id="{85B902A9-7AB1-C1FB-9260-FEB9B49CA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22E534-F0BB-DE3C-8762-F36B2DE8270B}"/>
              </a:ext>
            </a:extLst>
          </p:cNvPr>
          <p:cNvSpPr>
            <a:spLocks noGrp="1"/>
          </p:cNvSpPr>
          <p:nvPr>
            <p:ph type="sldNum" sz="quarter" idx="12"/>
          </p:nvPr>
        </p:nvSpPr>
        <p:spPr/>
        <p:txBody>
          <a:bodyPr/>
          <a:lstStyle/>
          <a:p>
            <a:fld id="{85FC66D7-084B-4B9E-8AAC-516FE602CE91}" type="slidenum">
              <a:rPr lang="en-US" smtClean="0"/>
              <a:t>‹#›</a:t>
            </a:fld>
            <a:endParaRPr lang="en-US"/>
          </a:p>
        </p:txBody>
      </p:sp>
    </p:spTree>
    <p:extLst>
      <p:ext uri="{BB962C8B-B14F-4D97-AF65-F5344CB8AC3E}">
        <p14:creationId xmlns:p14="http://schemas.microsoft.com/office/powerpoint/2010/main" val="4201919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7"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171040" y="0"/>
            <a:ext cx="2467880" cy="2057147"/>
          </a:xfrm>
          <a:prstGeom prst="rect">
            <a:avLst/>
          </a:prstGeom>
          <a:noFill/>
        </p:spPr>
      </p:pic>
      <p:grpSp>
        <p:nvGrpSpPr>
          <p:cNvPr id="8" name="组合 7"/>
          <p:cNvGrpSpPr/>
          <p:nvPr userDrawn="1"/>
        </p:nvGrpSpPr>
        <p:grpSpPr>
          <a:xfrm>
            <a:off x="0" y="6485001"/>
            <a:ext cx="12192000" cy="383243"/>
            <a:chOff x="0" y="4833033"/>
            <a:chExt cx="9144000" cy="287432"/>
          </a:xfrm>
        </p:grpSpPr>
        <p:sp>
          <p:nvSpPr>
            <p:cNvPr id="9" name="Text Box 2"/>
            <p:cNvSpPr txBox="1">
              <a:spLocks noChangeArrowheads="1"/>
            </p:cNvSpPr>
            <p:nvPr/>
          </p:nvSpPr>
          <p:spPr bwMode="auto">
            <a:xfrm>
              <a:off x="0" y="4835723"/>
              <a:ext cx="1763688" cy="284742"/>
            </a:xfrm>
            <a:prstGeom prst="rect">
              <a:avLst/>
            </a:prstGeom>
            <a:solidFill>
              <a:srgbClr val="DC0000"/>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0" name="Text Box 2"/>
            <p:cNvSpPr txBox="1">
              <a:spLocks noChangeArrowheads="1"/>
            </p:cNvSpPr>
            <p:nvPr/>
          </p:nvSpPr>
          <p:spPr bwMode="auto">
            <a:xfrm>
              <a:off x="1763688" y="4835723"/>
              <a:ext cx="7380312" cy="284742"/>
            </a:xfrm>
            <a:prstGeom prst="rect">
              <a:avLst/>
            </a:prstGeom>
            <a:solidFill>
              <a:srgbClr val="00288C"/>
            </a:solidFill>
            <a:ln w="9525">
              <a:noFill/>
              <a:miter lim="800000"/>
            </a:ln>
          </p:spPr>
          <p:txBody>
            <a:bodyPr wrap="square">
              <a:spAutoFit/>
            </a:bodyPr>
            <a:lstStyle/>
            <a:p>
              <a:pPr algn="ctr"/>
              <a:endParaRPr kumimoji="1" lang="en-US" altLang="zh-TW" sz="1865" dirty="0">
                <a:solidFill>
                  <a:schemeClr val="bg1"/>
                </a:solidFill>
                <a:latin typeface="Arial" panose="020B0604020202020204" pitchFamily="34" charset="0"/>
                <a:ea typeface="PMingLiU" pitchFamily="18" charset="-120"/>
                <a:cs typeface="Arial" panose="020B0604020202020204" pitchFamily="34" charset="0"/>
              </a:endParaRPr>
            </a:p>
          </p:txBody>
        </p:sp>
        <p:sp>
          <p:nvSpPr>
            <p:cNvPr id="11" name="矩形 10"/>
            <p:cNvSpPr/>
            <p:nvPr/>
          </p:nvSpPr>
          <p:spPr>
            <a:xfrm>
              <a:off x="0" y="4833033"/>
              <a:ext cx="9143999" cy="276999"/>
            </a:xfrm>
            <a:prstGeom prst="rect">
              <a:avLst/>
            </a:prstGeom>
          </p:spPr>
          <p:txBody>
            <a:bodyPr wrap="square">
              <a:spAutoFit/>
            </a:bodyPr>
            <a:lstStyle/>
            <a:p>
              <a:pPr algn="ctr"/>
              <a:r>
                <a:rPr kumimoji="1" lang="en-US" altLang="zh-TW" sz="1800" dirty="0">
                  <a:solidFill>
                    <a:schemeClr val="bg1"/>
                  </a:solidFill>
                  <a:latin typeface="Arial" panose="020B0604020202020204" pitchFamily="34" charset="0"/>
                  <a:ea typeface="PMingLiU" pitchFamily="18" charset="-120"/>
                  <a:cs typeface="Arial" panose="020B0604020202020204" pitchFamily="34" charset="0"/>
                </a:rPr>
                <a:t>www.afrmilan.com</a:t>
              </a:r>
            </a:p>
          </p:txBody>
        </p:sp>
      </p:grpSp>
    </p:spTree>
    <p:extLst>
      <p:ext uri="{BB962C8B-B14F-4D97-AF65-F5344CB8AC3E}">
        <p14:creationId xmlns:p14="http://schemas.microsoft.com/office/powerpoint/2010/main" val="1290299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grpSp>
        <p:nvGrpSpPr>
          <p:cNvPr id="9" name="组合 61"/>
          <p:cNvGrpSpPr/>
          <p:nvPr userDrawn="1"/>
        </p:nvGrpSpPr>
        <p:grpSpPr>
          <a:xfrm>
            <a:off x="631357" y="453550"/>
            <a:ext cx="996088" cy="0"/>
            <a:chOff x="707557" y="548800"/>
            <a:chExt cx="996088" cy="0"/>
          </a:xfrm>
        </p:grpSpPr>
        <p:cxnSp>
          <p:nvCxnSpPr>
            <p:cNvPr id="10" name="直接连接符 9"/>
            <p:cNvCxnSpPr/>
            <p:nvPr/>
          </p:nvCxnSpPr>
          <p:spPr bwMode="auto">
            <a:xfrm>
              <a:off x="707557" y="548800"/>
              <a:ext cx="299539" cy="0"/>
            </a:xfrm>
            <a:prstGeom prst="line">
              <a:avLst/>
            </a:prstGeom>
            <a:solidFill>
              <a:schemeClr val="accent1"/>
            </a:solidFill>
            <a:ln w="25400" cap="flat" cmpd="sng" algn="ctr">
              <a:solidFill>
                <a:srgbClr val="F20013"/>
              </a:solidFill>
              <a:prstDash val="solid"/>
              <a:round/>
              <a:headEnd type="none" w="med" len="med"/>
              <a:tailEnd type="none" w="med" len="med"/>
            </a:ln>
            <a:effectLst/>
          </p:spPr>
        </p:cxnSp>
        <p:cxnSp>
          <p:nvCxnSpPr>
            <p:cNvPr id="12" name="直接连接符 11"/>
            <p:cNvCxnSpPr/>
            <p:nvPr/>
          </p:nvCxnSpPr>
          <p:spPr bwMode="auto">
            <a:xfrm>
              <a:off x="983645" y="548800"/>
              <a:ext cx="720000" cy="0"/>
            </a:xfrm>
            <a:prstGeom prst="line">
              <a:avLst/>
            </a:prstGeom>
            <a:solidFill>
              <a:schemeClr val="accent1"/>
            </a:solidFill>
            <a:ln w="25400" cap="flat" cmpd="sng" algn="ctr">
              <a:solidFill>
                <a:srgbClr val="0E2268"/>
              </a:solidFill>
              <a:prstDash val="solid"/>
              <a:round/>
              <a:headEnd type="none" w="med" len="med"/>
              <a:tailEnd type="none" w="med" len="med"/>
            </a:ln>
            <a:effectLst/>
          </p:spPr>
        </p:cxnSp>
      </p:grpSp>
      <p:grpSp>
        <p:nvGrpSpPr>
          <p:cNvPr id="13" name="组合 12"/>
          <p:cNvGrpSpPr/>
          <p:nvPr userDrawn="1"/>
        </p:nvGrpSpPr>
        <p:grpSpPr>
          <a:xfrm>
            <a:off x="10607281" y="233681"/>
            <a:ext cx="1177119" cy="900000"/>
            <a:chOff x="7955458" y="175261"/>
            <a:chExt cx="882839" cy="675000"/>
          </a:xfrm>
        </p:grpSpPr>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32060" t="23787" r="27970" b="32989"/>
            <a:stretch>
              <a:fillRect/>
            </a:stretch>
          </p:blipFill>
          <p:spPr>
            <a:xfrm>
              <a:off x="7955458" y="175261"/>
              <a:ext cx="882839" cy="675000"/>
            </a:xfrm>
            <a:prstGeom prst="rect">
              <a:avLst/>
            </a:prstGeom>
          </p:spPr>
        </p:pic>
        <p:sp>
          <p:nvSpPr>
            <p:cNvPr id="15" name="椭圆 14"/>
            <p:cNvSpPr/>
            <p:nvPr userDrawn="1"/>
          </p:nvSpPr>
          <p:spPr>
            <a:xfrm>
              <a:off x="8676456" y="195486"/>
              <a:ext cx="144016" cy="1440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grpSp>
    </p:spTree>
    <p:extLst>
      <p:ext uri="{BB962C8B-B14F-4D97-AF65-F5344CB8AC3E}">
        <p14:creationId xmlns:p14="http://schemas.microsoft.com/office/powerpoint/2010/main" val="392114549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27BB2C-76DC-90AF-74E8-5CA2C51AF7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12E614-5C6F-DC4C-07CD-F948CDE441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8B5F60-52FA-13B8-32F6-4BFCF5859E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7E38A5-0897-4509-B474-CA7BACA3876E}" type="datetimeFigureOut">
              <a:rPr lang="en-US" smtClean="0"/>
              <a:t>10/7/2026</a:t>
            </a:fld>
            <a:endParaRPr lang="en-US"/>
          </a:p>
        </p:txBody>
      </p:sp>
      <p:sp>
        <p:nvSpPr>
          <p:cNvPr id="5" name="Footer Placeholder 4">
            <a:extLst>
              <a:ext uri="{FF2B5EF4-FFF2-40B4-BE49-F238E27FC236}">
                <a16:creationId xmlns:a16="http://schemas.microsoft.com/office/drawing/2014/main" id="{4F57BDF0-920C-8B79-6328-4F4CFFA1E3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A440653-7ED0-A2A9-6425-DC06C7BEE1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FC66D7-084B-4B9E-8AAC-516FE602CE91}" type="slidenum">
              <a:rPr lang="en-US" smtClean="0"/>
              <a:t>‹#›</a:t>
            </a:fld>
            <a:endParaRPr lang="en-US"/>
          </a:p>
        </p:txBody>
      </p:sp>
    </p:spTree>
    <p:extLst>
      <p:ext uri="{BB962C8B-B14F-4D97-AF65-F5344CB8AC3E}">
        <p14:creationId xmlns:p14="http://schemas.microsoft.com/office/powerpoint/2010/main" val="718418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chart" Target="../charts/chart2.xml"/><Relationship Id="rId5"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chart" Target="../charts/char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chart" Target="../charts/chart7.xml"/><Relationship Id="rId4" Type="http://schemas.openxmlformats.org/officeDocument/2006/relationships/chart" Target="../charts/chart8.xml"/><Relationship Id="rId5" Type="http://schemas.openxmlformats.org/officeDocument/2006/relationships/chart" Target="../charts/chart9.xml"/><Relationship Id="rId6" Type="http://schemas.openxmlformats.org/officeDocument/2006/relationships/chart" Target="../charts/char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chart" Target="../charts/chart11.xml"/><Relationship Id="rId4" Type="http://schemas.openxmlformats.org/officeDocument/2006/relationships/chart" Target="../charts/char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chart" Target="../charts/char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chart" Target="../charts/char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chart" Target="../charts/char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chart" Target="../charts/char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chart" Target="../charts/chart17.xml"/><Relationship Id="rId4" Type="http://schemas.openxmlformats.org/officeDocument/2006/relationships/chart" Target="../charts/char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chart" Target="../charts/chart19.xml"/><Relationship Id="rId4" Type="http://schemas.openxmlformats.org/officeDocument/2006/relationships/chart" Target="../charts/char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chart" Target="../charts/chart2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80160" y="2148840"/>
            <a:ext cx="9601200" cy="2194560"/>
          </a:xfrm>
          <a:prstGeom prst="rect">
            <a:avLst/>
          </a:prstGeom>
          <a:noFill/>
        </p:spPr>
        <p:txBody>
          <a:bodyPr wrap="square" lIns="45720" tIns="27432" rIns="45720" bIns="27432" anchor="t">
            <a:spAutoFit/>
          </a:bodyPr>
          <a:lstStyle/>
          <a:p>
            <a:pPr algn="ctr">
              <a:spcAft>
                <a:spcPts val="600"/>
              </a:spcAft>
            </a:pPr>
            <a:r>
              <a:rPr sz="3200" b="1" i="0">
                <a:solidFill>
                  <a:srgbClr val="222222"/>
                </a:solidFill>
                <a:latin typeface="Arial"/>
              </a:rPr>
              <a:t>Lifted electrodes on a SiO₂ buffer:</a:t>
            </a:r>
          </a:p>
          <a:p>
            <a:pPr algn="ctr">
              <a:spcAft>
                <a:spcPts val="600"/>
              </a:spcAft>
            </a:pPr>
            <a:r>
              <a:rPr sz="2800" b="1" i="0">
                <a:solidFill>
                  <a:srgbClr val="222222"/>
                </a:solidFill>
                <a:latin typeface="Arial"/>
              </a:rPr>
              <a:t>removing the lift-position standing wave</a:t>
            </a:r>
          </a:p>
          <a:p>
            <a:pPr algn="ctr">
              <a:spcAft>
                <a:spcPts val="600"/>
              </a:spcAft>
            </a:pPr>
            <a:r>
              <a:rPr sz="2000" b="0" i="0">
                <a:solidFill>
                  <a:srgbClr val="595959"/>
                </a:solidFill>
                <a:latin typeface="Arial"/>
              </a:rPr>
              <a:t>femwell / scikit-fem eigenmode study at λ = 1575 nm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Lifting the gold: same Vπ·L, but IL oscillates with x_lift</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Cordoba (gold flat on the LN slab) vs Lisbon (gold lifted onto SiO₂ at x_lift), both with a 4.2 µm gap</a:t>
            </a:r>
          </a:p>
        </p:txBody>
      </p:sp>
      <p:sp>
        <p:nvSpPr>
          <p:cNvPr id="4" name="TextBox 3"/>
          <p:cNvSpPr txBox="1"/>
          <p:nvPr/>
        </p:nvSpPr>
        <p:spPr>
          <a:xfrm>
            <a:off x="411480" y="1536192"/>
            <a:ext cx="5943600" cy="292608"/>
          </a:xfrm>
          <a:prstGeom prst="rect">
            <a:avLst/>
          </a:prstGeom>
          <a:noFill/>
        </p:spPr>
        <p:txBody>
          <a:bodyPr wrap="square" lIns="45720" tIns="27432" rIns="45720" bIns="27432" anchor="t">
            <a:spAutoFit/>
          </a:bodyPr>
          <a:lstStyle/>
          <a:p>
            <a:pPr algn="l">
              <a:spcAft>
                <a:spcPts val="0"/>
              </a:spcAft>
            </a:pPr>
            <a:r>
              <a:rPr sz="1300" b="1" i="0">
                <a:solidFill>
                  <a:srgbClr val="1F4E79"/>
                </a:solidFill>
                <a:latin typeface="Arial"/>
              </a:rPr>
              <a:t>Cordoba (legacy)</a:t>
            </a:r>
          </a:p>
        </p:txBody>
      </p:sp>
      <p:pic>
        <p:nvPicPr>
          <p:cNvPr id="5" name="Picture 4" descr="geomd_legacy.png"/>
          <p:cNvPicPr>
            <a:picLocks noChangeAspect="1"/>
          </p:cNvPicPr>
          <p:nvPr/>
        </p:nvPicPr>
        <p:blipFill>
          <a:blip r:embed="rId3"/>
          <a:stretch>
            <a:fillRect/>
          </a:stretch>
        </p:blipFill>
        <p:spPr>
          <a:xfrm>
            <a:off x="411480" y="1810512"/>
            <a:ext cx="5943600" cy="984504"/>
          </a:xfrm>
          <a:prstGeom prst="rect">
            <a:avLst/>
          </a:prstGeom>
        </p:spPr>
      </p:pic>
      <p:sp>
        <p:nvSpPr>
          <p:cNvPr id="6" name="TextBox 5"/>
          <p:cNvSpPr txBox="1"/>
          <p:nvPr/>
        </p:nvSpPr>
        <p:spPr>
          <a:xfrm>
            <a:off x="411480" y="2852928"/>
            <a:ext cx="5943600" cy="292608"/>
          </a:xfrm>
          <a:prstGeom prst="rect">
            <a:avLst/>
          </a:prstGeom>
          <a:noFill/>
        </p:spPr>
        <p:txBody>
          <a:bodyPr wrap="square" lIns="45720" tIns="27432" rIns="45720" bIns="27432" anchor="t">
            <a:spAutoFit/>
          </a:bodyPr>
          <a:lstStyle/>
          <a:p>
            <a:pPr algn="l">
              <a:spcAft>
                <a:spcPts val="0"/>
              </a:spcAft>
            </a:pPr>
            <a:r>
              <a:rPr sz="1300" b="1" i="0" dirty="0">
                <a:solidFill>
                  <a:srgbClr val="1F4E79"/>
                </a:solidFill>
                <a:latin typeface="Arial"/>
              </a:rPr>
              <a:t>Lisbon (lifted)</a:t>
            </a:r>
          </a:p>
        </p:txBody>
      </p:sp>
      <p:pic>
        <p:nvPicPr>
          <p:cNvPr id="7" name="Picture 6" descr="geomd_lifted.png"/>
          <p:cNvPicPr>
            <a:picLocks noChangeAspect="1"/>
          </p:cNvPicPr>
          <p:nvPr/>
        </p:nvPicPr>
        <p:blipFill>
          <a:blip r:embed="rId4"/>
          <a:stretch>
            <a:fillRect/>
          </a:stretch>
        </p:blipFill>
        <p:spPr>
          <a:xfrm>
            <a:off x="411480" y="3108960"/>
            <a:ext cx="5943600" cy="1996440"/>
          </a:xfrm>
          <a:prstGeom prst="rect">
            <a:avLst/>
          </a:prstGeom>
        </p:spPr>
      </p:pic>
      <p:sp>
        <p:nvSpPr>
          <p:cNvPr id="8" name="Rounded Rectangle 7"/>
          <p:cNvSpPr/>
          <p:nvPr/>
        </p:nvSpPr>
        <p:spPr>
          <a:xfrm>
            <a:off x="411480" y="5285232"/>
            <a:ext cx="2880360" cy="10972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5379346"/>
            <a:ext cx="2880360" cy="455509"/>
          </a:xfrm>
          <a:prstGeom prst="rect">
            <a:avLst/>
          </a:prstGeom>
          <a:noFill/>
        </p:spPr>
        <p:txBody>
          <a:bodyPr wrap="square" lIns="45720" tIns="27432" rIns="45720" bIns="27432" anchor="ctr">
            <a:spAutoFit/>
          </a:bodyPr>
          <a:lstStyle/>
          <a:p>
            <a:pPr algn="ctr">
              <a:spcAft>
                <a:spcPts val="0"/>
              </a:spcAft>
            </a:pPr>
            <a:r>
              <a:rPr sz="2600" b="1" i="0" dirty="0">
                <a:solidFill>
                  <a:srgbClr val="1F4E79"/>
                </a:solidFill>
                <a:latin typeface="Arial"/>
              </a:rPr>
              <a:t>2.26 | 2.26</a:t>
            </a:r>
          </a:p>
        </p:txBody>
      </p:sp>
      <p:sp>
        <p:nvSpPr>
          <p:cNvPr id="10" name="TextBox 9"/>
          <p:cNvSpPr txBox="1"/>
          <p:nvPr/>
        </p:nvSpPr>
        <p:spPr>
          <a:xfrm>
            <a:off x="484632" y="5877763"/>
            <a:ext cx="2734056" cy="393954"/>
          </a:xfrm>
          <a:prstGeom prst="rect">
            <a:avLst/>
          </a:prstGeom>
          <a:noFill/>
        </p:spPr>
        <p:txBody>
          <a:bodyPr wrap="square" lIns="45720" tIns="27432" rIns="45720" bIns="27432" anchor="t">
            <a:spAutoFit/>
          </a:bodyPr>
          <a:lstStyle/>
          <a:p>
            <a:pPr algn="ctr">
              <a:spcAft>
                <a:spcPts val="0"/>
              </a:spcAft>
            </a:pPr>
            <a:r>
              <a:rPr sz="1100" b="0" i="0" dirty="0">
                <a:solidFill>
                  <a:srgbClr val="595959"/>
                </a:solidFill>
                <a:latin typeface="Arial"/>
              </a:rPr>
              <a:t>Vπ·L [</a:t>
            </a:r>
            <a:r>
              <a:rPr sz="1100" b="0" i="0" dirty="0" err="1">
                <a:solidFill>
                  <a:srgbClr val="595959"/>
                </a:solidFill>
                <a:latin typeface="Arial"/>
              </a:rPr>
              <a:t>V·cm</a:t>
            </a:r>
            <a:r>
              <a:rPr sz="1100" b="0" i="0" dirty="0">
                <a:solidFill>
                  <a:srgbClr val="595959"/>
                </a:solidFill>
                <a:latin typeface="Arial"/>
              </a:rPr>
              <a:t>], Cordoba | Lisbon</a:t>
            </a:r>
          </a:p>
          <a:p>
            <a:pPr algn="ctr">
              <a:spcAft>
                <a:spcPts val="0"/>
              </a:spcAft>
            </a:pPr>
            <a:r>
              <a:rPr sz="1100" b="0" i="0" dirty="0">
                <a:solidFill>
                  <a:srgbClr val="595959"/>
                </a:solidFill>
                <a:latin typeface="Arial"/>
              </a:rPr>
              <a:t>identical</a:t>
            </a:r>
          </a:p>
        </p:txBody>
      </p:sp>
      <p:sp>
        <p:nvSpPr>
          <p:cNvPr id="11" name="Rounded Rectangle 10"/>
          <p:cNvSpPr/>
          <p:nvPr/>
        </p:nvSpPr>
        <p:spPr>
          <a:xfrm>
            <a:off x="3474720" y="5285232"/>
            <a:ext cx="2880360" cy="109728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0" y="5321808"/>
            <a:ext cx="2880360" cy="570585"/>
          </a:xfrm>
          <a:prstGeom prst="rect">
            <a:avLst/>
          </a:prstGeom>
          <a:noFill/>
        </p:spPr>
        <p:txBody>
          <a:bodyPr wrap="square" lIns="45720" tIns="27432" rIns="45720" bIns="27432" anchor="ctr">
            <a:spAutoFit/>
          </a:bodyPr>
          <a:lstStyle/>
          <a:p>
            <a:pPr algn="ctr">
              <a:spcAft>
                <a:spcPts val="0"/>
              </a:spcAft>
            </a:pPr>
            <a:r>
              <a:rPr sz="2600" b="1" i="0">
                <a:solidFill>
                  <a:srgbClr val="C0262D"/>
                </a:solidFill>
                <a:latin typeface="Arial"/>
              </a:rPr>
              <a:t>+80 %</a:t>
            </a:r>
          </a:p>
        </p:txBody>
      </p:sp>
      <p:sp>
        <p:nvSpPr>
          <p:cNvPr id="13" name="TextBox 12"/>
          <p:cNvSpPr txBox="1"/>
          <p:nvPr/>
        </p:nvSpPr>
        <p:spPr>
          <a:xfrm>
            <a:off x="3547872" y="5877763"/>
            <a:ext cx="2734056" cy="482803"/>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IL for a 100 nm shift of x_lift</a:t>
            </a:r>
          </a:p>
          <a:p>
            <a:pPr algn="ctr">
              <a:spcAft>
                <a:spcPts val="0"/>
              </a:spcAft>
            </a:pPr>
            <a:r>
              <a:rPr sz="1100" b="0" i="0">
                <a:solidFill>
                  <a:srgbClr val="595959"/>
                </a:solidFill>
                <a:latin typeface="Arial"/>
              </a:rPr>
              <a:t>(7.1 → 7.2 µm: 0.33 → 0.60 dB/cm)</a:t>
            </a:r>
          </a:p>
        </p:txBody>
      </p:sp>
      <p:graphicFrame>
        <p:nvGraphicFramePr>
          <p:cNvPr id="14" name="Chart 13"/>
          <p:cNvGraphicFramePr>
            <a:graphicFrameLocks noGrp="1"/>
          </p:cNvGraphicFramePr>
          <p:nvPr/>
        </p:nvGraphicFramePr>
        <p:xfrm>
          <a:off x="6537960" y="1481328"/>
          <a:ext cx="5303520" cy="3063240"/>
        </p:xfrm>
        <a:graphic>
          <a:graphicData uri="http://schemas.openxmlformats.org/drawingml/2006/chart">
            <c:chart xmlns:c="http://schemas.openxmlformats.org/drawingml/2006/chart" xmlns:r="http://schemas.openxmlformats.org/officeDocument/2006/relationships" r:id="rId5"/>
          </a:graphicData>
        </a:graphic>
      </p:graphicFrame>
      <p:sp>
        <p:nvSpPr>
          <p:cNvPr id="15" name="Rounded Rectangle 14"/>
          <p:cNvSpPr/>
          <p:nvPr/>
        </p:nvSpPr>
        <p:spPr>
          <a:xfrm>
            <a:off x="6537960" y="4617720"/>
            <a:ext cx="5303520" cy="1810512"/>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t"/>
          <a:lstStyle/>
          <a:p>
            <a:pPr algn="l">
              <a:spcAft>
                <a:spcPts val="500"/>
              </a:spcAft>
            </a:pPr>
            <a:r>
              <a:rPr sz="1100" b="1" i="0">
                <a:solidFill>
                  <a:srgbClr val="1F4E79"/>
                </a:solidFill>
                <a:latin typeface="Arial"/>
              </a:rPr>
              <a:t>Lateral Fabry–Pérot cavity </a:t>
            </a:r>
            <a:r>
              <a:rPr sz="1100" b="0" i="0">
                <a:solidFill>
                  <a:srgbClr val="222222"/>
                </a:solidFill>
                <a:latin typeface="Arial"/>
              </a:rPr>
              <a:t>(gap edge ↔ gold/oxide step), L = x_lift − gap/2:</a:t>
            </a:r>
          </a:p>
          <a:p>
            <a:pPr algn="l">
              <a:spcAft>
                <a:spcPts val="500"/>
              </a:spcAft>
            </a:pPr>
            <a:r>
              <a:rPr sz="1100" b="0" i="0">
                <a:solidFill>
                  <a:srgbClr val="222222"/>
                </a:solidFill>
                <a:latin typeface="Arial"/>
              </a:rPr>
              <a:t>IL = IL</a:t>
            </a:r>
            <a:r>
              <a:rPr sz="1100" b="0" i="0" baseline="-25000">
                <a:solidFill>
                  <a:srgbClr val="222222"/>
                </a:solidFill>
                <a:latin typeface="Arial"/>
              </a:rPr>
              <a:t>∞</a:t>
            </a:r>
            <a:r>
              <a:rPr sz="1100" b="0" i="0">
                <a:solidFill>
                  <a:srgbClr val="222222"/>
                </a:solidFill>
                <a:latin typeface="Arial"/>
              </a:rPr>
              <a:t> (1 − ρ²) / (1 − 2ρ cos(2k</a:t>
            </a:r>
            <a:r>
              <a:rPr sz="1100" b="0" i="0" baseline="-25000">
                <a:solidFill>
                  <a:srgbClr val="222222"/>
                </a:solidFill>
                <a:latin typeface="Arial"/>
              </a:rPr>
              <a:t>x</a:t>
            </a:r>
            <a:r>
              <a:rPr sz="1100" b="0" i="0">
                <a:solidFill>
                  <a:srgbClr val="222222"/>
                </a:solidFill>
                <a:latin typeface="Arial"/>
              </a:rPr>
              <a:t>L + φ) + ρ²),   ρ = ρ</a:t>
            </a:r>
            <a:r>
              <a:rPr sz="1100" b="0" i="0" baseline="-25000">
                <a:solidFill>
                  <a:srgbClr val="222222"/>
                </a:solidFill>
                <a:latin typeface="Arial"/>
              </a:rPr>
              <a:t>0</a:t>
            </a:r>
            <a:r>
              <a:rPr sz="1100" b="0" i="0">
                <a:solidFill>
                  <a:srgbClr val="222222"/>
                </a:solidFill>
                <a:latin typeface="Arial"/>
              </a:rPr>
              <a:t> e^(−2α</a:t>
            </a:r>
            <a:r>
              <a:rPr sz="1100" b="0" i="0" baseline="-25000">
                <a:solidFill>
                  <a:srgbClr val="222222"/>
                </a:solidFill>
                <a:latin typeface="Arial"/>
              </a:rPr>
              <a:t>x</a:t>
            </a:r>
            <a:r>
              <a:rPr sz="1100" b="0" i="0">
                <a:solidFill>
                  <a:srgbClr val="222222"/>
                </a:solidFill>
                <a:latin typeface="Arial"/>
              </a:rPr>
              <a:t>L)</a:t>
            </a:r>
          </a:p>
          <a:p>
            <a:pPr algn="l">
              <a:spcAft>
                <a:spcPts val="500"/>
              </a:spcAft>
            </a:pPr>
            <a:r>
              <a:rPr sz="1100" b="0" i="0">
                <a:solidFill>
                  <a:srgbClr val="222222"/>
                </a:solidFill>
                <a:latin typeface="Arial"/>
              </a:rPr>
              <a:t>k</a:t>
            </a:r>
            <a:r>
              <a:rPr sz="1100" b="0" i="0" baseline="-25000">
                <a:solidFill>
                  <a:srgbClr val="222222"/>
                </a:solidFill>
                <a:latin typeface="Arial"/>
              </a:rPr>
              <a:t>x</a:t>
            </a:r>
            <a:r>
              <a:rPr sz="1100" b="0" i="0">
                <a:solidFill>
                  <a:srgbClr val="222222"/>
                </a:solidFill>
                <a:latin typeface="Arial"/>
              </a:rPr>
              <a:t>, α</a:t>
            </a:r>
            <a:r>
              <a:rPr sz="1100" b="0" i="0" baseline="-25000">
                <a:solidFill>
                  <a:srgbClr val="222222"/>
                </a:solidFill>
                <a:latin typeface="Arial"/>
              </a:rPr>
              <a:t>x</a:t>
            </a:r>
            <a:r>
              <a:rPr sz="1100" b="0" i="0">
                <a:solidFill>
                  <a:srgbClr val="222222"/>
                </a:solidFill>
                <a:latin typeface="Arial"/>
              </a:rPr>
              <a:t>: lateral wavenumber and gold absorption of the wave under the gold. Envelopes IL</a:t>
            </a:r>
            <a:r>
              <a:rPr sz="1100" b="0" i="0" baseline="-25000">
                <a:solidFill>
                  <a:srgbClr val="222222"/>
                </a:solidFill>
                <a:latin typeface="Arial"/>
              </a:rPr>
              <a:t>∞</a:t>
            </a:r>
            <a:r>
              <a:rPr sz="1100" b="0" i="0">
                <a:solidFill>
                  <a:srgbClr val="222222"/>
                </a:solidFill>
                <a:latin typeface="Arial"/>
              </a:rPr>
              <a:t>(1 ± ρ)/(1 ∓ ρ) converge to IL</a:t>
            </a:r>
            <a:r>
              <a:rPr sz="1100" b="0" i="0" baseline="-25000">
                <a:solidFill>
                  <a:srgbClr val="222222"/>
                </a:solidFill>
                <a:latin typeface="Arial"/>
              </a:rPr>
              <a:t>∞</a:t>
            </a:r>
            <a:r>
              <a:rPr sz="1100" b="0" i="0">
                <a:solidFill>
                  <a:srgbClr val="222222"/>
                </a:solidFill>
                <a:latin typeface="Arial"/>
              </a:rPr>
              <a:t>.</a:t>
            </a:r>
          </a:p>
          <a:p>
            <a:pPr algn="l">
              <a:spcAft>
                <a:spcPts val="500"/>
              </a:spcAft>
            </a:pPr>
            <a:r>
              <a:rPr sz="1100" b="1" i="0">
                <a:solidFill>
                  <a:srgbClr val="1F4E79"/>
                </a:solidFill>
                <a:latin typeface="Arial"/>
              </a:rPr>
              <a:t>Fit (rms 0.002 dB/cm): </a:t>
            </a:r>
            <a:r>
              <a:rPr sz="1100" b="0" i="0">
                <a:solidFill>
                  <a:srgbClr val="222222"/>
                </a:solidFill>
                <a:latin typeface="Arial"/>
              </a:rPr>
              <a:t>IL</a:t>
            </a:r>
            <a:r>
              <a:rPr sz="1100" b="0" i="0" baseline="-25000">
                <a:solidFill>
                  <a:srgbClr val="222222"/>
                </a:solidFill>
                <a:latin typeface="Arial"/>
              </a:rPr>
              <a:t>∞</a:t>
            </a:r>
            <a:r>
              <a:rPr sz="1100" b="0" i="0">
                <a:solidFill>
                  <a:srgbClr val="222222"/>
                </a:solidFill>
                <a:latin typeface="Arial"/>
              </a:rPr>
              <a:t> = 0.41 dB/cm (Cordoba 0.42); 2α</a:t>
            </a:r>
            <a:r>
              <a:rPr sz="1100" b="0" i="0" baseline="-25000">
                <a:solidFill>
                  <a:srgbClr val="222222"/>
                </a:solidFill>
                <a:latin typeface="Arial"/>
              </a:rPr>
              <a:t>x</a:t>
            </a:r>
            <a:r>
              <a:rPr sz="1100" b="0" i="0">
                <a:solidFill>
                  <a:srgbClr val="222222"/>
                </a:solidFill>
                <a:latin typeface="Arial"/>
              </a:rPr>
              <a:t> = 0.175 µm⁻¹, π/k</a:t>
            </a:r>
            <a:r>
              <a:rPr sz="1100" b="0" i="0" baseline="-25000">
                <a:solidFill>
                  <a:srgbClr val="222222"/>
                </a:solidFill>
                <a:latin typeface="Arial"/>
              </a:rPr>
              <a:t>x</a:t>
            </a:r>
            <a:r>
              <a:rPr sz="1100" b="0" i="0">
                <a:solidFill>
                  <a:srgbClr val="222222"/>
                </a:solidFill>
                <a:latin typeface="Arial"/>
              </a:rPr>
              <a:t> = 0.895 µm, vs 0.181 µm⁻¹ and 0.91 µm predicted by its 1D index.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Origin: a standing wave in a lateral cavity under the gold</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Only the gold-covered slab carries a lateral wave faster than the rib mode; the lift closes the cavity</a:t>
            </a:r>
          </a:p>
        </p:txBody>
      </p:sp>
      <p:pic>
        <p:nvPicPr>
          <p:cNvPr id="4" name="Picture 3" descr="image5.png"/>
          <p:cNvPicPr>
            <a:picLocks noChangeAspect="1"/>
          </p:cNvPicPr>
          <p:nvPr/>
        </p:nvPicPr>
        <p:blipFill>
          <a:blip r:embed="rId3"/>
          <a:stretch>
            <a:fillRect/>
          </a:stretch>
        </p:blipFill>
        <p:spPr>
          <a:xfrm>
            <a:off x="365760" y="1481328"/>
            <a:ext cx="5486400" cy="2231699"/>
          </a:xfrm>
          <a:prstGeom prst="rect">
            <a:avLst/>
          </a:prstGeom>
        </p:spPr>
      </p:pic>
      <p:pic>
        <p:nvPicPr>
          <p:cNvPr id="7" name="Picture 6" descr="fieldmaps2.png"/>
          <p:cNvPicPr>
            <a:picLocks noChangeAspect="1"/>
          </p:cNvPicPr>
          <p:nvPr/>
        </p:nvPicPr>
        <p:blipFill>
          <a:blip r:embed="rId4"/>
          <a:stretch>
            <a:fillRect/>
          </a:stretch>
        </p:blipFill>
        <p:spPr>
          <a:xfrm>
            <a:off x="6339840" y="1801368"/>
            <a:ext cx="5486400" cy="3670578"/>
          </a:xfrm>
          <a:prstGeom prst="rect">
            <a:avLst/>
          </a:prstGeom>
        </p:spPr>
      </p:pic>
      <p:sp>
        <p:nvSpPr>
          <p:cNvPr id="8" name="Rounded Rectangle 7"/>
          <p:cNvSpPr/>
          <p:nvPr/>
        </p:nvSpPr>
        <p:spPr>
          <a:xfrm>
            <a:off x="502920" y="4352544"/>
            <a:ext cx="5486400" cy="1298448"/>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t"/>
          <a:lstStyle/>
          <a:p>
            <a:pPr algn="l">
              <a:spcAft>
                <a:spcPts val="500"/>
              </a:spcAft>
            </a:pPr>
            <a:r>
              <a:rPr sz="1200" b="1" i="0" dirty="0">
                <a:solidFill>
                  <a:srgbClr val="1F4E79"/>
                </a:solidFill>
                <a:latin typeface="Arial"/>
              </a:rPr>
              <a:t>Why 0.9 µm? </a:t>
            </a:r>
            <a:r>
              <a:rPr sz="1200" b="0" i="0" dirty="0">
                <a:solidFill>
                  <a:srgbClr val="222222"/>
                </a:solidFill>
                <a:latin typeface="Arial"/>
              </a:rPr>
              <a:t>Λ = λ / (2√(n</a:t>
            </a:r>
            <a:r>
              <a:rPr sz="1200" b="0" i="0" baseline="-25000" dirty="0">
                <a:solidFill>
                  <a:srgbClr val="222222"/>
                </a:solidFill>
                <a:latin typeface="Arial"/>
              </a:rPr>
              <a:t>Au</a:t>
            </a:r>
            <a:r>
              <a:rPr sz="1200" b="0" i="0" dirty="0">
                <a:solidFill>
                  <a:srgbClr val="222222"/>
                </a:solidFill>
                <a:latin typeface="Arial"/>
              </a:rPr>
              <a:t>² − n</a:t>
            </a:r>
            <a:r>
              <a:rPr sz="1200" b="0" i="0" baseline="-25000" dirty="0">
                <a:solidFill>
                  <a:srgbClr val="222222"/>
                </a:solidFill>
                <a:latin typeface="Arial"/>
              </a:rPr>
              <a:t>rib</a:t>
            </a:r>
            <a:r>
              <a:rPr sz="1200" b="0" i="0" dirty="0">
                <a:solidFill>
                  <a:srgbClr val="222222"/>
                </a:solidFill>
                <a:latin typeface="Arial"/>
              </a:rPr>
              <a:t>²)) = 1.575 / (2 × 0.863) = 0.91 µm (simulated 0.90): half the lateral wavelength, set by the indices only.</a:t>
            </a:r>
          </a:p>
          <a:p>
            <a:pPr algn="l">
              <a:spcAft>
                <a:spcPts val="500"/>
              </a:spcAft>
            </a:pPr>
            <a:r>
              <a:rPr sz="1200" b="1" i="0" dirty="0">
                <a:solidFill>
                  <a:srgbClr val="1F4E79"/>
                </a:solidFill>
                <a:latin typeface="Arial"/>
              </a:rPr>
              <a:t>Cavity length: </a:t>
            </a:r>
            <a:r>
              <a:rPr sz="1200" b="0" i="0" dirty="0">
                <a:solidFill>
                  <a:srgbClr val="222222"/>
                </a:solidFill>
                <a:latin typeface="Arial"/>
              </a:rPr>
              <a:t>sets how many half-waves fit (≈ 5 at 7 µm). Resonance 2k</a:t>
            </a:r>
            <a:r>
              <a:rPr sz="1200" b="0" i="0" baseline="-25000" dirty="0">
                <a:solidFill>
                  <a:srgbClr val="222222"/>
                </a:solidFill>
                <a:latin typeface="Arial"/>
              </a:rPr>
              <a:t>x</a:t>
            </a:r>
            <a:r>
              <a:rPr sz="1200" b="0" i="0" dirty="0">
                <a:solidFill>
                  <a:srgbClr val="222222"/>
                </a:solidFill>
                <a:latin typeface="Arial"/>
              </a:rPr>
              <a:t>L + φ = 2πm recurs every ΔL = Λ: one more half-wave per 0.9 µm of </a:t>
            </a:r>
            <a:r>
              <a:rPr sz="1200" b="0" i="0" dirty="0" err="1">
                <a:solidFill>
                  <a:srgbClr val="222222"/>
                </a:solidFill>
                <a:latin typeface="Arial"/>
              </a:rPr>
              <a:t>x_lift</a:t>
            </a:r>
            <a:r>
              <a:rPr sz="1200" b="0" i="0" dirty="0">
                <a:solidFill>
                  <a:srgbClr val="222222"/>
                </a:solidFill>
                <a:latin typeface="Aria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559855"/>
            <a:ext cx="10241280" cy="517065"/>
          </a:xfrm>
          <a:prstGeom prst="rect">
            <a:avLst/>
          </a:prstGeom>
          <a:noFill/>
        </p:spPr>
        <p:txBody>
          <a:bodyPr wrap="square" lIns="45720" tIns="27432" rIns="45720" bIns="27432" anchor="ctr">
            <a:spAutoFit/>
          </a:bodyPr>
          <a:lstStyle/>
          <a:p>
            <a:pPr algn="l">
              <a:spcAft>
                <a:spcPts val="600"/>
              </a:spcAft>
            </a:pPr>
            <a:r>
              <a:rPr lang="en-US" sz="3000" b="0" i="0" dirty="0">
                <a:solidFill>
                  <a:srgbClr val="222222"/>
                </a:solidFill>
                <a:latin typeface="Arial"/>
              </a:rPr>
              <a:t>Possible solution: </a:t>
            </a:r>
            <a:r>
              <a:rPr sz="3000" b="0" i="0" dirty="0">
                <a:solidFill>
                  <a:srgbClr val="222222"/>
                </a:solidFill>
                <a:latin typeface="Arial"/>
              </a:rPr>
              <a:t>SiO₂ buffer</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200 nm SiO₂ under the whole electrode and across the gap; bottom gap 4.2 → 3.2 µm</a:t>
            </a:r>
          </a:p>
        </p:txBody>
      </p:sp>
      <p:sp>
        <p:nvSpPr>
          <p:cNvPr id="4" name="TextBox 3"/>
          <p:cNvSpPr txBox="1"/>
          <p:nvPr/>
        </p:nvSpPr>
        <p:spPr>
          <a:xfrm>
            <a:off x="457200" y="1572768"/>
            <a:ext cx="6675120" cy="292608"/>
          </a:xfrm>
          <a:prstGeom prst="rect">
            <a:avLst/>
          </a:prstGeom>
          <a:noFill/>
        </p:spPr>
        <p:txBody>
          <a:bodyPr wrap="square" lIns="45720" tIns="27432" rIns="45720" bIns="27432" anchor="t">
            <a:spAutoFit/>
          </a:bodyPr>
          <a:lstStyle/>
          <a:p>
            <a:pPr algn="l">
              <a:spcAft>
                <a:spcPts val="0"/>
              </a:spcAft>
            </a:pPr>
            <a:r>
              <a:rPr sz="1300" b="1" i="0">
                <a:solidFill>
                  <a:srgbClr val="1F4E79"/>
                </a:solidFill>
                <a:latin typeface="Arial"/>
              </a:rPr>
              <a:t>Lisbon on a SiO₂ buffer</a:t>
            </a:r>
          </a:p>
        </p:txBody>
      </p:sp>
      <p:pic>
        <p:nvPicPr>
          <p:cNvPr id="5" name="Picture 4" descr="geom_buffer.png"/>
          <p:cNvPicPr>
            <a:picLocks noChangeAspect="1"/>
          </p:cNvPicPr>
          <p:nvPr/>
        </p:nvPicPr>
        <p:blipFill>
          <a:blip r:embed="rId3"/>
          <a:stretch>
            <a:fillRect/>
          </a:stretch>
        </p:blipFill>
        <p:spPr>
          <a:xfrm>
            <a:off x="457200" y="1874519"/>
            <a:ext cx="6675120" cy="2145574"/>
          </a:xfrm>
          <a:prstGeom prst="rect">
            <a:avLst/>
          </a:prstGeom>
        </p:spPr>
      </p:pic>
      <p:graphicFrame>
        <p:nvGraphicFramePr>
          <p:cNvPr id="6" name="Chart 5"/>
          <p:cNvGraphicFramePr>
            <a:graphicFrameLocks noGrp="1"/>
          </p:cNvGraphicFramePr>
          <p:nvPr/>
        </p:nvGraphicFramePr>
        <p:xfrm>
          <a:off x="7452360" y="1508760"/>
          <a:ext cx="438912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p:cNvGraphicFramePr>
            <a:graphicFrameLocks noGrp="1"/>
          </p:cNvGraphicFramePr>
          <p:nvPr/>
        </p:nvGraphicFramePr>
        <p:xfrm>
          <a:off x="365760" y="4069080"/>
          <a:ext cx="6858000" cy="251460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The price: higher Vπ·L, recovered with a narrower gap</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The DC field must cross the low-ε oxide (ε 3.75 vs 28 in LN); narrowing the gap compensates</a:t>
            </a:r>
          </a:p>
        </p:txBody>
      </p:sp>
      <p:graphicFrame>
        <p:nvGraphicFramePr>
          <p:cNvPr id="4" name="Chart 3"/>
          <p:cNvGraphicFramePr>
            <a:graphicFrameLocks noGrp="1"/>
          </p:cNvGraphicFramePr>
          <p:nvPr/>
        </p:nvGraphicFramePr>
        <p:xfrm>
          <a:off x="365760" y="1554480"/>
          <a:ext cx="3703320" cy="2697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p:cNvGraphicFramePr>
            <a:graphicFrameLocks noGrp="1"/>
          </p:cNvGraphicFramePr>
          <p:nvPr/>
        </p:nvGraphicFramePr>
        <p:xfrm>
          <a:off x="4206240" y="1554480"/>
          <a:ext cx="3703320" cy="26974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p:cNvGraphicFramePr>
            <a:graphicFrameLocks noGrp="1"/>
          </p:cNvGraphicFramePr>
          <p:nvPr/>
        </p:nvGraphicFramePr>
        <p:xfrm>
          <a:off x="8046720" y="1554480"/>
          <a:ext cx="3703320" cy="2697480"/>
        </p:xfrm>
        <a:graphic>
          <a:graphicData uri="http://schemas.openxmlformats.org/drawingml/2006/chart">
            <c:chart xmlns:c="http://schemas.openxmlformats.org/drawingml/2006/chart" xmlns:r="http://schemas.openxmlformats.org/officeDocument/2006/relationships" r:id="rId5"/>
          </a:graphicData>
        </a:graphic>
      </p:graphicFrame>
      <p:sp>
        <p:nvSpPr>
          <p:cNvPr id="8" name="TextBox 7"/>
          <p:cNvSpPr txBox="1"/>
          <p:nvPr/>
        </p:nvSpPr>
        <p:spPr>
          <a:xfrm>
            <a:off x="502920" y="4579037"/>
            <a:ext cx="9034272" cy="1163395"/>
          </a:xfrm>
          <a:prstGeom prst="rect">
            <a:avLst/>
          </a:prstGeom>
          <a:noFill/>
        </p:spPr>
        <p:txBody>
          <a:bodyPr wrap="square" lIns="45720" tIns="27432" rIns="45720" bIns="27432" anchor="t">
            <a:spAutoFit/>
          </a:bodyPr>
          <a:lstStyle/>
          <a:p>
            <a:pPr algn="l">
              <a:spcAft>
                <a:spcPts val="0"/>
              </a:spcAft>
            </a:pPr>
            <a:r>
              <a:rPr b="1" i="0" dirty="0">
                <a:solidFill>
                  <a:srgbClr val="00B050"/>
                </a:solidFill>
                <a:latin typeface="Arial"/>
              </a:rPr>
              <a:t>Final design</a:t>
            </a:r>
            <a:r>
              <a:rPr lang="en-US" b="1" dirty="0">
                <a:solidFill>
                  <a:srgbClr val="00B050"/>
                </a:solidFill>
                <a:latin typeface="Arial"/>
              </a:rPr>
              <a:t> – still to be frozen</a:t>
            </a:r>
            <a:endParaRPr lang="en-US" b="1" i="0" dirty="0">
              <a:solidFill>
                <a:srgbClr val="00B050"/>
              </a:solidFill>
              <a:latin typeface="Arial"/>
            </a:endParaRPr>
          </a:p>
          <a:p>
            <a:pPr algn="l">
              <a:spcAft>
                <a:spcPts val="0"/>
              </a:spcAft>
            </a:pPr>
            <a:r>
              <a:rPr b="1" i="0" dirty="0">
                <a:solidFill>
                  <a:srgbClr val="00B050"/>
                </a:solidFill>
                <a:latin typeface="Arial"/>
              </a:rPr>
              <a:t>buffer 200 nm, </a:t>
            </a:r>
            <a:r>
              <a:rPr lang="en-US" b="1" i="0" dirty="0">
                <a:solidFill>
                  <a:srgbClr val="00B050"/>
                </a:solidFill>
                <a:latin typeface="Arial"/>
              </a:rPr>
              <a:t>hp </a:t>
            </a:r>
            <a:r>
              <a:rPr b="1" i="0" dirty="0">
                <a:solidFill>
                  <a:srgbClr val="00B050"/>
                </a:solidFill>
                <a:latin typeface="Arial"/>
              </a:rPr>
              <a:t>gap 3.4 µm</a:t>
            </a:r>
            <a:r>
              <a:rPr lang="en-US" b="1" i="0" dirty="0">
                <a:solidFill>
                  <a:srgbClr val="00B050"/>
                </a:solidFill>
                <a:latin typeface="Arial"/>
              </a:rPr>
              <a:t> for variant 1 – TBD – expected </a:t>
            </a:r>
            <a:r>
              <a:rPr lang="en-US" b="1" i="0" dirty="0" err="1">
                <a:solidFill>
                  <a:srgbClr val="00B050"/>
                </a:solidFill>
                <a:latin typeface="Arial"/>
              </a:rPr>
              <a:t>Vpi</a:t>
            </a:r>
            <a:r>
              <a:rPr lang="en-US" b="1" i="0" dirty="0">
                <a:solidFill>
                  <a:srgbClr val="00B050"/>
                </a:solidFill>
                <a:latin typeface="Arial"/>
              </a:rPr>
              <a:t> &lt; 1.95 @ 1575</a:t>
            </a:r>
          </a:p>
          <a:p>
            <a:r>
              <a:rPr lang="en-US" b="1" dirty="0">
                <a:solidFill>
                  <a:srgbClr val="00B050"/>
                </a:solidFill>
                <a:latin typeface="Arial"/>
              </a:rPr>
              <a:t>buffer 200 nm, hp gap 3.4 µm for variant 2  - TBD – expected </a:t>
            </a:r>
            <a:r>
              <a:rPr lang="en-US" b="1" dirty="0" err="1">
                <a:solidFill>
                  <a:srgbClr val="00B050"/>
                </a:solidFill>
                <a:latin typeface="Arial"/>
              </a:rPr>
              <a:t>Vpi</a:t>
            </a:r>
            <a:r>
              <a:rPr lang="en-US" b="1" dirty="0">
                <a:solidFill>
                  <a:srgbClr val="00B050"/>
                </a:solidFill>
                <a:latin typeface="Arial"/>
              </a:rPr>
              <a:t> &lt; 1.95 @ 1575</a:t>
            </a:r>
          </a:p>
          <a:p>
            <a:r>
              <a:rPr lang="en-US" b="1" dirty="0">
                <a:solidFill>
                  <a:srgbClr val="00B050"/>
                </a:solidFill>
                <a:latin typeface="Arial"/>
              </a:rPr>
              <a:t>buffer 200 nm, hp gap 3.4 µm for variant 3  - TBD – expected </a:t>
            </a:r>
            <a:r>
              <a:rPr lang="en-US" b="1" dirty="0" err="1">
                <a:solidFill>
                  <a:srgbClr val="00B050"/>
                </a:solidFill>
                <a:latin typeface="Arial"/>
              </a:rPr>
              <a:t>Vpi</a:t>
            </a:r>
            <a:r>
              <a:rPr lang="en-US" b="1" dirty="0">
                <a:solidFill>
                  <a:srgbClr val="00B050"/>
                </a:solidFill>
                <a:latin typeface="Arial"/>
              </a:rPr>
              <a:t> &lt; 2.35 @ 1575</a:t>
            </a:r>
          </a:p>
        </p:txBody>
      </p:sp>
      <p:sp>
        <p:nvSpPr>
          <p:cNvPr id="13" name="TextBox 12"/>
          <p:cNvSpPr txBox="1"/>
          <p:nvPr/>
        </p:nvSpPr>
        <p:spPr>
          <a:xfrm>
            <a:off x="10277856" y="3127379"/>
            <a:ext cx="1737360" cy="301621"/>
          </a:xfrm>
          <a:prstGeom prst="rect">
            <a:avLst/>
          </a:prstGeom>
          <a:noFill/>
        </p:spPr>
        <p:txBody>
          <a:bodyPr wrap="square" lIns="45720" tIns="27432" rIns="45720" bIns="27432" anchor="ctr">
            <a:spAutoFit/>
          </a:bodyPr>
          <a:lstStyle/>
          <a:p>
            <a:pPr algn="ctr">
              <a:spcAft>
                <a:spcPts val="0"/>
              </a:spcAft>
            </a:pPr>
            <a:r>
              <a:rPr sz="1600" b="1" i="0" dirty="0">
                <a:solidFill>
                  <a:srgbClr val="1F4E79"/>
                </a:solidFill>
                <a:latin typeface="Arial"/>
              </a:rPr>
              <a:t>0.026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Buffered design: robust to buffer-thickness error</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SiO₂ buffer 130 → 270 nm (10 nm step), gap 3.4 µm, CAP 2.0 × 1.4 µm; measured spread ±20 nm (±40 nm extreme)</a:t>
            </a:r>
          </a:p>
        </p:txBody>
      </p:sp>
      <p:sp>
        <p:nvSpPr>
          <p:cNvPr id="4" name="TextBox 3"/>
          <p:cNvSpPr txBox="1"/>
          <p:nvPr/>
        </p:nvSpPr>
        <p:spPr>
          <a:xfrm>
            <a:off x="411479" y="1536192"/>
            <a:ext cx="5577840" cy="292608"/>
          </a:xfrm>
          <a:prstGeom prst="rect">
            <a:avLst/>
          </a:prstGeom>
          <a:noFill/>
        </p:spPr>
        <p:txBody>
          <a:bodyPr wrap="square" lIns="45720" tIns="27432" rIns="45720" bIns="27432" anchor="t">
            <a:spAutoFit/>
          </a:bodyPr>
          <a:lstStyle/>
          <a:p>
            <a:pPr algn="l">
              <a:spcAft>
                <a:spcPts val="600"/>
              </a:spcAft>
            </a:pPr>
            <a:r>
              <a:rPr sz="1300" b="1" i="0">
                <a:solidFill>
                  <a:srgbClr val="1F4E79"/>
                </a:solidFill>
                <a:latin typeface="Arial"/>
              </a:rPr>
              <a:t>rib top WG_TOP = 1.0 µm</a:t>
            </a:r>
          </a:p>
        </p:txBody>
      </p:sp>
      <p:graphicFrame>
        <p:nvGraphicFramePr>
          <p:cNvPr id="5" name="Chart 4"/>
          <p:cNvGraphicFramePr>
            <a:graphicFrameLocks noGrp="1"/>
          </p:cNvGraphicFramePr>
          <p:nvPr/>
        </p:nvGraphicFramePr>
        <p:xfrm>
          <a:off x="320040" y="1810512"/>
          <a:ext cx="5715000" cy="2514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p:cNvGraphicFramePr>
            <a:graphicFrameLocks noGrp="1"/>
          </p:cNvGraphicFramePr>
          <p:nvPr/>
        </p:nvGraphicFramePr>
        <p:xfrm>
          <a:off x="320040" y="4315968"/>
          <a:ext cx="5715000" cy="224028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p:cNvSpPr txBox="1"/>
          <p:nvPr/>
        </p:nvSpPr>
        <p:spPr>
          <a:xfrm>
            <a:off x="6217919" y="1536192"/>
            <a:ext cx="5577840" cy="292608"/>
          </a:xfrm>
          <a:prstGeom prst="rect">
            <a:avLst/>
          </a:prstGeom>
          <a:noFill/>
        </p:spPr>
        <p:txBody>
          <a:bodyPr wrap="square" lIns="45720" tIns="27432" rIns="45720" bIns="27432" anchor="t">
            <a:spAutoFit/>
          </a:bodyPr>
          <a:lstStyle/>
          <a:p>
            <a:pPr algn="l">
              <a:spcAft>
                <a:spcPts val="600"/>
              </a:spcAft>
            </a:pPr>
            <a:r>
              <a:rPr sz="1300" b="1" i="0">
                <a:solidFill>
                  <a:srgbClr val="1F4E79"/>
                </a:solidFill>
                <a:latin typeface="Arial"/>
              </a:rPr>
              <a:t>rib top WG_TOP = 1.4 µm</a:t>
            </a:r>
          </a:p>
        </p:txBody>
      </p:sp>
      <p:graphicFrame>
        <p:nvGraphicFramePr>
          <p:cNvPr id="8" name="Chart 7"/>
          <p:cNvGraphicFramePr>
            <a:graphicFrameLocks noGrp="1"/>
          </p:cNvGraphicFramePr>
          <p:nvPr/>
        </p:nvGraphicFramePr>
        <p:xfrm>
          <a:off x="6126479" y="1810512"/>
          <a:ext cx="5715000" cy="25146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9" name="Chart 8"/>
          <p:cNvGraphicFramePr>
            <a:graphicFrameLocks noGrp="1"/>
          </p:cNvGraphicFramePr>
          <p:nvPr/>
        </p:nvGraphicFramePr>
        <p:xfrm>
          <a:off x="6126479" y="4315968"/>
          <a:ext cx="5715000" cy="2240280"/>
        </p:xfrm>
        <a:graphic>
          <a:graphicData uri="http://schemas.openxmlformats.org/drawingml/2006/chart">
            <c:chart xmlns:c="http://schemas.openxmlformats.org/drawingml/2006/chart" xmlns:r="http://schemas.openxmlformats.org/officeDocument/2006/relationships" r:id="rId6"/>
          </a:graphicData>
        </a:graphic>
      </p:graphicFrame>
      <p:sp>
        <p:nvSpPr>
          <p:cNvPr id="10" name="TextBox 9"/>
          <p:cNvSpPr txBox="1"/>
          <p:nvPr/>
        </p:nvSpPr>
        <p:spPr>
          <a:xfrm>
            <a:off x="411480" y="6492240"/>
            <a:ext cx="11338560" cy="274320"/>
          </a:xfrm>
          <a:prstGeom prst="rect">
            <a:avLst/>
          </a:prstGeom>
          <a:noFill/>
        </p:spPr>
        <p:txBody>
          <a:bodyPr wrap="square" lIns="45720" tIns="27432" rIns="45720" bIns="27432" anchor="t">
            <a:spAutoFit/>
          </a:bodyPr>
          <a:lstStyle/>
          <a:p>
            <a:pPr algn="l">
              <a:spcAft>
                <a:spcPts val="600"/>
              </a:spcAft>
            </a:pPr>
            <a:r>
              <a:rPr sz="1050" b="1" i="0">
                <a:solidFill>
                  <a:srgbClr val="EB6834"/>
                </a:solidFill>
                <a:latin typeface="Arial"/>
              </a:rPr>
              <a:t>━● </a:t>
            </a:r>
            <a:r>
              <a:rPr sz="1050" b="0" i="0">
                <a:solidFill>
                  <a:srgbClr val="222222"/>
                </a:solidFill>
                <a:latin typeface="Arial"/>
              </a:rPr>
              <a:t>Lisbon, C band 1575 nm     </a:t>
            </a:r>
            <a:r>
              <a:rPr sz="1050" b="1" i="0">
                <a:solidFill>
                  <a:srgbClr val="2A78D6"/>
                </a:solidFill>
                <a:latin typeface="Arial"/>
              </a:rPr>
              <a:t>━● </a:t>
            </a:r>
            <a:r>
              <a:rPr sz="1050" b="0" i="0">
                <a:solidFill>
                  <a:srgbClr val="222222"/>
                </a:solidFill>
                <a:latin typeface="Arial"/>
              </a:rPr>
              <a:t>Jerez, O band 1360 nm     </a:t>
            </a:r>
            <a:r>
              <a:rPr sz="1050" b="0" i="1">
                <a:solidFill>
                  <a:srgbClr val="595959"/>
                </a:solidFill>
                <a:latin typeface="Arial"/>
              </a:rPr>
              <a:t>dashed horizontal: unbuffered at gap 4.2 µm;  verticals: 200 nm nominal (navy), ±20 nm (grey solid), ±40 nm (grey dashed)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Measured buffer spread → Vπ·L and IL spread</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Process data (32 chips per wafer) mapped onto the simulated sweep; rib top 1.0 µm</a:t>
            </a:r>
          </a:p>
        </p:txBody>
      </p:sp>
      <p:graphicFrame>
        <p:nvGraphicFramePr>
          <p:cNvPr id="4" name="Table 3"/>
          <p:cNvGraphicFramePr>
            <a:graphicFrameLocks noGrp="1"/>
          </p:cNvGraphicFramePr>
          <p:nvPr/>
        </p:nvGraphicFramePr>
        <p:xfrm>
          <a:off x="502920" y="1691640"/>
          <a:ext cx="11155679" cy="182880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365760">
                <a:tc>
                  <a:txBody>
                    <a:bodyPr/>
                    <a:lstStyle/>
                    <a:p>
                      <a:pPr algn="l"/>
                      <a:r>
                        <a:rPr sz="1250" b="1" i="0">
                          <a:solidFill>
                            <a:srgbClr val="FFFFFF"/>
                          </a:solidFill>
                          <a:latin typeface="Arial"/>
                        </a:rPr>
                        <a:t>wafer</a:t>
                      </a:r>
                    </a:p>
                  </a:txBody>
                  <a:tcPr marL="54864" marR="54864" marT="18288" marB="18288" anchor="ctr">
                    <a:solidFill>
                      <a:srgbClr val="1F4E79"/>
                    </a:solidFill>
                  </a:tcPr>
                </a:tc>
                <a:tc>
                  <a:txBody>
                    <a:bodyPr/>
                    <a:lstStyle/>
                    <a:p>
                      <a:pPr algn="ctr"/>
                      <a:r>
                        <a:rPr sz="1250" b="1" i="0">
                          <a:solidFill>
                            <a:srgbClr val="FFFFFF"/>
                          </a:solidFill>
                          <a:latin typeface="Arial"/>
                        </a:rPr>
                        <a:t>buffer (nm)</a:t>
                      </a:r>
                    </a:p>
                  </a:txBody>
                  <a:tcPr marL="54864" marR="54864" marT="18288" marB="18288" anchor="ctr">
                    <a:solidFill>
                      <a:srgbClr val="1F4E79"/>
                    </a:solidFill>
                  </a:tcPr>
                </a:tc>
                <a:tc>
                  <a:txBody>
                    <a:bodyPr/>
                    <a:lstStyle/>
                    <a:p>
                      <a:pPr algn="ctr"/>
                      <a:r>
                        <a:rPr sz="1250" b="1" i="0">
                          <a:solidFill>
                            <a:srgbClr val="FFFFFF"/>
                          </a:solidFill>
                          <a:latin typeface="Arial"/>
                        </a:rPr>
                        <a:t>Lisbon Vπ·L (V·cm)</a:t>
                      </a:r>
                    </a:p>
                  </a:txBody>
                  <a:tcPr marL="54864" marR="54864" marT="18288" marB="18288" anchor="ctr">
                    <a:solidFill>
                      <a:srgbClr val="1F4E79"/>
                    </a:solidFill>
                  </a:tcPr>
                </a:tc>
                <a:tc>
                  <a:txBody>
                    <a:bodyPr/>
                    <a:lstStyle/>
                    <a:p>
                      <a:pPr algn="ctr"/>
                      <a:r>
                        <a:rPr sz="1250" b="1" i="0">
                          <a:solidFill>
                            <a:srgbClr val="FFFFFF"/>
                          </a:solidFill>
                          <a:latin typeface="Arial"/>
                        </a:rPr>
                        <a:t>Lisbon IL (dB/cm)</a:t>
                      </a:r>
                    </a:p>
                  </a:txBody>
                  <a:tcPr marL="54864" marR="54864" marT="18288" marB="18288" anchor="ctr">
                    <a:solidFill>
                      <a:srgbClr val="1F4E79"/>
                    </a:solidFill>
                  </a:tcPr>
                </a:tc>
                <a:tc>
                  <a:txBody>
                    <a:bodyPr/>
                    <a:lstStyle/>
                    <a:p>
                      <a:pPr algn="ctr"/>
                      <a:r>
                        <a:rPr sz="1250" b="1" i="0">
                          <a:solidFill>
                            <a:srgbClr val="FFFFFF"/>
                          </a:solidFill>
                          <a:latin typeface="Arial"/>
                        </a:rPr>
                        <a:t>Jerez Vπ·L (V·cm)</a:t>
                      </a:r>
                    </a:p>
                  </a:txBody>
                  <a:tcPr marL="54864" marR="54864" marT="18288" marB="18288" anchor="ctr">
                    <a:solidFill>
                      <a:srgbClr val="1F4E79"/>
                    </a:solidFill>
                  </a:tcPr>
                </a:tc>
                <a:tc>
                  <a:txBody>
                    <a:bodyPr/>
                    <a:lstStyle/>
                    <a:p>
                      <a:pPr algn="ctr"/>
                      <a:r>
                        <a:rPr sz="1250" b="1" i="0">
                          <a:solidFill>
                            <a:srgbClr val="FFFFFF"/>
                          </a:solidFill>
                          <a:latin typeface="Arial"/>
                        </a:rPr>
                        <a:t>Jerez IL (dB/cm)</a:t>
                      </a:r>
                    </a:p>
                  </a:txBody>
                  <a:tcPr marL="54864" marR="54864" marT="18288" marB="18288" anchor="ctr">
                    <a:solidFill>
                      <a:srgbClr val="1F4E79"/>
                    </a:solidFill>
                  </a:tcPr>
                </a:tc>
                <a:extLst>
                  <a:ext uri="{0D108BD9-81ED-4DB2-BD59-A6C34878D82A}">
                    <a16:rowId xmlns:a16="http://schemas.microsoft.com/office/drawing/2014/main" val="10000"/>
                  </a:ext>
                </a:extLst>
              </a:tr>
              <a:tr h="365760">
                <a:tc>
                  <a:txBody>
                    <a:bodyPr/>
                    <a:lstStyle/>
                    <a:p>
                      <a:pPr algn="l"/>
                      <a:r>
                        <a:rPr sz="1250" b="0" i="0">
                          <a:solidFill>
                            <a:srgbClr val="222222"/>
                          </a:solidFill>
                          <a:latin typeface="Arial"/>
                        </a:rPr>
                        <a:t>sil-A</a:t>
                      </a:r>
                    </a:p>
                  </a:txBody>
                  <a:tcPr marL="54864" marR="54864" marT="18288" marB="18288" anchor="ctr">
                    <a:solidFill>
                      <a:srgbClr val="FDE9D9"/>
                    </a:solidFill>
                  </a:tcPr>
                </a:tc>
                <a:tc>
                  <a:txBody>
                    <a:bodyPr/>
                    <a:lstStyle/>
                    <a:p>
                      <a:pPr algn="ctr"/>
                      <a:r>
                        <a:rPr sz="1250" b="0" i="0">
                          <a:solidFill>
                            <a:srgbClr val="222222"/>
                          </a:solidFill>
                          <a:latin typeface="Arial"/>
                        </a:rPr>
                        <a:t>194 ± 18  (167–231)</a:t>
                      </a:r>
                    </a:p>
                  </a:txBody>
                  <a:tcPr marL="54864" marR="54864" marT="18288" marB="18288" anchor="ctr">
                    <a:solidFill>
                      <a:srgbClr val="FDE9D9"/>
                    </a:solidFill>
                  </a:tcPr>
                </a:tc>
                <a:tc>
                  <a:txBody>
                    <a:bodyPr/>
                    <a:lstStyle/>
                    <a:p>
                      <a:pPr algn="ctr"/>
                      <a:r>
                        <a:rPr sz="1250" b="0" i="0">
                          <a:solidFill>
                            <a:srgbClr val="222222"/>
                          </a:solidFill>
                          <a:latin typeface="Arial"/>
                        </a:rPr>
                        <a:t>2.265 ± 0.025</a:t>
                      </a:r>
                    </a:p>
                  </a:txBody>
                  <a:tcPr marL="54864" marR="54864" marT="18288" marB="18288" anchor="ctr">
                    <a:solidFill>
                      <a:srgbClr val="FDE9D9"/>
                    </a:solidFill>
                  </a:tcPr>
                </a:tc>
                <a:tc>
                  <a:txBody>
                    <a:bodyPr/>
                    <a:lstStyle/>
                    <a:p>
                      <a:pPr algn="ctr"/>
                      <a:r>
                        <a:rPr sz="1250" b="0" i="0">
                          <a:solidFill>
                            <a:srgbClr val="222222"/>
                          </a:solidFill>
                          <a:latin typeface="Arial"/>
                        </a:rPr>
                        <a:t>0.028  (0.022–0.034)</a:t>
                      </a:r>
                    </a:p>
                  </a:txBody>
                  <a:tcPr marL="54864" marR="54864" marT="18288" marB="18288" anchor="ctr">
                    <a:solidFill>
                      <a:srgbClr val="FDE9D9"/>
                    </a:solidFill>
                  </a:tcPr>
                </a:tc>
                <a:tc>
                  <a:txBody>
                    <a:bodyPr/>
                    <a:lstStyle/>
                    <a:p>
                      <a:pPr algn="ctr"/>
                      <a:r>
                        <a:rPr sz="1250" b="0" i="0">
                          <a:solidFill>
                            <a:srgbClr val="222222"/>
                          </a:solidFill>
                          <a:latin typeface="Arial"/>
                        </a:rPr>
                        <a:t>1.876 ± 0.019</a:t>
                      </a:r>
                    </a:p>
                  </a:txBody>
                  <a:tcPr marL="54864" marR="54864" marT="18288" marB="18288" anchor="ctr">
                    <a:solidFill>
                      <a:srgbClr val="FDE9D9"/>
                    </a:solidFill>
                  </a:tcPr>
                </a:tc>
                <a:tc>
                  <a:txBody>
                    <a:bodyPr/>
                    <a:lstStyle/>
                    <a:p>
                      <a:pPr algn="ctr"/>
                      <a:r>
                        <a:rPr sz="1250" b="0" i="0">
                          <a:solidFill>
                            <a:srgbClr val="222222"/>
                          </a:solidFill>
                          <a:latin typeface="Arial"/>
                        </a:rPr>
                        <a:t>0.016  (0.012–0.020)</a:t>
                      </a:r>
                    </a:p>
                  </a:txBody>
                  <a:tcPr marL="54864" marR="54864" marT="18288" marB="18288" anchor="ctr">
                    <a:solidFill>
                      <a:srgbClr val="FDE9D9"/>
                    </a:solidFill>
                  </a:tcPr>
                </a:tc>
                <a:extLst>
                  <a:ext uri="{0D108BD9-81ED-4DB2-BD59-A6C34878D82A}">
                    <a16:rowId xmlns:a16="http://schemas.microsoft.com/office/drawing/2014/main" val="10001"/>
                  </a:ext>
                </a:extLst>
              </a:tr>
              <a:tr h="365760">
                <a:tc>
                  <a:txBody>
                    <a:bodyPr/>
                    <a:lstStyle/>
                    <a:p>
                      <a:pPr algn="l"/>
                      <a:r>
                        <a:rPr sz="1250" b="0" i="0">
                          <a:solidFill>
                            <a:srgbClr val="222222"/>
                          </a:solidFill>
                          <a:latin typeface="Arial"/>
                        </a:rPr>
                        <a:t>sil-B</a:t>
                      </a:r>
                    </a:p>
                  </a:txBody>
                  <a:tcPr marL="54864" marR="54864" marT="18288" marB="18288" anchor="ctr">
                    <a:solidFill>
                      <a:srgbClr val="DDE3EA"/>
                    </a:solidFill>
                  </a:tcPr>
                </a:tc>
                <a:tc>
                  <a:txBody>
                    <a:bodyPr/>
                    <a:lstStyle/>
                    <a:p>
                      <a:pPr algn="ctr"/>
                      <a:r>
                        <a:rPr sz="1250" b="0" i="0">
                          <a:solidFill>
                            <a:srgbClr val="222222"/>
                          </a:solidFill>
                          <a:latin typeface="Arial"/>
                        </a:rPr>
                        <a:t>214 ± 16  (189–246)</a:t>
                      </a:r>
                    </a:p>
                  </a:txBody>
                  <a:tcPr marL="54864" marR="54864" marT="18288" marB="18288" anchor="ctr">
                    <a:solidFill>
                      <a:srgbClr val="DDE3EA"/>
                    </a:solidFill>
                  </a:tcPr>
                </a:tc>
                <a:tc>
                  <a:txBody>
                    <a:bodyPr/>
                    <a:lstStyle/>
                    <a:p>
                      <a:pPr algn="ctr"/>
                      <a:r>
                        <a:rPr sz="1250" b="0" i="0">
                          <a:solidFill>
                            <a:srgbClr val="222222"/>
                          </a:solidFill>
                          <a:latin typeface="Arial"/>
                        </a:rPr>
                        <a:t>2.291 ± 0.021</a:t>
                      </a:r>
                    </a:p>
                  </a:txBody>
                  <a:tcPr marL="54864" marR="54864" marT="18288" marB="18288" anchor="ctr">
                    <a:solidFill>
                      <a:srgbClr val="DDE3EA"/>
                    </a:solidFill>
                  </a:tcPr>
                </a:tc>
                <a:tc>
                  <a:txBody>
                    <a:bodyPr/>
                    <a:lstStyle/>
                    <a:p>
                      <a:pPr algn="ctr"/>
                      <a:r>
                        <a:rPr sz="1250" b="0" i="0">
                          <a:solidFill>
                            <a:srgbClr val="222222"/>
                          </a:solidFill>
                          <a:latin typeface="Arial"/>
                        </a:rPr>
                        <a:t>0.025  (0.020–0.029)</a:t>
                      </a:r>
                    </a:p>
                  </a:txBody>
                  <a:tcPr marL="54864" marR="54864" marT="18288" marB="18288" anchor="ctr">
                    <a:solidFill>
                      <a:srgbClr val="DDE3EA"/>
                    </a:solidFill>
                  </a:tcPr>
                </a:tc>
                <a:tc>
                  <a:txBody>
                    <a:bodyPr/>
                    <a:lstStyle/>
                    <a:p>
                      <a:pPr algn="ctr"/>
                      <a:r>
                        <a:rPr sz="1250" b="0" i="0">
                          <a:solidFill>
                            <a:srgbClr val="222222"/>
                          </a:solidFill>
                          <a:latin typeface="Arial"/>
                        </a:rPr>
                        <a:t>1.896 ± 0.016</a:t>
                      </a:r>
                    </a:p>
                  </a:txBody>
                  <a:tcPr marL="54864" marR="54864" marT="18288" marB="18288" anchor="ctr">
                    <a:solidFill>
                      <a:srgbClr val="DDE3EA"/>
                    </a:solidFill>
                  </a:tcPr>
                </a:tc>
                <a:tc>
                  <a:txBody>
                    <a:bodyPr/>
                    <a:lstStyle/>
                    <a:p>
                      <a:pPr algn="ctr"/>
                      <a:r>
                        <a:rPr sz="1250" b="0" i="0">
                          <a:solidFill>
                            <a:srgbClr val="222222"/>
                          </a:solidFill>
                          <a:latin typeface="Arial"/>
                        </a:rPr>
                        <a:t>0.014  (0.010–0.017)</a:t>
                      </a:r>
                    </a:p>
                  </a:txBody>
                  <a:tcPr marL="54864" marR="54864" marT="18288" marB="18288" anchor="ctr">
                    <a:solidFill>
                      <a:srgbClr val="DDE3EA"/>
                    </a:solidFill>
                  </a:tcPr>
                </a:tc>
                <a:extLst>
                  <a:ext uri="{0D108BD9-81ED-4DB2-BD59-A6C34878D82A}">
                    <a16:rowId xmlns:a16="http://schemas.microsoft.com/office/drawing/2014/main" val="10002"/>
                  </a:ext>
                </a:extLst>
              </a:tr>
              <a:tr h="365760">
                <a:tc>
                  <a:txBody>
                    <a:bodyPr/>
                    <a:lstStyle/>
                    <a:p>
                      <a:pPr algn="l"/>
                      <a:r>
                        <a:rPr sz="1250" b="0" i="0">
                          <a:solidFill>
                            <a:srgbClr val="222222"/>
                          </a:solidFill>
                          <a:latin typeface="Arial"/>
                        </a:rPr>
                        <a:t>sil-C</a:t>
                      </a:r>
                    </a:p>
                  </a:txBody>
                  <a:tcPr marL="54864" marR="54864" marT="18288" marB="18288" anchor="ctr">
                    <a:solidFill>
                      <a:srgbClr val="F4F6F9"/>
                    </a:solidFill>
                  </a:tcPr>
                </a:tc>
                <a:tc>
                  <a:txBody>
                    <a:bodyPr/>
                    <a:lstStyle/>
                    <a:p>
                      <a:pPr algn="ctr"/>
                      <a:r>
                        <a:rPr sz="1250" b="0" i="0">
                          <a:solidFill>
                            <a:srgbClr val="222222"/>
                          </a:solidFill>
                          <a:latin typeface="Arial"/>
                        </a:rPr>
                        <a:t>248 ± 16  (226–279)</a:t>
                      </a:r>
                    </a:p>
                  </a:txBody>
                  <a:tcPr marL="54864" marR="54864" marT="18288" marB="18288" anchor="ctr">
                    <a:solidFill>
                      <a:srgbClr val="F4F6F9"/>
                    </a:solidFill>
                  </a:tcPr>
                </a:tc>
                <a:tc>
                  <a:txBody>
                    <a:bodyPr/>
                    <a:lstStyle/>
                    <a:p>
                      <a:pPr algn="ctr"/>
                      <a:r>
                        <a:rPr sz="1250" b="0" i="0">
                          <a:solidFill>
                            <a:srgbClr val="222222"/>
                          </a:solidFill>
                          <a:latin typeface="Arial"/>
                        </a:rPr>
                        <a:t>2.334 ± 0.018</a:t>
                      </a:r>
                    </a:p>
                  </a:txBody>
                  <a:tcPr marL="54864" marR="54864" marT="18288" marB="18288" anchor="ctr">
                    <a:solidFill>
                      <a:srgbClr val="F4F6F9"/>
                    </a:solidFill>
                  </a:tcPr>
                </a:tc>
                <a:tc>
                  <a:txBody>
                    <a:bodyPr/>
                    <a:lstStyle/>
                    <a:p>
                      <a:pPr algn="ctr"/>
                      <a:r>
                        <a:rPr sz="1250" b="0" i="0">
                          <a:solidFill>
                            <a:srgbClr val="222222"/>
                          </a:solidFill>
                          <a:latin typeface="Arial"/>
                        </a:rPr>
                        <a:t>0.019  (0.016–0.023)</a:t>
                      </a:r>
                    </a:p>
                  </a:txBody>
                  <a:tcPr marL="54864" marR="54864" marT="18288" marB="18288" anchor="ctr">
                    <a:solidFill>
                      <a:srgbClr val="F4F6F9"/>
                    </a:solidFill>
                  </a:tcPr>
                </a:tc>
                <a:tc>
                  <a:txBody>
                    <a:bodyPr/>
                    <a:lstStyle/>
                    <a:p>
                      <a:pPr algn="ctr"/>
                      <a:r>
                        <a:rPr sz="1250" b="0" i="0">
                          <a:solidFill>
                            <a:srgbClr val="222222"/>
                          </a:solidFill>
                          <a:latin typeface="Arial"/>
                        </a:rPr>
                        <a:t>1.928 ± 0.014</a:t>
                      </a:r>
                    </a:p>
                  </a:txBody>
                  <a:tcPr marL="54864" marR="54864" marT="18288" marB="18288" anchor="ctr">
                    <a:solidFill>
                      <a:srgbClr val="F4F6F9"/>
                    </a:solidFill>
                  </a:tcPr>
                </a:tc>
                <a:tc>
                  <a:txBody>
                    <a:bodyPr/>
                    <a:lstStyle/>
                    <a:p>
                      <a:pPr algn="ctr"/>
                      <a:r>
                        <a:rPr sz="1250" b="0" i="0">
                          <a:solidFill>
                            <a:srgbClr val="222222"/>
                          </a:solidFill>
                          <a:latin typeface="Arial"/>
                        </a:rPr>
                        <a:t>0.010  (0.008–0.012)</a:t>
                      </a:r>
                    </a:p>
                  </a:txBody>
                  <a:tcPr marL="54864" marR="54864" marT="18288" marB="18288" anchor="ctr">
                    <a:solidFill>
                      <a:srgbClr val="F4F6F9"/>
                    </a:solidFill>
                  </a:tcPr>
                </a:tc>
                <a:extLst>
                  <a:ext uri="{0D108BD9-81ED-4DB2-BD59-A6C34878D82A}">
                    <a16:rowId xmlns:a16="http://schemas.microsoft.com/office/drawing/2014/main" val="10003"/>
                  </a:ext>
                </a:extLst>
              </a:tr>
              <a:tr h="365760">
                <a:tc>
                  <a:txBody>
                    <a:bodyPr/>
                    <a:lstStyle/>
                    <a:p>
                      <a:pPr algn="l"/>
                      <a:r>
                        <a:rPr sz="1250" b="0" i="0">
                          <a:solidFill>
                            <a:srgbClr val="222222"/>
                          </a:solidFill>
                          <a:latin typeface="Arial"/>
                        </a:rPr>
                        <a:t>no buffer, gap 4.2</a:t>
                      </a:r>
                    </a:p>
                  </a:txBody>
                  <a:tcPr marL="54864" marR="54864" marT="18288" marB="18288" anchor="ctr">
                    <a:solidFill>
                      <a:srgbClr val="DDE3EA"/>
                    </a:solidFill>
                  </a:tcPr>
                </a:tc>
                <a:tc>
                  <a:txBody>
                    <a:bodyPr/>
                    <a:lstStyle/>
                    <a:p>
                      <a:pPr algn="ctr"/>
                      <a:r>
                        <a:rPr sz="1250" b="0" i="0">
                          <a:solidFill>
                            <a:srgbClr val="222222"/>
                          </a:solidFill>
                          <a:latin typeface="Arial"/>
                        </a:rPr>
                        <a:t>—</a:t>
                      </a:r>
                    </a:p>
                  </a:txBody>
                  <a:tcPr marL="54864" marR="54864" marT="18288" marB="18288" anchor="ctr">
                    <a:solidFill>
                      <a:srgbClr val="DDE3EA"/>
                    </a:solidFill>
                  </a:tcPr>
                </a:tc>
                <a:tc>
                  <a:txBody>
                    <a:bodyPr/>
                    <a:lstStyle/>
                    <a:p>
                      <a:pPr algn="ctr"/>
                      <a:r>
                        <a:rPr sz="1250" b="0" i="0">
                          <a:solidFill>
                            <a:srgbClr val="222222"/>
                          </a:solidFill>
                          <a:latin typeface="Arial"/>
                        </a:rPr>
                        <a:t>2.267</a:t>
                      </a:r>
                    </a:p>
                  </a:txBody>
                  <a:tcPr marL="54864" marR="54864" marT="18288" marB="18288" anchor="ctr">
                    <a:solidFill>
                      <a:srgbClr val="DDE3EA"/>
                    </a:solidFill>
                  </a:tcPr>
                </a:tc>
                <a:tc>
                  <a:txBody>
                    <a:bodyPr/>
                    <a:lstStyle/>
                    <a:p>
                      <a:pPr algn="ctr"/>
                      <a:r>
                        <a:rPr sz="1250" b="0" i="0">
                          <a:solidFill>
                            <a:srgbClr val="222222"/>
                          </a:solidFill>
                          <a:latin typeface="Arial"/>
                        </a:rPr>
                        <a:t>0.23 (on ripple)</a:t>
                      </a:r>
                    </a:p>
                  </a:txBody>
                  <a:tcPr marL="54864" marR="54864" marT="18288" marB="18288" anchor="ctr">
                    <a:solidFill>
                      <a:srgbClr val="DDE3EA"/>
                    </a:solidFill>
                  </a:tcPr>
                </a:tc>
                <a:tc>
                  <a:txBody>
                    <a:bodyPr/>
                    <a:lstStyle/>
                    <a:p>
                      <a:pPr algn="ctr"/>
                      <a:r>
                        <a:rPr sz="1250" b="0" i="0">
                          <a:solidFill>
                            <a:srgbClr val="222222"/>
                          </a:solidFill>
                          <a:latin typeface="Arial"/>
                        </a:rPr>
                        <a:t>1.915</a:t>
                      </a:r>
                    </a:p>
                  </a:txBody>
                  <a:tcPr marL="54864" marR="54864" marT="18288" marB="18288" anchor="ctr">
                    <a:solidFill>
                      <a:srgbClr val="DDE3EA"/>
                    </a:solidFill>
                  </a:tcPr>
                </a:tc>
                <a:tc>
                  <a:txBody>
                    <a:bodyPr/>
                    <a:lstStyle/>
                    <a:p>
                      <a:pPr algn="ctr"/>
                      <a:r>
                        <a:rPr sz="1250" b="0" i="0">
                          <a:solidFill>
                            <a:srgbClr val="222222"/>
                          </a:solidFill>
                          <a:latin typeface="Arial"/>
                        </a:rPr>
                        <a:t>0.075 (on ripple)</a:t>
                      </a:r>
                    </a:p>
                  </a:txBody>
                  <a:tcPr marL="54864" marR="54864" marT="18288" marB="18288" anchor="ctr">
                    <a:solidFill>
                      <a:srgbClr val="DDE3EA"/>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502920" y="3703320"/>
            <a:ext cx="2651760" cy="146304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3813048"/>
            <a:ext cx="2651760" cy="804672"/>
          </a:xfrm>
          <a:prstGeom prst="rect">
            <a:avLst/>
          </a:prstGeom>
          <a:noFill/>
        </p:spPr>
        <p:txBody>
          <a:bodyPr wrap="square" lIns="45720" tIns="27432" rIns="45720" bIns="27432" anchor="ctr">
            <a:spAutoFit/>
          </a:bodyPr>
          <a:lstStyle/>
          <a:p>
            <a:pPr algn="ctr">
              <a:spcAft>
                <a:spcPts val="600"/>
              </a:spcAft>
            </a:pPr>
            <a:r>
              <a:rPr sz="3000" b="1" i="0">
                <a:solidFill>
                  <a:srgbClr val="2A78D6"/>
                </a:solidFill>
                <a:latin typeface="Arial"/>
              </a:rPr>
              <a:t>±1.1 %</a:t>
            </a:r>
          </a:p>
        </p:txBody>
      </p:sp>
      <p:sp>
        <p:nvSpPr>
          <p:cNvPr id="7" name="TextBox 6"/>
          <p:cNvSpPr txBox="1"/>
          <p:nvPr/>
        </p:nvSpPr>
        <p:spPr>
          <a:xfrm>
            <a:off x="594360" y="4581144"/>
            <a:ext cx="2468879" cy="555955"/>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Vπ·L per ±20 nm</a:t>
            </a:r>
          </a:p>
          <a:p>
            <a:pPr algn="ctr">
              <a:spcAft>
                <a:spcPts val="0"/>
              </a:spcAft>
            </a:pPr>
            <a:r>
              <a:rPr sz="1100" b="0" i="0">
                <a:solidFill>
                  <a:srgbClr val="595959"/>
                </a:solidFill>
                <a:latin typeface="Arial"/>
              </a:rPr>
              <a:t>(±2.3 % at ±40 nm)</a:t>
            </a:r>
          </a:p>
        </p:txBody>
      </p:sp>
      <p:sp>
        <p:nvSpPr>
          <p:cNvPr id="8" name="Rounded Rectangle 7"/>
          <p:cNvSpPr/>
          <p:nvPr/>
        </p:nvSpPr>
        <p:spPr>
          <a:xfrm>
            <a:off x="3337560" y="3703320"/>
            <a:ext cx="2651760" cy="146304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37560" y="3813048"/>
            <a:ext cx="2651760" cy="804672"/>
          </a:xfrm>
          <a:prstGeom prst="rect">
            <a:avLst/>
          </a:prstGeom>
          <a:noFill/>
        </p:spPr>
        <p:txBody>
          <a:bodyPr wrap="square" lIns="45720" tIns="27432" rIns="45720" bIns="27432" anchor="ctr">
            <a:spAutoFit/>
          </a:bodyPr>
          <a:lstStyle/>
          <a:p>
            <a:pPr algn="ctr">
              <a:spcAft>
                <a:spcPts val="600"/>
              </a:spcAft>
            </a:pPr>
            <a:r>
              <a:rPr sz="3000" b="1" i="0">
                <a:solidFill>
                  <a:srgbClr val="2A78D6"/>
                </a:solidFill>
                <a:latin typeface="Arial"/>
              </a:rPr>
              <a:t>±0.025</a:t>
            </a:r>
          </a:p>
        </p:txBody>
      </p:sp>
      <p:sp>
        <p:nvSpPr>
          <p:cNvPr id="10" name="TextBox 9"/>
          <p:cNvSpPr txBox="1"/>
          <p:nvPr/>
        </p:nvSpPr>
        <p:spPr>
          <a:xfrm>
            <a:off x="3429000" y="4581144"/>
            <a:ext cx="2468879" cy="555955"/>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V·cm: Vπ·L chip-to-chip σ</a:t>
            </a:r>
          </a:p>
          <a:p>
            <a:pPr algn="ctr">
              <a:spcAft>
                <a:spcPts val="0"/>
              </a:spcAft>
            </a:pPr>
            <a:r>
              <a:rPr sz="1100" b="0" i="0">
                <a:solidFill>
                  <a:srgbClr val="595959"/>
                </a:solidFill>
                <a:latin typeface="Arial"/>
              </a:rPr>
              <a:t>(sil-A, Lisbon)</a:t>
            </a:r>
          </a:p>
        </p:txBody>
      </p:sp>
      <p:sp>
        <p:nvSpPr>
          <p:cNvPr id="11" name="Rounded Rectangle 10"/>
          <p:cNvSpPr/>
          <p:nvPr/>
        </p:nvSpPr>
        <p:spPr>
          <a:xfrm>
            <a:off x="6172200" y="3703320"/>
            <a:ext cx="2651760" cy="146304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3813048"/>
            <a:ext cx="2651760" cy="804672"/>
          </a:xfrm>
          <a:prstGeom prst="rect">
            <a:avLst/>
          </a:prstGeom>
          <a:noFill/>
        </p:spPr>
        <p:txBody>
          <a:bodyPr wrap="square" lIns="45720" tIns="27432" rIns="45720" bIns="27432" anchor="ctr">
            <a:spAutoFit/>
          </a:bodyPr>
          <a:lstStyle/>
          <a:p>
            <a:pPr algn="ctr">
              <a:spcAft>
                <a:spcPts val="600"/>
              </a:spcAft>
            </a:pPr>
            <a:r>
              <a:rPr sz="3000" b="1" i="0">
                <a:solidFill>
                  <a:srgbClr val="EB6834"/>
                </a:solidFill>
                <a:latin typeface="Arial"/>
              </a:rPr>
              <a:t>≤ 0.036</a:t>
            </a:r>
          </a:p>
        </p:txBody>
      </p:sp>
      <p:sp>
        <p:nvSpPr>
          <p:cNvPr id="13" name="TextBox 12"/>
          <p:cNvSpPr txBox="1"/>
          <p:nvPr/>
        </p:nvSpPr>
        <p:spPr>
          <a:xfrm>
            <a:off x="6263640" y="4581144"/>
            <a:ext cx="2468879" cy="555955"/>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dB/cm IL, any chip</a:t>
            </a:r>
          </a:p>
          <a:p>
            <a:pPr algn="ctr">
              <a:spcAft>
                <a:spcPts val="0"/>
              </a:spcAft>
            </a:pPr>
            <a:r>
              <a:rPr sz="1100" b="0" i="0">
                <a:solidFill>
                  <a:srgbClr val="595959"/>
                </a:solidFill>
                <a:latin typeface="Arial"/>
              </a:rPr>
              <a:t>(buffer ≫ 38 nm cutoff)</a:t>
            </a:r>
          </a:p>
        </p:txBody>
      </p:sp>
      <p:sp>
        <p:nvSpPr>
          <p:cNvPr id="14" name="Rounded Rectangle 13"/>
          <p:cNvSpPr/>
          <p:nvPr/>
        </p:nvSpPr>
        <p:spPr>
          <a:xfrm>
            <a:off x="9006840" y="3703320"/>
            <a:ext cx="2651760" cy="146304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06840" y="3813048"/>
            <a:ext cx="2651760" cy="804672"/>
          </a:xfrm>
          <a:prstGeom prst="rect">
            <a:avLst/>
          </a:prstGeom>
          <a:noFill/>
        </p:spPr>
        <p:txBody>
          <a:bodyPr wrap="square" lIns="45720" tIns="27432" rIns="45720" bIns="27432" anchor="ctr">
            <a:spAutoFit/>
          </a:bodyPr>
          <a:lstStyle/>
          <a:p>
            <a:pPr algn="ctr">
              <a:spcAft>
                <a:spcPts val="600"/>
              </a:spcAft>
            </a:pPr>
            <a:r>
              <a:rPr sz="3000" b="1" i="0">
                <a:solidFill>
                  <a:srgbClr val="2A78D6"/>
                </a:solidFill>
                <a:latin typeface="Arial"/>
              </a:rPr>
              <a:t>235 nm</a:t>
            </a:r>
          </a:p>
        </p:txBody>
      </p:sp>
      <p:sp>
        <p:nvSpPr>
          <p:cNvPr id="16" name="TextBox 15"/>
          <p:cNvSpPr txBox="1"/>
          <p:nvPr/>
        </p:nvSpPr>
        <p:spPr>
          <a:xfrm>
            <a:off x="9098280" y="4581144"/>
            <a:ext cx="2468879" cy="555955"/>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Jerez: buffer up to which gap 3.4</a:t>
            </a:r>
          </a:p>
          <a:p>
            <a:pPr algn="ctr">
              <a:spcAft>
                <a:spcPts val="0"/>
              </a:spcAft>
            </a:pPr>
            <a:r>
              <a:rPr sz="1100" b="0" i="0">
                <a:solidFill>
                  <a:srgbClr val="595959"/>
                </a:solidFill>
                <a:latin typeface="Arial"/>
              </a:rPr>
              <a:t>beats the unbuffered gap 4.2</a:t>
            </a:r>
          </a:p>
        </p:txBody>
      </p:sp>
      <p:sp>
        <p:nvSpPr>
          <p:cNvPr id="17" name="Rounded Rectangle 16"/>
          <p:cNvSpPr/>
          <p:nvPr/>
        </p:nvSpPr>
        <p:spPr>
          <a:xfrm>
            <a:off x="502920" y="5394960"/>
            <a:ext cx="11155680" cy="96012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t"/>
          <a:lstStyle/>
          <a:p>
            <a:pPr algn="l">
              <a:spcAft>
                <a:spcPts val="500"/>
              </a:spcAft>
            </a:pPr>
            <a:r>
              <a:rPr sz="1350" b="1" i="0">
                <a:solidFill>
                  <a:srgbClr val="1F4E79"/>
                </a:solidFill>
                <a:latin typeface="Arial"/>
              </a:rPr>
              <a:t>Robust: </a:t>
            </a:r>
            <a:r>
              <a:rPr sz="1350" b="0" i="0">
                <a:solidFill>
                  <a:srgbClr val="222222"/>
                </a:solidFill>
                <a:latin typeface="Arial"/>
              </a:rPr>
              <a:t>the process spread moves Vπ·L by about 1 % and keeps IL ≤ 0.036 dB/cm; the wave under the gold stays cut off on every chip.</a:t>
            </a:r>
          </a:p>
          <a:p>
            <a:pPr algn="l">
              <a:spcAft>
                <a:spcPts val="500"/>
              </a:spcAft>
            </a:pPr>
            <a:r>
              <a:rPr sz="1350" b="1" i="0">
                <a:solidFill>
                  <a:srgbClr val="1F4E79"/>
                </a:solidFill>
                <a:latin typeface="Arial"/>
              </a:rPr>
              <a:t>Margin: </a:t>
            </a:r>
            <a:r>
              <a:rPr sz="1350" b="0" i="0">
                <a:solidFill>
                  <a:srgbClr val="222222"/>
                </a:solidFill>
                <a:latin typeface="Arial"/>
              </a:rPr>
              <a:t>Jerez at gap 3.4 µm beats its unbuffered reference up to a 235 nm buffer; Lisbon matches it at 196 nm, so thicker wafers (sil-B/C) give Vπ·L 1–3 % above it: target the sil-A recipe, or narrow the gap by ≈ 0.1 µm (to be verified).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97280" y="2103120"/>
            <a:ext cx="10058400" cy="2377440"/>
          </a:xfrm>
          <a:prstGeom prst="rect">
            <a:avLst/>
          </a:prstGeom>
          <a:noFill/>
        </p:spPr>
        <p:txBody>
          <a:bodyPr wrap="square" lIns="45720" tIns="27432" rIns="45720" bIns="27432" anchor="t">
            <a:spAutoFit/>
          </a:bodyPr>
          <a:lstStyle/>
          <a:p>
            <a:pPr algn="ctr">
              <a:spcAft>
                <a:spcPts val="600"/>
              </a:spcAft>
            </a:pPr>
            <a:r>
              <a:rPr sz="3400" b="1" i="0">
                <a:solidFill>
                  <a:srgbClr val="222222"/>
                </a:solidFill>
                <a:latin typeface="Arial"/>
              </a:rPr>
              <a:t>Etching the LN slab vs a SiO₂ buffer</a:t>
            </a:r>
          </a:p>
          <a:p>
            <a:pPr algn="ctr">
              <a:spcAft>
                <a:spcPts val="600"/>
              </a:spcAft>
            </a:pPr>
            <a:r>
              <a:rPr sz="2400" b="0" i="0">
                <a:solidFill>
                  <a:srgbClr val="222222"/>
                </a:solidFill>
                <a:latin typeface="Arial"/>
              </a:rPr>
              <a:t>Can we remove the lateral standing wave of the lifted electrodes?</a:t>
            </a:r>
          </a:p>
          <a:p>
            <a:pPr algn="ctr">
              <a:spcAft>
                <a:spcPts val="600"/>
              </a:spcAft>
            </a:pPr>
            <a:r>
              <a:rPr sz="1700" b="0" i="0">
                <a:solidFill>
                  <a:srgbClr val="595959"/>
                </a:solidFill>
                <a:latin typeface="Arial"/>
              </a:rPr>
              <a:t>λ = 1575 nm · 550 nm film, 275 nm etch · gap 4.2 µm · x_lift 7 µm · 2D FEM (femwell)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Geometries compared</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Same rib, cap and lifted electrodes; only what sits under the gold changes</a:t>
            </a:r>
          </a:p>
        </p:txBody>
      </p:sp>
      <p:pic>
        <p:nvPicPr>
          <p:cNvPr id="4" name="Picture 3" descr="geoms6.png"/>
          <p:cNvPicPr>
            <a:picLocks noChangeAspect="1"/>
          </p:cNvPicPr>
          <p:nvPr/>
        </p:nvPicPr>
        <p:blipFill>
          <a:blip r:embed="rId3"/>
          <a:stretch>
            <a:fillRect/>
          </a:stretch>
        </p:blipFill>
        <p:spPr>
          <a:xfrm>
            <a:off x="822960" y="1600200"/>
            <a:ext cx="10209086" cy="4343400"/>
          </a:xfrm>
          <a:prstGeom prst="rect">
            <a:avLst/>
          </a:prstGeom>
        </p:spPr>
      </p:pic>
      <p:sp>
        <p:nvSpPr>
          <p:cNvPr id="5" name="TextBox 4"/>
          <p:cNvSpPr txBox="1"/>
          <p:nvPr/>
        </p:nvSpPr>
        <p:spPr>
          <a:xfrm>
            <a:off x="822960" y="6035040"/>
            <a:ext cx="10972800" cy="457200"/>
          </a:xfrm>
          <a:prstGeom prst="rect">
            <a:avLst/>
          </a:prstGeom>
          <a:noFill/>
        </p:spPr>
        <p:txBody>
          <a:bodyPr wrap="square" lIns="45720" tIns="27432" rIns="45720" bIns="27432" anchor="t">
            <a:spAutoFit/>
          </a:bodyPr>
          <a:lstStyle/>
          <a:p>
            <a:pPr algn="l">
              <a:spcAft>
                <a:spcPts val="600"/>
              </a:spcAft>
            </a:pPr>
            <a:r>
              <a:rPr sz="1300" b="1" i="0">
                <a:solidFill>
                  <a:srgbClr val="6B7582"/>
                </a:solidFill>
                <a:latin typeface="Arial"/>
              </a:rPr>
              <a:t>LN </a:t>
            </a:r>
            <a:r>
              <a:rPr sz="1300" b="0" i="0">
                <a:solidFill>
                  <a:srgbClr val="595959"/>
                </a:solidFill>
                <a:latin typeface="Arial"/>
              </a:rPr>
              <a:t>slab   </a:t>
            </a:r>
            <a:r>
              <a:rPr sz="1300" b="1" i="0">
                <a:solidFill>
                  <a:srgbClr val="4C8FD0"/>
                </a:solidFill>
                <a:latin typeface="Arial"/>
              </a:rPr>
              <a:t>SiO₂ </a:t>
            </a:r>
            <a:r>
              <a:rPr sz="1300" b="0" i="0">
                <a:solidFill>
                  <a:srgbClr val="595959"/>
                </a:solidFill>
                <a:latin typeface="Arial"/>
              </a:rPr>
              <a:t>buffer / lift / BOX   </a:t>
            </a:r>
            <a:r>
              <a:rPr sz="1300" b="1" i="0">
                <a:solidFill>
                  <a:srgbClr val="C99310"/>
                </a:solidFill>
                <a:latin typeface="Arial"/>
              </a:rPr>
              <a:t>Au </a:t>
            </a:r>
            <a:r>
              <a:rPr sz="1300" b="0" i="0">
                <a:solidFill>
                  <a:srgbClr val="595959"/>
                </a:solidFill>
                <a:latin typeface="Arial"/>
              </a:rPr>
              <a:t>electrodes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Etched slab: IL and Vπ·L vs slab width</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λ = 1575 nm, gap 4.2 µm. slab_w = gap + 2d (d: slab edge beyond the gold inner edge)</a:t>
            </a:r>
          </a:p>
        </p:txBody>
      </p:sp>
      <p:graphicFrame>
        <p:nvGraphicFramePr>
          <p:cNvPr id="4" name="Chart 3"/>
          <p:cNvGraphicFramePr>
            <a:graphicFrameLocks noGrp="1"/>
          </p:cNvGraphicFramePr>
          <p:nvPr/>
        </p:nvGraphicFramePr>
        <p:xfrm>
          <a:off x="411480" y="1600200"/>
          <a:ext cx="7863840" cy="3337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p:cNvGraphicFramePr>
            <a:graphicFrameLocks noGrp="1"/>
          </p:cNvGraphicFramePr>
          <p:nvPr/>
        </p:nvGraphicFramePr>
        <p:xfrm>
          <a:off x="411480" y="4892040"/>
          <a:ext cx="7863840" cy="1783080"/>
        </p:xfrm>
        <a:graphic>
          <a:graphicData uri="http://schemas.openxmlformats.org/drawingml/2006/chart">
            <c:chart xmlns:c="http://schemas.openxmlformats.org/drawingml/2006/chart" xmlns:r="http://schemas.openxmlformats.org/officeDocument/2006/relationships" r:id="rId4"/>
          </a:graphicData>
        </a:graphic>
      </p:graphicFrame>
      <p:sp>
        <p:nvSpPr>
          <p:cNvPr id="6" name="Rounded Rectangle 5"/>
          <p:cNvSpPr/>
          <p:nvPr/>
        </p:nvSpPr>
        <p:spPr>
          <a:xfrm>
            <a:off x="8549640" y="1691640"/>
            <a:ext cx="3246120" cy="141732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49640" y="1801368"/>
            <a:ext cx="3246120" cy="779526"/>
          </a:xfrm>
          <a:prstGeom prst="rect">
            <a:avLst/>
          </a:prstGeom>
          <a:noFill/>
        </p:spPr>
        <p:txBody>
          <a:bodyPr wrap="square" lIns="45720" tIns="27432" rIns="45720" bIns="27432" anchor="ctr">
            <a:spAutoFit/>
          </a:bodyPr>
          <a:lstStyle/>
          <a:p>
            <a:pPr algn="ctr">
              <a:spcAft>
                <a:spcPts val="600"/>
              </a:spcAft>
            </a:pPr>
            <a:r>
              <a:rPr sz="3000" b="1" i="0">
                <a:solidFill>
                  <a:srgbClr val="1BAF7A"/>
                </a:solidFill>
                <a:latin typeface="Arial"/>
              </a:rPr>
              <a:t>≤ 0.003 dB/cm</a:t>
            </a:r>
          </a:p>
        </p:txBody>
      </p:sp>
      <p:sp>
        <p:nvSpPr>
          <p:cNvPr id="8" name="TextBox 7"/>
          <p:cNvSpPr txBox="1"/>
          <p:nvPr/>
        </p:nvSpPr>
        <p:spPr>
          <a:xfrm>
            <a:off x="8641080" y="2542032"/>
            <a:ext cx="3063239" cy="538581"/>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slab ends in the gap</a:t>
            </a:r>
          </a:p>
          <a:p>
            <a:pPr algn="ctr">
              <a:spcAft>
                <a:spcPts val="0"/>
              </a:spcAft>
            </a:pPr>
            <a:r>
              <a:rPr sz="1100" b="0" i="0">
                <a:solidFill>
                  <a:srgbClr val="595959"/>
                </a:solidFill>
                <a:latin typeface="Arial"/>
              </a:rPr>
              <a:t>but Vπ·L 3.1 – 5.4 V·cm</a:t>
            </a:r>
          </a:p>
        </p:txBody>
      </p:sp>
      <p:sp>
        <p:nvSpPr>
          <p:cNvPr id="9" name="Rounded Rectangle 8"/>
          <p:cNvSpPr/>
          <p:nvPr/>
        </p:nvSpPr>
        <p:spPr>
          <a:xfrm>
            <a:off x="8549640" y="3246120"/>
            <a:ext cx="3246120" cy="141732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49640" y="3355848"/>
            <a:ext cx="3246120" cy="779526"/>
          </a:xfrm>
          <a:prstGeom prst="rect">
            <a:avLst/>
          </a:prstGeom>
          <a:noFill/>
        </p:spPr>
        <p:txBody>
          <a:bodyPr wrap="square" lIns="45720" tIns="27432" rIns="45720" bIns="27432" anchor="ctr">
            <a:spAutoFit/>
          </a:bodyPr>
          <a:lstStyle/>
          <a:p>
            <a:pPr algn="ctr">
              <a:spcAft>
                <a:spcPts val="600"/>
              </a:spcAft>
            </a:pPr>
            <a:r>
              <a:rPr sz="3000" b="1" i="0">
                <a:solidFill>
                  <a:srgbClr val="EB6834"/>
                </a:solidFill>
                <a:latin typeface="Arial"/>
              </a:rPr>
              <a:t>0.04 – 7.4</a:t>
            </a:r>
          </a:p>
        </p:txBody>
      </p:sp>
      <p:sp>
        <p:nvSpPr>
          <p:cNvPr id="11" name="TextBox 10"/>
          <p:cNvSpPr txBox="1"/>
          <p:nvPr/>
        </p:nvSpPr>
        <p:spPr>
          <a:xfrm>
            <a:off x="8641080" y="4096511"/>
            <a:ext cx="3063239" cy="538581"/>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dB/cm, slab ends in the gold</a:t>
            </a:r>
          </a:p>
          <a:p>
            <a:pPr algn="ctr">
              <a:spcAft>
                <a:spcPts val="0"/>
              </a:spcAft>
            </a:pPr>
            <a:r>
              <a:rPr sz="1100" b="0" i="0">
                <a:solidFill>
                  <a:srgbClr val="595959"/>
                </a:solidFill>
                <a:latin typeface="Arial"/>
              </a:rPr>
              <a:t>ripple period 1.79 µm in slab_w</a:t>
            </a:r>
          </a:p>
        </p:txBody>
      </p:sp>
      <p:sp>
        <p:nvSpPr>
          <p:cNvPr id="12" name="Rounded Rectangle 11"/>
          <p:cNvSpPr/>
          <p:nvPr/>
        </p:nvSpPr>
        <p:spPr>
          <a:xfrm>
            <a:off x="8549640" y="4800600"/>
            <a:ext cx="3246120" cy="141732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49640" y="4910328"/>
            <a:ext cx="3246120" cy="779526"/>
          </a:xfrm>
          <a:prstGeom prst="rect">
            <a:avLst/>
          </a:prstGeom>
          <a:noFill/>
        </p:spPr>
        <p:txBody>
          <a:bodyPr wrap="square" lIns="45720" tIns="27432" rIns="45720" bIns="27432" anchor="ctr">
            <a:spAutoFit/>
          </a:bodyPr>
          <a:lstStyle/>
          <a:p>
            <a:pPr algn="ctr">
              <a:spcAft>
                <a:spcPts val="600"/>
              </a:spcAft>
            </a:pPr>
            <a:r>
              <a:rPr sz="3000" b="1" i="0">
                <a:solidFill>
                  <a:srgbClr val="2A78D6"/>
                </a:solidFill>
                <a:latin typeface="Arial"/>
              </a:rPr>
              <a:t>= standard</a:t>
            </a:r>
          </a:p>
        </p:txBody>
      </p:sp>
      <p:sp>
        <p:nvSpPr>
          <p:cNvPr id="14" name="TextBox 13"/>
          <p:cNvSpPr txBox="1"/>
          <p:nvPr/>
        </p:nvSpPr>
        <p:spPr>
          <a:xfrm>
            <a:off x="8641080" y="5650992"/>
            <a:ext cx="3063239" cy="538581"/>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slab past the gold/SiO₂ edge</a:t>
            </a:r>
          </a:p>
          <a:p>
            <a:pPr algn="ctr">
              <a:spcAft>
                <a:spcPts val="0"/>
              </a:spcAft>
            </a:pPr>
            <a:r>
              <a:rPr sz="1100" b="0" i="0">
                <a:solidFill>
                  <a:srgbClr val="595959"/>
                </a:solidFill>
                <a:latin typeface="Arial"/>
              </a:rPr>
              <a:t>IL 0.228 dB/cm at x_lift 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Where the light goes</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|E|² along the slab mid-height; shaded = gold on the slab region, dotted = slab end</a:t>
            </a:r>
          </a:p>
        </p:txBody>
      </p:sp>
      <p:pic>
        <p:nvPicPr>
          <p:cNvPr id="4" name="Picture 3" descr="fieldcuts.png"/>
          <p:cNvPicPr>
            <a:picLocks noChangeAspect="1"/>
          </p:cNvPicPr>
          <p:nvPr/>
        </p:nvPicPr>
        <p:blipFill>
          <a:blip r:embed="rId3"/>
          <a:stretch>
            <a:fillRect/>
          </a:stretch>
        </p:blipFill>
        <p:spPr>
          <a:xfrm>
            <a:off x="822960" y="1600200"/>
            <a:ext cx="9844709" cy="5029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Countermeasure 1: SiO₂ spacer at the slab end</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Slab ending in the gold, SiO₂ spacer of width w between slab end and gold (fabrication: not viable)</a:t>
            </a:r>
          </a:p>
        </p:txBody>
      </p:sp>
      <p:pic>
        <p:nvPicPr>
          <p:cNvPr id="4" name="Picture 3" descr="geom_spacer.png"/>
          <p:cNvPicPr>
            <a:picLocks noChangeAspect="1"/>
          </p:cNvPicPr>
          <p:nvPr/>
        </p:nvPicPr>
        <p:blipFill>
          <a:blip r:embed="rId3"/>
          <a:stretch>
            <a:fillRect/>
          </a:stretch>
        </p:blipFill>
        <p:spPr>
          <a:xfrm>
            <a:off x="502920" y="1645920"/>
            <a:ext cx="4206240" cy="840030"/>
          </a:xfrm>
          <a:prstGeom prst="rect">
            <a:avLst/>
          </a:prstGeom>
        </p:spPr>
      </p:pic>
      <p:graphicFrame>
        <p:nvGraphicFramePr>
          <p:cNvPr id="5" name="Chart 4"/>
          <p:cNvGraphicFramePr>
            <a:graphicFrameLocks noGrp="1"/>
          </p:cNvGraphicFramePr>
          <p:nvPr/>
        </p:nvGraphicFramePr>
        <p:xfrm>
          <a:off x="4846320" y="1600200"/>
          <a:ext cx="6949440" cy="49377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e 5"/>
          <p:cNvGraphicFramePr>
            <a:graphicFrameLocks noGrp="1"/>
          </p:cNvGraphicFramePr>
          <p:nvPr/>
        </p:nvGraphicFramePr>
        <p:xfrm>
          <a:off x="502920" y="3017520"/>
          <a:ext cx="4114800" cy="150876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01752">
                <a:tc>
                  <a:txBody>
                    <a:bodyPr/>
                    <a:lstStyle/>
                    <a:p>
                      <a:pPr algn="l"/>
                      <a:r>
                        <a:rPr sz="1200" b="1" i="0">
                          <a:solidFill>
                            <a:srgbClr val="FFFFFF"/>
                          </a:solidFill>
                          <a:latin typeface="Arial"/>
                        </a:rPr>
                        <a:t>spacer w</a:t>
                      </a:r>
                    </a:p>
                  </a:txBody>
                  <a:tcPr marL="54864" marR="54864" marT="18288" marB="18288" anchor="ctr">
                    <a:solidFill>
                      <a:srgbClr val="1F4E79"/>
                    </a:solidFill>
                  </a:tcPr>
                </a:tc>
                <a:tc>
                  <a:txBody>
                    <a:bodyPr/>
                    <a:lstStyle/>
                    <a:p>
                      <a:pPr algn="ctr"/>
                      <a:r>
                        <a:rPr sz="1200" b="1" i="0">
                          <a:solidFill>
                            <a:srgbClr val="FFFFFF"/>
                          </a:solidFill>
                          <a:latin typeface="Arial"/>
                        </a:rPr>
                        <a:t>peak IL</a:t>
                      </a:r>
                    </a:p>
                  </a:txBody>
                  <a:tcPr marL="54864" marR="54864" marT="18288" marB="18288" anchor="ctr">
                    <a:solidFill>
                      <a:srgbClr val="1F4E79"/>
                    </a:solidFill>
                  </a:tcPr>
                </a:tc>
                <a:tc>
                  <a:txBody>
                    <a:bodyPr/>
                    <a:lstStyle/>
                    <a:p>
                      <a:pPr algn="ctr"/>
                      <a:r>
                        <a:rPr sz="1200" b="1" i="0">
                          <a:solidFill>
                            <a:srgbClr val="FFFFFF"/>
                          </a:solidFill>
                          <a:latin typeface="Arial"/>
                        </a:rPr>
                        <a:t>at slab_w</a:t>
                      </a:r>
                    </a:p>
                  </a:txBody>
                  <a:tcPr marL="54864" marR="54864" marT="18288" marB="18288" anchor="ctr">
                    <a:solidFill>
                      <a:srgbClr val="1F4E79"/>
                    </a:solidFill>
                  </a:tcPr>
                </a:tc>
                <a:extLst>
                  <a:ext uri="{0D108BD9-81ED-4DB2-BD59-A6C34878D82A}">
                    <a16:rowId xmlns:a16="http://schemas.microsoft.com/office/drawing/2014/main" val="10000"/>
                  </a:ext>
                </a:extLst>
              </a:tr>
              <a:tr h="301752">
                <a:tc>
                  <a:txBody>
                    <a:bodyPr/>
                    <a:lstStyle/>
                    <a:p>
                      <a:pPr algn="l"/>
                      <a:r>
                        <a:rPr sz="1200" b="0" i="0">
                          <a:solidFill>
                            <a:srgbClr val="222222"/>
                          </a:solidFill>
                          <a:latin typeface="Arial"/>
                        </a:rPr>
                        <a:t>none</a:t>
                      </a:r>
                    </a:p>
                  </a:txBody>
                  <a:tcPr marL="54864" marR="54864" marT="18288" marB="18288" anchor="ctr">
                    <a:solidFill>
                      <a:srgbClr val="F4F6F9"/>
                    </a:solidFill>
                  </a:tcPr>
                </a:tc>
                <a:tc>
                  <a:txBody>
                    <a:bodyPr/>
                    <a:lstStyle/>
                    <a:p>
                      <a:pPr algn="ctr"/>
                      <a:r>
                        <a:rPr sz="1200" b="0" i="0">
                          <a:solidFill>
                            <a:srgbClr val="222222"/>
                          </a:solidFill>
                          <a:latin typeface="Arial"/>
                        </a:rPr>
                        <a:t>2.88</a:t>
                      </a:r>
                    </a:p>
                  </a:txBody>
                  <a:tcPr marL="54864" marR="54864" marT="18288" marB="18288" anchor="ctr">
                    <a:solidFill>
                      <a:srgbClr val="F4F6F9"/>
                    </a:solidFill>
                  </a:tcPr>
                </a:tc>
                <a:tc>
                  <a:txBody>
                    <a:bodyPr/>
                    <a:lstStyle/>
                    <a:p>
                      <a:pPr algn="ctr"/>
                      <a:r>
                        <a:rPr sz="1200" b="0" i="0">
                          <a:solidFill>
                            <a:srgbClr val="222222"/>
                          </a:solidFill>
                          <a:latin typeface="Arial"/>
                        </a:rPr>
                        <a:t>6.75</a:t>
                      </a:r>
                    </a:p>
                  </a:txBody>
                  <a:tcPr marL="54864" marR="54864" marT="18288" marB="18288" anchor="ctr">
                    <a:solidFill>
                      <a:srgbClr val="F4F6F9"/>
                    </a:solidFill>
                  </a:tcPr>
                </a:tc>
                <a:extLst>
                  <a:ext uri="{0D108BD9-81ED-4DB2-BD59-A6C34878D82A}">
                    <a16:rowId xmlns:a16="http://schemas.microsoft.com/office/drawing/2014/main" val="10001"/>
                  </a:ext>
                </a:extLst>
              </a:tr>
              <a:tr h="301752">
                <a:tc>
                  <a:txBody>
                    <a:bodyPr/>
                    <a:lstStyle/>
                    <a:p>
                      <a:pPr algn="l"/>
                      <a:r>
                        <a:rPr sz="1200" b="0" i="0">
                          <a:solidFill>
                            <a:srgbClr val="222222"/>
                          </a:solidFill>
                          <a:latin typeface="Arial"/>
                        </a:rPr>
                        <a:t>100 nm</a:t>
                      </a:r>
                    </a:p>
                  </a:txBody>
                  <a:tcPr marL="54864" marR="54864" marT="18288" marB="18288" anchor="ctr">
                    <a:solidFill>
                      <a:srgbClr val="DDE3EA"/>
                    </a:solidFill>
                  </a:tcPr>
                </a:tc>
                <a:tc>
                  <a:txBody>
                    <a:bodyPr/>
                    <a:lstStyle/>
                    <a:p>
                      <a:pPr algn="ctr"/>
                      <a:r>
                        <a:rPr sz="1200" b="0" i="0">
                          <a:solidFill>
                            <a:srgbClr val="222222"/>
                          </a:solidFill>
                          <a:latin typeface="Arial"/>
                        </a:rPr>
                        <a:t>2.88</a:t>
                      </a:r>
                    </a:p>
                  </a:txBody>
                  <a:tcPr marL="54864" marR="54864" marT="18288" marB="18288" anchor="ctr">
                    <a:solidFill>
                      <a:srgbClr val="DDE3EA"/>
                    </a:solidFill>
                  </a:tcPr>
                </a:tc>
                <a:tc>
                  <a:txBody>
                    <a:bodyPr/>
                    <a:lstStyle/>
                    <a:p>
                      <a:pPr algn="ctr"/>
                      <a:r>
                        <a:rPr sz="1200" b="0" i="0">
                          <a:solidFill>
                            <a:srgbClr val="222222"/>
                          </a:solidFill>
                          <a:latin typeface="Arial"/>
                        </a:rPr>
                        <a:t>6.60</a:t>
                      </a:r>
                    </a:p>
                  </a:txBody>
                  <a:tcPr marL="54864" marR="54864" marT="18288" marB="18288" anchor="ctr">
                    <a:solidFill>
                      <a:srgbClr val="DDE3EA"/>
                    </a:solidFill>
                  </a:tcPr>
                </a:tc>
                <a:extLst>
                  <a:ext uri="{0D108BD9-81ED-4DB2-BD59-A6C34878D82A}">
                    <a16:rowId xmlns:a16="http://schemas.microsoft.com/office/drawing/2014/main" val="10002"/>
                  </a:ext>
                </a:extLst>
              </a:tr>
              <a:tr h="301752">
                <a:tc>
                  <a:txBody>
                    <a:bodyPr/>
                    <a:lstStyle/>
                    <a:p>
                      <a:pPr algn="l"/>
                      <a:r>
                        <a:rPr sz="1200" b="0" i="0">
                          <a:solidFill>
                            <a:srgbClr val="222222"/>
                          </a:solidFill>
                          <a:latin typeface="Arial"/>
                        </a:rPr>
                        <a:t>300 nm</a:t>
                      </a:r>
                    </a:p>
                  </a:txBody>
                  <a:tcPr marL="54864" marR="54864" marT="18288" marB="18288" anchor="ctr">
                    <a:solidFill>
                      <a:srgbClr val="F4F6F9"/>
                    </a:solidFill>
                  </a:tcPr>
                </a:tc>
                <a:tc>
                  <a:txBody>
                    <a:bodyPr/>
                    <a:lstStyle/>
                    <a:p>
                      <a:pPr algn="ctr"/>
                      <a:r>
                        <a:rPr sz="1200" b="0" i="0">
                          <a:solidFill>
                            <a:srgbClr val="222222"/>
                          </a:solidFill>
                          <a:latin typeface="Arial"/>
                        </a:rPr>
                        <a:t>2.93</a:t>
                      </a:r>
                    </a:p>
                  </a:txBody>
                  <a:tcPr marL="54864" marR="54864" marT="18288" marB="18288" anchor="ctr">
                    <a:solidFill>
                      <a:srgbClr val="F4F6F9"/>
                    </a:solidFill>
                  </a:tcPr>
                </a:tc>
                <a:tc>
                  <a:txBody>
                    <a:bodyPr/>
                    <a:lstStyle/>
                    <a:p>
                      <a:pPr algn="ctr"/>
                      <a:r>
                        <a:rPr sz="1200" b="0" i="0">
                          <a:solidFill>
                            <a:srgbClr val="222222"/>
                          </a:solidFill>
                          <a:latin typeface="Arial"/>
                        </a:rPr>
                        <a:t>6.50</a:t>
                      </a:r>
                    </a:p>
                  </a:txBody>
                  <a:tcPr marL="54864" marR="54864" marT="18288" marB="18288" anchor="ctr">
                    <a:solidFill>
                      <a:srgbClr val="F4F6F9"/>
                    </a:solidFill>
                  </a:tcPr>
                </a:tc>
                <a:extLst>
                  <a:ext uri="{0D108BD9-81ED-4DB2-BD59-A6C34878D82A}">
                    <a16:rowId xmlns:a16="http://schemas.microsoft.com/office/drawing/2014/main" val="10003"/>
                  </a:ext>
                </a:extLst>
              </a:tr>
              <a:tr h="301752">
                <a:tc>
                  <a:txBody>
                    <a:bodyPr/>
                    <a:lstStyle/>
                    <a:p>
                      <a:pPr algn="l"/>
                      <a:r>
                        <a:rPr sz="1200" b="0" i="0">
                          <a:solidFill>
                            <a:srgbClr val="222222"/>
                          </a:solidFill>
                          <a:latin typeface="Arial"/>
                        </a:rPr>
                        <a:t>600 nm</a:t>
                      </a:r>
                    </a:p>
                  </a:txBody>
                  <a:tcPr marL="54864" marR="54864" marT="18288" marB="18288" anchor="ctr">
                    <a:solidFill>
                      <a:srgbClr val="DDE3EA"/>
                    </a:solidFill>
                  </a:tcPr>
                </a:tc>
                <a:tc>
                  <a:txBody>
                    <a:bodyPr/>
                    <a:lstStyle/>
                    <a:p>
                      <a:pPr algn="ctr"/>
                      <a:r>
                        <a:rPr sz="1200" b="0" i="0">
                          <a:solidFill>
                            <a:srgbClr val="222222"/>
                          </a:solidFill>
                          <a:latin typeface="Arial"/>
                        </a:rPr>
                        <a:t>3.04</a:t>
                      </a:r>
                    </a:p>
                  </a:txBody>
                  <a:tcPr marL="54864" marR="54864" marT="18288" marB="18288" anchor="ctr">
                    <a:solidFill>
                      <a:srgbClr val="DDE3EA"/>
                    </a:solidFill>
                  </a:tcPr>
                </a:tc>
                <a:tc>
                  <a:txBody>
                    <a:bodyPr/>
                    <a:lstStyle/>
                    <a:p>
                      <a:pPr algn="ctr"/>
                      <a:r>
                        <a:rPr sz="1200" b="0" i="0">
                          <a:solidFill>
                            <a:srgbClr val="222222"/>
                          </a:solidFill>
                          <a:latin typeface="Arial"/>
                        </a:rPr>
                        <a:t>6.50</a:t>
                      </a:r>
                    </a:p>
                  </a:txBody>
                  <a:tcPr marL="54864" marR="54864" marT="18288" marB="18288" anchor="ctr">
                    <a:solidFill>
                      <a:srgbClr val="DDE3EA"/>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02920" y="4663440"/>
            <a:ext cx="4114800" cy="1280160"/>
          </a:xfrm>
          <a:prstGeom prst="rect">
            <a:avLst/>
          </a:prstGeom>
          <a:noFill/>
        </p:spPr>
        <p:txBody>
          <a:bodyPr wrap="square" lIns="45720" tIns="27432" rIns="45720" bIns="27432" anchor="t">
            <a:spAutoFit/>
          </a:bodyPr>
          <a:lstStyle/>
          <a:p>
            <a:pPr algn="l">
              <a:spcAft>
                <a:spcPts val="600"/>
              </a:spcAft>
            </a:pPr>
            <a:r>
              <a:rPr sz="1400" b="1" i="0">
                <a:solidFill>
                  <a:srgbClr val="1F4E79"/>
                </a:solidFill>
                <a:latin typeface="Arial"/>
              </a:rPr>
              <a:t>The ripple survives at every width</a:t>
            </a:r>
          </a:p>
          <a:p>
            <a:pPr algn="l">
              <a:spcAft>
                <a:spcPts val="600"/>
              </a:spcAft>
            </a:pPr>
            <a:r>
              <a:rPr sz="1250" b="0" i="0">
                <a:solidFill>
                  <a:srgbClr val="222222"/>
                </a:solidFill>
                <a:latin typeface="Arial"/>
              </a:rPr>
              <a:t>Gold over SiO₂ cannot carry the wave (n &lt; n_rib): the spacer is just another mirror, it only shifts the peaks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Countermeasure 2: no wave under the gold</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A slab thinner than ~180 nm under the gold cannot carry the wave (1D model, 1575 nm)</a:t>
            </a:r>
          </a:p>
        </p:txBody>
      </p:sp>
      <p:pic>
        <p:nvPicPr>
          <p:cNvPr id="4" name="Picture 3" descr="nsw_vs_thickness.png"/>
          <p:cNvPicPr>
            <a:picLocks noChangeAspect="1"/>
          </p:cNvPicPr>
          <p:nvPr/>
        </p:nvPicPr>
        <p:blipFill>
          <a:blip r:embed="rId3"/>
          <a:stretch>
            <a:fillRect/>
          </a:stretch>
        </p:blipFill>
        <p:spPr>
          <a:xfrm>
            <a:off x="502920" y="1645920"/>
            <a:ext cx="6970120" cy="4572000"/>
          </a:xfrm>
          <a:prstGeom prst="rect">
            <a:avLst/>
          </a:prstGeom>
        </p:spPr>
      </p:pic>
      <p:pic>
        <p:nvPicPr>
          <p:cNvPr id="5" name="Picture 4" descr="geom_deep.png"/>
          <p:cNvPicPr>
            <a:picLocks noChangeAspect="1"/>
          </p:cNvPicPr>
          <p:nvPr/>
        </p:nvPicPr>
        <p:blipFill>
          <a:blip r:embed="rId4"/>
          <a:stretch>
            <a:fillRect/>
          </a:stretch>
        </p:blipFill>
        <p:spPr>
          <a:xfrm>
            <a:off x="7818120" y="1965960"/>
            <a:ext cx="3931920" cy="1024038"/>
          </a:xfrm>
          <a:prstGeom prst="rect">
            <a:avLst/>
          </a:prstGeom>
        </p:spPr>
      </p:pic>
      <p:sp>
        <p:nvSpPr>
          <p:cNvPr id="6" name="TextBox 5"/>
          <p:cNvSpPr txBox="1"/>
          <p:nvPr/>
        </p:nvSpPr>
        <p:spPr>
          <a:xfrm>
            <a:off x="7818120" y="1645920"/>
            <a:ext cx="3931920" cy="320040"/>
          </a:xfrm>
          <a:prstGeom prst="rect">
            <a:avLst/>
          </a:prstGeom>
          <a:noFill/>
        </p:spPr>
        <p:txBody>
          <a:bodyPr wrap="square" lIns="45720" tIns="27432" rIns="45720" bIns="27432" anchor="t">
            <a:spAutoFit/>
          </a:bodyPr>
          <a:lstStyle/>
          <a:p>
            <a:pPr algn="l">
              <a:spcAft>
                <a:spcPts val="600"/>
              </a:spcAft>
            </a:pPr>
            <a:r>
              <a:rPr sz="1300" b="1" i="0">
                <a:solidFill>
                  <a:srgbClr val="222222"/>
                </a:solidFill>
                <a:latin typeface="Arial"/>
              </a:rPr>
              <a:t>A. deeper rib etch (one etch, 150 nm slab)</a:t>
            </a:r>
          </a:p>
        </p:txBody>
      </p:sp>
      <p:pic>
        <p:nvPicPr>
          <p:cNvPr id="7" name="Picture 6" descr="geom_partial.png"/>
          <p:cNvPicPr>
            <a:picLocks noChangeAspect="1"/>
          </p:cNvPicPr>
          <p:nvPr/>
        </p:nvPicPr>
        <p:blipFill>
          <a:blip r:embed="rId5"/>
          <a:stretch>
            <a:fillRect/>
          </a:stretch>
        </p:blipFill>
        <p:spPr>
          <a:xfrm>
            <a:off x="7818120" y="3977639"/>
            <a:ext cx="3931920" cy="1024038"/>
          </a:xfrm>
          <a:prstGeom prst="rect">
            <a:avLst/>
          </a:prstGeom>
        </p:spPr>
      </p:pic>
      <p:sp>
        <p:nvSpPr>
          <p:cNvPr id="8" name="TextBox 7"/>
          <p:cNvSpPr txBox="1"/>
          <p:nvPr/>
        </p:nvSpPr>
        <p:spPr>
          <a:xfrm>
            <a:off x="7818120" y="3657600"/>
            <a:ext cx="3931920" cy="320040"/>
          </a:xfrm>
          <a:prstGeom prst="rect">
            <a:avLst/>
          </a:prstGeom>
          <a:noFill/>
        </p:spPr>
        <p:txBody>
          <a:bodyPr wrap="square" lIns="45720" tIns="27432" rIns="45720" bIns="27432" anchor="t">
            <a:spAutoFit/>
          </a:bodyPr>
          <a:lstStyle/>
          <a:p>
            <a:pPr algn="l">
              <a:spcAft>
                <a:spcPts val="600"/>
              </a:spcAft>
            </a:pPr>
            <a:r>
              <a:rPr sz="1300" b="1" i="0">
                <a:solidFill>
                  <a:srgbClr val="222222"/>
                </a:solidFill>
                <a:latin typeface="Arial"/>
              </a:rPr>
              <a:t>B. partial 2nd etch outside slab_w (125 nm)</a:t>
            </a:r>
          </a:p>
        </p:txBody>
      </p:sp>
      <p:sp>
        <p:nvSpPr>
          <p:cNvPr id="9" name="TextBox 8"/>
          <p:cNvSpPr txBox="1"/>
          <p:nvPr/>
        </p:nvSpPr>
        <p:spPr>
          <a:xfrm>
            <a:off x="7818120" y="5120640"/>
            <a:ext cx="4023360" cy="1188720"/>
          </a:xfrm>
          <a:prstGeom prst="rect">
            <a:avLst/>
          </a:prstGeom>
          <a:noFill/>
        </p:spPr>
        <p:txBody>
          <a:bodyPr wrap="square" lIns="45720" tIns="27432" rIns="45720" bIns="27432" anchor="t">
            <a:spAutoFit/>
          </a:bodyPr>
          <a:lstStyle/>
          <a:p>
            <a:pPr algn="l">
              <a:spcAft>
                <a:spcPts val="600"/>
              </a:spcAft>
            </a:pPr>
            <a:r>
              <a:rPr sz="1300" b="0" i="0">
                <a:solidFill>
                  <a:srgbClr val="595959"/>
                </a:solidFill>
                <a:latin typeface="Arial"/>
              </a:rPr>
              <a:t>Same materials, lift kept, no buffer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Option A: deeper rib etch</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550 nm film, slab left after the rib etch: 275 nm (today) → 175 / 150 / 125 nm</a:t>
            </a:r>
          </a:p>
        </p:txBody>
      </p:sp>
      <p:graphicFrame>
        <p:nvGraphicFramePr>
          <p:cNvPr id="4" name="Chart 3"/>
          <p:cNvGraphicFramePr>
            <a:graphicFrameLocks noGrp="1"/>
          </p:cNvGraphicFramePr>
          <p:nvPr/>
        </p:nvGraphicFramePr>
        <p:xfrm>
          <a:off x="411480" y="1600200"/>
          <a:ext cx="5852160" cy="49377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p:cNvGraphicFramePr>
            <a:graphicFrameLocks noGrp="1"/>
          </p:cNvGraphicFramePr>
          <p:nvPr/>
        </p:nvGraphicFramePr>
        <p:xfrm>
          <a:off x="6537960" y="1691640"/>
          <a:ext cx="5257800" cy="3621024"/>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29184">
                <a:tc>
                  <a:txBody>
                    <a:bodyPr/>
                    <a:lstStyle/>
                    <a:p>
                      <a:pPr algn="l"/>
                      <a:r>
                        <a:rPr sz="1200" b="1" i="0">
                          <a:solidFill>
                            <a:srgbClr val="FFFFFF"/>
                          </a:solidFill>
                          <a:latin typeface="Arial"/>
                        </a:rPr>
                        <a:t>slab</a:t>
                      </a:r>
                    </a:p>
                  </a:txBody>
                  <a:tcPr marL="54864" marR="54864" marT="18288" marB="18288" anchor="ctr">
                    <a:solidFill>
                      <a:srgbClr val="1F4E79"/>
                    </a:solidFill>
                  </a:tcPr>
                </a:tc>
                <a:tc>
                  <a:txBody>
                    <a:bodyPr/>
                    <a:lstStyle/>
                    <a:p>
                      <a:pPr algn="ctr"/>
                      <a:r>
                        <a:rPr sz="1200" b="1" i="0">
                          <a:solidFill>
                            <a:srgbClr val="FFFFFF"/>
                          </a:solidFill>
                          <a:latin typeface="Arial"/>
                        </a:rPr>
                        <a:t>gap (µm)</a:t>
                      </a:r>
                    </a:p>
                  </a:txBody>
                  <a:tcPr marL="54864" marR="54864" marT="18288" marB="18288" anchor="ctr">
                    <a:solidFill>
                      <a:srgbClr val="1F4E79"/>
                    </a:solidFill>
                  </a:tcPr>
                </a:tc>
                <a:tc>
                  <a:txBody>
                    <a:bodyPr/>
                    <a:lstStyle/>
                    <a:p>
                      <a:pPr algn="ctr"/>
                      <a:r>
                        <a:rPr sz="1200" b="1" i="0">
                          <a:solidFill>
                            <a:srgbClr val="FFFFFF"/>
                          </a:solidFill>
                          <a:latin typeface="Arial"/>
                        </a:rPr>
                        <a:t>IL (dB/cm)</a:t>
                      </a:r>
                    </a:p>
                  </a:txBody>
                  <a:tcPr marL="54864" marR="54864" marT="18288" marB="18288" anchor="ctr">
                    <a:solidFill>
                      <a:srgbClr val="1F4E79"/>
                    </a:solidFill>
                  </a:tcPr>
                </a:tc>
                <a:tc>
                  <a:txBody>
                    <a:bodyPr/>
                    <a:lstStyle/>
                    <a:p>
                      <a:pPr algn="ctr"/>
                      <a:r>
                        <a:rPr sz="1200" b="1" i="0">
                          <a:solidFill>
                            <a:srgbClr val="FFFFFF"/>
                          </a:solidFill>
                          <a:latin typeface="Arial"/>
                        </a:rPr>
                        <a:t>Vπ·L (V·cm)</a:t>
                      </a:r>
                    </a:p>
                  </a:txBody>
                  <a:tcPr marL="54864" marR="54864" marT="18288" marB="18288" anchor="ctr">
                    <a:solidFill>
                      <a:srgbClr val="1F4E79"/>
                    </a:solidFill>
                  </a:tcPr>
                </a:tc>
                <a:extLst>
                  <a:ext uri="{0D108BD9-81ED-4DB2-BD59-A6C34878D82A}">
                    <a16:rowId xmlns:a16="http://schemas.microsoft.com/office/drawing/2014/main" val="10000"/>
                  </a:ext>
                </a:extLst>
              </a:tr>
              <a:tr h="329184">
                <a:tc>
                  <a:txBody>
                    <a:bodyPr/>
                    <a:lstStyle/>
                    <a:p>
                      <a:pPr algn="l"/>
                      <a:r>
                        <a:rPr sz="1200" b="0" i="0">
                          <a:solidFill>
                            <a:srgbClr val="222222"/>
                          </a:solidFill>
                          <a:latin typeface="Arial"/>
                        </a:rPr>
                        <a:t>275 nm (today)</a:t>
                      </a:r>
                    </a:p>
                  </a:txBody>
                  <a:tcPr marL="54864" marR="54864" marT="18288" marB="18288" anchor="ctr">
                    <a:solidFill>
                      <a:srgbClr val="F4F6F9"/>
                    </a:solidFill>
                  </a:tcPr>
                </a:tc>
                <a:tc>
                  <a:txBody>
                    <a:bodyPr/>
                    <a:lstStyle/>
                    <a:p>
                      <a:pPr algn="ctr"/>
                      <a:r>
                        <a:rPr sz="1200" b="0" i="0">
                          <a:solidFill>
                            <a:srgbClr val="222222"/>
                          </a:solidFill>
                          <a:latin typeface="Arial"/>
                        </a:rPr>
                        <a:t>4.2</a:t>
                      </a:r>
                    </a:p>
                  </a:txBody>
                  <a:tcPr marL="54864" marR="54864" marT="18288" marB="18288" anchor="ctr">
                    <a:solidFill>
                      <a:srgbClr val="F4F6F9"/>
                    </a:solidFill>
                  </a:tcPr>
                </a:tc>
                <a:tc>
                  <a:txBody>
                    <a:bodyPr/>
                    <a:lstStyle/>
                    <a:p>
                      <a:pPr algn="ctr"/>
                      <a:r>
                        <a:rPr sz="1200" b="0" i="0">
                          <a:solidFill>
                            <a:srgbClr val="222222"/>
                          </a:solidFill>
                          <a:latin typeface="Arial"/>
                        </a:rPr>
                        <a:t>0.18 – 0.89</a:t>
                      </a:r>
                    </a:p>
                  </a:txBody>
                  <a:tcPr marL="54864" marR="54864" marT="18288" marB="18288" anchor="ctr">
                    <a:solidFill>
                      <a:srgbClr val="F4F6F9"/>
                    </a:solidFill>
                  </a:tcPr>
                </a:tc>
                <a:tc>
                  <a:txBody>
                    <a:bodyPr/>
                    <a:lstStyle/>
                    <a:p>
                      <a:pPr algn="ctr"/>
                      <a:r>
                        <a:rPr sz="1200" b="0" i="0">
                          <a:solidFill>
                            <a:srgbClr val="222222"/>
                          </a:solidFill>
                          <a:latin typeface="Arial"/>
                        </a:rPr>
                        <a:t>2.27</a:t>
                      </a:r>
                    </a:p>
                  </a:txBody>
                  <a:tcPr marL="54864" marR="54864" marT="18288" marB="18288" anchor="ctr">
                    <a:solidFill>
                      <a:srgbClr val="F4F6F9"/>
                    </a:solidFill>
                  </a:tcPr>
                </a:tc>
                <a:extLst>
                  <a:ext uri="{0D108BD9-81ED-4DB2-BD59-A6C34878D82A}">
                    <a16:rowId xmlns:a16="http://schemas.microsoft.com/office/drawing/2014/main" val="10001"/>
                  </a:ext>
                </a:extLst>
              </a:tr>
              <a:tr h="329184">
                <a:tc>
                  <a:txBody>
                    <a:bodyPr/>
                    <a:lstStyle/>
                    <a:p>
                      <a:pPr algn="l"/>
                      <a:r>
                        <a:rPr sz="1200" b="0" i="0">
                          <a:solidFill>
                            <a:srgbClr val="222222"/>
                          </a:solidFill>
                          <a:latin typeface="Arial"/>
                        </a:rPr>
                        <a:t>200 nm</a:t>
                      </a:r>
                    </a:p>
                  </a:txBody>
                  <a:tcPr marL="54864" marR="54864" marT="18288" marB="18288" anchor="ctr">
                    <a:solidFill>
                      <a:srgbClr val="DDE3EA"/>
                    </a:solidFill>
                  </a:tcPr>
                </a:tc>
                <a:tc>
                  <a:txBody>
                    <a:bodyPr/>
                    <a:lstStyle/>
                    <a:p>
                      <a:pPr algn="ctr"/>
                      <a:r>
                        <a:rPr sz="1200" b="0" i="0">
                          <a:solidFill>
                            <a:srgbClr val="222222"/>
                          </a:solidFill>
                          <a:latin typeface="Arial"/>
                        </a:rPr>
                        <a:t>4.2</a:t>
                      </a:r>
                    </a:p>
                  </a:txBody>
                  <a:tcPr marL="54864" marR="54864" marT="18288" marB="18288" anchor="ctr">
                    <a:solidFill>
                      <a:srgbClr val="DDE3EA"/>
                    </a:solidFill>
                  </a:tcPr>
                </a:tc>
                <a:tc>
                  <a:txBody>
                    <a:bodyPr/>
                    <a:lstStyle/>
                    <a:p>
                      <a:pPr algn="ctr"/>
                      <a:r>
                        <a:rPr sz="1200" b="0" i="0">
                          <a:solidFill>
                            <a:srgbClr val="222222"/>
                          </a:solidFill>
                          <a:latin typeface="Arial"/>
                        </a:rPr>
                        <a:t>0.0658</a:t>
                      </a:r>
                    </a:p>
                  </a:txBody>
                  <a:tcPr marL="54864" marR="54864" marT="18288" marB="18288" anchor="ctr">
                    <a:solidFill>
                      <a:srgbClr val="DDE3EA"/>
                    </a:solidFill>
                  </a:tcPr>
                </a:tc>
                <a:tc>
                  <a:txBody>
                    <a:bodyPr/>
                    <a:lstStyle/>
                    <a:p>
                      <a:pPr algn="ctr"/>
                      <a:r>
                        <a:rPr sz="1200" b="0" i="0">
                          <a:solidFill>
                            <a:srgbClr val="222222"/>
                          </a:solidFill>
                          <a:latin typeface="Arial"/>
                        </a:rPr>
                        <a:t>2.72</a:t>
                      </a:r>
                    </a:p>
                  </a:txBody>
                  <a:tcPr marL="54864" marR="54864" marT="18288" marB="18288" anchor="ctr">
                    <a:solidFill>
                      <a:srgbClr val="DDE3EA"/>
                    </a:solidFill>
                  </a:tcPr>
                </a:tc>
                <a:extLst>
                  <a:ext uri="{0D108BD9-81ED-4DB2-BD59-A6C34878D82A}">
                    <a16:rowId xmlns:a16="http://schemas.microsoft.com/office/drawing/2014/main" val="10002"/>
                  </a:ext>
                </a:extLst>
              </a:tr>
              <a:tr h="329184">
                <a:tc>
                  <a:txBody>
                    <a:bodyPr/>
                    <a:lstStyle/>
                    <a:p>
                      <a:pPr algn="l"/>
                      <a:r>
                        <a:rPr sz="1200" b="0" i="0">
                          <a:solidFill>
                            <a:srgbClr val="222222"/>
                          </a:solidFill>
                          <a:latin typeface="Arial"/>
                        </a:rPr>
                        <a:t>175 nm</a:t>
                      </a:r>
                    </a:p>
                  </a:txBody>
                  <a:tcPr marL="54864" marR="54864" marT="18288" marB="18288" anchor="ctr">
                    <a:solidFill>
                      <a:srgbClr val="F4F6F9"/>
                    </a:solidFill>
                  </a:tcPr>
                </a:tc>
                <a:tc>
                  <a:txBody>
                    <a:bodyPr/>
                    <a:lstStyle/>
                    <a:p>
                      <a:pPr algn="ctr"/>
                      <a:r>
                        <a:rPr sz="1200" b="0" i="0">
                          <a:solidFill>
                            <a:srgbClr val="222222"/>
                          </a:solidFill>
                          <a:latin typeface="Arial"/>
                        </a:rPr>
                        <a:t>4.2</a:t>
                      </a:r>
                    </a:p>
                  </a:txBody>
                  <a:tcPr marL="54864" marR="54864" marT="18288" marB="18288" anchor="ctr">
                    <a:solidFill>
                      <a:srgbClr val="F4F6F9"/>
                    </a:solidFill>
                  </a:tcPr>
                </a:tc>
                <a:tc>
                  <a:txBody>
                    <a:bodyPr/>
                    <a:lstStyle/>
                    <a:p>
                      <a:pPr algn="ctr"/>
                      <a:r>
                        <a:rPr sz="1200" b="0" i="0">
                          <a:solidFill>
                            <a:srgbClr val="222222"/>
                          </a:solidFill>
                          <a:latin typeface="Arial"/>
                        </a:rPr>
                        <a:t>0.121</a:t>
                      </a:r>
                    </a:p>
                  </a:txBody>
                  <a:tcPr marL="54864" marR="54864" marT="18288" marB="18288" anchor="ctr">
                    <a:solidFill>
                      <a:srgbClr val="F4F6F9"/>
                    </a:solidFill>
                  </a:tcPr>
                </a:tc>
                <a:tc>
                  <a:txBody>
                    <a:bodyPr/>
                    <a:lstStyle/>
                    <a:p>
                      <a:pPr algn="ctr"/>
                      <a:r>
                        <a:rPr sz="1200" b="0" i="0">
                          <a:solidFill>
                            <a:srgbClr val="222222"/>
                          </a:solidFill>
                          <a:latin typeface="Arial"/>
                        </a:rPr>
                        <a:t>2.92</a:t>
                      </a:r>
                    </a:p>
                  </a:txBody>
                  <a:tcPr marL="54864" marR="54864" marT="18288" marB="18288" anchor="ctr">
                    <a:solidFill>
                      <a:srgbClr val="F4F6F9"/>
                    </a:solidFill>
                  </a:tcPr>
                </a:tc>
                <a:extLst>
                  <a:ext uri="{0D108BD9-81ED-4DB2-BD59-A6C34878D82A}">
                    <a16:rowId xmlns:a16="http://schemas.microsoft.com/office/drawing/2014/main" val="10003"/>
                  </a:ext>
                </a:extLst>
              </a:tr>
              <a:tr h="329184">
                <a:tc>
                  <a:txBody>
                    <a:bodyPr/>
                    <a:lstStyle/>
                    <a:p>
                      <a:pPr algn="l"/>
                      <a:r>
                        <a:rPr sz="1200" b="0" i="0">
                          <a:solidFill>
                            <a:srgbClr val="222222"/>
                          </a:solidFill>
                          <a:latin typeface="Arial"/>
                        </a:rPr>
                        <a:t>150 nm</a:t>
                      </a:r>
                    </a:p>
                  </a:txBody>
                  <a:tcPr marL="54864" marR="54864" marT="18288" marB="18288" anchor="ctr">
                    <a:solidFill>
                      <a:srgbClr val="DDE3EA"/>
                    </a:solidFill>
                  </a:tcPr>
                </a:tc>
                <a:tc>
                  <a:txBody>
                    <a:bodyPr/>
                    <a:lstStyle/>
                    <a:p>
                      <a:pPr algn="ctr"/>
                      <a:r>
                        <a:rPr sz="1200" b="0" i="0">
                          <a:solidFill>
                            <a:srgbClr val="222222"/>
                          </a:solidFill>
                          <a:latin typeface="Arial"/>
                        </a:rPr>
                        <a:t>4.2</a:t>
                      </a:r>
                    </a:p>
                  </a:txBody>
                  <a:tcPr marL="54864" marR="54864" marT="18288" marB="18288" anchor="ctr">
                    <a:solidFill>
                      <a:srgbClr val="DDE3EA"/>
                    </a:solidFill>
                  </a:tcPr>
                </a:tc>
                <a:tc>
                  <a:txBody>
                    <a:bodyPr/>
                    <a:lstStyle/>
                    <a:p>
                      <a:pPr algn="ctr"/>
                      <a:r>
                        <a:rPr sz="1200" b="0" i="0">
                          <a:solidFill>
                            <a:srgbClr val="222222"/>
                          </a:solidFill>
                          <a:latin typeface="Arial"/>
                        </a:rPr>
                        <a:t>0.00344</a:t>
                      </a:r>
                    </a:p>
                  </a:txBody>
                  <a:tcPr marL="54864" marR="54864" marT="18288" marB="18288" anchor="ctr">
                    <a:solidFill>
                      <a:srgbClr val="DDE3EA"/>
                    </a:solidFill>
                  </a:tcPr>
                </a:tc>
                <a:tc>
                  <a:txBody>
                    <a:bodyPr/>
                    <a:lstStyle/>
                    <a:p>
                      <a:pPr algn="ctr"/>
                      <a:r>
                        <a:rPr sz="1200" b="0" i="0">
                          <a:solidFill>
                            <a:srgbClr val="222222"/>
                          </a:solidFill>
                          <a:latin typeface="Arial"/>
                        </a:rPr>
                        <a:t>3.15</a:t>
                      </a:r>
                    </a:p>
                  </a:txBody>
                  <a:tcPr marL="54864" marR="54864" marT="18288" marB="18288" anchor="ctr">
                    <a:solidFill>
                      <a:srgbClr val="DDE3EA"/>
                    </a:solidFill>
                  </a:tcPr>
                </a:tc>
                <a:extLst>
                  <a:ext uri="{0D108BD9-81ED-4DB2-BD59-A6C34878D82A}">
                    <a16:rowId xmlns:a16="http://schemas.microsoft.com/office/drawing/2014/main" val="10004"/>
                  </a:ext>
                </a:extLst>
              </a:tr>
              <a:tr h="329184">
                <a:tc>
                  <a:txBody>
                    <a:bodyPr/>
                    <a:lstStyle/>
                    <a:p>
                      <a:pPr algn="l"/>
                      <a:r>
                        <a:rPr sz="1200" b="0" i="0">
                          <a:solidFill>
                            <a:srgbClr val="222222"/>
                          </a:solidFill>
                          <a:latin typeface="Arial"/>
                        </a:rPr>
                        <a:t>150 nm</a:t>
                      </a:r>
                    </a:p>
                  </a:txBody>
                  <a:tcPr marL="54864" marR="54864" marT="18288" marB="18288" anchor="ctr">
                    <a:solidFill>
                      <a:srgbClr val="F4F6F9"/>
                    </a:solidFill>
                  </a:tcPr>
                </a:tc>
                <a:tc>
                  <a:txBody>
                    <a:bodyPr/>
                    <a:lstStyle/>
                    <a:p>
                      <a:pPr algn="ctr"/>
                      <a:r>
                        <a:rPr sz="1200" b="0" i="0">
                          <a:solidFill>
                            <a:srgbClr val="222222"/>
                          </a:solidFill>
                          <a:latin typeface="Arial"/>
                        </a:rPr>
                        <a:t>3.6</a:t>
                      </a:r>
                    </a:p>
                  </a:txBody>
                  <a:tcPr marL="54864" marR="54864" marT="18288" marB="18288" anchor="ctr">
                    <a:solidFill>
                      <a:srgbClr val="F4F6F9"/>
                    </a:solidFill>
                  </a:tcPr>
                </a:tc>
                <a:tc>
                  <a:txBody>
                    <a:bodyPr/>
                    <a:lstStyle/>
                    <a:p>
                      <a:pPr algn="ctr"/>
                      <a:r>
                        <a:rPr sz="1200" b="0" i="0">
                          <a:solidFill>
                            <a:srgbClr val="222222"/>
                          </a:solidFill>
                          <a:latin typeface="Arial"/>
                        </a:rPr>
                        <a:t>0.0548</a:t>
                      </a:r>
                    </a:p>
                  </a:txBody>
                  <a:tcPr marL="54864" marR="54864" marT="18288" marB="18288" anchor="ctr">
                    <a:solidFill>
                      <a:srgbClr val="F4F6F9"/>
                    </a:solidFill>
                  </a:tcPr>
                </a:tc>
                <a:tc>
                  <a:txBody>
                    <a:bodyPr/>
                    <a:lstStyle/>
                    <a:p>
                      <a:pPr algn="ctr"/>
                      <a:r>
                        <a:rPr sz="1200" b="0" i="0">
                          <a:solidFill>
                            <a:srgbClr val="222222"/>
                          </a:solidFill>
                          <a:latin typeface="Arial"/>
                        </a:rPr>
                        <a:t>2.59</a:t>
                      </a:r>
                    </a:p>
                  </a:txBody>
                  <a:tcPr marL="54864" marR="54864" marT="18288" marB="18288" anchor="ctr">
                    <a:solidFill>
                      <a:srgbClr val="F4F6F9"/>
                    </a:solidFill>
                  </a:tcPr>
                </a:tc>
                <a:extLst>
                  <a:ext uri="{0D108BD9-81ED-4DB2-BD59-A6C34878D82A}">
                    <a16:rowId xmlns:a16="http://schemas.microsoft.com/office/drawing/2014/main" val="10005"/>
                  </a:ext>
                </a:extLst>
              </a:tr>
              <a:tr h="329184">
                <a:tc>
                  <a:txBody>
                    <a:bodyPr/>
                    <a:lstStyle/>
                    <a:p>
                      <a:pPr algn="l"/>
                      <a:r>
                        <a:rPr sz="1200" b="0" i="0">
                          <a:solidFill>
                            <a:srgbClr val="222222"/>
                          </a:solidFill>
                          <a:latin typeface="Arial"/>
                        </a:rPr>
                        <a:t>150 nm</a:t>
                      </a:r>
                    </a:p>
                  </a:txBody>
                  <a:tcPr marL="54864" marR="54864" marT="18288" marB="18288" anchor="ctr">
                    <a:solidFill>
                      <a:srgbClr val="DDE3EA"/>
                    </a:solidFill>
                  </a:tcPr>
                </a:tc>
                <a:tc>
                  <a:txBody>
                    <a:bodyPr/>
                    <a:lstStyle/>
                    <a:p>
                      <a:pPr algn="ctr"/>
                      <a:r>
                        <a:rPr sz="1200" b="0" i="0">
                          <a:solidFill>
                            <a:srgbClr val="222222"/>
                          </a:solidFill>
                          <a:latin typeface="Arial"/>
                        </a:rPr>
                        <a:t>3.2</a:t>
                      </a:r>
                    </a:p>
                  </a:txBody>
                  <a:tcPr marL="54864" marR="54864" marT="18288" marB="18288" anchor="ctr">
                    <a:solidFill>
                      <a:srgbClr val="DDE3EA"/>
                    </a:solidFill>
                  </a:tcPr>
                </a:tc>
                <a:tc>
                  <a:txBody>
                    <a:bodyPr/>
                    <a:lstStyle/>
                    <a:p>
                      <a:pPr algn="ctr"/>
                      <a:r>
                        <a:rPr sz="1200" b="0" i="0">
                          <a:solidFill>
                            <a:srgbClr val="222222"/>
                          </a:solidFill>
                          <a:latin typeface="Arial"/>
                        </a:rPr>
                        <a:t>0.357</a:t>
                      </a:r>
                    </a:p>
                  </a:txBody>
                  <a:tcPr marL="54864" marR="54864" marT="18288" marB="18288" anchor="ctr">
                    <a:solidFill>
                      <a:srgbClr val="DDE3EA"/>
                    </a:solidFill>
                  </a:tcPr>
                </a:tc>
                <a:tc>
                  <a:txBody>
                    <a:bodyPr/>
                    <a:lstStyle/>
                    <a:p>
                      <a:pPr algn="ctr"/>
                      <a:r>
                        <a:rPr sz="1200" b="0" i="0">
                          <a:solidFill>
                            <a:srgbClr val="222222"/>
                          </a:solidFill>
                          <a:latin typeface="Arial"/>
                        </a:rPr>
                        <a:t>2.22</a:t>
                      </a:r>
                    </a:p>
                  </a:txBody>
                  <a:tcPr marL="54864" marR="54864" marT="18288" marB="18288" anchor="ctr">
                    <a:solidFill>
                      <a:srgbClr val="DDE3EA"/>
                    </a:solidFill>
                  </a:tcPr>
                </a:tc>
                <a:extLst>
                  <a:ext uri="{0D108BD9-81ED-4DB2-BD59-A6C34878D82A}">
                    <a16:rowId xmlns:a16="http://schemas.microsoft.com/office/drawing/2014/main" val="10006"/>
                  </a:ext>
                </a:extLst>
              </a:tr>
              <a:tr h="329184">
                <a:tc>
                  <a:txBody>
                    <a:bodyPr/>
                    <a:lstStyle/>
                    <a:p>
                      <a:pPr algn="l"/>
                      <a:r>
                        <a:rPr sz="1200" b="0" i="0">
                          <a:solidFill>
                            <a:srgbClr val="222222"/>
                          </a:solidFill>
                          <a:latin typeface="Arial"/>
                        </a:rPr>
                        <a:t>125 nm</a:t>
                      </a:r>
                    </a:p>
                  </a:txBody>
                  <a:tcPr marL="54864" marR="54864" marT="18288" marB="18288" anchor="ctr">
                    <a:solidFill>
                      <a:srgbClr val="F4F6F9"/>
                    </a:solidFill>
                  </a:tcPr>
                </a:tc>
                <a:tc>
                  <a:txBody>
                    <a:bodyPr/>
                    <a:lstStyle/>
                    <a:p>
                      <a:pPr algn="ctr"/>
                      <a:r>
                        <a:rPr sz="1200" b="0" i="0">
                          <a:solidFill>
                            <a:srgbClr val="222222"/>
                          </a:solidFill>
                          <a:latin typeface="Arial"/>
                        </a:rPr>
                        <a:t>4.2</a:t>
                      </a:r>
                    </a:p>
                  </a:txBody>
                  <a:tcPr marL="54864" marR="54864" marT="18288" marB="18288" anchor="ctr">
                    <a:solidFill>
                      <a:srgbClr val="F4F6F9"/>
                    </a:solidFill>
                  </a:tcPr>
                </a:tc>
                <a:tc>
                  <a:txBody>
                    <a:bodyPr/>
                    <a:lstStyle/>
                    <a:p>
                      <a:pPr algn="ctr"/>
                      <a:r>
                        <a:rPr sz="1200" b="0" i="0">
                          <a:solidFill>
                            <a:srgbClr val="222222"/>
                          </a:solidFill>
                          <a:latin typeface="Arial"/>
                        </a:rPr>
                        <a:t>0.000585</a:t>
                      </a:r>
                    </a:p>
                  </a:txBody>
                  <a:tcPr marL="54864" marR="54864" marT="18288" marB="18288" anchor="ctr">
                    <a:solidFill>
                      <a:srgbClr val="F4F6F9"/>
                    </a:solidFill>
                  </a:tcPr>
                </a:tc>
                <a:tc>
                  <a:txBody>
                    <a:bodyPr/>
                    <a:lstStyle/>
                    <a:p>
                      <a:pPr algn="ctr"/>
                      <a:r>
                        <a:rPr sz="1200" b="0" i="0">
                          <a:solidFill>
                            <a:srgbClr val="222222"/>
                          </a:solidFill>
                          <a:latin typeface="Arial"/>
                        </a:rPr>
                        <a:t>3.43</a:t>
                      </a:r>
                    </a:p>
                  </a:txBody>
                  <a:tcPr marL="54864" marR="54864" marT="18288" marB="18288" anchor="ctr">
                    <a:solidFill>
                      <a:srgbClr val="F4F6F9"/>
                    </a:solidFill>
                  </a:tcPr>
                </a:tc>
                <a:extLst>
                  <a:ext uri="{0D108BD9-81ED-4DB2-BD59-A6C34878D82A}">
                    <a16:rowId xmlns:a16="http://schemas.microsoft.com/office/drawing/2014/main" val="10007"/>
                  </a:ext>
                </a:extLst>
              </a:tr>
              <a:tr h="329184">
                <a:tc>
                  <a:txBody>
                    <a:bodyPr/>
                    <a:lstStyle/>
                    <a:p>
                      <a:pPr algn="l"/>
                      <a:r>
                        <a:rPr sz="1200" b="0" i="0">
                          <a:solidFill>
                            <a:srgbClr val="222222"/>
                          </a:solidFill>
                          <a:latin typeface="Arial"/>
                        </a:rPr>
                        <a:t>125 nm</a:t>
                      </a:r>
                    </a:p>
                  </a:txBody>
                  <a:tcPr marL="54864" marR="54864" marT="18288" marB="18288" anchor="ctr">
                    <a:solidFill>
                      <a:srgbClr val="DDE3EA"/>
                    </a:solidFill>
                  </a:tcPr>
                </a:tc>
                <a:tc>
                  <a:txBody>
                    <a:bodyPr/>
                    <a:lstStyle/>
                    <a:p>
                      <a:pPr algn="ctr"/>
                      <a:r>
                        <a:rPr sz="1200" b="0" i="0">
                          <a:solidFill>
                            <a:srgbClr val="222222"/>
                          </a:solidFill>
                          <a:latin typeface="Arial"/>
                        </a:rPr>
                        <a:t>3.6</a:t>
                      </a:r>
                    </a:p>
                  </a:txBody>
                  <a:tcPr marL="54864" marR="54864" marT="18288" marB="18288" anchor="ctr">
                    <a:solidFill>
                      <a:srgbClr val="DDE3EA"/>
                    </a:solidFill>
                  </a:tcPr>
                </a:tc>
                <a:tc>
                  <a:txBody>
                    <a:bodyPr/>
                    <a:lstStyle/>
                    <a:p>
                      <a:pPr algn="ctr"/>
                      <a:r>
                        <a:rPr sz="1200" b="0" i="0">
                          <a:solidFill>
                            <a:srgbClr val="222222"/>
                          </a:solidFill>
                          <a:latin typeface="Arial"/>
                        </a:rPr>
                        <a:t>0.011</a:t>
                      </a:r>
                    </a:p>
                  </a:txBody>
                  <a:tcPr marL="54864" marR="54864" marT="18288" marB="18288" anchor="ctr">
                    <a:solidFill>
                      <a:srgbClr val="DDE3EA"/>
                    </a:solidFill>
                  </a:tcPr>
                </a:tc>
                <a:tc>
                  <a:txBody>
                    <a:bodyPr/>
                    <a:lstStyle/>
                    <a:p>
                      <a:pPr algn="ctr"/>
                      <a:r>
                        <a:rPr sz="1200" b="0" i="0">
                          <a:solidFill>
                            <a:srgbClr val="222222"/>
                          </a:solidFill>
                          <a:latin typeface="Arial"/>
                        </a:rPr>
                        <a:t>2.81</a:t>
                      </a:r>
                    </a:p>
                  </a:txBody>
                  <a:tcPr marL="54864" marR="54864" marT="18288" marB="18288" anchor="ctr">
                    <a:solidFill>
                      <a:srgbClr val="DDE3EA"/>
                    </a:solidFill>
                  </a:tcPr>
                </a:tc>
                <a:extLst>
                  <a:ext uri="{0D108BD9-81ED-4DB2-BD59-A6C34878D82A}">
                    <a16:rowId xmlns:a16="http://schemas.microsoft.com/office/drawing/2014/main" val="10008"/>
                  </a:ext>
                </a:extLst>
              </a:tr>
              <a:tr h="329184">
                <a:tc>
                  <a:txBody>
                    <a:bodyPr/>
                    <a:lstStyle/>
                    <a:p>
                      <a:pPr algn="l"/>
                      <a:r>
                        <a:rPr sz="1200" b="0" i="0">
                          <a:solidFill>
                            <a:srgbClr val="222222"/>
                          </a:solidFill>
                          <a:latin typeface="Arial"/>
                        </a:rPr>
                        <a:t>125 nm</a:t>
                      </a:r>
                    </a:p>
                  </a:txBody>
                  <a:tcPr marL="54864" marR="54864" marT="18288" marB="18288" anchor="ctr">
                    <a:solidFill>
                      <a:srgbClr val="F4F6F9"/>
                    </a:solidFill>
                  </a:tcPr>
                </a:tc>
                <a:tc>
                  <a:txBody>
                    <a:bodyPr/>
                    <a:lstStyle/>
                    <a:p>
                      <a:pPr algn="ctr"/>
                      <a:r>
                        <a:rPr sz="1200" b="0" i="0">
                          <a:solidFill>
                            <a:srgbClr val="222222"/>
                          </a:solidFill>
                          <a:latin typeface="Arial"/>
                        </a:rPr>
                        <a:t>3.2</a:t>
                      </a:r>
                    </a:p>
                  </a:txBody>
                  <a:tcPr marL="54864" marR="54864" marT="18288" marB="18288" anchor="ctr">
                    <a:solidFill>
                      <a:srgbClr val="F4F6F9"/>
                    </a:solidFill>
                  </a:tcPr>
                </a:tc>
                <a:tc>
                  <a:txBody>
                    <a:bodyPr/>
                    <a:lstStyle/>
                    <a:p>
                      <a:pPr algn="ctr"/>
                      <a:r>
                        <a:rPr sz="1200" b="0" i="0">
                          <a:solidFill>
                            <a:srgbClr val="222222"/>
                          </a:solidFill>
                          <a:latin typeface="Arial"/>
                        </a:rPr>
                        <a:t>0.0801</a:t>
                      </a:r>
                    </a:p>
                  </a:txBody>
                  <a:tcPr marL="54864" marR="54864" marT="18288" marB="18288" anchor="ctr">
                    <a:solidFill>
                      <a:srgbClr val="F4F6F9"/>
                    </a:solidFill>
                  </a:tcPr>
                </a:tc>
                <a:tc>
                  <a:txBody>
                    <a:bodyPr/>
                    <a:lstStyle/>
                    <a:p>
                      <a:pPr algn="ctr"/>
                      <a:r>
                        <a:rPr sz="1200" b="0" i="0">
                          <a:solidFill>
                            <a:srgbClr val="222222"/>
                          </a:solidFill>
                          <a:latin typeface="Arial"/>
                        </a:rPr>
                        <a:t>2.40</a:t>
                      </a:r>
                    </a:p>
                  </a:txBody>
                  <a:tcPr marL="54864" marR="54864" marT="18288" marB="18288" anchor="ctr">
                    <a:solidFill>
                      <a:srgbClr val="F4F6F9"/>
                    </a:solidFill>
                  </a:tcPr>
                </a:tc>
                <a:extLst>
                  <a:ext uri="{0D108BD9-81ED-4DB2-BD59-A6C34878D82A}">
                    <a16:rowId xmlns:a16="http://schemas.microsoft.com/office/drawing/2014/main" val="10009"/>
                  </a:ext>
                </a:extLst>
              </a:tr>
              <a:tr h="329184">
                <a:tc>
                  <a:txBody>
                    <a:bodyPr/>
                    <a:lstStyle/>
                    <a:p>
                      <a:pPr algn="l"/>
                      <a:r>
                        <a:rPr sz="1200" b="0" i="0">
                          <a:solidFill>
                            <a:srgbClr val="222222"/>
                          </a:solidFill>
                          <a:latin typeface="Arial"/>
                        </a:rPr>
                        <a:t>buffered 200 nm</a:t>
                      </a:r>
                    </a:p>
                  </a:txBody>
                  <a:tcPr marL="54864" marR="54864" marT="18288" marB="18288" anchor="ctr">
                    <a:solidFill>
                      <a:srgbClr val="FDE9D9"/>
                    </a:solidFill>
                  </a:tcPr>
                </a:tc>
                <a:tc>
                  <a:txBody>
                    <a:bodyPr/>
                    <a:lstStyle/>
                    <a:p>
                      <a:pPr algn="ctr"/>
                      <a:r>
                        <a:rPr sz="1200" b="0" i="0">
                          <a:solidFill>
                            <a:srgbClr val="222222"/>
                          </a:solidFill>
                          <a:latin typeface="Arial"/>
                        </a:rPr>
                        <a:t>3.2</a:t>
                      </a:r>
                    </a:p>
                  </a:txBody>
                  <a:tcPr marL="54864" marR="54864" marT="18288" marB="18288" anchor="ctr">
                    <a:solidFill>
                      <a:srgbClr val="FDE9D9"/>
                    </a:solidFill>
                  </a:tcPr>
                </a:tc>
                <a:tc>
                  <a:txBody>
                    <a:bodyPr/>
                    <a:lstStyle/>
                    <a:p>
                      <a:pPr algn="ctr"/>
                      <a:r>
                        <a:rPr sz="1200" b="0" i="0">
                          <a:solidFill>
                            <a:srgbClr val="222222"/>
                          </a:solidFill>
                          <a:latin typeface="Arial"/>
                        </a:rPr>
                        <a:t>0.049</a:t>
                      </a:r>
                    </a:p>
                  </a:txBody>
                  <a:tcPr marL="54864" marR="54864" marT="18288" marB="18288" anchor="ctr">
                    <a:solidFill>
                      <a:srgbClr val="FDE9D9"/>
                    </a:solidFill>
                  </a:tcPr>
                </a:tc>
                <a:tc>
                  <a:txBody>
                    <a:bodyPr/>
                    <a:lstStyle/>
                    <a:p>
                      <a:pPr algn="ctr"/>
                      <a:r>
                        <a:rPr sz="1200" b="0" i="0">
                          <a:solidFill>
                            <a:srgbClr val="222222"/>
                          </a:solidFill>
                          <a:latin typeface="Arial"/>
                        </a:rPr>
                        <a:t>2.15</a:t>
                      </a:r>
                    </a:p>
                  </a:txBody>
                  <a:tcPr marL="54864" marR="54864" marT="18288" marB="18288" anchor="ctr">
                    <a:solidFill>
                      <a:srgbClr val="FDE9D9"/>
                    </a:solidFill>
                  </a:tcPr>
                </a:tc>
                <a:extLst>
                  <a:ext uri="{0D108BD9-81ED-4DB2-BD59-A6C34878D82A}">
                    <a16:rowId xmlns:a16="http://schemas.microsoft.com/office/drawing/2014/main" val="10010"/>
                  </a:ext>
                </a:extLst>
              </a:tr>
            </a:tbl>
          </a:graphicData>
        </a:graphic>
      </p:graphicFrame>
      <p:sp>
        <p:nvSpPr>
          <p:cNvPr id="6" name="TextBox 5"/>
          <p:cNvSpPr txBox="1"/>
          <p:nvPr/>
        </p:nvSpPr>
        <p:spPr>
          <a:xfrm>
            <a:off x="6537960" y="5495544"/>
            <a:ext cx="5257800" cy="1097280"/>
          </a:xfrm>
          <a:prstGeom prst="rect">
            <a:avLst/>
          </a:prstGeom>
          <a:noFill/>
        </p:spPr>
        <p:txBody>
          <a:bodyPr wrap="square" lIns="45720" tIns="27432" rIns="45720" bIns="27432" anchor="t">
            <a:spAutoFit/>
          </a:bodyPr>
          <a:lstStyle/>
          <a:p>
            <a:pPr algn="l">
              <a:spcAft>
                <a:spcPts val="600"/>
              </a:spcAft>
            </a:pPr>
            <a:r>
              <a:rPr sz="1300" b="0" i="0">
                <a:solidFill>
                  <a:srgbClr val="222222"/>
                </a:solidFill>
                <a:latin typeface="Arial"/>
              </a:rPr>
              <a:t>Ripple gone at ≤ 150 nm, but the thin slab weakens the EO overlap: Vπ·L +30 … +50 %</a:t>
            </a:r>
          </a:p>
          <a:p>
            <a:pPr algn="l">
              <a:spcAft>
                <a:spcPts val="600"/>
              </a:spcAft>
            </a:pPr>
            <a:r>
              <a:rPr sz="1300" b="0" i="0">
                <a:solidFill>
                  <a:srgbClr val="222222"/>
                </a:solidFill>
                <a:latin typeface="Arial"/>
              </a:rPr>
              <a:t>Narrowing the gap brings the gold onto the rib mode: IL rises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Option B: partial second etch outside slab_w</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Rib and 275 nm slab untouched; 125 nm LN left from slab_w outward; gap 4.2 µm</a:t>
            </a:r>
          </a:p>
        </p:txBody>
      </p:sp>
      <p:pic>
        <p:nvPicPr>
          <p:cNvPr id="4" name="Picture 3" descr="geom_partial.png"/>
          <p:cNvPicPr>
            <a:picLocks noChangeAspect="1"/>
          </p:cNvPicPr>
          <p:nvPr/>
        </p:nvPicPr>
        <p:blipFill>
          <a:blip r:embed="rId3"/>
          <a:stretch>
            <a:fillRect/>
          </a:stretch>
        </p:blipFill>
        <p:spPr>
          <a:xfrm>
            <a:off x="502920" y="1691640"/>
            <a:ext cx="5120640" cy="1333631"/>
          </a:xfrm>
          <a:prstGeom prst="rect">
            <a:avLst/>
          </a:prstGeom>
        </p:spPr>
      </p:pic>
      <p:graphicFrame>
        <p:nvGraphicFramePr>
          <p:cNvPr id="5" name="Chart 4"/>
          <p:cNvGraphicFramePr>
            <a:graphicFrameLocks noGrp="1"/>
          </p:cNvGraphicFramePr>
          <p:nvPr/>
        </p:nvGraphicFramePr>
        <p:xfrm>
          <a:off x="411480" y="3154680"/>
          <a:ext cx="5486400" cy="342900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p:cNvSpPr txBox="1"/>
          <p:nvPr/>
        </p:nvSpPr>
        <p:spPr>
          <a:xfrm>
            <a:off x="1417320" y="3520440"/>
            <a:ext cx="2743200" cy="320040"/>
          </a:xfrm>
          <a:prstGeom prst="rect">
            <a:avLst/>
          </a:prstGeom>
          <a:noFill/>
        </p:spPr>
        <p:txBody>
          <a:bodyPr wrap="square" lIns="45720" tIns="27432" rIns="45720" bIns="27432" anchor="t">
            <a:spAutoFit/>
          </a:bodyPr>
          <a:lstStyle/>
          <a:p>
            <a:pPr algn="l">
              <a:spcAft>
                <a:spcPts val="600"/>
              </a:spcAft>
            </a:pPr>
            <a:r>
              <a:rPr sz="1150" b="0" i="0">
                <a:solidFill>
                  <a:srgbClr val="595959"/>
                </a:solidFill>
                <a:latin typeface="Arial"/>
              </a:rPr>
              <a:t>step in the gap</a:t>
            </a:r>
          </a:p>
        </p:txBody>
      </p:sp>
      <p:sp>
        <p:nvSpPr>
          <p:cNvPr id="7" name="TextBox 6"/>
          <p:cNvSpPr txBox="1"/>
          <p:nvPr/>
        </p:nvSpPr>
        <p:spPr>
          <a:xfrm>
            <a:off x="4023360" y="3520440"/>
            <a:ext cx="2011680" cy="320040"/>
          </a:xfrm>
          <a:prstGeom prst="rect">
            <a:avLst/>
          </a:prstGeom>
          <a:noFill/>
        </p:spPr>
        <p:txBody>
          <a:bodyPr wrap="square" lIns="45720" tIns="27432" rIns="45720" bIns="27432" anchor="t">
            <a:spAutoFit/>
          </a:bodyPr>
          <a:lstStyle/>
          <a:p>
            <a:pPr algn="l">
              <a:spcAft>
                <a:spcPts val="600"/>
              </a:spcAft>
            </a:pPr>
            <a:r>
              <a:rPr sz="1150" b="0" i="0">
                <a:solidFill>
                  <a:srgbClr val="EB6834"/>
                </a:solidFill>
                <a:latin typeface="Arial"/>
              </a:rPr>
              <a:t>step under the gold</a:t>
            </a:r>
          </a:p>
        </p:txBody>
      </p:sp>
      <p:graphicFrame>
        <p:nvGraphicFramePr>
          <p:cNvPr id="8" name="Table 7"/>
          <p:cNvGraphicFramePr>
            <a:graphicFrameLocks noGrp="1"/>
          </p:cNvGraphicFramePr>
          <p:nvPr/>
        </p:nvGraphicFramePr>
        <p:xfrm>
          <a:off x="6263640" y="1691640"/>
          <a:ext cx="5532120" cy="3730752"/>
        </p:xfrm>
        <a:graphic>
          <a:graphicData uri="http://schemas.openxmlformats.org/drawingml/2006/table">
            <a:tbl>
              <a:tblPr firstRow="1" bandRow="1"/>
              <a:tblGrid>
                <a:gridCol w="324612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10896">
                <a:tc>
                  <a:txBody>
                    <a:bodyPr/>
                    <a:lstStyle/>
                    <a:p>
                      <a:pPr algn="l"/>
                      <a:r>
                        <a:rPr sz="1150" b="1" i="0">
                          <a:solidFill>
                            <a:srgbClr val="FFFFFF"/>
                          </a:solidFill>
                          <a:latin typeface="Arial"/>
                        </a:rPr>
                        <a:t>case</a:t>
                      </a:r>
                    </a:p>
                  </a:txBody>
                  <a:tcPr marL="54864" marR="54864" marT="18288" marB="18288" anchor="ctr">
                    <a:solidFill>
                      <a:srgbClr val="1F4E79"/>
                    </a:solidFill>
                  </a:tcPr>
                </a:tc>
                <a:tc>
                  <a:txBody>
                    <a:bodyPr/>
                    <a:lstStyle/>
                    <a:p>
                      <a:pPr algn="ctr"/>
                      <a:r>
                        <a:rPr sz="1150" b="1" i="0">
                          <a:solidFill>
                            <a:srgbClr val="FFFFFF"/>
                          </a:solidFill>
                          <a:latin typeface="Arial"/>
                        </a:rPr>
                        <a:t>IL (dB/cm)</a:t>
                      </a:r>
                    </a:p>
                  </a:txBody>
                  <a:tcPr marL="54864" marR="54864" marT="18288" marB="18288" anchor="ctr">
                    <a:solidFill>
                      <a:srgbClr val="1F4E79"/>
                    </a:solidFill>
                  </a:tcPr>
                </a:tc>
                <a:tc>
                  <a:txBody>
                    <a:bodyPr/>
                    <a:lstStyle/>
                    <a:p>
                      <a:pPr algn="ctr"/>
                      <a:r>
                        <a:rPr sz="1150" b="1" i="0">
                          <a:solidFill>
                            <a:srgbClr val="FFFFFF"/>
                          </a:solidFill>
                          <a:latin typeface="Arial"/>
                        </a:rPr>
                        <a:t>Vπ·L (V·cm)</a:t>
                      </a:r>
                    </a:p>
                  </a:txBody>
                  <a:tcPr marL="54864" marR="54864" marT="18288" marB="18288" anchor="ctr">
                    <a:solidFill>
                      <a:srgbClr val="1F4E79"/>
                    </a:solidFill>
                  </a:tcPr>
                </a:tc>
                <a:extLst>
                  <a:ext uri="{0D108BD9-81ED-4DB2-BD59-A6C34878D82A}">
                    <a16:rowId xmlns:a16="http://schemas.microsoft.com/office/drawing/2014/main" val="10000"/>
                  </a:ext>
                </a:extLst>
              </a:tr>
              <a:tr h="310896">
                <a:tc>
                  <a:txBody>
                    <a:bodyPr/>
                    <a:lstStyle/>
                    <a:p>
                      <a:pPr algn="l"/>
                      <a:r>
                        <a:rPr sz="1150" b="0" i="0">
                          <a:solidFill>
                            <a:srgbClr val="222222"/>
                          </a:solidFill>
                          <a:latin typeface="Arial"/>
                        </a:rPr>
                        <a:t>slab_w 3.2 (step 0.5 µm before gold)</a:t>
                      </a:r>
                    </a:p>
                  </a:txBody>
                  <a:tcPr marL="54864" marR="54864" marT="18288" marB="18288" anchor="ctr">
                    <a:solidFill>
                      <a:srgbClr val="F4F6F9"/>
                    </a:solidFill>
                  </a:tcPr>
                </a:tc>
                <a:tc>
                  <a:txBody>
                    <a:bodyPr/>
                    <a:lstStyle/>
                    <a:p>
                      <a:pPr algn="ctr"/>
                      <a:r>
                        <a:rPr sz="1150" b="0" i="0">
                          <a:solidFill>
                            <a:srgbClr val="222222"/>
                          </a:solidFill>
                          <a:latin typeface="Arial"/>
                        </a:rPr>
                        <a:t>0.00794</a:t>
                      </a:r>
                    </a:p>
                  </a:txBody>
                  <a:tcPr marL="54864" marR="54864" marT="18288" marB="18288" anchor="ctr">
                    <a:solidFill>
                      <a:srgbClr val="F4F6F9"/>
                    </a:solidFill>
                  </a:tcPr>
                </a:tc>
                <a:tc>
                  <a:txBody>
                    <a:bodyPr/>
                    <a:lstStyle/>
                    <a:p>
                      <a:pPr algn="ctr"/>
                      <a:r>
                        <a:rPr sz="1150" b="0" i="0">
                          <a:solidFill>
                            <a:srgbClr val="222222"/>
                          </a:solidFill>
                          <a:latin typeface="Arial"/>
                        </a:rPr>
                        <a:t>2.69</a:t>
                      </a:r>
                    </a:p>
                  </a:txBody>
                  <a:tcPr marL="54864" marR="54864" marT="18288" marB="18288" anchor="ctr">
                    <a:solidFill>
                      <a:srgbClr val="F4F6F9"/>
                    </a:solidFill>
                  </a:tcPr>
                </a:tc>
                <a:extLst>
                  <a:ext uri="{0D108BD9-81ED-4DB2-BD59-A6C34878D82A}">
                    <a16:rowId xmlns:a16="http://schemas.microsoft.com/office/drawing/2014/main" val="10001"/>
                  </a:ext>
                </a:extLst>
              </a:tr>
              <a:tr h="310896">
                <a:tc>
                  <a:txBody>
                    <a:bodyPr/>
                    <a:lstStyle/>
                    <a:p>
                      <a:pPr algn="l"/>
                      <a:r>
                        <a:rPr sz="1150" b="0" i="0">
                          <a:solidFill>
                            <a:srgbClr val="222222"/>
                          </a:solidFill>
                          <a:latin typeface="Arial"/>
                        </a:rPr>
                        <a:t>slab_w 3.6 (step 0.3 µm before gold)</a:t>
                      </a:r>
                    </a:p>
                  </a:txBody>
                  <a:tcPr marL="54864" marR="54864" marT="18288" marB="18288" anchor="ctr">
                    <a:solidFill>
                      <a:srgbClr val="DDE3EA"/>
                    </a:solidFill>
                  </a:tcPr>
                </a:tc>
                <a:tc>
                  <a:txBody>
                    <a:bodyPr/>
                    <a:lstStyle/>
                    <a:p>
                      <a:pPr algn="ctr"/>
                      <a:r>
                        <a:rPr sz="1150" b="0" i="0">
                          <a:solidFill>
                            <a:srgbClr val="222222"/>
                          </a:solidFill>
                          <a:latin typeface="Arial"/>
                        </a:rPr>
                        <a:t>0.0176</a:t>
                      </a:r>
                    </a:p>
                  </a:txBody>
                  <a:tcPr marL="54864" marR="54864" marT="18288" marB="18288" anchor="ctr">
                    <a:solidFill>
                      <a:srgbClr val="DDE3EA"/>
                    </a:solidFill>
                  </a:tcPr>
                </a:tc>
                <a:tc>
                  <a:txBody>
                    <a:bodyPr/>
                    <a:lstStyle/>
                    <a:p>
                      <a:pPr algn="ctr"/>
                      <a:r>
                        <a:rPr sz="1150" b="0" i="0">
                          <a:solidFill>
                            <a:srgbClr val="222222"/>
                          </a:solidFill>
                          <a:latin typeface="Arial"/>
                        </a:rPr>
                        <a:t>2.54</a:t>
                      </a:r>
                    </a:p>
                  </a:txBody>
                  <a:tcPr marL="54864" marR="54864" marT="18288" marB="18288" anchor="ctr">
                    <a:solidFill>
                      <a:srgbClr val="DDE3EA"/>
                    </a:solidFill>
                  </a:tcPr>
                </a:tc>
                <a:extLst>
                  <a:ext uri="{0D108BD9-81ED-4DB2-BD59-A6C34878D82A}">
                    <a16:rowId xmlns:a16="http://schemas.microsoft.com/office/drawing/2014/main" val="10002"/>
                  </a:ext>
                </a:extLst>
              </a:tr>
              <a:tr h="310896">
                <a:tc>
                  <a:txBody>
                    <a:bodyPr/>
                    <a:lstStyle/>
                    <a:p>
                      <a:pPr algn="l"/>
                      <a:r>
                        <a:rPr sz="1150" b="0" i="0">
                          <a:solidFill>
                            <a:srgbClr val="222222"/>
                          </a:solidFill>
                          <a:latin typeface="Arial"/>
                        </a:rPr>
                        <a:t>slab_w 4.0 (step 0.1 µm before gold)</a:t>
                      </a:r>
                    </a:p>
                  </a:txBody>
                  <a:tcPr marL="54864" marR="54864" marT="18288" marB="18288" anchor="ctr">
                    <a:solidFill>
                      <a:srgbClr val="F4F6F9"/>
                    </a:solidFill>
                  </a:tcPr>
                </a:tc>
                <a:tc>
                  <a:txBody>
                    <a:bodyPr/>
                    <a:lstStyle/>
                    <a:p>
                      <a:pPr algn="ctr"/>
                      <a:r>
                        <a:rPr sz="1150" b="0" i="0">
                          <a:solidFill>
                            <a:srgbClr val="222222"/>
                          </a:solidFill>
                          <a:latin typeface="Arial"/>
                        </a:rPr>
                        <a:t>0.0594</a:t>
                      </a:r>
                    </a:p>
                  </a:txBody>
                  <a:tcPr marL="54864" marR="54864" marT="18288" marB="18288" anchor="ctr">
                    <a:solidFill>
                      <a:srgbClr val="F4F6F9"/>
                    </a:solidFill>
                  </a:tcPr>
                </a:tc>
                <a:tc>
                  <a:txBody>
                    <a:bodyPr/>
                    <a:lstStyle/>
                    <a:p>
                      <a:pPr algn="ctr"/>
                      <a:r>
                        <a:rPr sz="1150" b="0" i="0">
                          <a:solidFill>
                            <a:srgbClr val="222222"/>
                          </a:solidFill>
                          <a:latin typeface="Arial"/>
                        </a:rPr>
                        <a:t>2.38</a:t>
                      </a:r>
                    </a:p>
                  </a:txBody>
                  <a:tcPr marL="54864" marR="54864" marT="18288" marB="18288" anchor="ctr">
                    <a:solidFill>
                      <a:srgbClr val="F4F6F9"/>
                    </a:solidFill>
                  </a:tcPr>
                </a:tc>
                <a:extLst>
                  <a:ext uri="{0D108BD9-81ED-4DB2-BD59-A6C34878D82A}">
                    <a16:rowId xmlns:a16="http://schemas.microsoft.com/office/drawing/2014/main" val="10003"/>
                  </a:ext>
                </a:extLst>
              </a:tr>
              <a:tr h="310896">
                <a:tc>
                  <a:txBody>
                    <a:bodyPr/>
                    <a:lstStyle/>
                    <a:p>
                      <a:pPr algn="l"/>
                      <a:r>
                        <a:rPr sz="1150" b="0" i="0">
                          <a:solidFill>
                            <a:srgbClr val="222222"/>
                          </a:solidFill>
                          <a:latin typeface="Arial"/>
                        </a:rPr>
                        <a:t>150 nm left, slab_w 3.6</a:t>
                      </a:r>
                    </a:p>
                  </a:txBody>
                  <a:tcPr marL="54864" marR="54864" marT="18288" marB="18288" anchor="ctr">
                    <a:solidFill>
                      <a:srgbClr val="DDE3EA"/>
                    </a:solidFill>
                  </a:tcPr>
                </a:tc>
                <a:tc>
                  <a:txBody>
                    <a:bodyPr/>
                    <a:lstStyle/>
                    <a:p>
                      <a:pPr algn="ctr"/>
                      <a:r>
                        <a:rPr sz="1150" b="0" i="0">
                          <a:solidFill>
                            <a:srgbClr val="222222"/>
                          </a:solidFill>
                          <a:latin typeface="Arial"/>
                        </a:rPr>
                        <a:t>0.0552</a:t>
                      </a:r>
                    </a:p>
                  </a:txBody>
                  <a:tcPr marL="54864" marR="54864" marT="18288" marB="18288" anchor="ctr">
                    <a:solidFill>
                      <a:srgbClr val="DDE3EA"/>
                    </a:solidFill>
                  </a:tcPr>
                </a:tc>
                <a:tc>
                  <a:txBody>
                    <a:bodyPr/>
                    <a:lstStyle/>
                    <a:p>
                      <a:pPr algn="ctr"/>
                      <a:r>
                        <a:rPr sz="1150" b="0" i="0">
                          <a:solidFill>
                            <a:srgbClr val="222222"/>
                          </a:solidFill>
                          <a:latin typeface="Arial"/>
                        </a:rPr>
                        <a:t>2.47</a:t>
                      </a:r>
                    </a:p>
                  </a:txBody>
                  <a:tcPr marL="54864" marR="54864" marT="18288" marB="18288" anchor="ctr">
                    <a:solidFill>
                      <a:srgbClr val="DDE3EA"/>
                    </a:solidFill>
                  </a:tcPr>
                </a:tc>
                <a:extLst>
                  <a:ext uri="{0D108BD9-81ED-4DB2-BD59-A6C34878D82A}">
                    <a16:rowId xmlns:a16="http://schemas.microsoft.com/office/drawing/2014/main" val="10004"/>
                  </a:ext>
                </a:extLst>
              </a:tr>
              <a:tr h="310896">
                <a:tc>
                  <a:txBody>
                    <a:bodyPr/>
                    <a:lstStyle/>
                    <a:p>
                      <a:pPr algn="l"/>
                      <a:r>
                        <a:rPr sz="1150" b="0" i="0">
                          <a:solidFill>
                            <a:srgbClr val="222222"/>
                          </a:solidFill>
                          <a:latin typeface="Arial"/>
                        </a:rPr>
                        <a:t>gap 3.2, slab_w 2.6, 100 nm left</a:t>
                      </a:r>
                    </a:p>
                  </a:txBody>
                  <a:tcPr marL="54864" marR="54864" marT="18288" marB="18288" anchor="ctr">
                    <a:solidFill>
                      <a:srgbClr val="F4F6F9"/>
                    </a:solidFill>
                  </a:tcPr>
                </a:tc>
                <a:tc>
                  <a:txBody>
                    <a:bodyPr/>
                    <a:lstStyle/>
                    <a:p>
                      <a:pPr algn="ctr"/>
                      <a:r>
                        <a:rPr sz="1150" b="0" i="0">
                          <a:solidFill>
                            <a:srgbClr val="222222"/>
                          </a:solidFill>
                          <a:latin typeface="Arial"/>
                        </a:rPr>
                        <a:t>0.208</a:t>
                      </a:r>
                    </a:p>
                  </a:txBody>
                  <a:tcPr marL="54864" marR="54864" marT="18288" marB="18288" anchor="ctr">
                    <a:solidFill>
                      <a:srgbClr val="F4F6F9"/>
                    </a:solidFill>
                  </a:tcPr>
                </a:tc>
                <a:tc>
                  <a:txBody>
                    <a:bodyPr/>
                    <a:lstStyle/>
                    <a:p>
                      <a:pPr algn="ctr"/>
                      <a:r>
                        <a:rPr sz="1150" b="0" i="0">
                          <a:solidFill>
                            <a:srgbClr val="222222"/>
                          </a:solidFill>
                          <a:latin typeface="Arial"/>
                        </a:rPr>
                        <a:t>2.03</a:t>
                      </a:r>
                    </a:p>
                  </a:txBody>
                  <a:tcPr marL="54864" marR="54864" marT="18288" marB="18288" anchor="ctr">
                    <a:solidFill>
                      <a:srgbClr val="F4F6F9"/>
                    </a:solidFill>
                  </a:tcPr>
                </a:tc>
                <a:extLst>
                  <a:ext uri="{0D108BD9-81ED-4DB2-BD59-A6C34878D82A}">
                    <a16:rowId xmlns:a16="http://schemas.microsoft.com/office/drawing/2014/main" val="10005"/>
                  </a:ext>
                </a:extLst>
              </a:tr>
              <a:tr h="310896">
                <a:tc>
                  <a:txBody>
                    <a:bodyPr/>
                    <a:lstStyle/>
                    <a:p>
                      <a:pPr algn="l"/>
                      <a:r>
                        <a:rPr sz="1150" b="0" i="0">
                          <a:solidFill>
                            <a:srgbClr val="222222"/>
                          </a:solidFill>
                          <a:latin typeface="Arial"/>
                        </a:rPr>
                        <a:t>gap 3.2, slab_w 2.6, 125 nm left</a:t>
                      </a:r>
                    </a:p>
                  </a:txBody>
                  <a:tcPr marL="54864" marR="54864" marT="18288" marB="18288" anchor="ctr">
                    <a:solidFill>
                      <a:srgbClr val="DDE3EA"/>
                    </a:solidFill>
                  </a:tcPr>
                </a:tc>
                <a:tc>
                  <a:txBody>
                    <a:bodyPr/>
                    <a:lstStyle/>
                    <a:p>
                      <a:pPr algn="ctr"/>
                      <a:r>
                        <a:rPr sz="1150" b="0" i="0">
                          <a:solidFill>
                            <a:srgbClr val="222222"/>
                          </a:solidFill>
                          <a:latin typeface="Arial"/>
                        </a:rPr>
                        <a:t>0.455</a:t>
                      </a:r>
                    </a:p>
                  </a:txBody>
                  <a:tcPr marL="54864" marR="54864" marT="18288" marB="18288" anchor="ctr">
                    <a:solidFill>
                      <a:srgbClr val="DDE3EA"/>
                    </a:solidFill>
                  </a:tcPr>
                </a:tc>
                <a:tc>
                  <a:txBody>
                    <a:bodyPr/>
                    <a:lstStyle/>
                    <a:p>
                      <a:pPr algn="ctr"/>
                      <a:r>
                        <a:rPr sz="1150" b="0" i="0">
                          <a:solidFill>
                            <a:srgbClr val="222222"/>
                          </a:solidFill>
                          <a:latin typeface="Arial"/>
                        </a:rPr>
                        <a:t>1.93</a:t>
                      </a:r>
                    </a:p>
                  </a:txBody>
                  <a:tcPr marL="54864" marR="54864" marT="18288" marB="18288" anchor="ctr">
                    <a:solidFill>
                      <a:srgbClr val="DDE3EA"/>
                    </a:solidFill>
                  </a:tcPr>
                </a:tc>
                <a:extLst>
                  <a:ext uri="{0D108BD9-81ED-4DB2-BD59-A6C34878D82A}">
                    <a16:rowId xmlns:a16="http://schemas.microsoft.com/office/drawing/2014/main" val="10006"/>
                  </a:ext>
                </a:extLst>
              </a:tr>
              <a:tr h="310896">
                <a:tc>
                  <a:txBody>
                    <a:bodyPr/>
                    <a:lstStyle/>
                    <a:p>
                      <a:pPr algn="l"/>
                      <a:r>
                        <a:rPr sz="1150" b="0" i="0">
                          <a:solidFill>
                            <a:srgbClr val="222222"/>
                          </a:solidFill>
                          <a:latin typeface="Arial"/>
                        </a:rPr>
                        <a:t>gap 3.2, slab_w 2.8, 125 nm left</a:t>
                      </a:r>
                    </a:p>
                  </a:txBody>
                  <a:tcPr marL="54864" marR="54864" marT="18288" marB="18288" anchor="ctr">
                    <a:solidFill>
                      <a:srgbClr val="F4F6F9"/>
                    </a:solidFill>
                  </a:tcPr>
                </a:tc>
                <a:tc>
                  <a:txBody>
                    <a:bodyPr/>
                    <a:lstStyle/>
                    <a:p>
                      <a:pPr algn="ctr"/>
                      <a:r>
                        <a:rPr sz="1150" b="0" i="0">
                          <a:solidFill>
                            <a:srgbClr val="222222"/>
                          </a:solidFill>
                          <a:latin typeface="Arial"/>
                        </a:rPr>
                        <a:t>0.75</a:t>
                      </a:r>
                    </a:p>
                  </a:txBody>
                  <a:tcPr marL="54864" marR="54864" marT="18288" marB="18288" anchor="ctr">
                    <a:solidFill>
                      <a:srgbClr val="F4F6F9"/>
                    </a:solidFill>
                  </a:tcPr>
                </a:tc>
                <a:tc>
                  <a:txBody>
                    <a:bodyPr/>
                    <a:lstStyle/>
                    <a:p>
                      <a:pPr algn="ctr"/>
                      <a:r>
                        <a:rPr sz="1150" b="0" i="0">
                          <a:solidFill>
                            <a:srgbClr val="222222"/>
                          </a:solidFill>
                          <a:latin typeface="Arial"/>
                        </a:rPr>
                        <a:t>1.85</a:t>
                      </a:r>
                    </a:p>
                  </a:txBody>
                  <a:tcPr marL="54864" marR="54864" marT="18288" marB="18288" anchor="ctr">
                    <a:solidFill>
                      <a:srgbClr val="F4F6F9"/>
                    </a:solidFill>
                  </a:tcPr>
                </a:tc>
                <a:extLst>
                  <a:ext uri="{0D108BD9-81ED-4DB2-BD59-A6C34878D82A}">
                    <a16:rowId xmlns:a16="http://schemas.microsoft.com/office/drawing/2014/main" val="10007"/>
                  </a:ext>
                </a:extLst>
              </a:tr>
              <a:tr h="310896">
                <a:tc>
                  <a:txBody>
                    <a:bodyPr/>
                    <a:lstStyle/>
                    <a:p>
                      <a:pPr algn="l"/>
                      <a:r>
                        <a:rPr sz="1150" b="0" i="0">
                          <a:solidFill>
                            <a:srgbClr val="222222"/>
                          </a:solidFill>
                          <a:latin typeface="Arial"/>
                        </a:rPr>
                        <a:t>gap 3.4, slab_w 2.8, 125 nm left</a:t>
                      </a:r>
                    </a:p>
                  </a:txBody>
                  <a:tcPr marL="54864" marR="54864" marT="18288" marB="18288" anchor="ctr">
                    <a:solidFill>
                      <a:srgbClr val="DDE3EA"/>
                    </a:solidFill>
                  </a:tcPr>
                </a:tc>
                <a:tc>
                  <a:txBody>
                    <a:bodyPr/>
                    <a:lstStyle/>
                    <a:p>
                      <a:pPr algn="ctr"/>
                      <a:r>
                        <a:rPr sz="1150" b="0" i="0">
                          <a:solidFill>
                            <a:srgbClr val="222222"/>
                          </a:solidFill>
                          <a:latin typeface="Arial"/>
                        </a:rPr>
                        <a:t>0.238</a:t>
                      </a:r>
                    </a:p>
                  </a:txBody>
                  <a:tcPr marL="54864" marR="54864" marT="18288" marB="18288" anchor="ctr">
                    <a:solidFill>
                      <a:srgbClr val="DDE3EA"/>
                    </a:solidFill>
                  </a:tcPr>
                </a:tc>
                <a:tc>
                  <a:txBody>
                    <a:bodyPr/>
                    <a:lstStyle/>
                    <a:p>
                      <a:pPr algn="ctr"/>
                      <a:r>
                        <a:rPr sz="1150" b="0" i="0">
                          <a:solidFill>
                            <a:srgbClr val="222222"/>
                          </a:solidFill>
                          <a:latin typeface="Arial"/>
                        </a:rPr>
                        <a:t>2.06</a:t>
                      </a:r>
                    </a:p>
                  </a:txBody>
                  <a:tcPr marL="54864" marR="54864" marT="18288" marB="18288" anchor="ctr">
                    <a:solidFill>
                      <a:srgbClr val="DDE3EA"/>
                    </a:solidFill>
                  </a:tcPr>
                </a:tc>
                <a:extLst>
                  <a:ext uri="{0D108BD9-81ED-4DB2-BD59-A6C34878D82A}">
                    <a16:rowId xmlns:a16="http://schemas.microsoft.com/office/drawing/2014/main" val="10008"/>
                  </a:ext>
                </a:extLst>
              </a:tr>
              <a:tr h="310896">
                <a:tc>
                  <a:txBody>
                    <a:bodyPr/>
                    <a:lstStyle/>
                    <a:p>
                      <a:pPr algn="l"/>
                      <a:r>
                        <a:rPr sz="1150" b="0" i="0">
                          <a:solidFill>
                            <a:srgbClr val="222222"/>
                          </a:solidFill>
                          <a:latin typeface="Arial"/>
                        </a:rPr>
                        <a:t>gap 3.6, slab_w 3.0, 100 nm left</a:t>
                      </a:r>
                    </a:p>
                  </a:txBody>
                  <a:tcPr marL="54864" marR="54864" marT="18288" marB="18288" anchor="ctr">
                    <a:solidFill>
                      <a:srgbClr val="F4F6F9"/>
                    </a:solidFill>
                  </a:tcPr>
                </a:tc>
                <a:tc>
                  <a:txBody>
                    <a:bodyPr/>
                    <a:lstStyle/>
                    <a:p>
                      <a:pPr algn="ctr"/>
                      <a:r>
                        <a:rPr sz="1150" b="0" i="0">
                          <a:solidFill>
                            <a:srgbClr val="222222"/>
                          </a:solidFill>
                          <a:latin typeface="Arial"/>
                        </a:rPr>
                        <a:t>0.0569</a:t>
                      </a:r>
                    </a:p>
                  </a:txBody>
                  <a:tcPr marL="54864" marR="54864" marT="18288" marB="18288" anchor="ctr">
                    <a:solidFill>
                      <a:srgbClr val="F4F6F9"/>
                    </a:solidFill>
                  </a:tcPr>
                </a:tc>
                <a:tc>
                  <a:txBody>
                    <a:bodyPr/>
                    <a:lstStyle/>
                    <a:p>
                      <a:pPr algn="ctr"/>
                      <a:r>
                        <a:rPr sz="1150" b="0" i="0">
                          <a:solidFill>
                            <a:srgbClr val="222222"/>
                          </a:solidFill>
                          <a:latin typeface="Arial"/>
                        </a:rPr>
                        <a:t>2.27</a:t>
                      </a:r>
                    </a:p>
                  </a:txBody>
                  <a:tcPr marL="54864" marR="54864" marT="18288" marB="18288" anchor="ctr">
                    <a:solidFill>
                      <a:srgbClr val="F4F6F9"/>
                    </a:solidFill>
                  </a:tcPr>
                </a:tc>
                <a:extLst>
                  <a:ext uri="{0D108BD9-81ED-4DB2-BD59-A6C34878D82A}">
                    <a16:rowId xmlns:a16="http://schemas.microsoft.com/office/drawing/2014/main" val="10009"/>
                  </a:ext>
                </a:extLst>
              </a:tr>
              <a:tr h="310896">
                <a:tc>
                  <a:txBody>
                    <a:bodyPr/>
                    <a:lstStyle/>
                    <a:p>
                      <a:pPr algn="l"/>
                      <a:r>
                        <a:rPr sz="1150" b="0" i="0">
                          <a:solidFill>
                            <a:srgbClr val="222222"/>
                          </a:solidFill>
                          <a:latin typeface="Arial"/>
                        </a:rPr>
                        <a:t>gap 3.6, slab_w 3.0, 125 nm left</a:t>
                      </a:r>
                    </a:p>
                  </a:txBody>
                  <a:tcPr marL="54864" marR="54864" marT="18288" marB="18288" anchor="ctr">
                    <a:solidFill>
                      <a:srgbClr val="DDE3EA"/>
                    </a:solidFill>
                  </a:tcPr>
                </a:tc>
                <a:tc>
                  <a:txBody>
                    <a:bodyPr/>
                    <a:lstStyle/>
                    <a:p>
                      <a:pPr algn="ctr"/>
                      <a:r>
                        <a:rPr sz="1150" b="0" i="0">
                          <a:solidFill>
                            <a:srgbClr val="222222"/>
                          </a:solidFill>
                          <a:latin typeface="Arial"/>
                        </a:rPr>
                        <a:t>0.124</a:t>
                      </a:r>
                    </a:p>
                  </a:txBody>
                  <a:tcPr marL="54864" marR="54864" marT="18288" marB="18288" anchor="ctr">
                    <a:solidFill>
                      <a:srgbClr val="DDE3EA"/>
                    </a:solidFill>
                  </a:tcPr>
                </a:tc>
                <a:tc>
                  <a:txBody>
                    <a:bodyPr/>
                    <a:lstStyle/>
                    <a:p>
                      <a:pPr algn="ctr"/>
                      <a:r>
                        <a:rPr sz="1150" b="0" i="0">
                          <a:solidFill>
                            <a:srgbClr val="222222"/>
                          </a:solidFill>
                          <a:latin typeface="Arial"/>
                        </a:rPr>
                        <a:t>2.18</a:t>
                      </a:r>
                    </a:p>
                  </a:txBody>
                  <a:tcPr marL="54864" marR="54864" marT="18288" marB="18288" anchor="ctr">
                    <a:solidFill>
                      <a:srgbClr val="DDE3EA"/>
                    </a:solidFill>
                  </a:tcPr>
                </a:tc>
                <a:extLst>
                  <a:ext uri="{0D108BD9-81ED-4DB2-BD59-A6C34878D82A}">
                    <a16:rowId xmlns:a16="http://schemas.microsoft.com/office/drawing/2014/main" val="10010"/>
                  </a:ext>
                </a:extLst>
              </a:tr>
              <a:tr h="310896">
                <a:tc>
                  <a:txBody>
                    <a:bodyPr/>
                    <a:lstStyle/>
                    <a:p>
                      <a:pPr algn="l"/>
                      <a:r>
                        <a:rPr sz="1150" b="0" i="0">
                          <a:solidFill>
                            <a:srgbClr val="222222"/>
                          </a:solidFill>
                          <a:latin typeface="Arial"/>
                        </a:rPr>
                        <a:t>buffered 200 nm, gap 3.2</a:t>
                      </a:r>
                    </a:p>
                  </a:txBody>
                  <a:tcPr marL="54864" marR="54864" marT="18288" marB="18288" anchor="ctr">
                    <a:solidFill>
                      <a:srgbClr val="FDE9D9"/>
                    </a:solidFill>
                  </a:tcPr>
                </a:tc>
                <a:tc>
                  <a:txBody>
                    <a:bodyPr/>
                    <a:lstStyle/>
                    <a:p>
                      <a:pPr algn="ctr"/>
                      <a:r>
                        <a:rPr sz="1150" b="0" i="0">
                          <a:solidFill>
                            <a:srgbClr val="222222"/>
                          </a:solidFill>
                          <a:latin typeface="Arial"/>
                        </a:rPr>
                        <a:t>0.049</a:t>
                      </a:r>
                    </a:p>
                  </a:txBody>
                  <a:tcPr marL="54864" marR="54864" marT="18288" marB="18288" anchor="ctr">
                    <a:solidFill>
                      <a:srgbClr val="FDE9D9"/>
                    </a:solidFill>
                  </a:tcPr>
                </a:tc>
                <a:tc>
                  <a:txBody>
                    <a:bodyPr/>
                    <a:lstStyle/>
                    <a:p>
                      <a:pPr algn="ctr"/>
                      <a:r>
                        <a:rPr sz="1150" b="0" i="0">
                          <a:solidFill>
                            <a:srgbClr val="222222"/>
                          </a:solidFill>
                          <a:latin typeface="Arial"/>
                        </a:rPr>
                        <a:t>2.15</a:t>
                      </a:r>
                    </a:p>
                  </a:txBody>
                  <a:tcPr marL="54864" marR="54864" marT="18288" marB="18288" anchor="ctr">
                    <a:solidFill>
                      <a:srgbClr val="FDE9D9"/>
                    </a:solidFill>
                  </a:tcPr>
                </a:tc>
                <a:extLst>
                  <a:ext uri="{0D108BD9-81ED-4DB2-BD59-A6C34878D82A}">
                    <a16:rowId xmlns:a16="http://schemas.microsoft.com/office/drawing/2014/main" val="10011"/>
                  </a:ext>
                </a:extLst>
              </a:tr>
            </a:tbl>
          </a:graphicData>
        </a:graphic>
      </p:graphicFrame>
      <p:sp>
        <p:nvSpPr>
          <p:cNvPr id="9" name="TextBox 8"/>
          <p:cNvSpPr txBox="1"/>
          <p:nvPr/>
        </p:nvSpPr>
        <p:spPr>
          <a:xfrm>
            <a:off x="6263640" y="5559552"/>
            <a:ext cx="5532120" cy="1097280"/>
          </a:xfrm>
          <a:prstGeom prst="rect">
            <a:avLst/>
          </a:prstGeom>
          <a:noFill/>
        </p:spPr>
        <p:txBody>
          <a:bodyPr wrap="square" lIns="45720" tIns="27432" rIns="45720" bIns="27432" anchor="t">
            <a:spAutoFit/>
          </a:bodyPr>
          <a:lstStyle/>
          <a:p>
            <a:pPr algn="l">
              <a:spcAft>
                <a:spcPts val="600"/>
              </a:spcAft>
            </a:pPr>
            <a:r>
              <a:rPr sz="1300" b="1" i="0">
                <a:solidFill>
                  <a:srgbClr val="1F4E79"/>
                </a:solidFill>
                <a:latin typeface="Arial"/>
              </a:rPr>
              <a:t>Flat vs x_lift 6.5 – 7.5 µm: IL 0.0176 – 0.0176 dB/cm</a:t>
            </a:r>
          </a:p>
          <a:p>
            <a:pPr algn="l">
              <a:spcAft>
                <a:spcPts val="600"/>
              </a:spcAft>
            </a:pPr>
            <a:r>
              <a:rPr sz="1300" b="0" i="0">
                <a:solidFill>
                  <a:srgbClr val="222222"/>
                </a:solidFill>
                <a:latin typeface="Arial"/>
              </a:rPr>
              <a:t>Step must stay in the gap: under the gold it forms a short cavity (2.4 dB/cm at slab_w 4.4)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All solutions: insertion loss vs Vπ·L</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Each point is a ripple-free design (gap and thickness varied); lower-left is better</a:t>
            </a:r>
          </a:p>
        </p:txBody>
      </p:sp>
      <p:graphicFrame>
        <p:nvGraphicFramePr>
          <p:cNvPr id="4" name="Chart 3"/>
          <p:cNvGraphicFramePr>
            <a:graphicFrameLocks noGrp="1"/>
          </p:cNvGraphicFramePr>
          <p:nvPr/>
        </p:nvGraphicFramePr>
        <p:xfrm>
          <a:off x="411480" y="1600200"/>
          <a:ext cx="7680960" cy="4983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p:cNvGraphicFramePr>
            <a:graphicFrameLocks noGrp="1"/>
          </p:cNvGraphicFramePr>
          <p:nvPr/>
        </p:nvGraphicFramePr>
        <p:xfrm>
          <a:off x="8321040" y="1737360"/>
          <a:ext cx="3474720" cy="1444752"/>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47472">
                <a:tc>
                  <a:txBody>
                    <a:bodyPr/>
                    <a:lstStyle/>
                    <a:p>
                      <a:pPr algn="l"/>
                      <a:r>
                        <a:rPr sz="1200" b="1" i="0">
                          <a:solidFill>
                            <a:srgbClr val="FFFFFF"/>
                          </a:solidFill>
                          <a:latin typeface="Arial"/>
                        </a:rPr>
                        <a:t>at Vπ·L</a:t>
                      </a:r>
                    </a:p>
                  </a:txBody>
                  <a:tcPr marL="54864" marR="54864" marT="18288" marB="18288" anchor="ctr">
                    <a:solidFill>
                      <a:srgbClr val="1F4E79"/>
                    </a:solidFill>
                  </a:tcPr>
                </a:tc>
                <a:tc>
                  <a:txBody>
                    <a:bodyPr/>
                    <a:lstStyle/>
                    <a:p>
                      <a:pPr algn="ctr"/>
                      <a:r>
                        <a:rPr sz="1200" b="1" i="0">
                          <a:solidFill>
                            <a:srgbClr val="FFFFFF"/>
                          </a:solidFill>
                          <a:latin typeface="Arial"/>
                        </a:rPr>
                        <a:t>buffered</a:t>
                      </a:r>
                    </a:p>
                  </a:txBody>
                  <a:tcPr marL="54864" marR="54864" marT="18288" marB="18288" anchor="ctr">
                    <a:solidFill>
                      <a:srgbClr val="1F4E79"/>
                    </a:solidFill>
                  </a:tcPr>
                </a:tc>
                <a:tc>
                  <a:txBody>
                    <a:bodyPr/>
                    <a:lstStyle/>
                    <a:p>
                      <a:pPr algn="ctr"/>
                      <a:r>
                        <a:rPr sz="1200" b="1" i="0">
                          <a:solidFill>
                            <a:srgbClr val="FFFFFF"/>
                          </a:solidFill>
                          <a:latin typeface="Arial"/>
                        </a:rPr>
                        <a:t>best alternative</a:t>
                      </a:r>
                    </a:p>
                  </a:txBody>
                  <a:tcPr marL="54864" marR="54864" marT="18288" marB="18288" anchor="ctr">
                    <a:solidFill>
                      <a:srgbClr val="1F4E79"/>
                    </a:solidFill>
                  </a:tcPr>
                </a:tc>
                <a:extLst>
                  <a:ext uri="{0D108BD9-81ED-4DB2-BD59-A6C34878D82A}">
                    <a16:rowId xmlns:a16="http://schemas.microsoft.com/office/drawing/2014/main" val="10000"/>
                  </a:ext>
                </a:extLst>
              </a:tr>
              <a:tr h="347472">
                <a:tc>
                  <a:txBody>
                    <a:bodyPr/>
                    <a:lstStyle/>
                    <a:p>
                      <a:pPr algn="l"/>
                      <a:r>
                        <a:rPr sz="1200" b="0" i="0">
                          <a:solidFill>
                            <a:srgbClr val="222222"/>
                          </a:solidFill>
                          <a:latin typeface="Arial"/>
                        </a:rPr>
                        <a:t>≈ 1.95 V·cm</a:t>
                      </a:r>
                    </a:p>
                  </a:txBody>
                  <a:tcPr marL="54864" marR="54864" marT="18288" marB="18288" anchor="ctr">
                    <a:solidFill>
                      <a:srgbClr val="F4F6F9"/>
                    </a:solidFill>
                  </a:tcPr>
                </a:tc>
                <a:tc>
                  <a:txBody>
                    <a:bodyPr/>
                    <a:lstStyle/>
                    <a:p>
                      <a:pPr algn="ctr"/>
                      <a:r>
                        <a:rPr sz="1200" b="0" i="0">
                          <a:solidFill>
                            <a:srgbClr val="222222"/>
                          </a:solidFill>
                          <a:latin typeface="Arial"/>
                        </a:rPr>
                        <a:t>0.141 dB/cm</a:t>
                      </a:r>
                    </a:p>
                  </a:txBody>
                  <a:tcPr marL="54864" marR="54864" marT="18288" marB="18288" anchor="ctr">
                    <a:solidFill>
                      <a:srgbClr val="F4F6F9"/>
                    </a:solidFill>
                  </a:tcPr>
                </a:tc>
                <a:tc>
                  <a:txBody>
                    <a:bodyPr/>
                    <a:lstStyle/>
                    <a:p>
                      <a:pPr algn="ctr"/>
                      <a:r>
                        <a:rPr sz="1200" b="0" i="0">
                          <a:solidFill>
                            <a:srgbClr val="222222"/>
                          </a:solidFill>
                          <a:latin typeface="Arial"/>
                        </a:rPr>
                        <a:t>0.455 dB/cm</a:t>
                      </a:r>
                    </a:p>
                  </a:txBody>
                  <a:tcPr marL="54864" marR="54864" marT="18288" marB="18288" anchor="ctr">
                    <a:solidFill>
                      <a:srgbClr val="F4F6F9"/>
                    </a:solidFill>
                  </a:tcPr>
                </a:tc>
                <a:extLst>
                  <a:ext uri="{0D108BD9-81ED-4DB2-BD59-A6C34878D82A}">
                    <a16:rowId xmlns:a16="http://schemas.microsoft.com/office/drawing/2014/main" val="10001"/>
                  </a:ext>
                </a:extLst>
              </a:tr>
              <a:tr h="347472">
                <a:tc>
                  <a:txBody>
                    <a:bodyPr/>
                    <a:lstStyle/>
                    <a:p>
                      <a:pPr algn="l"/>
                      <a:r>
                        <a:rPr sz="1200" b="0" i="0">
                          <a:solidFill>
                            <a:srgbClr val="222222"/>
                          </a:solidFill>
                          <a:latin typeface="Arial"/>
                        </a:rPr>
                        <a:t>≈ 2.05 V·cm</a:t>
                      </a:r>
                    </a:p>
                  </a:txBody>
                  <a:tcPr marL="54864" marR="54864" marT="18288" marB="18288" anchor="ctr">
                    <a:solidFill>
                      <a:srgbClr val="DDE3EA"/>
                    </a:solidFill>
                  </a:tcPr>
                </a:tc>
                <a:tc>
                  <a:txBody>
                    <a:bodyPr/>
                    <a:lstStyle/>
                    <a:p>
                      <a:pPr algn="ctr"/>
                      <a:r>
                        <a:rPr sz="1200" b="0" i="0">
                          <a:solidFill>
                            <a:srgbClr val="222222"/>
                          </a:solidFill>
                          <a:latin typeface="Arial"/>
                        </a:rPr>
                        <a:t>0.086 dB/cm</a:t>
                      </a:r>
                    </a:p>
                  </a:txBody>
                  <a:tcPr marL="54864" marR="54864" marT="18288" marB="18288" anchor="ctr">
                    <a:solidFill>
                      <a:srgbClr val="DDE3EA"/>
                    </a:solidFill>
                  </a:tcPr>
                </a:tc>
                <a:tc>
                  <a:txBody>
                    <a:bodyPr/>
                    <a:lstStyle/>
                    <a:p>
                      <a:pPr algn="ctr"/>
                      <a:r>
                        <a:rPr sz="1200" b="0" i="0">
                          <a:solidFill>
                            <a:srgbClr val="222222"/>
                          </a:solidFill>
                          <a:latin typeface="Arial"/>
                        </a:rPr>
                        <a:t>0.208 dB/cm</a:t>
                      </a:r>
                    </a:p>
                  </a:txBody>
                  <a:tcPr marL="54864" marR="54864" marT="18288" marB="18288" anchor="ctr">
                    <a:solidFill>
                      <a:srgbClr val="DDE3EA"/>
                    </a:solidFill>
                  </a:tcPr>
                </a:tc>
                <a:extLst>
                  <a:ext uri="{0D108BD9-81ED-4DB2-BD59-A6C34878D82A}">
                    <a16:rowId xmlns:a16="http://schemas.microsoft.com/office/drawing/2014/main" val="10002"/>
                  </a:ext>
                </a:extLst>
              </a:tr>
              <a:tr h="347472">
                <a:tc>
                  <a:txBody>
                    <a:bodyPr/>
                    <a:lstStyle/>
                    <a:p>
                      <a:pPr algn="l"/>
                      <a:r>
                        <a:rPr sz="1200" b="0" i="0">
                          <a:solidFill>
                            <a:srgbClr val="222222"/>
                          </a:solidFill>
                          <a:latin typeface="Arial"/>
                        </a:rPr>
                        <a:t>≈ 2.27 V·cm</a:t>
                      </a:r>
                    </a:p>
                  </a:txBody>
                  <a:tcPr marL="54864" marR="54864" marT="18288" marB="18288" anchor="ctr">
                    <a:solidFill>
                      <a:srgbClr val="F4F6F9"/>
                    </a:solidFill>
                  </a:tcPr>
                </a:tc>
                <a:tc>
                  <a:txBody>
                    <a:bodyPr/>
                    <a:lstStyle/>
                    <a:p>
                      <a:pPr algn="ctr"/>
                      <a:r>
                        <a:rPr sz="1200" b="0" i="0">
                          <a:solidFill>
                            <a:srgbClr val="222222"/>
                          </a:solidFill>
                          <a:latin typeface="Arial"/>
                        </a:rPr>
                        <a:t>0.026 dB/cm</a:t>
                      </a:r>
                    </a:p>
                  </a:txBody>
                  <a:tcPr marL="54864" marR="54864" marT="18288" marB="18288" anchor="ctr">
                    <a:solidFill>
                      <a:srgbClr val="F4F6F9"/>
                    </a:solidFill>
                  </a:tcPr>
                </a:tc>
                <a:tc>
                  <a:txBody>
                    <a:bodyPr/>
                    <a:lstStyle/>
                    <a:p>
                      <a:pPr algn="ctr"/>
                      <a:r>
                        <a:rPr sz="1200" b="0" i="0">
                          <a:solidFill>
                            <a:srgbClr val="222222"/>
                          </a:solidFill>
                          <a:latin typeface="Arial"/>
                        </a:rPr>
                        <a:t>0.057 dB/cm</a:t>
                      </a:r>
                    </a:p>
                  </a:txBody>
                  <a:tcPr marL="54864" marR="54864" marT="18288" marB="18288" anchor="ctr">
                    <a:solidFill>
                      <a:srgbClr val="F4F6F9"/>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8321040" y="3355848"/>
            <a:ext cx="3474720" cy="219456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t"/>
          <a:lstStyle/>
          <a:p>
            <a:pPr algn="l">
              <a:spcAft>
                <a:spcPts val="800"/>
              </a:spcAft>
            </a:pPr>
            <a:r>
              <a:rPr sz="1500" b="1" i="0">
                <a:solidFill>
                  <a:srgbClr val="1F4E79"/>
                </a:solidFill>
                <a:latin typeface="Arial"/>
              </a:rPr>
              <a:t>The buffer wins</a:t>
            </a:r>
          </a:p>
          <a:p>
            <a:pPr algn="l">
              <a:spcAft>
                <a:spcPts val="800"/>
              </a:spcAft>
            </a:pPr>
            <a:r>
              <a:rPr sz="1300" b="0" i="0">
                <a:solidFill>
                  <a:srgbClr val="222222"/>
                </a:solidFill>
                <a:latin typeface="Arial"/>
              </a:rPr>
              <a:t>At the same Vπ·L it has 2 – 3× lower IL than any thin-LN or etched variant</a:t>
            </a:r>
          </a:p>
          <a:p>
            <a:pPr algn="l">
              <a:spcAft>
                <a:spcPts val="500"/>
              </a:spcAft>
            </a:pPr>
            <a:r>
              <a:rPr sz="1300" b="0" i="0">
                <a:solidFill>
                  <a:srgbClr val="222222"/>
                </a:solidFill>
                <a:latin typeface="Arial"/>
              </a:rPr>
              <a:t>It needs no alignment-critical step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2880A5-A144-ED19-8312-DA581CF912DF}"/>
              </a:ext>
            </a:extLst>
          </p:cNvPr>
          <p:cNvSpPr txBox="1"/>
          <p:nvPr/>
        </p:nvSpPr>
        <p:spPr>
          <a:xfrm>
            <a:off x="1097280" y="2103120"/>
            <a:ext cx="10058400" cy="578620"/>
          </a:xfrm>
          <a:prstGeom prst="rect">
            <a:avLst/>
          </a:prstGeom>
          <a:noFill/>
        </p:spPr>
        <p:txBody>
          <a:bodyPr wrap="square" lIns="45720" tIns="27432" rIns="45720" bIns="27432" anchor="t">
            <a:spAutoFit/>
          </a:bodyPr>
          <a:lstStyle/>
          <a:p>
            <a:pPr algn="ctr">
              <a:spcAft>
                <a:spcPts val="600"/>
              </a:spcAft>
            </a:pPr>
            <a:r>
              <a:rPr lang="en-US" sz="3400" b="1" i="0" dirty="0">
                <a:solidFill>
                  <a:srgbClr val="222222"/>
                </a:solidFill>
                <a:latin typeface="Arial"/>
              </a:rPr>
              <a:t>Final checks: robustness and cavity physics</a:t>
            </a:r>
            <a:endParaRPr sz="3400" b="1" i="0" dirty="0">
              <a:solidFill>
                <a:srgbClr val="222222"/>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Buffered design: robust to over-etch</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200 nm SiO₂, gap 3.4 µm, x_lift 7 µm; 550 nm film, rib top 1.0 µm; slab 275 → 150 nm</a:t>
            </a:r>
          </a:p>
        </p:txBody>
      </p:sp>
      <p:graphicFrame>
        <p:nvGraphicFramePr>
          <p:cNvPr id="4" name="Chart 3"/>
          <p:cNvGraphicFramePr>
            <a:graphicFrameLocks noGrp="1"/>
          </p:cNvGraphicFramePr>
          <p:nvPr/>
        </p:nvGraphicFramePr>
        <p:xfrm>
          <a:off x="365760" y="1600200"/>
          <a:ext cx="4343400" cy="4480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p:cNvGraphicFramePr>
            <a:graphicFrameLocks noGrp="1"/>
          </p:cNvGraphicFramePr>
          <p:nvPr/>
        </p:nvGraphicFramePr>
        <p:xfrm>
          <a:off x="4754880" y="1600200"/>
          <a:ext cx="4343400" cy="4480560"/>
        </p:xfrm>
        <a:graphic>
          <a:graphicData uri="http://schemas.openxmlformats.org/drawingml/2006/chart">
            <c:chart xmlns:c="http://schemas.openxmlformats.org/drawingml/2006/chart" xmlns:r="http://schemas.openxmlformats.org/officeDocument/2006/relationships" r:id="rId4"/>
          </a:graphicData>
        </a:graphic>
      </p:graphicFrame>
      <p:sp>
        <p:nvSpPr>
          <p:cNvPr id="6" name="Rounded Rectangle 5"/>
          <p:cNvSpPr/>
          <p:nvPr/>
        </p:nvSpPr>
        <p:spPr>
          <a:xfrm>
            <a:off x="9281160" y="1691640"/>
            <a:ext cx="2514600" cy="137160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81160" y="1801368"/>
            <a:ext cx="2514600" cy="754380"/>
          </a:xfrm>
          <a:prstGeom prst="rect">
            <a:avLst/>
          </a:prstGeom>
          <a:noFill/>
        </p:spPr>
        <p:txBody>
          <a:bodyPr wrap="square" lIns="45720" tIns="27432" rIns="45720" bIns="27432" anchor="ctr">
            <a:spAutoFit/>
          </a:bodyPr>
          <a:lstStyle/>
          <a:p>
            <a:pPr algn="ctr">
              <a:spcAft>
                <a:spcPts val="600"/>
              </a:spcAft>
            </a:pPr>
            <a:r>
              <a:rPr sz="3000" b="1" i="0">
                <a:solidFill>
                  <a:srgbClr val="2A78D6"/>
                </a:solidFill>
                <a:latin typeface="Arial"/>
              </a:rPr>
              <a:t>+2.6 %</a:t>
            </a:r>
          </a:p>
        </p:txBody>
      </p:sp>
      <p:sp>
        <p:nvSpPr>
          <p:cNvPr id="8" name="TextBox 7"/>
          <p:cNvSpPr txBox="1"/>
          <p:nvPr/>
        </p:nvSpPr>
        <p:spPr>
          <a:xfrm>
            <a:off x="9372600" y="2514600"/>
            <a:ext cx="2331720" cy="521208"/>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Vπ·L per 15 nm</a:t>
            </a:r>
          </a:p>
          <a:p>
            <a:pPr algn="ctr">
              <a:spcAft>
                <a:spcPts val="0"/>
              </a:spcAft>
            </a:pPr>
            <a:r>
              <a:rPr sz="1100" b="0" i="0">
                <a:solidFill>
                  <a:srgbClr val="595959"/>
                </a:solidFill>
                <a:latin typeface="Arial"/>
              </a:rPr>
              <a:t>of over-etch</a:t>
            </a:r>
          </a:p>
        </p:txBody>
      </p:sp>
      <p:sp>
        <p:nvSpPr>
          <p:cNvPr id="9" name="Rounded Rectangle 8"/>
          <p:cNvSpPr/>
          <p:nvPr/>
        </p:nvSpPr>
        <p:spPr>
          <a:xfrm>
            <a:off x="9281160" y="3200400"/>
            <a:ext cx="2514600" cy="137160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81160" y="3310128"/>
            <a:ext cx="2514600" cy="754380"/>
          </a:xfrm>
          <a:prstGeom prst="rect">
            <a:avLst/>
          </a:prstGeom>
          <a:noFill/>
        </p:spPr>
        <p:txBody>
          <a:bodyPr wrap="square" lIns="45720" tIns="27432" rIns="45720" bIns="27432" anchor="ctr">
            <a:spAutoFit/>
          </a:bodyPr>
          <a:lstStyle/>
          <a:p>
            <a:pPr algn="ctr">
              <a:spcAft>
                <a:spcPts val="600"/>
              </a:spcAft>
            </a:pPr>
            <a:r>
              <a:rPr sz="3000" b="1" i="0">
                <a:solidFill>
                  <a:srgbClr val="1BAF7A"/>
                </a:solidFill>
                <a:latin typeface="Arial"/>
              </a:rPr>
              <a:t>flat</a:t>
            </a:r>
          </a:p>
        </p:txBody>
      </p:sp>
      <p:sp>
        <p:nvSpPr>
          <p:cNvPr id="11" name="TextBox 10"/>
          <p:cNvSpPr txBox="1"/>
          <p:nvPr/>
        </p:nvSpPr>
        <p:spPr>
          <a:xfrm>
            <a:off x="9372600" y="4023360"/>
            <a:ext cx="2331720" cy="521208"/>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IL vs x_lift at 150 nm</a:t>
            </a:r>
          </a:p>
          <a:p>
            <a:pPr algn="ctr">
              <a:spcAft>
                <a:spcPts val="0"/>
              </a:spcAft>
            </a:pPr>
            <a:r>
              <a:rPr sz="1100" b="0" i="0">
                <a:solidFill>
                  <a:srgbClr val="595959"/>
                </a:solidFill>
                <a:latin typeface="Arial"/>
              </a:rPr>
              <a:t>(6.6 / 7.0 / 7.4 µm)</a:t>
            </a:r>
          </a:p>
        </p:txBody>
      </p:sp>
      <p:sp>
        <p:nvSpPr>
          <p:cNvPr id="12" name="Rounded Rectangle 11"/>
          <p:cNvSpPr/>
          <p:nvPr/>
        </p:nvSpPr>
        <p:spPr>
          <a:xfrm>
            <a:off x="9281160" y="4709160"/>
            <a:ext cx="2514600" cy="137160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81160" y="4818888"/>
            <a:ext cx="2514600" cy="754380"/>
          </a:xfrm>
          <a:prstGeom prst="rect">
            <a:avLst/>
          </a:prstGeom>
          <a:noFill/>
        </p:spPr>
        <p:txBody>
          <a:bodyPr wrap="square" lIns="45720" tIns="27432" rIns="45720" bIns="27432" anchor="ctr">
            <a:spAutoFit/>
          </a:bodyPr>
          <a:lstStyle/>
          <a:p>
            <a:pPr algn="ctr">
              <a:spcAft>
                <a:spcPts val="600"/>
              </a:spcAft>
            </a:pPr>
            <a:r>
              <a:rPr sz="3000" b="1" i="0">
                <a:solidFill>
                  <a:srgbClr val="EB6834"/>
                </a:solidFill>
                <a:latin typeface="Arial"/>
              </a:rPr>
              <a:t>11× lower</a:t>
            </a:r>
          </a:p>
        </p:txBody>
      </p:sp>
      <p:sp>
        <p:nvSpPr>
          <p:cNvPr id="14" name="TextBox 13"/>
          <p:cNvSpPr txBox="1"/>
          <p:nvPr/>
        </p:nvSpPr>
        <p:spPr>
          <a:xfrm>
            <a:off x="9372600" y="5532120"/>
            <a:ext cx="2331720" cy="521208"/>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IL: 0.026 → 0.0024 dB/cm</a:t>
            </a:r>
          </a:p>
          <a:p>
            <a:pPr algn="ctr">
              <a:spcAft>
                <a:spcPts val="0"/>
              </a:spcAft>
            </a:pPr>
            <a:r>
              <a:rPr sz="1100" b="0" i="0">
                <a:solidFill>
                  <a:srgbClr val="595959"/>
                </a:solidFill>
                <a:latin typeface="Arial"/>
              </a:rPr>
              <a:t>(275 → 150 nm slab)</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Standard lifted: the gap sets the level, not the cavity</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No buffer; x_lift swept (top gap varied) at bottom gap 3.9 / 4.2 / 5.0 µm</a:t>
            </a:r>
          </a:p>
        </p:txBody>
      </p:sp>
      <p:graphicFrame>
        <p:nvGraphicFramePr>
          <p:cNvPr id="4" name="Chart 3"/>
          <p:cNvGraphicFramePr>
            <a:graphicFrameLocks noGrp="1"/>
          </p:cNvGraphicFramePr>
          <p:nvPr/>
        </p:nvGraphicFramePr>
        <p:xfrm>
          <a:off x="365760" y="1554480"/>
          <a:ext cx="5760720" cy="3474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p:cNvGraphicFramePr>
            <a:graphicFrameLocks noGrp="1"/>
          </p:cNvGraphicFramePr>
          <p:nvPr/>
        </p:nvGraphicFramePr>
        <p:xfrm>
          <a:off x="6172200" y="1554480"/>
          <a:ext cx="5669280" cy="34747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e 5"/>
          <p:cNvGraphicFramePr>
            <a:graphicFrameLocks noGrp="1"/>
          </p:cNvGraphicFramePr>
          <p:nvPr/>
        </p:nvGraphicFramePr>
        <p:xfrm>
          <a:off x="502920" y="5166360"/>
          <a:ext cx="6949440" cy="1207008"/>
        </p:xfrm>
        <a:graphic>
          <a:graphicData uri="http://schemas.openxmlformats.org/drawingml/2006/table">
            <a:tbl>
              <a:tblPr firstRow="1" bandRow="1"/>
              <a:tblGrid>
                <a:gridCol w="9144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01752">
                <a:tc>
                  <a:txBody>
                    <a:bodyPr/>
                    <a:lstStyle/>
                    <a:p>
                      <a:pPr algn="l"/>
                      <a:r>
                        <a:rPr sz="1200" b="1" i="0">
                          <a:solidFill>
                            <a:srgbClr val="FFFFFF"/>
                          </a:solidFill>
                          <a:latin typeface="Arial"/>
                        </a:rPr>
                        <a:t>gap (µm)</a:t>
                      </a:r>
                    </a:p>
                  </a:txBody>
                  <a:tcPr marL="54864" marR="54864" marT="18288" marB="18288" anchor="ctr">
                    <a:solidFill>
                      <a:srgbClr val="1F4E79"/>
                    </a:solidFill>
                  </a:tcPr>
                </a:tc>
                <a:tc>
                  <a:txBody>
                    <a:bodyPr/>
                    <a:lstStyle/>
                    <a:p>
                      <a:pPr algn="ctr"/>
                      <a:r>
                        <a:rPr sz="1200" b="1" i="0">
                          <a:solidFill>
                            <a:srgbClr val="FFFFFF"/>
                          </a:solidFill>
                          <a:latin typeface="Arial"/>
                        </a:rPr>
                        <a:t>IL∞ (dB/cm)</a:t>
                      </a:r>
                    </a:p>
                  </a:txBody>
                  <a:tcPr marL="54864" marR="54864" marT="18288" marB="18288" anchor="ctr">
                    <a:solidFill>
                      <a:srgbClr val="1F4E79"/>
                    </a:solidFill>
                  </a:tcPr>
                </a:tc>
                <a:tc>
                  <a:txBody>
                    <a:bodyPr/>
                    <a:lstStyle/>
                    <a:p>
                      <a:pPr algn="ctr"/>
                      <a:r>
                        <a:rPr sz="1200" b="1" i="0">
                          <a:solidFill>
                            <a:srgbClr val="FFFFFF"/>
                          </a:solidFill>
                          <a:latin typeface="Arial"/>
                        </a:rPr>
                        <a:t>IL range (dB/cm)</a:t>
                      </a:r>
                    </a:p>
                  </a:txBody>
                  <a:tcPr marL="54864" marR="54864" marT="18288" marB="18288" anchor="ctr">
                    <a:solidFill>
                      <a:srgbClr val="1F4E79"/>
                    </a:solidFill>
                  </a:tcPr>
                </a:tc>
                <a:tc>
                  <a:txBody>
                    <a:bodyPr/>
                    <a:lstStyle/>
                    <a:p>
                      <a:pPr algn="ctr"/>
                      <a:r>
                        <a:rPr sz="1200" b="1" i="0">
                          <a:solidFill>
                            <a:srgbClr val="FFFFFF"/>
                          </a:solidFill>
                          <a:latin typeface="Arial"/>
                        </a:rPr>
                        <a:t>period (µm)</a:t>
                      </a:r>
                    </a:p>
                  </a:txBody>
                  <a:tcPr marL="54864" marR="54864" marT="18288" marB="18288" anchor="ctr">
                    <a:solidFill>
                      <a:srgbClr val="1F4E79"/>
                    </a:solidFill>
                  </a:tcPr>
                </a:tc>
                <a:tc>
                  <a:txBody>
                    <a:bodyPr/>
                    <a:lstStyle/>
                    <a:p>
                      <a:pPr algn="ctr"/>
                      <a:r>
                        <a:rPr sz="1200" b="1" i="0">
                          <a:solidFill>
                            <a:srgbClr val="FFFFFF"/>
                          </a:solidFill>
                          <a:latin typeface="Arial"/>
                        </a:rPr>
                        <a:t>2α (1/µm)</a:t>
                      </a:r>
                    </a:p>
                  </a:txBody>
                  <a:tcPr marL="54864" marR="54864" marT="18288" marB="18288" anchor="ctr">
                    <a:solidFill>
                      <a:srgbClr val="1F4E79"/>
                    </a:solidFill>
                  </a:tcPr>
                </a:tc>
                <a:tc>
                  <a:txBody>
                    <a:bodyPr/>
                    <a:lstStyle/>
                    <a:p>
                      <a:pPr algn="ctr"/>
                      <a:r>
                        <a:rPr sz="1200" b="1" i="0">
                          <a:solidFill>
                            <a:srgbClr val="FFFFFF"/>
                          </a:solidFill>
                          <a:latin typeface="Arial"/>
                        </a:rPr>
                        <a:t>Vπ·L (V·cm)</a:t>
                      </a:r>
                    </a:p>
                  </a:txBody>
                  <a:tcPr marL="54864" marR="54864" marT="18288" marB="18288" anchor="ctr">
                    <a:solidFill>
                      <a:srgbClr val="1F4E79"/>
                    </a:solidFill>
                  </a:tcPr>
                </a:tc>
                <a:extLst>
                  <a:ext uri="{0D108BD9-81ED-4DB2-BD59-A6C34878D82A}">
                    <a16:rowId xmlns:a16="http://schemas.microsoft.com/office/drawing/2014/main" val="10000"/>
                  </a:ext>
                </a:extLst>
              </a:tr>
              <a:tr h="301752">
                <a:tc>
                  <a:txBody>
                    <a:bodyPr/>
                    <a:lstStyle/>
                    <a:p>
                      <a:pPr algn="l"/>
                      <a:r>
                        <a:rPr sz="1200" b="0" i="0">
                          <a:solidFill>
                            <a:srgbClr val="222222"/>
                          </a:solidFill>
                          <a:latin typeface="Arial"/>
                        </a:rPr>
                        <a:t>3.9</a:t>
                      </a:r>
                    </a:p>
                  </a:txBody>
                  <a:tcPr marL="54864" marR="54864" marT="18288" marB="18288" anchor="ctr">
                    <a:solidFill>
                      <a:srgbClr val="F4F6F9"/>
                    </a:solidFill>
                  </a:tcPr>
                </a:tc>
                <a:tc>
                  <a:txBody>
                    <a:bodyPr/>
                    <a:lstStyle/>
                    <a:p>
                      <a:pPr algn="ctr"/>
                      <a:r>
                        <a:rPr sz="1200" b="0" i="0">
                          <a:solidFill>
                            <a:srgbClr val="222222"/>
                          </a:solidFill>
                          <a:latin typeface="Arial"/>
                        </a:rPr>
                        <a:t>1.103</a:t>
                      </a:r>
                    </a:p>
                  </a:txBody>
                  <a:tcPr marL="54864" marR="54864" marT="18288" marB="18288" anchor="ctr">
                    <a:solidFill>
                      <a:srgbClr val="F4F6F9"/>
                    </a:solidFill>
                  </a:tcPr>
                </a:tc>
                <a:tc>
                  <a:txBody>
                    <a:bodyPr/>
                    <a:lstStyle/>
                    <a:p>
                      <a:pPr algn="ctr"/>
                      <a:r>
                        <a:rPr sz="1200" b="0" i="0">
                          <a:solidFill>
                            <a:srgbClr val="222222"/>
                          </a:solidFill>
                          <a:latin typeface="Arial"/>
                        </a:rPr>
                        <a:t>0.472 – 2.16</a:t>
                      </a:r>
                    </a:p>
                  </a:txBody>
                  <a:tcPr marL="54864" marR="54864" marT="18288" marB="18288" anchor="ctr">
                    <a:solidFill>
                      <a:srgbClr val="F4F6F9"/>
                    </a:solidFill>
                  </a:tcPr>
                </a:tc>
                <a:tc>
                  <a:txBody>
                    <a:bodyPr/>
                    <a:lstStyle/>
                    <a:p>
                      <a:pPr algn="ctr"/>
                      <a:r>
                        <a:rPr sz="1200" b="0" i="0">
                          <a:solidFill>
                            <a:srgbClr val="222222"/>
                          </a:solidFill>
                          <a:latin typeface="Arial"/>
                        </a:rPr>
                        <a:t>0.895</a:t>
                      </a:r>
                    </a:p>
                  </a:txBody>
                  <a:tcPr marL="54864" marR="54864" marT="18288" marB="18288" anchor="ctr">
                    <a:solidFill>
                      <a:srgbClr val="F4F6F9"/>
                    </a:solidFill>
                  </a:tcPr>
                </a:tc>
                <a:tc>
                  <a:txBody>
                    <a:bodyPr/>
                    <a:lstStyle/>
                    <a:p>
                      <a:pPr algn="ctr"/>
                      <a:r>
                        <a:rPr sz="1200" b="0" i="0">
                          <a:solidFill>
                            <a:srgbClr val="222222"/>
                          </a:solidFill>
                          <a:latin typeface="Arial"/>
                        </a:rPr>
                        <a:t>0.179</a:t>
                      </a:r>
                    </a:p>
                  </a:txBody>
                  <a:tcPr marL="54864" marR="54864" marT="18288" marB="18288" anchor="ctr">
                    <a:solidFill>
                      <a:srgbClr val="F4F6F9"/>
                    </a:solidFill>
                  </a:tcPr>
                </a:tc>
                <a:tc>
                  <a:txBody>
                    <a:bodyPr/>
                    <a:lstStyle/>
                    <a:p>
                      <a:pPr algn="ctr"/>
                      <a:r>
                        <a:rPr sz="1200" b="0" i="0">
                          <a:solidFill>
                            <a:srgbClr val="222222"/>
                          </a:solidFill>
                          <a:latin typeface="Arial"/>
                        </a:rPr>
                        <a:t>2.08</a:t>
                      </a:r>
                    </a:p>
                  </a:txBody>
                  <a:tcPr marL="54864" marR="54864" marT="18288" marB="18288" anchor="ctr">
                    <a:solidFill>
                      <a:srgbClr val="F4F6F9"/>
                    </a:solidFill>
                  </a:tcPr>
                </a:tc>
                <a:extLst>
                  <a:ext uri="{0D108BD9-81ED-4DB2-BD59-A6C34878D82A}">
                    <a16:rowId xmlns:a16="http://schemas.microsoft.com/office/drawing/2014/main" val="10001"/>
                  </a:ext>
                </a:extLst>
              </a:tr>
              <a:tr h="301752">
                <a:tc>
                  <a:txBody>
                    <a:bodyPr/>
                    <a:lstStyle/>
                    <a:p>
                      <a:pPr algn="l"/>
                      <a:r>
                        <a:rPr sz="1200" b="0" i="0">
                          <a:solidFill>
                            <a:srgbClr val="222222"/>
                          </a:solidFill>
                          <a:latin typeface="Arial"/>
                        </a:rPr>
                        <a:t>4.2</a:t>
                      </a:r>
                    </a:p>
                  </a:txBody>
                  <a:tcPr marL="54864" marR="54864" marT="18288" marB="18288" anchor="ctr">
                    <a:solidFill>
                      <a:srgbClr val="DDE3EA"/>
                    </a:solidFill>
                  </a:tcPr>
                </a:tc>
                <a:tc>
                  <a:txBody>
                    <a:bodyPr/>
                    <a:lstStyle/>
                    <a:p>
                      <a:pPr algn="ctr"/>
                      <a:r>
                        <a:rPr sz="1200" b="0" i="0">
                          <a:solidFill>
                            <a:srgbClr val="222222"/>
                          </a:solidFill>
                          <a:latin typeface="Arial"/>
                        </a:rPr>
                        <a:t>0.412</a:t>
                      </a:r>
                    </a:p>
                  </a:txBody>
                  <a:tcPr marL="54864" marR="54864" marT="18288" marB="18288" anchor="ctr">
                    <a:solidFill>
                      <a:srgbClr val="DDE3EA"/>
                    </a:solidFill>
                  </a:tcPr>
                </a:tc>
                <a:tc>
                  <a:txBody>
                    <a:bodyPr/>
                    <a:lstStyle/>
                    <a:p>
                      <a:pPr algn="ctr"/>
                      <a:r>
                        <a:rPr sz="1200" b="0" i="0">
                          <a:solidFill>
                            <a:srgbClr val="222222"/>
                          </a:solidFill>
                          <a:latin typeface="Arial"/>
                        </a:rPr>
                        <a:t>0.181 – 0.883</a:t>
                      </a:r>
                    </a:p>
                  </a:txBody>
                  <a:tcPr marL="54864" marR="54864" marT="18288" marB="18288" anchor="ctr">
                    <a:solidFill>
                      <a:srgbClr val="DDE3EA"/>
                    </a:solidFill>
                  </a:tcPr>
                </a:tc>
                <a:tc>
                  <a:txBody>
                    <a:bodyPr/>
                    <a:lstStyle/>
                    <a:p>
                      <a:pPr algn="ctr"/>
                      <a:r>
                        <a:rPr sz="1200" b="0" i="0">
                          <a:solidFill>
                            <a:srgbClr val="222222"/>
                          </a:solidFill>
                          <a:latin typeface="Arial"/>
                        </a:rPr>
                        <a:t>0.895</a:t>
                      </a:r>
                    </a:p>
                  </a:txBody>
                  <a:tcPr marL="54864" marR="54864" marT="18288" marB="18288" anchor="ctr">
                    <a:solidFill>
                      <a:srgbClr val="DDE3EA"/>
                    </a:solidFill>
                  </a:tcPr>
                </a:tc>
                <a:tc>
                  <a:txBody>
                    <a:bodyPr/>
                    <a:lstStyle/>
                    <a:p>
                      <a:pPr algn="ctr"/>
                      <a:r>
                        <a:rPr sz="1200" b="0" i="0">
                          <a:solidFill>
                            <a:srgbClr val="222222"/>
                          </a:solidFill>
                          <a:latin typeface="Arial"/>
                        </a:rPr>
                        <a:t>0.177</a:t>
                      </a:r>
                    </a:p>
                  </a:txBody>
                  <a:tcPr marL="54864" marR="54864" marT="18288" marB="18288" anchor="ctr">
                    <a:solidFill>
                      <a:srgbClr val="DDE3EA"/>
                    </a:solidFill>
                  </a:tcPr>
                </a:tc>
                <a:tc>
                  <a:txBody>
                    <a:bodyPr/>
                    <a:lstStyle/>
                    <a:p>
                      <a:pPr algn="ctr"/>
                      <a:r>
                        <a:rPr sz="1200" b="0" i="0">
                          <a:solidFill>
                            <a:srgbClr val="222222"/>
                          </a:solidFill>
                          <a:latin typeface="Arial"/>
                        </a:rPr>
                        <a:t>2.26</a:t>
                      </a:r>
                    </a:p>
                  </a:txBody>
                  <a:tcPr marL="54864" marR="54864" marT="18288" marB="18288" anchor="ctr">
                    <a:solidFill>
                      <a:srgbClr val="DDE3EA"/>
                    </a:solidFill>
                  </a:tcPr>
                </a:tc>
                <a:extLst>
                  <a:ext uri="{0D108BD9-81ED-4DB2-BD59-A6C34878D82A}">
                    <a16:rowId xmlns:a16="http://schemas.microsoft.com/office/drawing/2014/main" val="10002"/>
                  </a:ext>
                </a:extLst>
              </a:tr>
              <a:tr h="301752">
                <a:tc>
                  <a:txBody>
                    <a:bodyPr/>
                    <a:lstStyle/>
                    <a:p>
                      <a:pPr algn="l"/>
                      <a:r>
                        <a:rPr sz="1200" b="0" i="0">
                          <a:solidFill>
                            <a:srgbClr val="222222"/>
                          </a:solidFill>
                          <a:latin typeface="Arial"/>
                        </a:rPr>
                        <a:t>5.0</a:t>
                      </a:r>
                    </a:p>
                  </a:txBody>
                  <a:tcPr marL="54864" marR="54864" marT="18288" marB="18288" anchor="ctr">
                    <a:solidFill>
                      <a:srgbClr val="F4F6F9"/>
                    </a:solidFill>
                  </a:tcPr>
                </a:tc>
                <a:tc>
                  <a:txBody>
                    <a:bodyPr/>
                    <a:lstStyle/>
                    <a:p>
                      <a:pPr algn="ctr"/>
                      <a:r>
                        <a:rPr sz="1200" b="0" i="0">
                          <a:solidFill>
                            <a:srgbClr val="222222"/>
                          </a:solidFill>
                          <a:latin typeface="Arial"/>
                        </a:rPr>
                        <a:t>0.029</a:t>
                      </a:r>
                    </a:p>
                  </a:txBody>
                  <a:tcPr marL="54864" marR="54864" marT="18288" marB="18288" anchor="ctr">
                    <a:solidFill>
                      <a:srgbClr val="F4F6F9"/>
                    </a:solidFill>
                  </a:tcPr>
                </a:tc>
                <a:tc>
                  <a:txBody>
                    <a:bodyPr/>
                    <a:lstStyle/>
                    <a:p>
                      <a:pPr algn="ctr"/>
                      <a:r>
                        <a:rPr sz="1200" b="0" i="0">
                          <a:solidFill>
                            <a:srgbClr val="222222"/>
                          </a:solidFill>
                          <a:latin typeface="Arial"/>
                        </a:rPr>
                        <a:t>0.0129 – 0.0735</a:t>
                      </a:r>
                    </a:p>
                  </a:txBody>
                  <a:tcPr marL="54864" marR="54864" marT="18288" marB="18288" anchor="ctr">
                    <a:solidFill>
                      <a:srgbClr val="F4F6F9"/>
                    </a:solidFill>
                  </a:tcPr>
                </a:tc>
                <a:tc>
                  <a:txBody>
                    <a:bodyPr/>
                    <a:lstStyle/>
                    <a:p>
                      <a:pPr algn="ctr"/>
                      <a:r>
                        <a:rPr sz="1200" b="0" i="0">
                          <a:solidFill>
                            <a:srgbClr val="222222"/>
                          </a:solidFill>
                          <a:latin typeface="Arial"/>
                        </a:rPr>
                        <a:t>0.896</a:t>
                      </a:r>
                    </a:p>
                  </a:txBody>
                  <a:tcPr marL="54864" marR="54864" marT="18288" marB="18288" anchor="ctr">
                    <a:solidFill>
                      <a:srgbClr val="F4F6F9"/>
                    </a:solidFill>
                  </a:tcPr>
                </a:tc>
                <a:tc>
                  <a:txBody>
                    <a:bodyPr/>
                    <a:lstStyle/>
                    <a:p>
                      <a:pPr algn="ctr"/>
                      <a:r>
                        <a:rPr sz="1200" b="0" i="0">
                          <a:solidFill>
                            <a:srgbClr val="222222"/>
                          </a:solidFill>
                          <a:latin typeface="Arial"/>
                        </a:rPr>
                        <a:t>0.179</a:t>
                      </a:r>
                    </a:p>
                  </a:txBody>
                  <a:tcPr marL="54864" marR="54864" marT="18288" marB="18288" anchor="ctr">
                    <a:solidFill>
                      <a:srgbClr val="F4F6F9"/>
                    </a:solidFill>
                  </a:tcPr>
                </a:tc>
                <a:tc>
                  <a:txBody>
                    <a:bodyPr/>
                    <a:lstStyle/>
                    <a:p>
                      <a:pPr algn="ctr"/>
                      <a:r>
                        <a:rPr sz="1200" b="0" i="0">
                          <a:solidFill>
                            <a:srgbClr val="222222"/>
                          </a:solidFill>
                          <a:latin typeface="Arial"/>
                        </a:rPr>
                        <a:t>2.76</a:t>
                      </a:r>
                    </a:p>
                  </a:txBody>
                  <a:tcPr marL="54864" marR="54864" marT="18288" marB="18288" anchor="ctr">
                    <a:solidFill>
                      <a:srgbClr val="F4F6F9"/>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7772400" y="5166360"/>
            <a:ext cx="3977639" cy="1207008"/>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t"/>
          <a:lstStyle/>
          <a:p>
            <a:pPr algn="l">
              <a:spcAft>
                <a:spcPts val="500"/>
              </a:spcAft>
            </a:pPr>
            <a:r>
              <a:rPr sz="1400" b="1" i="0">
                <a:solidFill>
                  <a:srgbClr val="1F4E79"/>
                </a:solidFill>
                <a:latin typeface="Arial"/>
              </a:rPr>
              <a:t>Same period, decay and phase vs L</a:t>
            </a:r>
          </a:p>
          <a:p>
            <a:pPr algn="l">
              <a:spcAft>
                <a:spcPts val="500"/>
              </a:spcAft>
            </a:pPr>
            <a:r>
              <a:rPr sz="1300" b="0" i="0">
                <a:solidFill>
                  <a:srgbClr val="222222"/>
                </a:solidFill>
                <a:latin typeface="Arial"/>
              </a:rPr>
              <a:t>→ the cavity is unchanged</a:t>
            </a:r>
          </a:p>
          <a:p>
            <a:pPr algn="l">
              <a:spcAft>
                <a:spcPts val="500"/>
              </a:spcAft>
            </a:pPr>
            <a:r>
              <a:rPr sz="1300" b="0" i="0">
                <a:solidFill>
                  <a:srgbClr val="222222"/>
                </a:solidFill>
                <a:latin typeface="Arial"/>
              </a:rPr>
              <a:t>IL∞ ∝ e^(−3.3·gap[µm]): the gap only sets how much light leaks in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SiO₂ removed from the electrodes: same ripple</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Full etch, gap 4.2 µm: slab ending in the gold; previous geometry = SiO₂ lift at slab level beyond x_lift = 7 µm</a:t>
            </a:r>
          </a:p>
        </p:txBody>
      </p:sp>
      <p:sp>
        <p:nvSpPr>
          <p:cNvPr id="4" name="TextBox 3"/>
          <p:cNvSpPr txBox="1"/>
          <p:nvPr/>
        </p:nvSpPr>
        <p:spPr>
          <a:xfrm>
            <a:off x="457200" y="1572768"/>
            <a:ext cx="3931920" cy="274320"/>
          </a:xfrm>
          <a:prstGeom prst="rect">
            <a:avLst/>
          </a:prstGeom>
          <a:noFill/>
        </p:spPr>
        <p:txBody>
          <a:bodyPr wrap="square" lIns="45720" tIns="27432" rIns="45720" bIns="27432" anchor="t">
            <a:spAutoFit/>
          </a:bodyPr>
          <a:lstStyle/>
          <a:p>
            <a:pPr algn="l">
              <a:spcAft>
                <a:spcPts val="600"/>
              </a:spcAft>
            </a:pPr>
            <a:r>
              <a:rPr sz="1200" b="1" i="0">
                <a:solidFill>
                  <a:srgbClr val="1F4E79"/>
                </a:solidFill>
                <a:latin typeface="Arial"/>
              </a:rPr>
              <a:t>Previous: SiO₂ lift (gold/SiO₂ edge at 7 µm)</a:t>
            </a:r>
          </a:p>
        </p:txBody>
      </p:sp>
      <p:pic>
        <p:nvPicPr>
          <p:cNvPr id="5" name="Picture 4" descr="geo3_lift.png"/>
          <p:cNvPicPr>
            <a:picLocks noChangeAspect="1"/>
          </p:cNvPicPr>
          <p:nvPr/>
        </p:nvPicPr>
        <p:blipFill>
          <a:blip r:embed="rId3"/>
          <a:stretch>
            <a:fillRect/>
          </a:stretch>
        </p:blipFill>
        <p:spPr>
          <a:xfrm>
            <a:off x="457200" y="1847088"/>
            <a:ext cx="3931920" cy="984174"/>
          </a:xfrm>
          <a:prstGeom prst="rect">
            <a:avLst/>
          </a:prstGeom>
        </p:spPr>
      </p:pic>
      <p:sp>
        <p:nvSpPr>
          <p:cNvPr id="6" name="TextBox 5"/>
          <p:cNvSpPr txBox="1"/>
          <p:nvPr/>
        </p:nvSpPr>
        <p:spPr>
          <a:xfrm>
            <a:off x="457200" y="2907792"/>
            <a:ext cx="3931920" cy="274320"/>
          </a:xfrm>
          <a:prstGeom prst="rect">
            <a:avLst/>
          </a:prstGeom>
          <a:noFill/>
        </p:spPr>
        <p:txBody>
          <a:bodyPr wrap="square" lIns="45720" tIns="27432" rIns="45720" bIns="27432" anchor="t">
            <a:spAutoFit/>
          </a:bodyPr>
          <a:lstStyle/>
          <a:p>
            <a:pPr algn="l">
              <a:spcAft>
                <a:spcPts val="600"/>
              </a:spcAft>
            </a:pPr>
            <a:r>
              <a:rPr sz="1200" b="1" i="0">
                <a:solidFill>
                  <a:srgbClr val="1F4E79"/>
                </a:solidFill>
                <a:latin typeface="Arial"/>
              </a:rPr>
              <a:t>Now: solid gold electrodes, no SiO₂ inside</a:t>
            </a:r>
          </a:p>
        </p:txBody>
      </p:sp>
      <p:pic>
        <p:nvPicPr>
          <p:cNvPr id="7" name="Picture 6" descr="geo3_goldout.png"/>
          <p:cNvPicPr>
            <a:picLocks noChangeAspect="1"/>
          </p:cNvPicPr>
          <p:nvPr/>
        </p:nvPicPr>
        <p:blipFill>
          <a:blip r:embed="rId4"/>
          <a:stretch>
            <a:fillRect/>
          </a:stretch>
        </p:blipFill>
        <p:spPr>
          <a:xfrm>
            <a:off x="457200" y="3182112"/>
            <a:ext cx="3931920" cy="984174"/>
          </a:xfrm>
          <a:prstGeom prst="rect">
            <a:avLst/>
          </a:prstGeom>
        </p:spPr>
      </p:pic>
      <p:sp>
        <p:nvSpPr>
          <p:cNvPr id="8" name="Rounded Rectangle 7"/>
          <p:cNvSpPr/>
          <p:nvPr/>
        </p:nvSpPr>
        <p:spPr>
          <a:xfrm>
            <a:off x="457200" y="4389120"/>
            <a:ext cx="1901952" cy="169164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4498848"/>
            <a:ext cx="1901952" cy="930402"/>
          </a:xfrm>
          <a:prstGeom prst="rect">
            <a:avLst/>
          </a:prstGeom>
          <a:noFill/>
        </p:spPr>
        <p:txBody>
          <a:bodyPr wrap="square" lIns="45720" tIns="27432" rIns="45720" bIns="27432" anchor="ctr">
            <a:spAutoFit/>
          </a:bodyPr>
          <a:lstStyle/>
          <a:p>
            <a:pPr algn="ctr">
              <a:spcAft>
                <a:spcPts val="600"/>
              </a:spcAft>
            </a:pPr>
            <a:r>
              <a:rPr sz="3000" b="1" i="0">
                <a:solidFill>
                  <a:srgbClr val="2A78D6"/>
                </a:solidFill>
                <a:latin typeface="Arial"/>
              </a:rPr>
              <a:t>0.03 %</a:t>
            </a:r>
          </a:p>
        </p:txBody>
      </p:sp>
      <p:sp>
        <p:nvSpPr>
          <p:cNvPr id="10" name="TextBox 9"/>
          <p:cNvSpPr txBox="1"/>
          <p:nvPr/>
        </p:nvSpPr>
        <p:spPr>
          <a:xfrm>
            <a:off x="548640" y="5404104"/>
            <a:ext cx="1719072" cy="642823"/>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median change,</a:t>
            </a:r>
          </a:p>
          <a:p>
            <a:pPr algn="ctr">
              <a:spcAft>
                <a:spcPts val="0"/>
              </a:spcAft>
            </a:pPr>
            <a:r>
              <a:rPr sz="1100" b="0" i="0">
                <a:solidFill>
                  <a:srgbClr val="595959"/>
                </a:solidFill>
                <a:latin typeface="Arial"/>
              </a:rPr>
              <a:t>slab ends in the gold</a:t>
            </a:r>
          </a:p>
          <a:p>
            <a:pPr algn="ctr">
              <a:spcAft>
                <a:spcPts val="0"/>
              </a:spcAft>
            </a:pPr>
            <a:r>
              <a:rPr sz="1100" b="0" i="0">
                <a:solidFill>
                  <a:srgbClr val="595959"/>
                </a:solidFill>
                <a:latin typeface="Arial"/>
              </a:rPr>
              <a:t>(28 points)</a:t>
            </a:r>
          </a:p>
        </p:txBody>
      </p:sp>
      <p:sp>
        <p:nvSpPr>
          <p:cNvPr id="11" name="Rounded Rectangle 10"/>
          <p:cNvSpPr/>
          <p:nvPr/>
        </p:nvSpPr>
        <p:spPr>
          <a:xfrm>
            <a:off x="2487168" y="4389120"/>
            <a:ext cx="1901952" cy="169164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87168" y="4498848"/>
            <a:ext cx="1901952" cy="930402"/>
          </a:xfrm>
          <a:prstGeom prst="rect">
            <a:avLst/>
          </a:prstGeom>
          <a:noFill/>
        </p:spPr>
        <p:txBody>
          <a:bodyPr wrap="square" lIns="45720" tIns="27432" rIns="45720" bIns="27432" anchor="ctr">
            <a:spAutoFit/>
          </a:bodyPr>
          <a:lstStyle/>
          <a:p>
            <a:pPr algn="ctr">
              <a:spcAft>
                <a:spcPts val="600"/>
              </a:spcAft>
            </a:pPr>
            <a:r>
              <a:rPr sz="3000" b="1" i="0">
                <a:solidFill>
                  <a:srgbClr val="EB6834"/>
                </a:solidFill>
                <a:latin typeface="Arial"/>
              </a:rPr>
              <a:t>0.415</a:t>
            </a:r>
          </a:p>
        </p:txBody>
      </p:sp>
      <p:sp>
        <p:nvSpPr>
          <p:cNvPr id="13" name="TextBox 12"/>
          <p:cNvSpPr txBox="1"/>
          <p:nvPr/>
        </p:nvSpPr>
        <p:spPr>
          <a:xfrm>
            <a:off x="2578608" y="5404104"/>
            <a:ext cx="1719072" cy="642823"/>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dB/cm asymptote</a:t>
            </a:r>
          </a:p>
          <a:p>
            <a:pPr algn="ctr">
              <a:spcAft>
                <a:spcPts val="0"/>
              </a:spcAft>
            </a:pPr>
            <a:r>
              <a:rPr sz="1100" b="0" i="0">
                <a:solidFill>
                  <a:srgbClr val="595959"/>
                </a:solidFill>
                <a:latin typeface="Arial"/>
              </a:rPr>
              <a:t>(Cordoba 0.42)</a:t>
            </a:r>
          </a:p>
        </p:txBody>
      </p:sp>
      <p:graphicFrame>
        <p:nvGraphicFramePr>
          <p:cNvPr id="14" name="Chart 13"/>
          <p:cNvGraphicFramePr>
            <a:graphicFrameLocks noGrp="1"/>
          </p:cNvGraphicFramePr>
          <p:nvPr/>
        </p:nvGraphicFramePr>
        <p:xfrm>
          <a:off x="4572000" y="1554480"/>
          <a:ext cx="7269480" cy="4572000"/>
        </p:xfrm>
        <a:graphic>
          <a:graphicData uri="http://schemas.openxmlformats.org/drawingml/2006/chart">
            <c:chart xmlns:c="http://schemas.openxmlformats.org/drawingml/2006/chart" xmlns:r="http://schemas.openxmlformats.org/officeDocument/2006/relationships" r:id="rId5"/>
          </a:graphicData>
        </a:graphic>
      </p:graphicFrame>
      <p:sp>
        <p:nvSpPr>
          <p:cNvPr id="15" name="TextBox 14"/>
          <p:cNvSpPr txBox="1"/>
          <p:nvPr/>
        </p:nvSpPr>
        <p:spPr>
          <a:xfrm>
            <a:off x="8366760" y="4956048"/>
            <a:ext cx="2194560" cy="274320"/>
          </a:xfrm>
          <a:prstGeom prst="rect">
            <a:avLst/>
          </a:prstGeom>
          <a:noFill/>
        </p:spPr>
        <p:txBody>
          <a:bodyPr wrap="square" lIns="45720" tIns="27432" rIns="45720" bIns="27432" anchor="t">
            <a:spAutoFit/>
          </a:bodyPr>
          <a:lstStyle/>
          <a:p>
            <a:pPr algn="l">
              <a:spcAft>
                <a:spcPts val="600"/>
              </a:spcAft>
            </a:pPr>
            <a:r>
              <a:rPr sz="1000" b="0" i="0">
                <a:solidFill>
                  <a:srgbClr val="2A78D6"/>
                </a:solidFill>
                <a:latin typeface="Arial"/>
              </a:rPr>
              <a:t>old gold/SiO₂ edge (slab_w 14)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Why the slab end and the gold edge act the same</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The lateral wave lives only where gold and LN slab overlap (1D stack indices, 1575 nm)</a:t>
            </a:r>
          </a:p>
        </p:txBody>
      </p:sp>
      <p:pic>
        <p:nvPicPr>
          <p:cNvPr id="4" name="Picture 3" descr="mech_two_mirrors.png"/>
          <p:cNvPicPr>
            <a:picLocks noChangeAspect="1"/>
          </p:cNvPicPr>
          <p:nvPr/>
        </p:nvPicPr>
        <p:blipFill>
          <a:blip r:embed="rId3"/>
          <a:stretch>
            <a:fillRect/>
          </a:stretch>
        </p:blipFill>
        <p:spPr>
          <a:xfrm>
            <a:off x="320040" y="1554480"/>
            <a:ext cx="8001000" cy="4000500"/>
          </a:xfrm>
          <a:prstGeom prst="rect">
            <a:avLst/>
          </a:prstGeom>
        </p:spPr>
      </p:pic>
      <p:sp>
        <p:nvSpPr>
          <p:cNvPr id="5" name="Rounded Rectangle 4"/>
          <p:cNvSpPr/>
          <p:nvPr/>
        </p:nvSpPr>
        <p:spPr>
          <a:xfrm>
            <a:off x="8503920" y="1600200"/>
            <a:ext cx="3291840" cy="251460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t"/>
          <a:lstStyle/>
          <a:p>
            <a:pPr algn="l">
              <a:spcAft>
                <a:spcPts val="500"/>
              </a:spcAft>
            </a:pPr>
            <a:r>
              <a:rPr sz="1400" b="1" i="0">
                <a:solidFill>
                  <a:srgbClr val="1F4E79"/>
                </a:solidFill>
                <a:latin typeface="Arial"/>
              </a:rPr>
              <a:t>Gold + LN: n = 2.07 &gt; 1.884</a:t>
            </a:r>
          </a:p>
          <a:p>
            <a:pPr algn="l">
              <a:spcAft>
                <a:spcPts val="800"/>
              </a:spcAft>
            </a:pPr>
            <a:r>
              <a:rPr sz="1300" b="0" i="0">
                <a:solidFill>
                  <a:srgbClr val="222222"/>
                </a:solidFill>
                <a:latin typeface="Arial"/>
              </a:rPr>
              <a:t>→ propagates sideways</a:t>
            </a:r>
          </a:p>
          <a:p>
            <a:pPr algn="l">
              <a:spcAft>
                <a:spcPts val="500"/>
              </a:spcAft>
            </a:pPr>
            <a:r>
              <a:rPr sz="1400" b="1" i="0">
                <a:solidFill>
                  <a:srgbClr val="1F4E79"/>
                </a:solidFill>
                <a:latin typeface="Arial"/>
              </a:rPr>
              <a:t>Remove the LN: 1.46</a:t>
            </a:r>
          </a:p>
          <a:p>
            <a:pPr algn="l">
              <a:spcAft>
                <a:spcPts val="500"/>
              </a:spcAft>
            </a:pPr>
            <a:r>
              <a:rPr sz="1400" b="1" i="0">
                <a:solidFill>
                  <a:srgbClr val="1F4E79"/>
                </a:solidFill>
                <a:latin typeface="Arial"/>
              </a:rPr>
              <a:t>Remove the gold: 1.61</a:t>
            </a:r>
          </a:p>
          <a:p>
            <a:pPr algn="l">
              <a:spcAft>
                <a:spcPts val="800"/>
              </a:spcAft>
            </a:pPr>
            <a:r>
              <a:rPr sz="1300" b="0" i="0">
                <a:solidFill>
                  <a:srgbClr val="222222"/>
                </a:solidFill>
                <a:latin typeface="Arial"/>
              </a:rPr>
              <a:t>→ both evanescent → reflection</a:t>
            </a:r>
          </a:p>
          <a:p>
            <a:pPr algn="l">
              <a:spcAft>
                <a:spcPts val="500"/>
              </a:spcAft>
            </a:pPr>
            <a:r>
              <a:rPr sz="1350" b="1" i="0">
                <a:solidFill>
                  <a:srgbClr val="222222"/>
                </a:solidFill>
                <a:latin typeface="Arial"/>
              </a:rPr>
              <a:t>Mirror = end of the overlap, whatever ends it</a:t>
            </a:r>
          </a:p>
        </p:txBody>
      </p:sp>
      <p:graphicFrame>
        <p:nvGraphicFramePr>
          <p:cNvPr id="6" name="Table 5"/>
          <p:cNvGraphicFramePr>
            <a:graphicFrameLocks noGrp="1"/>
          </p:cNvGraphicFramePr>
          <p:nvPr/>
        </p:nvGraphicFramePr>
        <p:xfrm>
          <a:off x="8503920" y="4297680"/>
          <a:ext cx="3291840" cy="1508760"/>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tblGrid>
              <a:tr h="301752">
                <a:tc>
                  <a:txBody>
                    <a:bodyPr/>
                    <a:lstStyle/>
                    <a:p>
                      <a:pPr algn="l"/>
                      <a:r>
                        <a:rPr sz="1200" b="1" i="0">
                          <a:solidFill>
                            <a:srgbClr val="FFFFFF"/>
                          </a:solidFill>
                          <a:latin typeface="Arial"/>
                        </a:rPr>
                        <a:t>fit</a:t>
                      </a:r>
                    </a:p>
                  </a:txBody>
                  <a:tcPr marL="54864" marR="54864" marT="18288" marB="18288" anchor="ctr">
                    <a:solidFill>
                      <a:srgbClr val="1F4E79"/>
                    </a:solidFill>
                  </a:tcPr>
                </a:tc>
                <a:tc>
                  <a:txBody>
                    <a:bodyPr/>
                    <a:lstStyle/>
                    <a:p>
                      <a:pPr algn="ctr"/>
                      <a:r>
                        <a:rPr sz="1200" b="1" i="0">
                          <a:solidFill>
                            <a:srgbClr val="FFFFFF"/>
                          </a:solidFill>
                          <a:latin typeface="Arial"/>
                        </a:rPr>
                        <a:t>slab end</a:t>
                      </a:r>
                    </a:p>
                  </a:txBody>
                  <a:tcPr marL="54864" marR="54864" marT="18288" marB="18288" anchor="ctr">
                    <a:solidFill>
                      <a:srgbClr val="1F4E79"/>
                    </a:solidFill>
                  </a:tcPr>
                </a:tc>
                <a:tc>
                  <a:txBody>
                    <a:bodyPr/>
                    <a:lstStyle/>
                    <a:p>
                      <a:pPr algn="ctr"/>
                      <a:r>
                        <a:rPr sz="1200" b="1" i="0">
                          <a:solidFill>
                            <a:srgbClr val="FFFFFF"/>
                          </a:solidFill>
                          <a:latin typeface="Arial"/>
                        </a:rPr>
                        <a:t>gold edge</a:t>
                      </a:r>
                    </a:p>
                  </a:txBody>
                  <a:tcPr marL="54864" marR="54864" marT="18288" marB="18288" anchor="ctr">
                    <a:solidFill>
                      <a:srgbClr val="1F4E79"/>
                    </a:solidFill>
                  </a:tcPr>
                </a:tc>
                <a:extLst>
                  <a:ext uri="{0D108BD9-81ED-4DB2-BD59-A6C34878D82A}">
                    <a16:rowId xmlns:a16="http://schemas.microsoft.com/office/drawing/2014/main" val="10000"/>
                  </a:ext>
                </a:extLst>
              </a:tr>
              <a:tr h="301752">
                <a:tc>
                  <a:txBody>
                    <a:bodyPr/>
                    <a:lstStyle/>
                    <a:p>
                      <a:pPr algn="l"/>
                      <a:r>
                        <a:rPr sz="1200" b="0" i="0">
                          <a:solidFill>
                            <a:srgbClr val="222222"/>
                          </a:solidFill>
                          <a:latin typeface="Arial"/>
                        </a:rPr>
                        <a:t>period (µm)</a:t>
                      </a:r>
                    </a:p>
                  </a:txBody>
                  <a:tcPr marL="54864" marR="54864" marT="18288" marB="18288" anchor="ctr">
                    <a:solidFill>
                      <a:srgbClr val="F4F6F9"/>
                    </a:solidFill>
                  </a:tcPr>
                </a:tc>
                <a:tc>
                  <a:txBody>
                    <a:bodyPr/>
                    <a:lstStyle/>
                    <a:p>
                      <a:pPr algn="ctr"/>
                      <a:r>
                        <a:rPr sz="1200" b="0" i="0">
                          <a:solidFill>
                            <a:srgbClr val="222222"/>
                          </a:solidFill>
                          <a:latin typeface="Arial"/>
                        </a:rPr>
                        <a:t>0.895</a:t>
                      </a:r>
                    </a:p>
                  </a:txBody>
                  <a:tcPr marL="54864" marR="54864" marT="18288" marB="18288" anchor="ctr">
                    <a:solidFill>
                      <a:srgbClr val="F4F6F9"/>
                    </a:solidFill>
                  </a:tcPr>
                </a:tc>
                <a:tc>
                  <a:txBody>
                    <a:bodyPr/>
                    <a:lstStyle/>
                    <a:p>
                      <a:pPr algn="ctr"/>
                      <a:r>
                        <a:rPr sz="1200" b="0" i="0">
                          <a:solidFill>
                            <a:srgbClr val="222222"/>
                          </a:solidFill>
                          <a:latin typeface="Arial"/>
                        </a:rPr>
                        <a:t>0.894</a:t>
                      </a:r>
                    </a:p>
                  </a:txBody>
                  <a:tcPr marL="54864" marR="54864" marT="18288" marB="18288" anchor="ctr">
                    <a:solidFill>
                      <a:srgbClr val="F4F6F9"/>
                    </a:solidFill>
                  </a:tcPr>
                </a:tc>
                <a:extLst>
                  <a:ext uri="{0D108BD9-81ED-4DB2-BD59-A6C34878D82A}">
                    <a16:rowId xmlns:a16="http://schemas.microsoft.com/office/drawing/2014/main" val="10001"/>
                  </a:ext>
                </a:extLst>
              </a:tr>
              <a:tr h="301752">
                <a:tc>
                  <a:txBody>
                    <a:bodyPr/>
                    <a:lstStyle/>
                    <a:p>
                      <a:pPr algn="l"/>
                      <a:r>
                        <a:rPr sz="1200" b="0" i="0">
                          <a:solidFill>
                            <a:srgbClr val="222222"/>
                          </a:solidFill>
                          <a:latin typeface="Arial"/>
                        </a:rPr>
                        <a:t>IL∞ (dB/cm)</a:t>
                      </a:r>
                    </a:p>
                  </a:txBody>
                  <a:tcPr marL="54864" marR="54864" marT="18288" marB="18288" anchor="ctr">
                    <a:solidFill>
                      <a:srgbClr val="DDE3EA"/>
                    </a:solidFill>
                  </a:tcPr>
                </a:tc>
                <a:tc>
                  <a:txBody>
                    <a:bodyPr/>
                    <a:lstStyle/>
                    <a:p>
                      <a:pPr algn="ctr"/>
                      <a:r>
                        <a:rPr sz="1200" b="0" i="0">
                          <a:solidFill>
                            <a:srgbClr val="222222"/>
                          </a:solidFill>
                          <a:latin typeface="Arial"/>
                        </a:rPr>
                        <a:t>0.414</a:t>
                      </a:r>
                    </a:p>
                  </a:txBody>
                  <a:tcPr marL="54864" marR="54864" marT="18288" marB="18288" anchor="ctr">
                    <a:solidFill>
                      <a:srgbClr val="DDE3EA"/>
                    </a:solidFill>
                  </a:tcPr>
                </a:tc>
                <a:tc>
                  <a:txBody>
                    <a:bodyPr/>
                    <a:lstStyle/>
                    <a:p>
                      <a:pPr algn="ctr"/>
                      <a:r>
                        <a:rPr sz="1200" b="0" i="0">
                          <a:solidFill>
                            <a:srgbClr val="222222"/>
                          </a:solidFill>
                          <a:latin typeface="Arial"/>
                        </a:rPr>
                        <a:t>0.415</a:t>
                      </a:r>
                    </a:p>
                  </a:txBody>
                  <a:tcPr marL="54864" marR="54864" marT="18288" marB="18288" anchor="ctr">
                    <a:solidFill>
                      <a:srgbClr val="DDE3EA"/>
                    </a:solidFill>
                  </a:tcPr>
                </a:tc>
                <a:extLst>
                  <a:ext uri="{0D108BD9-81ED-4DB2-BD59-A6C34878D82A}">
                    <a16:rowId xmlns:a16="http://schemas.microsoft.com/office/drawing/2014/main" val="10002"/>
                  </a:ext>
                </a:extLst>
              </a:tr>
              <a:tr h="301752">
                <a:tc>
                  <a:txBody>
                    <a:bodyPr/>
                    <a:lstStyle/>
                    <a:p>
                      <a:pPr algn="l"/>
                      <a:r>
                        <a:rPr sz="1200" b="0" i="0">
                          <a:solidFill>
                            <a:srgbClr val="222222"/>
                          </a:solidFill>
                          <a:latin typeface="Arial"/>
                        </a:rPr>
                        <a:t>decay 2α (1/µm)</a:t>
                      </a:r>
                    </a:p>
                  </a:txBody>
                  <a:tcPr marL="54864" marR="54864" marT="18288" marB="18288" anchor="ctr">
                    <a:solidFill>
                      <a:srgbClr val="F4F6F9"/>
                    </a:solidFill>
                  </a:tcPr>
                </a:tc>
                <a:tc>
                  <a:txBody>
                    <a:bodyPr/>
                    <a:lstStyle/>
                    <a:p>
                      <a:pPr algn="ctr"/>
                      <a:r>
                        <a:rPr sz="1200" b="0" i="0">
                          <a:solidFill>
                            <a:srgbClr val="222222"/>
                          </a:solidFill>
                          <a:latin typeface="Arial"/>
                        </a:rPr>
                        <a:t>0.182</a:t>
                      </a:r>
                    </a:p>
                  </a:txBody>
                  <a:tcPr marL="54864" marR="54864" marT="18288" marB="18288" anchor="ctr">
                    <a:solidFill>
                      <a:srgbClr val="F4F6F9"/>
                    </a:solidFill>
                  </a:tcPr>
                </a:tc>
                <a:tc>
                  <a:txBody>
                    <a:bodyPr/>
                    <a:lstStyle/>
                    <a:p>
                      <a:pPr algn="ctr"/>
                      <a:r>
                        <a:rPr sz="1200" b="0" i="0">
                          <a:solidFill>
                            <a:srgbClr val="222222"/>
                          </a:solidFill>
                          <a:latin typeface="Arial"/>
                        </a:rPr>
                        <a:t>0.179</a:t>
                      </a:r>
                    </a:p>
                  </a:txBody>
                  <a:tcPr marL="54864" marR="54864" marT="18288" marB="18288" anchor="ctr">
                    <a:solidFill>
                      <a:srgbClr val="F4F6F9"/>
                    </a:solidFill>
                  </a:tcPr>
                </a:tc>
                <a:extLst>
                  <a:ext uri="{0D108BD9-81ED-4DB2-BD59-A6C34878D82A}">
                    <a16:rowId xmlns:a16="http://schemas.microsoft.com/office/drawing/2014/main" val="10003"/>
                  </a:ext>
                </a:extLst>
              </a:tr>
              <a:tr h="301752">
                <a:tc>
                  <a:txBody>
                    <a:bodyPr/>
                    <a:lstStyle/>
                    <a:p>
                      <a:pPr algn="l"/>
                      <a:r>
                        <a:rPr sz="1200" b="0" i="0">
                          <a:solidFill>
                            <a:srgbClr val="222222"/>
                          </a:solidFill>
                          <a:latin typeface="Arial"/>
                        </a:rPr>
                        <a:t>mirror ρ₀</a:t>
                      </a:r>
                    </a:p>
                  </a:txBody>
                  <a:tcPr marL="54864" marR="54864" marT="18288" marB="18288" anchor="ctr">
                    <a:solidFill>
                      <a:srgbClr val="DDE3EA"/>
                    </a:solidFill>
                  </a:tcPr>
                </a:tc>
                <a:tc>
                  <a:txBody>
                    <a:bodyPr/>
                    <a:lstStyle/>
                    <a:p>
                      <a:pPr algn="ctr"/>
                      <a:r>
                        <a:rPr sz="1200" b="0" i="0">
                          <a:solidFill>
                            <a:srgbClr val="222222"/>
                          </a:solidFill>
                          <a:latin typeface="Arial"/>
                        </a:rPr>
                        <a:t>0.957</a:t>
                      </a:r>
                    </a:p>
                  </a:txBody>
                  <a:tcPr marL="54864" marR="54864" marT="18288" marB="18288" anchor="ctr">
                    <a:solidFill>
                      <a:srgbClr val="DDE3EA"/>
                    </a:solidFill>
                  </a:tcPr>
                </a:tc>
                <a:tc>
                  <a:txBody>
                    <a:bodyPr/>
                    <a:lstStyle/>
                    <a:p>
                      <a:pPr algn="ctr"/>
                      <a:r>
                        <a:rPr sz="1200" b="0" i="0">
                          <a:solidFill>
                            <a:srgbClr val="222222"/>
                          </a:solidFill>
                          <a:latin typeface="Arial"/>
                        </a:rPr>
                        <a:t>0.922</a:t>
                      </a:r>
                    </a:p>
                  </a:txBody>
                  <a:tcPr marL="54864" marR="54864" marT="18288" marB="18288" anchor="ctr">
                    <a:solidFill>
                      <a:srgbClr val="DDE3EA"/>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8503920" y="5852160"/>
            <a:ext cx="3291840" cy="548640"/>
          </a:xfrm>
          <a:prstGeom prst="rect">
            <a:avLst/>
          </a:prstGeom>
          <a:noFill/>
        </p:spPr>
        <p:txBody>
          <a:bodyPr wrap="square" lIns="45720" tIns="27432" rIns="45720" bIns="27432" anchor="t">
            <a:spAutoFit/>
          </a:bodyPr>
          <a:lstStyle/>
          <a:p>
            <a:pPr algn="l">
              <a:spcAft>
                <a:spcPts val="600"/>
              </a:spcAft>
            </a:pPr>
            <a:r>
              <a:rPr sz="1150" b="0" i="1">
                <a:solidFill>
                  <a:srgbClr val="595959"/>
                </a:solidFill>
                <a:latin typeface="Arial"/>
              </a:rPr>
              <a:t>Cavity sets period, decay, IL∞; the mirror only ρ₀ and phase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475488"/>
            <a:ext cx="10241280" cy="685800"/>
          </a:xfrm>
          <a:prstGeom prst="rect">
            <a:avLst/>
          </a:prstGeom>
          <a:noFill/>
        </p:spPr>
        <p:txBody>
          <a:bodyPr wrap="square" lIns="45720" tIns="27432" rIns="45720" bIns="27432" anchor="ctr">
            <a:spAutoFit/>
          </a:bodyPr>
          <a:lstStyle/>
          <a:p>
            <a:pPr algn="l">
              <a:spcAft>
                <a:spcPts val="600"/>
              </a:spcAft>
            </a:pPr>
            <a:r>
              <a:rPr sz="3000" b="0" i="0">
                <a:solidFill>
                  <a:srgbClr val="222222"/>
                </a:solidFill>
                <a:latin typeface="Arial"/>
              </a:rPr>
              <a:t>Conclusions</a:t>
            </a:r>
          </a:p>
        </p:txBody>
      </p:sp>
      <p:sp>
        <p:nvSpPr>
          <p:cNvPr id="3" name="TextBox 2"/>
          <p:cNvSpPr txBox="1"/>
          <p:nvPr/>
        </p:nvSpPr>
        <p:spPr>
          <a:xfrm>
            <a:off x="502920" y="1115568"/>
            <a:ext cx="10789920" cy="411480"/>
          </a:xfrm>
          <a:prstGeom prst="rect">
            <a:avLst/>
          </a:prstGeom>
          <a:noFill/>
        </p:spPr>
        <p:txBody>
          <a:bodyPr wrap="square" lIns="45720" tIns="27432" rIns="45720" bIns="27432" anchor="t">
            <a:spAutoFit/>
          </a:bodyPr>
          <a:lstStyle/>
          <a:p>
            <a:pPr algn="l">
              <a:spcAft>
                <a:spcPts val="600"/>
              </a:spcAft>
            </a:pPr>
            <a:r>
              <a:rPr sz="1500" b="0" i="1">
                <a:solidFill>
                  <a:srgbClr val="595959"/>
                </a:solidFill>
                <a:latin typeface="Arial"/>
              </a:rPr>
              <a:t>Lifted electrodes, λ = 1575 nm</a:t>
            </a:r>
          </a:p>
        </p:txBody>
      </p:sp>
      <p:sp>
        <p:nvSpPr>
          <p:cNvPr id="4" name="Rounded Rectangle 3"/>
          <p:cNvSpPr/>
          <p:nvPr/>
        </p:nvSpPr>
        <p:spPr>
          <a:xfrm>
            <a:off x="548640" y="1645920"/>
            <a:ext cx="3566160" cy="150876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755648"/>
            <a:ext cx="3566160" cy="829818"/>
          </a:xfrm>
          <a:prstGeom prst="rect">
            <a:avLst/>
          </a:prstGeom>
          <a:noFill/>
        </p:spPr>
        <p:txBody>
          <a:bodyPr wrap="square" lIns="45720" tIns="27432" rIns="45720" bIns="27432" anchor="ctr">
            <a:spAutoFit/>
          </a:bodyPr>
          <a:lstStyle/>
          <a:p>
            <a:pPr algn="ctr">
              <a:spcAft>
                <a:spcPts val="600"/>
              </a:spcAft>
            </a:pPr>
            <a:r>
              <a:rPr sz="3000" b="1" i="0">
                <a:solidFill>
                  <a:srgbClr val="2A78D6"/>
                </a:solidFill>
                <a:latin typeface="Arial"/>
              </a:rPr>
              <a:t>0.026 dB/cm</a:t>
            </a:r>
          </a:p>
        </p:txBody>
      </p:sp>
      <p:sp>
        <p:nvSpPr>
          <p:cNvPr id="6" name="TextBox 5"/>
          <p:cNvSpPr txBox="1"/>
          <p:nvPr/>
        </p:nvSpPr>
        <p:spPr>
          <a:xfrm>
            <a:off x="640080" y="2551176"/>
            <a:ext cx="3383279" cy="573328"/>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IL, flat vs x_lift</a:t>
            </a:r>
          </a:p>
          <a:p>
            <a:pPr algn="ctr">
              <a:spcAft>
                <a:spcPts val="0"/>
              </a:spcAft>
            </a:pPr>
            <a:r>
              <a:rPr sz="1100" b="0" i="0">
                <a:solidFill>
                  <a:srgbClr val="595959"/>
                </a:solidFill>
                <a:latin typeface="Arial"/>
              </a:rPr>
              <a:t>200 nm buffer, gap 3.4 µm</a:t>
            </a:r>
          </a:p>
        </p:txBody>
      </p:sp>
      <p:sp>
        <p:nvSpPr>
          <p:cNvPr id="7" name="Rounded Rectangle 6"/>
          <p:cNvSpPr/>
          <p:nvPr/>
        </p:nvSpPr>
        <p:spPr>
          <a:xfrm>
            <a:off x="4315968" y="1645920"/>
            <a:ext cx="3566160" cy="150876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315968" y="1755648"/>
            <a:ext cx="3566160" cy="829818"/>
          </a:xfrm>
          <a:prstGeom prst="rect">
            <a:avLst/>
          </a:prstGeom>
          <a:noFill/>
        </p:spPr>
        <p:txBody>
          <a:bodyPr wrap="square" lIns="45720" tIns="27432" rIns="45720" bIns="27432" anchor="ctr">
            <a:spAutoFit/>
          </a:bodyPr>
          <a:lstStyle/>
          <a:p>
            <a:pPr algn="ctr">
              <a:spcAft>
                <a:spcPts val="600"/>
              </a:spcAft>
            </a:pPr>
            <a:r>
              <a:rPr sz="3000" b="1" i="0">
                <a:solidFill>
                  <a:srgbClr val="2A78D6"/>
                </a:solidFill>
                <a:latin typeface="Arial"/>
              </a:rPr>
              <a:t>2.27 V·cm</a:t>
            </a:r>
          </a:p>
        </p:txBody>
      </p:sp>
      <p:sp>
        <p:nvSpPr>
          <p:cNvPr id="9" name="TextBox 8"/>
          <p:cNvSpPr txBox="1"/>
          <p:nvPr/>
        </p:nvSpPr>
        <p:spPr>
          <a:xfrm>
            <a:off x="4407407" y="2551176"/>
            <a:ext cx="3383279" cy="573328"/>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Vπ·L at gap 3.4 µm</a:t>
            </a:r>
          </a:p>
          <a:p>
            <a:pPr algn="ctr">
              <a:spcAft>
                <a:spcPts val="0"/>
              </a:spcAft>
            </a:pPr>
            <a:r>
              <a:rPr sz="1100" b="0" i="0">
                <a:solidFill>
                  <a:srgbClr val="595959"/>
                </a:solidFill>
                <a:latin typeface="Arial"/>
              </a:rPr>
              <a:t>(+2.6 % per 15 nm over-etch)</a:t>
            </a:r>
          </a:p>
        </p:txBody>
      </p:sp>
      <p:sp>
        <p:nvSpPr>
          <p:cNvPr id="10" name="Rounded Rectangle 9"/>
          <p:cNvSpPr/>
          <p:nvPr/>
        </p:nvSpPr>
        <p:spPr>
          <a:xfrm>
            <a:off x="8083296" y="1645920"/>
            <a:ext cx="3566160" cy="150876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83296" y="1755648"/>
            <a:ext cx="3566160" cy="829818"/>
          </a:xfrm>
          <a:prstGeom prst="rect">
            <a:avLst/>
          </a:prstGeom>
          <a:noFill/>
        </p:spPr>
        <p:txBody>
          <a:bodyPr wrap="square" lIns="45720" tIns="27432" rIns="45720" bIns="27432" anchor="ctr">
            <a:spAutoFit/>
          </a:bodyPr>
          <a:lstStyle/>
          <a:p>
            <a:pPr algn="ctr">
              <a:spcAft>
                <a:spcPts val="600"/>
              </a:spcAft>
            </a:pPr>
            <a:r>
              <a:rPr sz="3000" b="1" i="0">
                <a:solidFill>
                  <a:srgbClr val="2A78D6"/>
                </a:solidFill>
                <a:latin typeface="Arial"/>
              </a:rPr>
              <a:t>38 nm</a:t>
            </a:r>
          </a:p>
        </p:txBody>
      </p:sp>
      <p:sp>
        <p:nvSpPr>
          <p:cNvPr id="12" name="TextBox 11"/>
          <p:cNvSpPr txBox="1"/>
          <p:nvPr/>
        </p:nvSpPr>
        <p:spPr>
          <a:xfrm>
            <a:off x="8174736" y="2551176"/>
            <a:ext cx="3383279" cy="573328"/>
          </a:xfrm>
          <a:prstGeom prst="rect">
            <a:avLst/>
          </a:prstGeom>
          <a:noFill/>
        </p:spPr>
        <p:txBody>
          <a:bodyPr wrap="square" lIns="45720" tIns="27432" rIns="45720" bIns="27432" anchor="t">
            <a:spAutoFit/>
          </a:bodyPr>
          <a:lstStyle/>
          <a:p>
            <a:pPr algn="ctr">
              <a:spcAft>
                <a:spcPts val="0"/>
              </a:spcAft>
            </a:pPr>
            <a:r>
              <a:rPr sz="1100" b="0" i="0">
                <a:solidFill>
                  <a:srgbClr val="595959"/>
                </a:solidFill>
                <a:latin typeface="Arial"/>
              </a:rPr>
              <a:t>buffer cutoff</a:t>
            </a:r>
          </a:p>
          <a:p>
            <a:pPr algn="ctr">
              <a:spcAft>
                <a:spcPts val="0"/>
              </a:spcAft>
            </a:pPr>
            <a:r>
              <a:rPr sz="1100" b="0" i="0">
                <a:solidFill>
                  <a:srgbClr val="595959"/>
                </a:solidFill>
                <a:latin typeface="Arial"/>
              </a:rPr>
              <a:t>200 nm = 5× margin</a:t>
            </a:r>
          </a:p>
        </p:txBody>
      </p:sp>
      <p:sp>
        <p:nvSpPr>
          <p:cNvPr id="13" name="Rounded Rectangle 12"/>
          <p:cNvSpPr/>
          <p:nvPr/>
        </p:nvSpPr>
        <p:spPr>
          <a:xfrm>
            <a:off x="548640" y="3429000"/>
            <a:ext cx="11100816" cy="237744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91440" rIns="137160" bIns="91440" rtlCol="0" anchor="t"/>
          <a:lstStyle/>
          <a:p>
            <a:pPr algn="l">
              <a:spcAft>
                <a:spcPts val="900"/>
              </a:spcAft>
            </a:pPr>
            <a:r>
              <a:rPr sz="1500" b="0" i="0">
                <a:solidFill>
                  <a:srgbClr val="222222"/>
                </a:solidFill>
                <a:latin typeface="Arial"/>
              </a:rPr>
              <a:t>Cause: the wave under the gold exists only where gold and LN slab overlap; any end of the overlap is a mirror → lateral cavity, period 0.9 µm</a:t>
            </a:r>
          </a:p>
          <a:p>
            <a:pPr algn="l">
              <a:spcAft>
                <a:spcPts val="900"/>
              </a:spcAft>
            </a:pPr>
            <a:r>
              <a:rPr sz="1500" b="0" i="0">
                <a:solidFill>
                  <a:srgbClr val="222222"/>
                </a:solidFill>
                <a:latin typeface="Arial"/>
              </a:rPr>
              <a:t>Gap: scales the leak (IL∞ ∝ e^(−3.3·gap)), not the cavity</a:t>
            </a:r>
          </a:p>
          <a:p>
            <a:pPr algn="l">
              <a:spcAft>
                <a:spcPts val="900"/>
              </a:spcAft>
            </a:pPr>
            <a:r>
              <a:rPr sz="1500" b="0" i="0">
                <a:solidFill>
                  <a:srgbClr val="222222"/>
                </a:solidFill>
                <a:latin typeface="Arial"/>
              </a:rPr>
              <a:t>Slab etching: the slab end in the gold is just another mirror; ending it in the gap costs +35 … +140 % Vπ·L; thin LN under the gold costs 2 – 3× IL at equal Vπ·L</a:t>
            </a:r>
          </a:p>
          <a:p>
            <a:pPr algn="l">
              <a:spcAft>
                <a:spcPts val="900"/>
              </a:spcAft>
            </a:pPr>
            <a:r>
              <a:rPr sz="1500" b="1" i="0">
                <a:solidFill>
                  <a:srgbClr val="1F4E79"/>
                </a:solidFill>
                <a:latin typeface="Arial"/>
              </a:rPr>
              <a:t>Buffer ≥ 38 nm SiO₂ removes the wave: keep 200 nm (no new material, no extra litho, robust to over-etch)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SiO₂ cap sweep on the buffered design</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Lisbon lifted, 200 nm buffer, bottom gap 3.4 µm, 1575 nm, no slab etch; rib 1.0 and 1.4 µm</a:t>
            </a:r>
          </a:p>
        </p:txBody>
      </p:sp>
      <p:sp>
        <p:nvSpPr>
          <p:cNvPr id="4" name="Rounded Rectangle 3"/>
          <p:cNvSpPr/>
          <p:nvPr/>
        </p:nvSpPr>
        <p:spPr>
          <a:xfrm>
            <a:off x="548640" y="1645920"/>
            <a:ext cx="5120640" cy="4206240"/>
          </a:xfrm>
          <a:prstGeom prst="roundRect">
            <a:avLst>
              <a:gd name="adj" fmla="val 6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l">
              <a:spcAft>
                <a:spcPts val="800"/>
              </a:spcAft>
            </a:pPr>
            <a:r>
              <a:rPr sz="1600" b="1" i="0">
                <a:solidFill>
                  <a:srgbClr val="1F4E79"/>
                </a:solidFill>
                <a:latin typeface="Arial"/>
              </a:rPr>
              <a:t>Sweep</a:t>
            </a:r>
          </a:p>
          <a:p>
            <a:pPr algn="l">
              <a:spcAft>
                <a:spcPts val="600"/>
              </a:spcAft>
            </a:pPr>
            <a:r>
              <a:rPr sz="1300" b="0" i="0">
                <a:solidFill>
                  <a:srgbClr val="222222"/>
                </a:solidFill>
                <a:latin typeface="Arial"/>
              </a:rPr>
              <a:t>Cap height 0.5 → 1.4 µm (from the buffer top)</a:t>
            </a:r>
          </a:p>
          <a:p>
            <a:pPr algn="l">
              <a:spcAft>
                <a:spcPts val="600"/>
              </a:spcAft>
            </a:pPr>
            <a:r>
              <a:rPr sz="1300" b="0" i="0">
                <a:solidFill>
                  <a:srgbClr val="222222"/>
                </a:solidFill>
                <a:latin typeface="Arial"/>
              </a:rPr>
              <a:t>Cap width 2.0 → 2.9 µm (0.25 µm from the electrodes at most)</a:t>
            </a:r>
          </a:p>
          <a:p>
            <a:pPr algn="l">
              <a:spcAft>
                <a:spcPts val="1200"/>
              </a:spcAft>
            </a:pPr>
            <a:r>
              <a:rPr sz="1300" b="0" i="0">
                <a:solidFill>
                  <a:srgbClr val="222222"/>
                </a:solidFill>
                <a:latin typeface="Arial"/>
              </a:rPr>
              <a:t>100 nm steps, two rib widths: 200 runs, no failures</a:t>
            </a:r>
          </a:p>
          <a:p>
            <a:pPr algn="l">
              <a:spcAft>
                <a:spcPts val="800"/>
              </a:spcAft>
            </a:pPr>
            <a:r>
              <a:rPr sz="1600" b="1" i="0">
                <a:solidFill>
                  <a:srgbClr val="1F4E79"/>
                </a:solidFill>
                <a:latin typeface="Arial"/>
              </a:rPr>
              <a:t>Reference cap 2.0 × 1.4 µm</a:t>
            </a:r>
          </a:p>
          <a:p>
            <a:pPr algn="l">
              <a:spcAft>
                <a:spcPts val="600"/>
              </a:spcAft>
            </a:pPr>
            <a:r>
              <a:rPr sz="1300" b="0" i="0">
                <a:solidFill>
                  <a:srgbClr val="222222"/>
                </a:solidFill>
                <a:latin typeface="Arial"/>
              </a:rPr>
              <a:t>Rib 1.0 µm: Vπ·L 2.271 V·cm, IL 0.0260 dB/cm</a:t>
            </a:r>
          </a:p>
          <a:p>
            <a:pPr algn="l">
              <a:spcAft>
                <a:spcPts val="600"/>
              </a:spcAft>
            </a:pPr>
            <a:r>
              <a:rPr sz="1300" b="0" i="0">
                <a:solidFill>
                  <a:srgbClr val="222222"/>
                </a:solidFill>
                <a:latin typeface="Arial"/>
              </a:rPr>
              <a:t>Rib 1.4 µm: Vπ·L 2.173 V·cm, IL 0.0279 dB/cm</a:t>
            </a:r>
          </a:p>
          <a:p>
            <a:pPr algn="l">
              <a:spcAft>
                <a:spcPts val="600"/>
              </a:spcAft>
            </a:pPr>
            <a:r>
              <a:rPr sz="1300" b="0" i="0">
                <a:solidFill>
                  <a:srgbClr val="595959"/>
                </a:solidFill>
                <a:latin typeface="Arial"/>
              </a:rPr>
              <a:t>At gap 3.4 µm the 1.4 µm rib recovers the unbuffered Vπ·L (2.175 V·cm)</a:t>
            </a:r>
          </a:p>
        </p:txBody>
      </p:sp>
      <p:sp>
        <p:nvSpPr>
          <p:cNvPr id="5" name="Rounded Rectangle 4"/>
          <p:cNvSpPr/>
          <p:nvPr/>
        </p:nvSpPr>
        <p:spPr>
          <a:xfrm>
            <a:off x="6035040" y="1737360"/>
            <a:ext cx="2651760" cy="118872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0" y="1847088"/>
            <a:ext cx="2651760" cy="653796"/>
          </a:xfrm>
          <a:prstGeom prst="rect">
            <a:avLst/>
          </a:prstGeom>
          <a:noFill/>
        </p:spPr>
        <p:txBody>
          <a:bodyPr wrap="square" lIns="45720" rIns="45720" tIns="27432" bIns="27432" anchor="ctr">
            <a:spAutoFit/>
          </a:bodyPr>
          <a:lstStyle/>
          <a:p>
            <a:pPr algn="ctr">
              <a:spcAft>
                <a:spcPts val="600"/>
              </a:spcAft>
            </a:pPr>
            <a:r>
              <a:rPr sz="3000" b="1" i="0">
                <a:solidFill>
                  <a:srgbClr val="1F4E79"/>
                </a:solidFill>
                <a:latin typeface="Arial"/>
              </a:rPr>
              <a:t>−5 %</a:t>
            </a:r>
          </a:p>
        </p:txBody>
      </p:sp>
      <p:sp>
        <p:nvSpPr>
          <p:cNvPr id="7" name="TextBox 6"/>
          <p:cNvSpPr txBox="1"/>
          <p:nvPr/>
        </p:nvSpPr>
        <p:spPr>
          <a:xfrm>
            <a:off x="6126479" y="2450591"/>
            <a:ext cx="2468879" cy="451713"/>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Vπ·L, cap width 2.0 → 2.9 µm</a:t>
            </a:r>
          </a:p>
        </p:txBody>
      </p:sp>
      <p:sp>
        <p:nvSpPr>
          <p:cNvPr id="8" name="Rounded Rectangle 7"/>
          <p:cNvSpPr/>
          <p:nvPr/>
        </p:nvSpPr>
        <p:spPr>
          <a:xfrm>
            <a:off x="8961120" y="1737360"/>
            <a:ext cx="2651760" cy="118872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0" y="1847088"/>
            <a:ext cx="2651760" cy="653796"/>
          </a:xfrm>
          <a:prstGeom prst="rect">
            <a:avLst/>
          </a:prstGeom>
          <a:noFill/>
        </p:spPr>
        <p:txBody>
          <a:bodyPr wrap="square" lIns="45720" rIns="45720" tIns="27432" bIns="27432" anchor="ctr">
            <a:spAutoFit/>
          </a:bodyPr>
          <a:lstStyle/>
          <a:p>
            <a:pPr algn="ctr">
              <a:spcAft>
                <a:spcPts val="600"/>
              </a:spcAft>
            </a:pPr>
            <a:r>
              <a:rPr sz="3000" b="1" i="0">
                <a:solidFill>
                  <a:srgbClr val="EB6834"/>
                </a:solidFill>
                <a:latin typeface="Arial"/>
              </a:rPr>
              <a:t>+22 %</a:t>
            </a:r>
          </a:p>
        </p:txBody>
      </p:sp>
      <p:sp>
        <p:nvSpPr>
          <p:cNvPr id="10" name="TextBox 9"/>
          <p:cNvSpPr txBox="1"/>
          <p:nvPr/>
        </p:nvSpPr>
        <p:spPr>
          <a:xfrm>
            <a:off x="9052560" y="2450591"/>
            <a:ext cx="2468879" cy="451713"/>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IL, cap width 2.0 → 2.9 µm</a:t>
            </a:r>
          </a:p>
        </p:txBody>
      </p:sp>
      <p:sp>
        <p:nvSpPr>
          <p:cNvPr id="11" name="Rounded Rectangle 10"/>
          <p:cNvSpPr/>
          <p:nvPr/>
        </p:nvSpPr>
        <p:spPr>
          <a:xfrm>
            <a:off x="6035040" y="3200400"/>
            <a:ext cx="2651760" cy="118872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3310128"/>
            <a:ext cx="2651760" cy="653796"/>
          </a:xfrm>
          <a:prstGeom prst="rect">
            <a:avLst/>
          </a:prstGeom>
          <a:noFill/>
        </p:spPr>
        <p:txBody>
          <a:bodyPr wrap="square" lIns="45720" rIns="45720" tIns="27432" bIns="27432" anchor="ctr">
            <a:spAutoFit/>
          </a:bodyPr>
          <a:lstStyle/>
          <a:p>
            <a:pPr algn="ctr">
              <a:spcAft>
                <a:spcPts val="600"/>
              </a:spcAft>
            </a:pPr>
            <a:r>
              <a:rPr sz="3000" b="1" i="0">
                <a:solidFill>
                  <a:srgbClr val="1F4E79"/>
                </a:solidFill>
                <a:latin typeface="Arial"/>
              </a:rPr>
              <a:t>−1 to −2.5 %</a:t>
            </a:r>
          </a:p>
        </p:txBody>
      </p:sp>
      <p:sp>
        <p:nvSpPr>
          <p:cNvPr id="13" name="TextBox 12"/>
          <p:cNvSpPr txBox="1"/>
          <p:nvPr/>
        </p:nvSpPr>
        <p:spPr>
          <a:xfrm>
            <a:off x="6126479" y="3913632"/>
            <a:ext cx="2468879" cy="451713"/>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Vπ·L, cap height 1.4 → 0.5 µm</a:t>
            </a:r>
          </a:p>
        </p:txBody>
      </p:sp>
      <p:sp>
        <p:nvSpPr>
          <p:cNvPr id="14" name="Rounded Rectangle 13"/>
          <p:cNvSpPr/>
          <p:nvPr/>
        </p:nvSpPr>
        <p:spPr>
          <a:xfrm>
            <a:off x="8961120" y="3200400"/>
            <a:ext cx="2651760" cy="1188720"/>
          </a:xfrm>
          <a:prstGeom prst="roundRect">
            <a:avLst>
              <a:gd name="adj" fmla="val 8000"/>
            </a:avLst>
          </a:prstGeom>
          <a:solidFill>
            <a:srgbClr val="EA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0" y="3310128"/>
            <a:ext cx="2651760" cy="653796"/>
          </a:xfrm>
          <a:prstGeom prst="rect">
            <a:avLst/>
          </a:prstGeom>
          <a:noFill/>
        </p:spPr>
        <p:txBody>
          <a:bodyPr wrap="square" lIns="45720" rIns="45720" tIns="27432" bIns="27432" anchor="ctr">
            <a:spAutoFit/>
          </a:bodyPr>
          <a:lstStyle/>
          <a:p>
            <a:pPr algn="ctr">
              <a:spcAft>
                <a:spcPts val="600"/>
              </a:spcAft>
            </a:pPr>
            <a:r>
              <a:rPr sz="3000" b="1" i="0">
                <a:solidFill>
                  <a:srgbClr val="EB6834"/>
                </a:solidFill>
                <a:latin typeface="Arial"/>
              </a:rPr>
              <a:t>&lt; 0.4 %</a:t>
            </a:r>
          </a:p>
        </p:txBody>
      </p:sp>
      <p:sp>
        <p:nvSpPr>
          <p:cNvPr id="16" name="TextBox 15"/>
          <p:cNvSpPr txBox="1"/>
          <p:nvPr/>
        </p:nvSpPr>
        <p:spPr>
          <a:xfrm>
            <a:off x="9052560" y="3913632"/>
            <a:ext cx="2468879" cy="451713"/>
          </a:xfrm>
          <a:prstGeom prst="rect">
            <a:avLst/>
          </a:prstGeom>
          <a:noFill/>
        </p:spPr>
        <p:txBody>
          <a:bodyPr wrap="square" lIns="45720" rIns="45720" tIns="27432" bIns="27432" anchor="t">
            <a:spAutoFit/>
          </a:bodyPr>
          <a:lstStyle/>
          <a:p>
            <a:pPr algn="ctr">
              <a:spcAft>
                <a:spcPts val="0"/>
              </a:spcAft>
            </a:pPr>
            <a:r>
              <a:rPr sz="1100" b="0" i="0">
                <a:solidFill>
                  <a:srgbClr val="595959"/>
                </a:solidFill>
                <a:latin typeface="Arial"/>
              </a:rPr>
              <a:t>IL change with cap height</a:t>
            </a:r>
          </a:p>
        </p:txBody>
      </p:sp>
      <p:sp>
        <p:nvSpPr>
          <p:cNvPr id="17" name="TextBox 16"/>
          <p:cNvSpPr txBox="1"/>
          <p:nvPr/>
        </p:nvSpPr>
        <p:spPr>
          <a:xfrm>
            <a:off x="6035040" y="4663440"/>
            <a:ext cx="5577840" cy="1188720"/>
          </a:xfrm>
          <a:prstGeom prst="rect">
            <a:avLst/>
          </a:prstGeom>
          <a:noFill/>
        </p:spPr>
        <p:txBody>
          <a:bodyPr wrap="square" lIns="45720" rIns="45720" tIns="27432" bIns="27432" anchor="t">
            <a:spAutoFit/>
          </a:bodyPr>
          <a:lstStyle/>
          <a:p>
            <a:pPr algn="l">
              <a:spcAft>
                <a:spcPts val="600"/>
              </a:spcAft>
            </a:pPr>
            <a:r>
              <a:rPr sz="1400" b="1" i="0">
                <a:solidFill>
                  <a:srgbClr val="1F4E79"/>
                </a:solidFill>
                <a:latin typeface="Arial"/>
              </a:rPr>
              <a:t>Cap width sets both Vπ·L and IL; cap height only lowers Vπ·L, at no loss cost.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Cap sweep: Vπ·L and IL maps</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One colour scale per quantity: rib 1.0 µm (top) and 1.4 µm (bottom) directly comparable</a:t>
            </a:r>
          </a:p>
        </p:txBody>
      </p:sp>
      <p:pic>
        <p:nvPicPr>
          <p:cNvPr id="4" name="Picture 3" descr="cap_sweep_maps_shared_scale.png"/>
          <p:cNvPicPr>
            <a:picLocks noChangeAspect="1"/>
          </p:cNvPicPr>
          <p:nvPr/>
        </p:nvPicPr>
        <p:blipFill>
          <a:blip r:embed="rId2"/>
          <a:stretch>
            <a:fillRect/>
          </a:stretch>
        </p:blipFill>
        <p:spPr>
          <a:xfrm>
            <a:off x="2377440" y="1463040"/>
            <a:ext cx="6835140" cy="52578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75488"/>
            <a:ext cx="10241280" cy="685800"/>
          </a:xfrm>
          <a:prstGeom prst="rect">
            <a:avLst/>
          </a:prstGeom>
          <a:noFill/>
        </p:spPr>
        <p:txBody>
          <a:bodyPr wrap="square" lIns="45720" rIns="45720" tIns="27432" bIns="27432" anchor="ctr">
            <a:spAutoFit/>
          </a:bodyPr>
          <a:lstStyle/>
          <a:p>
            <a:pPr algn="l">
              <a:spcAft>
                <a:spcPts val="600"/>
              </a:spcAft>
            </a:pPr>
            <a:r>
              <a:rPr sz="3000" b="0" i="0">
                <a:solidFill>
                  <a:srgbClr val="222222"/>
                </a:solidFill>
                <a:latin typeface="Arial"/>
              </a:rPr>
              <a:t>Cap width: trading loss for Vπ·L</a:t>
            </a:r>
          </a:p>
        </p:txBody>
      </p:sp>
      <p:sp>
        <p:nvSpPr>
          <p:cNvPr id="3" name="TextBox 2"/>
          <p:cNvSpPr txBox="1"/>
          <p:nvPr/>
        </p:nvSpPr>
        <p:spPr>
          <a:xfrm>
            <a:off x="502920" y="1115568"/>
            <a:ext cx="10789920" cy="411480"/>
          </a:xfrm>
          <a:prstGeom prst="rect">
            <a:avLst/>
          </a:prstGeom>
          <a:noFill/>
        </p:spPr>
        <p:txBody>
          <a:bodyPr wrap="square" lIns="45720" rIns="45720" tIns="27432" bIns="27432" anchor="t">
            <a:spAutoFit/>
          </a:bodyPr>
          <a:lstStyle/>
          <a:p>
            <a:pPr algn="l">
              <a:spcAft>
                <a:spcPts val="600"/>
              </a:spcAft>
            </a:pPr>
            <a:r>
              <a:rPr sz="1500" b="0" i="1">
                <a:solidFill>
                  <a:srgbClr val="595959"/>
                </a:solidFill>
                <a:latin typeface="Arial"/>
              </a:rPr>
              <a:t>Both rib widths on one scale; colour = cap height, solid = rib 1.0 µm, dashed = rib 1.4 µm</a:t>
            </a:r>
          </a:p>
        </p:txBody>
      </p:sp>
      <p:pic>
        <p:nvPicPr>
          <p:cNvPr id="4" name="Picture 3" descr="cap_sweep_merged_lines.png"/>
          <p:cNvPicPr>
            <a:picLocks noChangeAspect="1"/>
          </p:cNvPicPr>
          <p:nvPr/>
        </p:nvPicPr>
        <p:blipFill>
          <a:blip r:embed="rId2"/>
          <a:stretch>
            <a:fillRect/>
          </a:stretch>
        </p:blipFill>
        <p:spPr>
          <a:xfrm>
            <a:off x="822960" y="1508760"/>
            <a:ext cx="10075333" cy="3886200"/>
          </a:xfrm>
          <a:prstGeom prst="rect">
            <a:avLst/>
          </a:prstGeom>
        </p:spPr>
      </p:pic>
      <p:sp>
        <p:nvSpPr>
          <p:cNvPr id="5" name="TextBox 4"/>
          <p:cNvSpPr txBox="1"/>
          <p:nvPr/>
        </p:nvSpPr>
        <p:spPr>
          <a:xfrm>
            <a:off x="548640" y="5440680"/>
            <a:ext cx="11155680" cy="914400"/>
          </a:xfrm>
          <a:prstGeom prst="rect">
            <a:avLst/>
          </a:prstGeom>
          <a:noFill/>
        </p:spPr>
        <p:txBody>
          <a:bodyPr wrap="square" lIns="45720" rIns="45720" tIns="27432" bIns="27432" anchor="t">
            <a:spAutoFit/>
          </a:bodyPr>
          <a:lstStyle/>
          <a:p>
            <a:pPr algn="l">
              <a:spcAft>
                <a:spcPts val="600"/>
              </a:spcAft>
            </a:pPr>
            <a:r>
              <a:rPr sz="1300" b="1" i="0">
                <a:solidFill>
                  <a:srgbClr val="1F4E79"/>
                </a:solidFill>
                <a:latin typeface="Arial"/>
              </a:rPr>
              <a:t>≈ 1 % of Vπ·L costs ≈ 4 % of IL; even the widest cap stays below 0.035 dB/cm, &gt; 10× below unbuffered Cordoba. The 1.4 µm rib: ≈ 0.1 V·cm lower Vπ·L, ≈ 7–9 % higher IL, independent of the cap.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996</TotalTime>
  <Words>5912</Words>
  <Application>Microsoft Office PowerPoint</Application>
  <PresentationFormat>Widescreen</PresentationFormat>
  <Paragraphs>391</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Andrei.Muresian</dc:creator>
  <cp:lastModifiedBy>Andrei.Muresian</cp:lastModifiedBy>
  <cp:revision>45</cp:revision>
  <dcterms:created xsi:type="dcterms:W3CDTF">2025-12-01T09:32:09Z</dcterms:created>
  <dcterms:modified xsi:type="dcterms:W3CDTF">2026-10-07T13:00:58Z</dcterms:modified>
</cp:coreProperties>
</file>