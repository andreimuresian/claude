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130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buffer, 1360 nm</c:v>
                </c:pt>
              </c:strCache>
            </c:strRef>
          </c:tx>
          <c:spPr>
            <a:ln w="22225">
              <a:solidFill>
                <a:srgbClr val="C0392B"/>
              </a:solidFill>
            </a:ln>
          </c:spPr>
          <c:marker>
            <c:symbol val="circle"/>
            <c:size val="4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xVal>
            <c:numRef>
              <c:f>Sheet1!$A$2:$A$47</c:f>
              <c:numCache>
                <c:formatCode>General</c:formatCode>
                <c:ptCount val="46"/>
                <c:pt idx="0">
                  <c:v>6.5</c:v>
                </c:pt>
                <c:pt idx="1">
                  <c:v>6.6</c:v>
                </c:pt>
                <c:pt idx="2">
                  <c:v>6.7</c:v>
                </c:pt>
                <c:pt idx="3">
                  <c:v>6.8</c:v>
                </c:pt>
                <c:pt idx="4">
                  <c:v>6.9</c:v>
                </c:pt>
                <c:pt idx="5">
                  <c:v>7.0</c:v>
                </c:pt>
                <c:pt idx="6">
                  <c:v>7.1</c:v>
                </c:pt>
                <c:pt idx="7">
                  <c:v>7.2</c:v>
                </c:pt>
                <c:pt idx="8">
                  <c:v>7.3</c:v>
                </c:pt>
                <c:pt idx="9">
                  <c:v>7.4</c:v>
                </c:pt>
                <c:pt idx="10">
                  <c:v>7.5</c:v>
                </c:pt>
                <c:pt idx="11">
                  <c:v>7.6</c:v>
                </c:pt>
                <c:pt idx="12">
                  <c:v>7.7</c:v>
                </c:pt>
                <c:pt idx="13">
                  <c:v>7.8</c:v>
                </c:pt>
                <c:pt idx="14">
                  <c:v>7.9</c:v>
                </c:pt>
                <c:pt idx="15">
                  <c:v>8.0</c:v>
                </c:pt>
                <c:pt idx="16">
                  <c:v>8.1</c:v>
                </c:pt>
                <c:pt idx="17">
                  <c:v>8.2</c:v>
                </c:pt>
                <c:pt idx="18">
                  <c:v>8.3</c:v>
                </c:pt>
                <c:pt idx="19">
                  <c:v>8.4</c:v>
                </c:pt>
                <c:pt idx="20">
                  <c:v>8.5</c:v>
                </c:pt>
                <c:pt idx="21">
                  <c:v>8.6</c:v>
                </c:pt>
                <c:pt idx="22">
                  <c:v>8.7</c:v>
                </c:pt>
                <c:pt idx="23">
                  <c:v>8.8</c:v>
                </c:pt>
                <c:pt idx="24">
                  <c:v>8.9</c:v>
                </c:pt>
                <c:pt idx="25">
                  <c:v>9.0</c:v>
                </c:pt>
                <c:pt idx="26">
                  <c:v>9.1</c:v>
                </c:pt>
                <c:pt idx="27">
                  <c:v>9.2</c:v>
                </c:pt>
                <c:pt idx="28">
                  <c:v>9.3</c:v>
                </c:pt>
                <c:pt idx="29">
                  <c:v>9.4</c:v>
                </c:pt>
                <c:pt idx="30">
                  <c:v>9.5</c:v>
                </c:pt>
                <c:pt idx="31">
                  <c:v>9.6</c:v>
                </c:pt>
                <c:pt idx="32">
                  <c:v>9.7</c:v>
                </c:pt>
                <c:pt idx="33">
                  <c:v>9.8</c:v>
                </c:pt>
                <c:pt idx="34">
                  <c:v>9.9</c:v>
                </c:pt>
                <c:pt idx="35">
                  <c:v>10.0</c:v>
                </c:pt>
                <c:pt idx="36">
                  <c:v>10.1</c:v>
                </c:pt>
                <c:pt idx="37">
                  <c:v>10.2</c:v>
                </c:pt>
                <c:pt idx="38">
                  <c:v>10.3</c:v>
                </c:pt>
                <c:pt idx="39">
                  <c:v>10.4</c:v>
                </c:pt>
                <c:pt idx="40">
                  <c:v>10.5</c:v>
                </c:pt>
                <c:pt idx="41">
                  <c:v>10.6</c:v>
                </c:pt>
                <c:pt idx="42">
                  <c:v>10.7</c:v>
                </c:pt>
                <c:pt idx="43">
                  <c:v>10.8</c:v>
                </c:pt>
                <c:pt idx="44">
                  <c:v>10.9</c:v>
                </c:pt>
                <c:pt idx="45">
                  <c:v>11.0</c:v>
                </c:pt>
              </c:numCache>
            </c:numRef>
          </c:xVal>
          <c:yVal>
            <c:numRef>
              <c:f>Sheet1!$B$2:$B$47</c:f>
              <c:numCache>
                <c:formatCode>General</c:formatCode>
                <c:ptCount val="46"/>
                <c:pt idx="0">
                  <c:v>0.1278</c:v>
                </c:pt>
                <c:pt idx="1">
                  <c:v>0.2642</c:v>
                </c:pt>
                <c:pt idx="2">
                  <c:v>0.2559</c:v>
                </c:pt>
                <c:pt idx="3">
                  <c:v>0.1299</c:v>
                </c:pt>
                <c:pt idx="4">
                  <c:v>0.0835</c:v>
                </c:pt>
                <c:pt idx="5">
                  <c:v>0.0747</c:v>
                </c:pt>
                <c:pt idx="6">
                  <c:v>0.093</c:v>
                </c:pt>
                <c:pt idx="7">
                  <c:v>0.1573</c:v>
                </c:pt>
                <c:pt idx="8">
                  <c:v>0.2694</c:v>
                </c:pt>
                <c:pt idx="9">
                  <c:v>0.2108</c:v>
                </c:pt>
                <c:pt idx="10">
                  <c:v>0.1204</c:v>
                </c:pt>
                <c:pt idx="11">
                  <c:v>0.0865</c:v>
                </c:pt>
                <c:pt idx="12">
                  <c:v>0.084</c:v>
                </c:pt>
                <c:pt idx="13">
                  <c:v>0.1099</c:v>
                </c:pt>
                <c:pt idx="14">
                  <c:v>0.1827</c:v>
                </c:pt>
                <c:pt idx="15">
                  <c:v>0.2523</c:v>
                </c:pt>
                <c:pt idx="16">
                  <c:v>0.1805</c:v>
                </c:pt>
                <c:pt idx="17">
                  <c:v>0.115</c:v>
                </c:pt>
                <c:pt idx="18">
                  <c:v>0.0908</c:v>
                </c:pt>
                <c:pt idx="19">
                  <c:v>0.0948</c:v>
                </c:pt>
                <c:pt idx="20">
                  <c:v>0.1278</c:v>
                </c:pt>
                <c:pt idx="21">
                  <c:v>0.2</c:v>
                </c:pt>
                <c:pt idx="22">
                  <c:v>0.2281</c:v>
                </c:pt>
                <c:pt idx="23">
                  <c:v>0.1598</c:v>
                </c:pt>
                <c:pt idx="24">
                  <c:v>0.1112</c:v>
                </c:pt>
                <c:pt idx="25">
                  <c:v>0.0959</c:v>
                </c:pt>
                <c:pt idx="26">
                  <c:v>0.1059</c:v>
                </c:pt>
                <c:pt idx="27">
                  <c:v>0.1468</c:v>
                </c:pt>
                <c:pt idx="28">
                  <c:v>0.2072</c:v>
                </c:pt>
                <c:pt idx="29">
                  <c:v>0.2032</c:v>
                </c:pt>
                <c:pt idx="30">
                  <c:v>0.1478</c:v>
                </c:pt>
                <c:pt idx="31">
                  <c:v>0.1108</c:v>
                </c:pt>
                <c:pt idx="32">
                  <c:v>0.1022</c:v>
                </c:pt>
                <c:pt idx="33">
                  <c:v>0.1168</c:v>
                </c:pt>
                <c:pt idx="34">
                  <c:v>0.1625</c:v>
                </c:pt>
                <c:pt idx="35">
                  <c:v>0.2063</c:v>
                </c:pt>
                <c:pt idx="36">
                  <c:v>0.1851</c:v>
                </c:pt>
                <c:pt idx="37">
                  <c:v>0.1372</c:v>
                </c:pt>
                <c:pt idx="38">
                  <c:v>0.111</c:v>
                </c:pt>
                <c:pt idx="39">
                  <c:v>0.1083</c:v>
                </c:pt>
                <c:pt idx="40">
                  <c:v>0.1297</c:v>
                </c:pt>
                <c:pt idx="41">
                  <c:v>0.1723</c:v>
                </c:pt>
                <c:pt idx="42">
                  <c:v>0.198</c:v>
                </c:pt>
                <c:pt idx="43">
                  <c:v>0.1654</c:v>
                </c:pt>
                <c:pt idx="44">
                  <c:v>0.1309</c:v>
                </c:pt>
                <c:pt idx="45">
                  <c:v>0.1131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Sheet1!$B$49</c:f>
              <c:strCache>
                <c:ptCount val="1"/>
                <c:pt idx="0">
                  <c:v>No buffer, 1310 nm</c:v>
                </c:pt>
              </c:strCache>
            </c:strRef>
          </c:tx>
          <c:spPr>
            <a:ln w="22225">
              <a:solidFill>
                <a:srgbClr val="F0A08F"/>
              </a:solidFill>
            </a:ln>
          </c:spPr>
          <c:marker>
            <c:symbol val="circle"/>
            <c:size val="4"/>
            <c:spPr>
              <a:solidFill>
                <a:srgbClr val="F0A08F"/>
              </a:solidFill>
              <a:ln>
                <a:solidFill>
                  <a:srgbClr val="F0A08F"/>
                </a:solidFill>
              </a:ln>
            </c:spPr>
          </c:marker>
          <c:xVal>
            <c:numRef>
              <c:f>Sheet1!$A$50:$A$95</c:f>
              <c:numCache>
                <c:formatCode>General</c:formatCode>
                <c:ptCount val="46"/>
                <c:pt idx="0">
                  <c:v>6.5</c:v>
                </c:pt>
                <c:pt idx="1">
                  <c:v>6.6</c:v>
                </c:pt>
                <c:pt idx="2">
                  <c:v>6.7</c:v>
                </c:pt>
                <c:pt idx="3">
                  <c:v>6.8</c:v>
                </c:pt>
                <c:pt idx="4">
                  <c:v>6.9</c:v>
                </c:pt>
                <c:pt idx="5">
                  <c:v>7.0</c:v>
                </c:pt>
                <c:pt idx="6">
                  <c:v>7.1</c:v>
                </c:pt>
                <c:pt idx="7">
                  <c:v>7.2</c:v>
                </c:pt>
                <c:pt idx="8">
                  <c:v>7.3</c:v>
                </c:pt>
                <c:pt idx="9">
                  <c:v>7.4</c:v>
                </c:pt>
                <c:pt idx="10">
                  <c:v>7.5</c:v>
                </c:pt>
                <c:pt idx="11">
                  <c:v>7.6</c:v>
                </c:pt>
                <c:pt idx="12">
                  <c:v>7.7</c:v>
                </c:pt>
                <c:pt idx="13">
                  <c:v>7.8</c:v>
                </c:pt>
                <c:pt idx="14">
                  <c:v>7.9</c:v>
                </c:pt>
                <c:pt idx="15">
                  <c:v>8.0</c:v>
                </c:pt>
                <c:pt idx="16">
                  <c:v>8.1</c:v>
                </c:pt>
                <c:pt idx="17">
                  <c:v>8.2</c:v>
                </c:pt>
                <c:pt idx="18">
                  <c:v>8.3</c:v>
                </c:pt>
                <c:pt idx="19">
                  <c:v>8.4</c:v>
                </c:pt>
                <c:pt idx="20">
                  <c:v>8.5</c:v>
                </c:pt>
                <c:pt idx="21">
                  <c:v>8.6</c:v>
                </c:pt>
                <c:pt idx="22">
                  <c:v>8.7</c:v>
                </c:pt>
                <c:pt idx="23">
                  <c:v>8.8</c:v>
                </c:pt>
                <c:pt idx="24">
                  <c:v>8.9</c:v>
                </c:pt>
                <c:pt idx="25">
                  <c:v>9.0</c:v>
                </c:pt>
                <c:pt idx="26">
                  <c:v>9.1</c:v>
                </c:pt>
                <c:pt idx="27">
                  <c:v>9.2</c:v>
                </c:pt>
                <c:pt idx="28">
                  <c:v>9.3</c:v>
                </c:pt>
                <c:pt idx="29">
                  <c:v>9.4</c:v>
                </c:pt>
                <c:pt idx="30">
                  <c:v>9.5</c:v>
                </c:pt>
                <c:pt idx="31">
                  <c:v>9.6</c:v>
                </c:pt>
                <c:pt idx="32">
                  <c:v>9.7</c:v>
                </c:pt>
                <c:pt idx="33">
                  <c:v>9.8</c:v>
                </c:pt>
                <c:pt idx="34">
                  <c:v>9.9</c:v>
                </c:pt>
                <c:pt idx="35">
                  <c:v>10.0</c:v>
                </c:pt>
                <c:pt idx="36">
                  <c:v>10.1</c:v>
                </c:pt>
                <c:pt idx="37">
                  <c:v>10.2</c:v>
                </c:pt>
                <c:pt idx="38">
                  <c:v>10.3</c:v>
                </c:pt>
                <c:pt idx="39">
                  <c:v>10.4</c:v>
                </c:pt>
                <c:pt idx="40">
                  <c:v>10.5</c:v>
                </c:pt>
                <c:pt idx="41">
                  <c:v>10.6</c:v>
                </c:pt>
                <c:pt idx="42">
                  <c:v>10.7</c:v>
                </c:pt>
                <c:pt idx="43">
                  <c:v>10.8</c:v>
                </c:pt>
                <c:pt idx="44">
                  <c:v>10.9</c:v>
                </c:pt>
                <c:pt idx="45">
                  <c:v>11.0</c:v>
                </c:pt>
              </c:numCache>
            </c:numRef>
          </c:xVal>
          <c:yVal>
            <c:numRef>
              <c:f>Sheet1!$B$50:$B$95</c:f>
              <c:numCache>
                <c:formatCode>General</c:formatCode>
                <c:ptCount val="46"/>
                <c:pt idx="0">
                  <c:v>0.0838</c:v>
                </c:pt>
                <c:pt idx="1">
                  <c:v>0.0497</c:v>
                </c:pt>
                <c:pt idx="2">
                  <c:v>0.0425</c:v>
                </c:pt>
                <c:pt idx="3">
                  <c:v>0.053</c:v>
                </c:pt>
                <c:pt idx="4">
                  <c:v>0.0942</c:v>
                </c:pt>
                <c:pt idx="5">
                  <c:v>0.1576</c:v>
                </c:pt>
                <c:pt idx="6">
                  <c:v>0.1072</c:v>
                </c:pt>
                <c:pt idx="7">
                  <c:v>0.0615</c:v>
                </c:pt>
                <c:pt idx="8">
                  <c:v>0.0474</c:v>
                </c:pt>
                <c:pt idx="9">
                  <c:v>0.0515</c:v>
                </c:pt>
                <c:pt idx="10">
                  <c:v>0.0779</c:v>
                </c:pt>
                <c:pt idx="11">
                  <c:v>0.1336</c:v>
                </c:pt>
                <c:pt idx="12">
                  <c:v>0.1264</c:v>
                </c:pt>
                <c:pt idx="13">
                  <c:v>0.0758</c:v>
                </c:pt>
                <c:pt idx="14">
                  <c:v>0.054</c:v>
                </c:pt>
                <c:pt idx="15">
                  <c:v>0.0521</c:v>
                </c:pt>
                <c:pt idx="16">
                  <c:v>0.0688</c:v>
                </c:pt>
                <c:pt idx="17">
                  <c:v>0.11</c:v>
                </c:pt>
                <c:pt idx="18">
                  <c:v>0.1318</c:v>
                </c:pt>
                <c:pt idx="19">
                  <c:v>0.0902</c:v>
                </c:pt>
                <c:pt idx="20">
                  <c:v>0.0623</c:v>
                </c:pt>
                <c:pt idx="21">
                  <c:v>0.0547</c:v>
                </c:pt>
                <c:pt idx="22">
                  <c:v>0.0637</c:v>
                </c:pt>
                <c:pt idx="23">
                  <c:v>0.0932</c:v>
                </c:pt>
                <c:pt idx="24">
                  <c:v>0.1252</c:v>
                </c:pt>
                <c:pt idx="25">
                  <c:v>0.1031</c:v>
                </c:pt>
                <c:pt idx="26">
                  <c:v>0.0714</c:v>
                </c:pt>
                <c:pt idx="27">
                  <c:v>0.0585</c:v>
                </c:pt>
                <c:pt idx="28">
                  <c:v>0.0618</c:v>
                </c:pt>
                <c:pt idx="29">
                  <c:v>0.0823</c:v>
                </c:pt>
                <c:pt idx="30">
                  <c:v>0.1129</c:v>
                </c:pt>
                <c:pt idx="31">
                  <c:v>0.1119</c:v>
                </c:pt>
                <c:pt idx="32">
                  <c:v>0.0804</c:v>
                </c:pt>
                <c:pt idx="33">
                  <c:v>0.0643</c:v>
                </c:pt>
                <c:pt idx="34">
                  <c:v>0.0621</c:v>
                </c:pt>
                <c:pt idx="35">
                  <c:v>0.075</c:v>
                </c:pt>
                <c:pt idx="36">
                  <c:v>0.1008</c:v>
                </c:pt>
                <c:pt idx="37">
                  <c:v>0.1126</c:v>
                </c:pt>
                <c:pt idx="38">
                  <c:v>0.091</c:v>
                </c:pt>
                <c:pt idx="39">
                  <c:v>0.071</c:v>
                </c:pt>
                <c:pt idx="40">
                  <c:v>0.0635</c:v>
                </c:pt>
                <c:pt idx="41">
                  <c:v>0.0708</c:v>
                </c:pt>
                <c:pt idx="42">
                  <c:v>0.0905</c:v>
                </c:pt>
                <c:pt idx="43">
                  <c:v>0.1091</c:v>
                </c:pt>
                <c:pt idx="44">
                  <c:v>0.098</c:v>
                </c:pt>
                <c:pt idx="45">
                  <c:v>0.0769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Sheet1!$B$97</c:f>
              <c:strCache>
                <c:ptCount val="1"/>
                <c:pt idx="0">
                  <c:v>Buffer, 1360 nm</c:v>
                </c:pt>
              </c:strCache>
            </c:strRef>
          </c:tx>
          <c:spPr>
            <a:ln w="25400">
              <a:solidFill>
                <a:srgbClr val="1B9E77"/>
              </a:solidFill>
            </a:ln>
          </c:spPr>
          <c:marker>
            <c:symbol val="circle"/>
            <c:size val="4"/>
            <c:spPr>
              <a:solidFill>
                <a:srgbClr val="1B9E77"/>
              </a:solidFill>
              <a:ln>
                <a:solidFill>
                  <a:srgbClr val="1B9E77"/>
                </a:solidFill>
              </a:ln>
            </c:spPr>
          </c:marker>
          <c:xVal>
            <c:numRef>
              <c:f>Sheet1!$A$98:$A$143</c:f>
              <c:numCache>
                <c:formatCode>General</c:formatCode>
                <c:ptCount val="46"/>
                <c:pt idx="0">
                  <c:v>6.5</c:v>
                </c:pt>
                <c:pt idx="1">
                  <c:v>6.6</c:v>
                </c:pt>
                <c:pt idx="2">
                  <c:v>6.7</c:v>
                </c:pt>
                <c:pt idx="3">
                  <c:v>6.8</c:v>
                </c:pt>
                <c:pt idx="4">
                  <c:v>6.9</c:v>
                </c:pt>
                <c:pt idx="5">
                  <c:v>7.0</c:v>
                </c:pt>
                <c:pt idx="6">
                  <c:v>7.1</c:v>
                </c:pt>
                <c:pt idx="7">
                  <c:v>7.2</c:v>
                </c:pt>
                <c:pt idx="8">
                  <c:v>7.3</c:v>
                </c:pt>
                <c:pt idx="9">
                  <c:v>7.4</c:v>
                </c:pt>
                <c:pt idx="10">
                  <c:v>7.5</c:v>
                </c:pt>
                <c:pt idx="11">
                  <c:v>7.6</c:v>
                </c:pt>
                <c:pt idx="12">
                  <c:v>7.7</c:v>
                </c:pt>
                <c:pt idx="13">
                  <c:v>7.8</c:v>
                </c:pt>
                <c:pt idx="14">
                  <c:v>7.9</c:v>
                </c:pt>
                <c:pt idx="15">
                  <c:v>8.0</c:v>
                </c:pt>
                <c:pt idx="16">
                  <c:v>8.1</c:v>
                </c:pt>
                <c:pt idx="17">
                  <c:v>8.2</c:v>
                </c:pt>
                <c:pt idx="18">
                  <c:v>8.3</c:v>
                </c:pt>
                <c:pt idx="19">
                  <c:v>8.4</c:v>
                </c:pt>
                <c:pt idx="20">
                  <c:v>8.5</c:v>
                </c:pt>
                <c:pt idx="21">
                  <c:v>8.6</c:v>
                </c:pt>
                <c:pt idx="22">
                  <c:v>8.7</c:v>
                </c:pt>
                <c:pt idx="23">
                  <c:v>8.8</c:v>
                </c:pt>
                <c:pt idx="24">
                  <c:v>8.9</c:v>
                </c:pt>
                <c:pt idx="25">
                  <c:v>9.0</c:v>
                </c:pt>
                <c:pt idx="26">
                  <c:v>9.1</c:v>
                </c:pt>
                <c:pt idx="27">
                  <c:v>9.2</c:v>
                </c:pt>
                <c:pt idx="28">
                  <c:v>9.3</c:v>
                </c:pt>
                <c:pt idx="29">
                  <c:v>9.4</c:v>
                </c:pt>
                <c:pt idx="30">
                  <c:v>9.5</c:v>
                </c:pt>
                <c:pt idx="31">
                  <c:v>9.6</c:v>
                </c:pt>
                <c:pt idx="32">
                  <c:v>9.7</c:v>
                </c:pt>
                <c:pt idx="33">
                  <c:v>9.8</c:v>
                </c:pt>
                <c:pt idx="34">
                  <c:v>9.9</c:v>
                </c:pt>
                <c:pt idx="35">
                  <c:v>10.0</c:v>
                </c:pt>
                <c:pt idx="36">
                  <c:v>10.1</c:v>
                </c:pt>
                <c:pt idx="37">
                  <c:v>10.2</c:v>
                </c:pt>
                <c:pt idx="38">
                  <c:v>10.3</c:v>
                </c:pt>
                <c:pt idx="39">
                  <c:v>10.4</c:v>
                </c:pt>
                <c:pt idx="40">
                  <c:v>10.5</c:v>
                </c:pt>
                <c:pt idx="41">
                  <c:v>10.6</c:v>
                </c:pt>
                <c:pt idx="42">
                  <c:v>10.7</c:v>
                </c:pt>
                <c:pt idx="43">
                  <c:v>10.8</c:v>
                </c:pt>
                <c:pt idx="44">
                  <c:v>10.9</c:v>
                </c:pt>
                <c:pt idx="45">
                  <c:v>11.0</c:v>
                </c:pt>
              </c:numCache>
            </c:numRef>
          </c:xVal>
          <c:yVal>
            <c:numRef>
              <c:f>Sheet1!$B$98:$B$143</c:f>
              <c:numCache>
                <c:formatCode>General</c:formatCode>
                <c:ptCount val="46"/>
                <c:pt idx="0">
                  <c:v>0.0285</c:v>
                </c:pt>
                <c:pt idx="1">
                  <c:v>0.0284</c:v>
                </c:pt>
                <c:pt idx="2">
                  <c:v>0.0285</c:v>
                </c:pt>
                <c:pt idx="3">
                  <c:v>0.0284</c:v>
                </c:pt>
                <c:pt idx="4">
                  <c:v>0.0284</c:v>
                </c:pt>
                <c:pt idx="5">
                  <c:v>0.0284</c:v>
                </c:pt>
                <c:pt idx="6">
                  <c:v>0.0284</c:v>
                </c:pt>
                <c:pt idx="7">
                  <c:v>0.0285</c:v>
                </c:pt>
                <c:pt idx="8">
                  <c:v>0.0284</c:v>
                </c:pt>
                <c:pt idx="9">
                  <c:v>0.0284</c:v>
                </c:pt>
                <c:pt idx="10">
                  <c:v>0.0284</c:v>
                </c:pt>
                <c:pt idx="11">
                  <c:v>0.0284</c:v>
                </c:pt>
                <c:pt idx="12">
                  <c:v>0.0284</c:v>
                </c:pt>
                <c:pt idx="13">
                  <c:v>0.0285</c:v>
                </c:pt>
                <c:pt idx="14">
                  <c:v>0.0284</c:v>
                </c:pt>
                <c:pt idx="15">
                  <c:v>0.0284</c:v>
                </c:pt>
                <c:pt idx="16">
                  <c:v>0.0284</c:v>
                </c:pt>
                <c:pt idx="17">
                  <c:v>0.0284</c:v>
                </c:pt>
                <c:pt idx="18">
                  <c:v>0.0285</c:v>
                </c:pt>
                <c:pt idx="19">
                  <c:v>0.0284</c:v>
                </c:pt>
                <c:pt idx="20">
                  <c:v>0.0284</c:v>
                </c:pt>
                <c:pt idx="21">
                  <c:v>0.0284</c:v>
                </c:pt>
                <c:pt idx="22">
                  <c:v>0.0284</c:v>
                </c:pt>
                <c:pt idx="23">
                  <c:v>0.0284</c:v>
                </c:pt>
                <c:pt idx="24">
                  <c:v>0.0284</c:v>
                </c:pt>
                <c:pt idx="25">
                  <c:v>0.0284</c:v>
                </c:pt>
                <c:pt idx="26">
                  <c:v>0.0284</c:v>
                </c:pt>
                <c:pt idx="27">
                  <c:v>0.0284</c:v>
                </c:pt>
                <c:pt idx="28">
                  <c:v>0.0285</c:v>
                </c:pt>
                <c:pt idx="29">
                  <c:v>0.0284</c:v>
                </c:pt>
                <c:pt idx="30">
                  <c:v>0.0284</c:v>
                </c:pt>
                <c:pt idx="31">
                  <c:v>0.0285</c:v>
                </c:pt>
                <c:pt idx="32">
                  <c:v>0.0284</c:v>
                </c:pt>
                <c:pt idx="33">
                  <c:v>0.0284</c:v>
                </c:pt>
                <c:pt idx="34">
                  <c:v>0.0284</c:v>
                </c:pt>
                <c:pt idx="35">
                  <c:v>0.0284</c:v>
                </c:pt>
                <c:pt idx="36">
                  <c:v>0.0284</c:v>
                </c:pt>
                <c:pt idx="37">
                  <c:v>0.0285</c:v>
                </c:pt>
                <c:pt idx="38">
                  <c:v>0.0285</c:v>
                </c:pt>
                <c:pt idx="39">
                  <c:v>0.0284</c:v>
                </c:pt>
                <c:pt idx="40">
                  <c:v>0.0284</c:v>
                </c:pt>
                <c:pt idx="41">
                  <c:v>0.0284</c:v>
                </c:pt>
                <c:pt idx="42">
                  <c:v>0.0285</c:v>
                </c:pt>
                <c:pt idx="43">
                  <c:v>0.0285</c:v>
                </c:pt>
                <c:pt idx="44">
                  <c:v>0.0285</c:v>
                </c:pt>
                <c:pt idx="45">
                  <c:v>0.0285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Sheet1!$B$145</c:f>
              <c:strCache>
                <c:ptCount val="1"/>
                <c:pt idx="0">
                  <c:v>Buffer, 1310 nm</c:v>
                </c:pt>
              </c:strCache>
            </c:strRef>
          </c:tx>
          <c:spPr>
            <a:ln w="25400">
              <a:solidFill>
                <a:srgbClr val="8FD3BE"/>
              </a:solidFill>
            </a:ln>
          </c:spPr>
          <c:marker>
            <c:symbol val="circle"/>
            <c:size val="4"/>
            <c:spPr>
              <a:solidFill>
                <a:srgbClr val="8FD3BE"/>
              </a:solidFill>
              <a:ln>
                <a:solidFill>
                  <a:srgbClr val="8FD3BE"/>
                </a:solidFill>
              </a:ln>
            </c:spPr>
          </c:marker>
          <c:xVal>
            <c:numRef>
              <c:f>Sheet1!$A$146:$A$191</c:f>
              <c:numCache>
                <c:formatCode>General</c:formatCode>
                <c:ptCount val="46"/>
                <c:pt idx="0">
                  <c:v>6.5</c:v>
                </c:pt>
                <c:pt idx="1">
                  <c:v>6.6</c:v>
                </c:pt>
                <c:pt idx="2">
                  <c:v>6.7</c:v>
                </c:pt>
                <c:pt idx="3">
                  <c:v>6.8</c:v>
                </c:pt>
                <c:pt idx="4">
                  <c:v>6.9</c:v>
                </c:pt>
                <c:pt idx="5">
                  <c:v>7.0</c:v>
                </c:pt>
                <c:pt idx="6">
                  <c:v>7.1</c:v>
                </c:pt>
                <c:pt idx="7">
                  <c:v>7.2</c:v>
                </c:pt>
                <c:pt idx="8">
                  <c:v>7.3</c:v>
                </c:pt>
                <c:pt idx="9">
                  <c:v>7.4</c:v>
                </c:pt>
                <c:pt idx="10">
                  <c:v>7.5</c:v>
                </c:pt>
                <c:pt idx="11">
                  <c:v>7.6</c:v>
                </c:pt>
                <c:pt idx="12">
                  <c:v>7.7</c:v>
                </c:pt>
                <c:pt idx="13">
                  <c:v>7.8</c:v>
                </c:pt>
                <c:pt idx="14">
                  <c:v>7.9</c:v>
                </c:pt>
                <c:pt idx="15">
                  <c:v>8.0</c:v>
                </c:pt>
                <c:pt idx="16">
                  <c:v>8.1</c:v>
                </c:pt>
                <c:pt idx="17">
                  <c:v>8.2</c:v>
                </c:pt>
                <c:pt idx="18">
                  <c:v>8.3</c:v>
                </c:pt>
                <c:pt idx="19">
                  <c:v>8.4</c:v>
                </c:pt>
                <c:pt idx="20">
                  <c:v>8.5</c:v>
                </c:pt>
                <c:pt idx="21">
                  <c:v>8.6</c:v>
                </c:pt>
                <c:pt idx="22">
                  <c:v>8.7</c:v>
                </c:pt>
                <c:pt idx="23">
                  <c:v>8.8</c:v>
                </c:pt>
                <c:pt idx="24">
                  <c:v>8.9</c:v>
                </c:pt>
                <c:pt idx="25">
                  <c:v>9.0</c:v>
                </c:pt>
                <c:pt idx="26">
                  <c:v>9.1</c:v>
                </c:pt>
                <c:pt idx="27">
                  <c:v>9.2</c:v>
                </c:pt>
                <c:pt idx="28">
                  <c:v>9.3</c:v>
                </c:pt>
                <c:pt idx="29">
                  <c:v>9.4</c:v>
                </c:pt>
                <c:pt idx="30">
                  <c:v>9.5</c:v>
                </c:pt>
                <c:pt idx="31">
                  <c:v>9.6</c:v>
                </c:pt>
                <c:pt idx="32">
                  <c:v>9.7</c:v>
                </c:pt>
                <c:pt idx="33">
                  <c:v>9.8</c:v>
                </c:pt>
                <c:pt idx="34">
                  <c:v>9.9</c:v>
                </c:pt>
                <c:pt idx="35">
                  <c:v>10.0</c:v>
                </c:pt>
                <c:pt idx="36">
                  <c:v>10.1</c:v>
                </c:pt>
                <c:pt idx="37">
                  <c:v>10.2</c:v>
                </c:pt>
                <c:pt idx="38">
                  <c:v>10.3</c:v>
                </c:pt>
                <c:pt idx="39">
                  <c:v>10.4</c:v>
                </c:pt>
                <c:pt idx="40">
                  <c:v>10.5</c:v>
                </c:pt>
                <c:pt idx="41">
                  <c:v>10.6</c:v>
                </c:pt>
                <c:pt idx="42">
                  <c:v>10.7</c:v>
                </c:pt>
                <c:pt idx="43">
                  <c:v>10.8</c:v>
                </c:pt>
                <c:pt idx="44">
                  <c:v>10.9</c:v>
                </c:pt>
                <c:pt idx="45">
                  <c:v>11.0</c:v>
                </c:pt>
              </c:numCache>
            </c:numRef>
          </c:xVal>
          <c:yVal>
            <c:numRef>
              <c:f>Sheet1!$B$146:$B$191</c:f>
              <c:numCache>
                <c:formatCode>General</c:formatCode>
                <c:ptCount val="46"/>
                <c:pt idx="0">
                  <c:v>0.0179</c:v>
                </c:pt>
                <c:pt idx="1">
                  <c:v>0.0179</c:v>
                </c:pt>
                <c:pt idx="2">
                  <c:v>0.0179</c:v>
                </c:pt>
                <c:pt idx="3">
                  <c:v>0.0179</c:v>
                </c:pt>
                <c:pt idx="4">
                  <c:v>0.0179</c:v>
                </c:pt>
                <c:pt idx="5">
                  <c:v>0.0179</c:v>
                </c:pt>
                <c:pt idx="6">
                  <c:v>0.0179</c:v>
                </c:pt>
                <c:pt idx="7">
                  <c:v>0.0179</c:v>
                </c:pt>
                <c:pt idx="8">
                  <c:v>0.0179</c:v>
                </c:pt>
                <c:pt idx="9">
                  <c:v>0.0179</c:v>
                </c:pt>
                <c:pt idx="10">
                  <c:v>0.0179</c:v>
                </c:pt>
                <c:pt idx="11">
                  <c:v>0.0179</c:v>
                </c:pt>
                <c:pt idx="12">
                  <c:v>0.0179</c:v>
                </c:pt>
                <c:pt idx="13">
                  <c:v>0.0179</c:v>
                </c:pt>
                <c:pt idx="14">
                  <c:v>0.0179</c:v>
                </c:pt>
                <c:pt idx="15">
                  <c:v>0.0179</c:v>
                </c:pt>
                <c:pt idx="16">
                  <c:v>0.0179</c:v>
                </c:pt>
                <c:pt idx="17">
                  <c:v>0.0179</c:v>
                </c:pt>
                <c:pt idx="18">
                  <c:v>0.0179</c:v>
                </c:pt>
                <c:pt idx="19">
                  <c:v>0.0179</c:v>
                </c:pt>
                <c:pt idx="20">
                  <c:v>0.0179</c:v>
                </c:pt>
                <c:pt idx="21">
                  <c:v>0.0179</c:v>
                </c:pt>
                <c:pt idx="22">
                  <c:v>0.0179</c:v>
                </c:pt>
                <c:pt idx="23">
                  <c:v>0.0179</c:v>
                </c:pt>
                <c:pt idx="24">
                  <c:v>0.0179</c:v>
                </c:pt>
                <c:pt idx="25">
                  <c:v>0.0179</c:v>
                </c:pt>
                <c:pt idx="26">
                  <c:v>0.0179</c:v>
                </c:pt>
                <c:pt idx="27">
                  <c:v>0.0179</c:v>
                </c:pt>
                <c:pt idx="28">
                  <c:v>0.0179</c:v>
                </c:pt>
                <c:pt idx="29">
                  <c:v>0.0179</c:v>
                </c:pt>
                <c:pt idx="30">
                  <c:v>0.0179</c:v>
                </c:pt>
                <c:pt idx="31">
                  <c:v>0.0179</c:v>
                </c:pt>
                <c:pt idx="32">
                  <c:v>0.0179</c:v>
                </c:pt>
                <c:pt idx="33">
                  <c:v>0.0179</c:v>
                </c:pt>
                <c:pt idx="34">
                  <c:v>0.0179</c:v>
                </c:pt>
                <c:pt idx="35">
                  <c:v>0.0179</c:v>
                </c:pt>
                <c:pt idx="36">
                  <c:v>0.0179</c:v>
                </c:pt>
                <c:pt idx="37">
                  <c:v>0.0179</c:v>
                </c:pt>
                <c:pt idx="38">
                  <c:v>0.0179</c:v>
                </c:pt>
                <c:pt idx="39">
                  <c:v>0.0179</c:v>
                </c:pt>
                <c:pt idx="40">
                  <c:v>0.0179</c:v>
                </c:pt>
                <c:pt idx="41">
                  <c:v>0.0179</c:v>
                </c:pt>
                <c:pt idx="42">
                  <c:v>0.0179</c:v>
                </c:pt>
                <c:pt idx="43">
                  <c:v>0.0179</c:v>
                </c:pt>
                <c:pt idx="44">
                  <c:v>0.0179</c:v>
                </c:pt>
                <c:pt idx="45">
                  <c:v>0.0179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1.0"/>
          <c:min val="6.5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x_lift (µm)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0.5"/>
      </c:valAx>
      <c:valAx>
        <c:axId val="-2129643912"/>
        <c:scaling>
          <c:orientation val="minMax"/>
          <c:max val="0.3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Insertion loss (dB/cm)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05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 1.4, rib 1.0</c:v>
                </c:pt>
              </c:strCache>
            </c:strRef>
          </c:tx>
          <c:spPr>
            <a:ln w="25400">
              <a:solidFill>
                <a:srgbClr val="1F4E79"/>
              </a:solidFill>
            </a:ln>
          </c:spPr>
          <c:marker>
            <c:symbol val="circle"/>
            <c:size val="5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3.2</c:v>
                </c:pt>
                <c:pt idx="1">
                  <c:v>3.3</c:v>
                </c:pt>
                <c:pt idx="2">
                  <c:v>3.4</c:v>
                </c:pt>
                <c:pt idx="3">
                  <c:v>3.5</c:v>
                </c:pt>
                <c:pt idx="4">
                  <c:v>3.6</c:v>
                </c:pt>
                <c:pt idx="5">
                  <c:v>3.7</c:v>
                </c:pt>
                <c:pt idx="6">
                  <c:v>3.8</c:v>
                </c:pt>
                <c:pt idx="7">
                  <c:v>3.9</c:v>
                </c:pt>
                <c:pt idx="8">
                  <c:v>4.0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1.7801</c:v>
                </c:pt>
                <c:pt idx="1">
                  <c:v>1.8315</c:v>
                </c:pt>
                <c:pt idx="2">
                  <c:v>1.8826</c:v>
                </c:pt>
                <c:pt idx="3">
                  <c:v>1.9336</c:v>
                </c:pt>
                <c:pt idx="4">
                  <c:v>1.9843</c:v>
                </c:pt>
                <c:pt idx="5">
                  <c:v>2.0352</c:v>
                </c:pt>
                <c:pt idx="6">
                  <c:v>2.0858</c:v>
                </c:pt>
                <c:pt idx="7">
                  <c:v>2.1363</c:v>
                </c:pt>
                <c:pt idx="8">
                  <c:v>2.1867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cap 1.4, rib 1.4</c:v>
                </c:pt>
              </c:strCache>
            </c:strRef>
          </c:tx>
          <c:spPr>
            <a:ln w="25400">
              <a:solidFill>
                <a:srgbClr val="2A78D6"/>
              </a:solidFill>
            </a:ln>
          </c:spPr>
          <c:marker>
            <c:symbol val="circle"/>
            <c:size val="5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Sheet1!$A$13:$A$21</c:f>
              <c:numCache>
                <c:formatCode>General</c:formatCode>
                <c:ptCount val="9"/>
                <c:pt idx="0">
                  <c:v>3.2</c:v>
                </c:pt>
                <c:pt idx="1">
                  <c:v>3.3</c:v>
                </c:pt>
                <c:pt idx="2">
                  <c:v>3.4</c:v>
                </c:pt>
                <c:pt idx="3">
                  <c:v>3.5</c:v>
                </c:pt>
                <c:pt idx="4">
                  <c:v>3.6</c:v>
                </c:pt>
                <c:pt idx="5">
                  <c:v>3.7</c:v>
                </c:pt>
                <c:pt idx="6">
                  <c:v>3.8</c:v>
                </c:pt>
                <c:pt idx="7">
                  <c:v>3.9</c:v>
                </c:pt>
                <c:pt idx="8">
                  <c:v>4.0</c:v>
                </c:pt>
              </c:numCache>
            </c:numRef>
          </c:xVal>
          <c:yVal>
            <c:numRef>
              <c:f>Sheet1!$B$13:$B$21</c:f>
              <c:numCache>
                <c:formatCode>General</c:formatCode>
                <c:ptCount val="9"/>
                <c:pt idx="0">
                  <c:v>1.7065</c:v>
                </c:pt>
                <c:pt idx="1">
                  <c:v>1.7567</c:v>
                </c:pt>
                <c:pt idx="2">
                  <c:v>1.8067</c:v>
                </c:pt>
                <c:pt idx="3">
                  <c:v>1.8567</c:v>
                </c:pt>
                <c:pt idx="4">
                  <c:v>1.9063</c:v>
                </c:pt>
                <c:pt idx="5">
                  <c:v>1.956</c:v>
                </c:pt>
                <c:pt idx="6">
                  <c:v>2.0055</c:v>
                </c:pt>
                <c:pt idx="7">
                  <c:v>2.055</c:v>
                </c:pt>
                <c:pt idx="8">
                  <c:v>2.1043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Sheet1!$B$23</c:f>
              <c:strCache>
                <c:ptCount val="1"/>
                <c:pt idx="0">
                  <c:v>target (cap 1.4, rib 1.0)</c:v>
                </c:pt>
              </c:strCache>
            </c:strRef>
          </c:tx>
          <c:spPr>
            <a:ln w="19050">
              <a:solidFill>
                <a:srgbClr val="C0392B"/>
              </a:solidFill>
              <a:prstDash val="dash"/>
            </a:ln>
          </c:spPr>
          <c:marker>
            <c:symbol val="none"/>
          </c:marker>
          <c:xVal>
            <c:numRef>
              <c:f>Sheet1!$A$24:$A$25</c:f>
              <c:numCache>
                <c:formatCode>General</c:formatCode>
                <c:ptCount val="2"/>
                <c:pt idx="0">
                  <c:v>3.2</c:v>
                </c:pt>
                <c:pt idx="1">
                  <c:v>4.0</c:v>
                </c:pt>
              </c:numCache>
            </c:numRef>
          </c:xVal>
          <c:yVal>
            <c:numRef>
              <c:f>Sheet1!$B$24:$B$25</c:f>
              <c:numCache>
                <c:formatCode>General</c:formatCode>
                <c:ptCount val="2"/>
                <c:pt idx="0">
                  <c:v>1.9153</c:v>
                </c:pt>
                <c:pt idx="1">
                  <c:v>1.9153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4.0"/>
          <c:min val="3.2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Bottom gap (µm)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0.1"/>
      </c:valAx>
      <c:valAx>
        <c:axId val="-2129643912"/>
        <c:scaling>
          <c:orientation val="minMax"/>
          <c:max val="2.3"/>
          <c:min val="1.6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(V·cm)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1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 1.4, rib 1.0</c:v>
                </c:pt>
              </c:strCache>
            </c:strRef>
          </c:tx>
          <c:spPr>
            <a:ln w="25400">
              <a:solidFill>
                <a:srgbClr val="1F4E79"/>
              </a:solidFill>
            </a:ln>
          </c:spPr>
          <c:marker>
            <c:symbol val="circle"/>
            <c:size val="5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3.2</c:v>
                </c:pt>
                <c:pt idx="1">
                  <c:v>3.3</c:v>
                </c:pt>
                <c:pt idx="2">
                  <c:v>3.4</c:v>
                </c:pt>
                <c:pt idx="3">
                  <c:v>3.5</c:v>
                </c:pt>
                <c:pt idx="4">
                  <c:v>3.6</c:v>
                </c:pt>
                <c:pt idx="5">
                  <c:v>3.7</c:v>
                </c:pt>
                <c:pt idx="6">
                  <c:v>3.8</c:v>
                </c:pt>
                <c:pt idx="7">
                  <c:v>3.9</c:v>
                </c:pt>
                <c:pt idx="8">
                  <c:v>4.0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0.02864</c:v>
                </c:pt>
                <c:pt idx="1">
                  <c:v>0.02083</c:v>
                </c:pt>
                <c:pt idx="2">
                  <c:v>0.01515</c:v>
                </c:pt>
                <c:pt idx="3">
                  <c:v>0.01103</c:v>
                </c:pt>
                <c:pt idx="4">
                  <c:v>0.00803</c:v>
                </c:pt>
                <c:pt idx="5">
                  <c:v>0.00586</c:v>
                </c:pt>
                <c:pt idx="6">
                  <c:v>0.00427</c:v>
                </c:pt>
                <c:pt idx="7">
                  <c:v>0.00311</c:v>
                </c:pt>
                <c:pt idx="8">
                  <c:v>0.00227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cap 1.4, rib 1.4</c:v>
                </c:pt>
              </c:strCache>
            </c:strRef>
          </c:tx>
          <c:spPr>
            <a:ln w="25400">
              <a:solidFill>
                <a:srgbClr val="2A78D6"/>
              </a:solidFill>
            </a:ln>
          </c:spPr>
          <c:marker>
            <c:symbol val="circle"/>
            <c:size val="5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Sheet1!$A$13:$A$21</c:f>
              <c:numCache>
                <c:formatCode>General</c:formatCode>
                <c:ptCount val="9"/>
                <c:pt idx="0">
                  <c:v>3.2</c:v>
                </c:pt>
                <c:pt idx="1">
                  <c:v>3.3</c:v>
                </c:pt>
                <c:pt idx="2">
                  <c:v>3.4</c:v>
                </c:pt>
                <c:pt idx="3">
                  <c:v>3.5</c:v>
                </c:pt>
                <c:pt idx="4">
                  <c:v>3.6</c:v>
                </c:pt>
                <c:pt idx="5">
                  <c:v>3.7</c:v>
                </c:pt>
                <c:pt idx="6">
                  <c:v>3.8</c:v>
                </c:pt>
                <c:pt idx="7">
                  <c:v>3.9</c:v>
                </c:pt>
                <c:pt idx="8">
                  <c:v>4.0</c:v>
                </c:pt>
              </c:numCache>
            </c:numRef>
          </c:xVal>
          <c:yVal>
            <c:numRef>
              <c:f>Sheet1!$B$13:$B$21</c:f>
              <c:numCache>
                <c:formatCode>General</c:formatCode>
                <c:ptCount val="9"/>
                <c:pt idx="0">
                  <c:v>0.03241</c:v>
                </c:pt>
                <c:pt idx="1">
                  <c:v>0.02297</c:v>
                </c:pt>
                <c:pt idx="2">
                  <c:v>0.0163</c:v>
                </c:pt>
                <c:pt idx="3">
                  <c:v>0.01159</c:v>
                </c:pt>
                <c:pt idx="4">
                  <c:v>0.00823</c:v>
                </c:pt>
                <c:pt idx="5">
                  <c:v>0.00587</c:v>
                </c:pt>
                <c:pt idx="6">
                  <c:v>0.00418</c:v>
                </c:pt>
                <c:pt idx="7">
                  <c:v>0.00298</c:v>
                </c:pt>
                <c:pt idx="8">
                  <c:v>0.00212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4.0"/>
          <c:min val="3.2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Bottom gap (µm)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0.1"/>
      </c:valAx>
      <c:valAx>
        <c:axId val="-2129643912"/>
        <c:scaling>
          <c:orientation val="minMax"/>
          <c:max val="0.035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IL (dB/cm)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005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4B894-4718-4C4D-B942-55BEF7CC3F9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BACFE-D1E4-4E9E-9D2A-07301B51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2A20-D9C5-BEC1-A331-516D50C93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255FB-8776-2600-FB0D-D37C26A9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B4982-190C-6C07-7215-C2698E3A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7267E-3FDA-B66E-4AD8-C6CE92D5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F8C8B-ACEA-A9A3-B4F0-BCD03B8F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482B-292E-DBE7-F2D3-E10B4F58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1C4E-1EAF-9AB5-5CC4-FC701A978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75CCB-9B55-2936-B303-10802E38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C055-00ED-86ED-9C00-23DE18EC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0205-9236-F40A-0142-178DCCE8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8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F1D0-DAB1-67E8-1B2F-73E26B78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1E0F4-EFC3-E680-F6BE-0E77EFE3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D891C-D277-DFAA-497C-2B8823A5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3FF4E-20C2-F541-1DAB-613C759B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AB07-57B8-0995-EE56-BB900832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A6F8-85E3-4B22-2629-A5CD88BC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7E19-2A08-183A-315B-2C68CBD48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4FEB9-11F8-683F-4BCD-D299C05A4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671DF-0476-B756-5E54-A09AD8F8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4C4BB-5CDA-73D0-C1DA-C42A6DE9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1ABC2-6DE1-3D69-6A5D-C3CA3F61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1152-8B57-3EF5-D4C6-0E6876662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A3013-0656-B7EA-B887-6A7B2A857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63B16-884B-1811-7BAE-21CA8A6B7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255C07-A3DB-F6DA-0F4A-E9B970AC6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7223D-1F4E-936C-E584-1AAB09D0A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43326-229D-65B9-2C15-C2124F23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5B61B-ED00-86A7-6ACD-C43B67AC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19906-6F6F-6917-EF5E-B774E691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5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6A1B-B2AF-E050-ECF5-ACC5B7AF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D89E8-F0D6-0E88-9769-D89E6292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829C5-1B60-2268-F333-5B76066F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F9A2B-0D7A-2052-FFC8-8CBE90A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8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24D48-6995-0099-CD08-7A3FDDC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EC935-6C37-2907-F27F-AE46F371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E360F-90C3-AD14-2358-FDAA383A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1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57D0-E028-0FEC-8108-C43C00030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22123-834D-B3B6-8655-4F727434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483FF-5EC4-3A43-0CAD-1E9C63C28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F5EC1-48F3-74F5-A266-43E5E2B1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5FD67-83F7-52BD-E689-83B4411A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C7BE6-67AB-39DB-47FB-E7656313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0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4AD1-9B1D-6A0E-B035-2A091F8F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267C1-026F-6542-5C48-B04F16F3C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53625-A727-A9FB-C543-6910AD686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CE3EF-FE07-E44D-9BEE-561AE12B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48578-8457-617E-26C8-83CBD42A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716A0-6376-1E8B-ACC0-3E99A468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5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CB6B-B40F-CD9E-5050-E8332EEE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861BA-32AA-F138-FF9C-253448691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C3F75-3492-7080-C63D-3983901F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1E4EE-94A7-4D60-6219-FE9FAEED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FFF6-B663-682E-609B-32623E2A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0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E4FA9-B5B0-671D-FF03-B5210A3B1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3531C-997D-F3F0-03A8-0A36E3B8A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CAC5E-DA02-76B9-65D8-7F538854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02A9-7AB1-C1FB-9260-FEB9B49CA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2E534-F0BB-DE3C-8762-F36B2DE8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19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040" y="0"/>
            <a:ext cx="2467880" cy="2057147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 userDrawn="1"/>
        </p:nvGrpSpPr>
        <p:grpSpPr>
          <a:xfrm>
            <a:off x="0" y="6485001"/>
            <a:ext cx="12192000" cy="383243"/>
            <a:chOff x="0" y="4833033"/>
            <a:chExt cx="9144000" cy="287432"/>
          </a:xfrm>
        </p:grpSpPr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0" y="4835723"/>
              <a:ext cx="1763688" cy="284742"/>
            </a:xfrm>
            <a:prstGeom prst="rect">
              <a:avLst/>
            </a:prstGeom>
            <a:solidFill>
              <a:srgbClr val="DC0000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763688" y="4835723"/>
              <a:ext cx="7380312" cy="284742"/>
            </a:xfrm>
            <a:prstGeom prst="rect">
              <a:avLst/>
            </a:prstGeom>
            <a:solidFill>
              <a:srgbClr val="00288C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0" y="4833033"/>
              <a:ext cx="91439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1800" dirty="0">
                  <a:solidFill>
                    <a:schemeClr val="bg1"/>
                  </a:solidFill>
                  <a:latin typeface="Arial" panose="020B0604020202020204" pitchFamily="34" charset="0"/>
                  <a:ea typeface="PMingLiU" pitchFamily="18" charset="-120"/>
                  <a:cs typeface="Arial" panose="020B0604020202020204" pitchFamily="34" charset="0"/>
                </a:rPr>
                <a:t>www.afrmilan.com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0299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61"/>
          <p:cNvGrpSpPr/>
          <p:nvPr userDrawn="1"/>
        </p:nvGrpSpPr>
        <p:grpSpPr>
          <a:xfrm>
            <a:off x="631357" y="453550"/>
            <a:ext cx="996088" cy="0"/>
            <a:chOff x="707557" y="548800"/>
            <a:chExt cx="996088" cy="0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707557" y="548800"/>
              <a:ext cx="29953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2001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983645" y="548800"/>
              <a:ext cx="72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E226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 userDrawn="1"/>
        </p:nvGrpSpPr>
        <p:grpSpPr>
          <a:xfrm>
            <a:off x="10607281" y="233681"/>
            <a:ext cx="1177119" cy="900000"/>
            <a:chOff x="7955458" y="175261"/>
            <a:chExt cx="882839" cy="67500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60" t="23787" r="27970" b="32989"/>
            <a:stretch>
              <a:fillRect/>
            </a:stretch>
          </p:blipFill>
          <p:spPr>
            <a:xfrm>
              <a:off x="7955458" y="175261"/>
              <a:ext cx="882839" cy="67500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 userDrawn="1"/>
          </p:nvSpPr>
          <p:spPr>
            <a:xfrm>
              <a:off x="8676456" y="19548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9211454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7BB2C-76DC-90AF-74E8-5CA2C51A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E614-5C6F-DC4C-07CD-F948CDE44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B5F60-52FA-13B8-32F6-4BFCF5859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7BDF0-920C-8B79-6328-4F4CFFA1E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40653-7ED0-A2A9-6425-DC06C7BEE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1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9.xml"/><Relationship Id="rId3" Type="http://schemas.openxmlformats.org/officeDocument/2006/relationships/chart" Target="../charts/chart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194560"/>
            <a:ext cx="96012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222222"/>
                </a:solidFill>
                <a:latin typeface="Arial"/>
              </a:rPr>
              <a:t>Jerez lifted (O band)</a:t>
            </a:r>
          </a:p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222222"/>
                </a:solidFill>
                <a:latin typeface="Arial"/>
              </a:rPr>
              <a:t>Standing wave under the lifted electrodes and the SiO₂ buffer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400 nm LN film, 1310 and 1360 nm: x_lift sweeps, Fabry-Perot fits, buffer cutoff and gap relaxation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Jerez lifted: the two designs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Lisbon-lifted electrodes on a 400 nm LN film (170 nm etch, 230 nm slab), rib top 1.0 µm</a:t>
            </a:r>
          </a:p>
        </p:txBody>
      </p:sp>
      <p:pic>
        <p:nvPicPr>
          <p:cNvPr id="4" name="Picture 3" descr="xs_jerez_lif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11064240" cy="30979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84632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The question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Does the standing wave seen in Lisbon lifted (C band) also appear in the O band, and does the 200 nm buffer remove it?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84632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x_lift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Where the gold leaves the slab and climbs onto the SiO₂ lift: the far mirror of the cavity. Swept 6.5 → 11 µm (0.1 µm step).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x_lift sweep: ripple without buffer, flat with buffer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Bottom gap 4.2 µm (no buffer) / 3.2 µm (200 nm buffer); 184 runs, no failures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7680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503920" y="1691640"/>
          <a:ext cx="3200400" cy="1645920"/>
        </p:xfrm>
        <a:graphic>
          <a:graphicData uri="http://schemas.openxmlformats.org/drawingml/2006/table">
            <a:tbl>
              <a:tblPr firstRow="1" bandRow="1"/>
              <a:tblGrid>
                <a:gridCol w="1371600"/>
                <a:gridCol w="914400"/>
                <a:gridCol w="9144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1310 nm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1360 nm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2222"/>
                          </a:solidFill>
                          <a:latin typeface="Arial"/>
                        </a:rPr>
                        <a:t>No buffer: IL range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Arial"/>
                        </a:rPr>
                        <a:t>0.043–0.158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Arial"/>
                        </a:rPr>
                        <a:t>0.075–0.269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2222"/>
                          </a:solidFill>
                          <a:latin typeface="Arial"/>
                        </a:rPr>
                        <a:t>Ripple period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Arial"/>
                        </a:rPr>
                        <a:t>0.634 µm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Arial"/>
                        </a:rPr>
                        <a:t>0.675 µm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2222"/>
                          </a:solidFill>
                          <a:latin typeface="Arial"/>
                        </a:rPr>
                        <a:t>Buffer: IL (flat)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Arial"/>
                        </a:rPr>
                        <a:t>0.0179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Arial"/>
                        </a:rPr>
                        <a:t>0.0284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2222"/>
                          </a:solidFill>
                          <a:latin typeface="Arial"/>
                        </a:rPr>
                        <a:t>Buffer: spread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Arial"/>
                        </a:rPr>
                        <a:t>&lt; 0.01 %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22222"/>
                          </a:solidFill>
                          <a:latin typeface="Arial"/>
                        </a:rPr>
                        <a:t>0.35 %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0" y="3657600"/>
            <a:ext cx="320040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IL in dB/cm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The ripple is present in the O band too: up to ×3.7 between trough and peak. With the buffer IL is flat and 2–10× lower.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Vπ·L, and the O band against the C band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Same lifted design; O band on 400 nm film, C band on 550 nm film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155680" cy="2304288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005840"/>
                <a:gridCol w="1737360"/>
                <a:gridCol w="1554480"/>
                <a:gridCol w="1188720"/>
                <a:gridCol w="1645920"/>
                <a:gridCol w="146304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λ (nm)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film (nm)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no buffer IL range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IL∞ (Fabry-Perot)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period (µm)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Vπ·L no buffer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buffer IL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Vπ·L buffer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1310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0.043–0.158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0.084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0.634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1.812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0.0179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1.683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1360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0.075–0.269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0.147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0.675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1.915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0.0284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1.779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1525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0.112–0.550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0.265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0.849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2.167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0.0333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2.054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1550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0.142–0.683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0.331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0.872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2.215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0.0401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2.101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1575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0.181–0.883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0.412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0.895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2.265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0.0481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2.148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20624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Vπ·L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Independent of x_lift (&lt; 0.1 %)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Buffer at gap 3.2 µm: −7 % vs no buffer at 4.2 µm (1.81 → 1.68 V·cm at 1310 nm)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20624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O band vs C band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Shorter period (0.63–0.67 vs 0.85–0.90 µm) and lower loss level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IL in dB/cm; same physics: the buffer removes the ripple in both bands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Why the buffer removes the ripple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The slab wave under the gold, and the buffer thickness that cuts it 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Cavity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The rib mode leaks into the slab wave guided under the gold (index above the rib mode)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That wave is reflected where the gold climbs onto the lift (x_lift) → Fabry-Perot cavity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Fabry-Perot fit (no buffer)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1310 nm: mirror ρ₀ 0.93, round-trip decay 0.23 µm⁻¹, rms 0.0004 dB/cm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1360 nm: mirror ρ₀ 0.94, round-trip decay 0.22 µm⁻¹, rms 0.0010 dB/cm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Cutoff of the slab wave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Buffer between gold and slab lowers the slab-wave index; above a critical thickness it can no longer be guided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1D cutoff: 45.7 nm (1310) and 46.5 nm (1360); C band ≈ 38 nm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2D check of the 1D model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Ripple period at 0 and 25 nm: within 0.5–2.2 %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200 nm is ≈ 4× the cutoff: the ripple is suppressed with a large margin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Buffered Jerez lifted: how far can the gap be relaxed?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1360 nm, 200 nm buffer, bottom gap 3.2 → 4.0 µm; target = unbuffered Vπ·L at gap 4.2 µm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56692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600200"/>
          <a:ext cx="539496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983480"/>
          <a:ext cx="11155680" cy="1371600"/>
        </p:xfrm>
        <a:graphic>
          <a:graphicData uri="http://schemas.openxmlformats.org/drawingml/2006/table">
            <a:tbl>
              <a:tblPr firstRow="1" bandRow="1"/>
              <a:tblGrid>
                <a:gridCol w="2011680"/>
                <a:gridCol w="2377440"/>
                <a:gridCol w="2194560"/>
                <a:gridCol w="2286000"/>
                <a:gridCol w="22860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Cap / rib (µm)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unbuffered Vπ·L at 4.2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matching buffered gap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buffered IL there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unbuffered IL (x_lift 6)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1.4 / 1.0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1.915 V·cm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3.46 µm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0.0124 dB/cm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0.313 dB/cm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1.4 / 1.4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1.840 V·cm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3.47 µm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0.0130 dB/cm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0.188 dB/cm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0.5 / 1.0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1.837 V·cm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3.41 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0.0147 dB/cm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0.311 dB/cm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0.5 / 1.4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1.768 V·cm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3.42 µm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0.0155 dB/cm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0.196 dB/cm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Cap height and buffer: how they interact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Rib 1.0 µm, 1360 nm; Vπ·L (V·cm) at gaps 3.4 and 4.2 µm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155680" cy="164592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gap 4.2, no buffer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gap 3.4, no buffer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gap 4.2, buffer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gap 3.4, buffer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Cap 1.4 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1.915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1.499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2.287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1.883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Cap 0.5 µm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1.837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1.449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2.214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1.833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Cap 1.4 → 0.5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-4.1 %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-3.4 %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-3.2 %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-2.7 %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749039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Cap acts electrostatically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n_eff changes by only 4·10⁻⁴; a lower SiO₂ cap leaves more air next to the rib, so more of the gap voltage drops across it (DC field in the rib +3–5 %)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49039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Smaller with the buffer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The buffer fills the gap at rib level whatever the cap height, so the cap only changes the dielectric above it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Buffer penalty at fixed gap: +19–21 % (4.2 µm), +26 % (3.4 µm), the same for both caps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Conclusions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600200"/>
            <a:ext cx="1024128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The standing wave exists in Jerez lifted in the O band: IL varies up to ×3.7 with x_lift (period 0.63–0.67 µm)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68880"/>
            <a:ext cx="1024128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The 200 nm SiO₂ buffer removes it: IL flat (0.018 / 0.028 dB/cm at 1310 / 1360 nm), ≈ 4× above the 46 nm cutoff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37560"/>
            <a:ext cx="1024128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With the buffer the bottom gap can be relaxed to ≈ 3.4–3.5 µm at equal Vπ·L, with IL ≈ 0.012–0.016 dB/cm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251959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51959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06240"/>
            <a:ext cx="1024128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Cap height acts only electrostatically: a lower cap lowers Vπ·L by 3–4 %, less with the buffer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074920"/>
            <a:ext cx="1024128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Same physics as Lisbon lifted in the C band, with a shorter ripple period and lower loss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1568</Words>
  <Application>Microsoft Office PowerPoint</Application>
  <PresentationFormat>Widescreen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Andrei.Muresian</dc:creator>
  <cp:lastModifiedBy>Andrei.Muresian</cp:lastModifiedBy>
  <cp:revision>44</cp:revision>
  <dcterms:created xsi:type="dcterms:W3CDTF">2025-12-01T09:32:09Z</dcterms:created>
  <dcterms:modified xsi:type="dcterms:W3CDTF">2026-10-01T11:55:02Z</dcterms:modified>
</cp:coreProperties>
</file>