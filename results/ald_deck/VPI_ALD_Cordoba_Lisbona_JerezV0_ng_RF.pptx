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86" r:id="rId12"/>
    <p:sldId id="29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4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7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2.1736962310377974</c:v>
                </c:pt>
                <c:pt idx="1">
                  <c:v>2.1560552462363334</c:v>
                </c:pt>
                <c:pt idx="2">
                  <c:v>2.139714085777098</c:v>
                </c:pt>
                <c:pt idx="3">
                  <c:v>2.1242570582539266</c:v>
                </c:pt>
                <c:pt idx="4">
                  <c:v>2.1093871732948886</c:v>
                </c:pt>
                <c:pt idx="5">
                  <c:v>2.0951218728285044</c:v>
                </c:pt>
                <c:pt idx="6">
                  <c:v>2.0813918175586004</c:v>
                </c:pt>
                <c:pt idx="7">
                  <c:v>2.0679663466210672</c:v>
                </c:pt>
                <c:pt idx="8">
                  <c:v>2.0550687119645712</c:v>
                </c:pt>
                <c:pt idx="9">
                  <c:v>2.0425816755739326</c:v>
                </c:pt>
                <c:pt idx="10">
                  <c:v>2.0303686935417682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3CF-4907-B915-7BD6E62113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2.2000000000000002"/>
          <c:min val="2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V</a:t>
                </a:r>
                <a:r>
                  <a:rPr lang="el-GR" sz="1100" b="0">
                    <a:latin typeface="Arial"/>
                  </a:rPr>
                  <a:t>π·</a:t>
                </a:r>
                <a:r>
                  <a:rPr lang="en-US" sz="1100" b="0">
                    <a:latin typeface="Arial"/>
                  </a:rPr>
                  <a:t>L (V·cm)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7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0.42691346337973352</c:v>
                </c:pt>
                <c:pt idx="1">
                  <c:v>0.54566825400086971</c:v>
                </c:pt>
                <c:pt idx="2">
                  <c:v>0.66707124661674111</c:v>
                </c:pt>
                <c:pt idx="3">
                  <c:v>0.79553538649795774</c:v>
                </c:pt>
                <c:pt idx="4">
                  <c:v>0.93308758820084958</c:v>
                </c:pt>
                <c:pt idx="5">
                  <c:v>1.0800807127393479</c:v>
                </c:pt>
                <c:pt idx="6">
                  <c:v>1.2366152409152136</c:v>
                </c:pt>
                <c:pt idx="7">
                  <c:v>1.4035925148914563</c:v>
                </c:pt>
                <c:pt idx="8">
                  <c:v>1.5796292312820297</c:v>
                </c:pt>
                <c:pt idx="9">
                  <c:v>1.7651097163551699</c:v>
                </c:pt>
                <c:pt idx="10">
                  <c:v>1.9574495247573225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3B4-42B3-837D-A025F8722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2.2000000000000002"/>
          <c:min val="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Insertion loss (dB/cm)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2.1747194552923341</c:v>
                </c:pt>
                <c:pt idx="1">
                  <c:v>2.138364184102711</c:v>
                </c:pt>
                <c:pt idx="2">
                  <c:v>2.108625370512053</c:v>
                </c:pt>
                <c:pt idx="3">
                  <c:v>2.0821267860496744</c:v>
                </c:pt>
                <c:pt idx="4">
                  <c:v>2.0577287432746307</c:v>
                </c:pt>
                <c:pt idx="5">
                  <c:v>2.0351345207468468</c:v>
                </c:pt>
                <c:pt idx="6">
                  <c:v>2.0138627127564974</c:v>
                </c:pt>
                <c:pt idx="7">
                  <c:v>1.9939377847025521</c:v>
                </c:pt>
                <c:pt idx="8">
                  <c:v>1.9750382839001843</c:v>
                </c:pt>
                <c:pt idx="9">
                  <c:v>1.9571218493760261</c:v>
                </c:pt>
                <c:pt idx="10">
                  <c:v>1.9399627083431501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32-4CBD-BC11-E9FD3AF9EC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2.2000000000000002"/>
          <c:min val="1.9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V</a:t>
                </a:r>
                <a:r>
                  <a:rPr lang="el-GR" sz="1100" b="0">
                    <a:latin typeface="Arial"/>
                  </a:rPr>
                  <a:t>π·</a:t>
                </a:r>
                <a:r>
                  <a:rPr lang="en-US" sz="1100" b="0">
                    <a:latin typeface="Arial"/>
                  </a:rPr>
                  <a:t>L (V·cm)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2.8716713295742591E-2</c:v>
                </c:pt>
                <c:pt idx="1">
                  <c:v>3.4136380958688498E-2</c:v>
                </c:pt>
                <c:pt idx="2">
                  <c:v>4.0260154248295647E-2</c:v>
                </c:pt>
                <c:pt idx="3">
                  <c:v>4.7087226274626637E-2</c:v>
                </c:pt>
                <c:pt idx="4">
                  <c:v>5.4637358874837894E-2</c:v>
                </c:pt>
                <c:pt idx="5">
                  <c:v>6.2866346817802454E-2</c:v>
                </c:pt>
                <c:pt idx="6">
                  <c:v>7.1775841890506079E-2</c:v>
                </c:pt>
                <c:pt idx="7">
                  <c:v>8.1339763299760809E-2</c:v>
                </c:pt>
                <c:pt idx="8">
                  <c:v>9.1502573177009466E-2</c:v>
                </c:pt>
                <c:pt idx="9">
                  <c:v>0.10224410333633357</c:v>
                </c:pt>
                <c:pt idx="10">
                  <c:v>0.11349933862147454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D56-42C4-94FB-95E0ACF20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0.12"/>
          <c:min val="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Insertion loss (dB/cm)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0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Cordoba, gap 4.2 µm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-1.7640984801464032E-2</c:v>
                </c:pt>
                <c:pt idx="2">
                  <c:v>-3.3982145260699426E-2</c:v>
                </c:pt>
                <c:pt idx="3">
                  <c:v>-4.9439172783870777E-2</c:v>
                </c:pt>
                <c:pt idx="4">
                  <c:v>-6.4309057742908848E-2</c:v>
                </c:pt>
                <c:pt idx="5">
                  <c:v>-7.8574358209293038E-2</c:v>
                </c:pt>
                <c:pt idx="6">
                  <c:v>-9.2304413479197045E-2</c:v>
                </c:pt>
                <c:pt idx="7">
                  <c:v>-0.10572988441673026</c:v>
                </c:pt>
                <c:pt idx="8">
                  <c:v>-0.11862751907322622</c:v>
                </c:pt>
                <c:pt idx="9">
                  <c:v>-0.13111455546386486</c:v>
                </c:pt>
                <c:pt idx="10">
                  <c:v>-0.14332753749602922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E56-46CE-BDCF-21C63DB997CF}"/>
            </c:ext>
          </c:extLst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Lisbon buffered, gap 3.4 µm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6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0</c:v>
                </c:pt>
                <c:pt idx="1">
                  <c:v>-3.6355271189623117E-2</c:v>
                </c:pt>
                <c:pt idx="2">
                  <c:v>-6.6094084780281115E-2</c:v>
                </c:pt>
                <c:pt idx="3">
                  <c:v>-9.2592669242659742E-2</c:v>
                </c:pt>
                <c:pt idx="4">
                  <c:v>-0.11699071201770339</c:v>
                </c:pt>
                <c:pt idx="5">
                  <c:v>-0.13958493454548737</c:v>
                </c:pt>
                <c:pt idx="6">
                  <c:v>-0.16085674253583671</c:v>
                </c:pt>
                <c:pt idx="7">
                  <c:v>-0.18078167058978201</c:v>
                </c:pt>
                <c:pt idx="8">
                  <c:v>-0.1996811713921498</c:v>
                </c:pt>
                <c:pt idx="9">
                  <c:v>-0.21759760591630806</c:v>
                </c:pt>
                <c:pt idx="10">
                  <c:v>-0.23475674694918403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E56-46CE-BDCF-21C63DB997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orientation val="minMax"/>
          <c:max val="0"/>
          <c:min val="-0.2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V</a:t>
                </a:r>
                <a:r>
                  <a:rPr lang="el-GR" sz="1100" b="0">
                    <a:latin typeface="Arial"/>
                  </a:rPr>
                  <a:t>π·</a:t>
                </a:r>
                <a:r>
                  <a:rPr lang="en-US" sz="1100" b="0">
                    <a:latin typeface="Arial"/>
                  </a:rPr>
                  <a:t>L change (V·cm)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05"/>
      </c:valAx>
    </c:plotArea>
    <c:legend>
      <c:legendPos val="t"/>
      <c:overlay val="0"/>
      <c:txPr>
        <a:bodyPr/>
        <a:lstStyle/>
        <a:p>
          <a:pPr>
            <a:defRPr sz="10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Cordoba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0.42691346337973352</c:v>
                </c:pt>
                <c:pt idx="1">
                  <c:v>0.54566825400086971</c:v>
                </c:pt>
                <c:pt idx="2">
                  <c:v>0.66707124661674111</c:v>
                </c:pt>
                <c:pt idx="3">
                  <c:v>0.79553538649795774</c:v>
                </c:pt>
                <c:pt idx="4">
                  <c:v>0.93308758820084958</c:v>
                </c:pt>
                <c:pt idx="5">
                  <c:v>1.0800807127393479</c:v>
                </c:pt>
                <c:pt idx="6">
                  <c:v>1.2366152409152136</c:v>
                </c:pt>
                <c:pt idx="7">
                  <c:v>1.4035925148914563</c:v>
                </c:pt>
                <c:pt idx="8">
                  <c:v>1.5796292312820297</c:v>
                </c:pt>
                <c:pt idx="9">
                  <c:v>1.7651097163551699</c:v>
                </c:pt>
                <c:pt idx="10">
                  <c:v>1.9574495247573225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9B9-4C16-8131-0214EFE03508}"/>
            </c:ext>
          </c:extLst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Lisbon buffered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6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2.8716713295742591E-2</c:v>
                </c:pt>
                <c:pt idx="1">
                  <c:v>3.4136380958688498E-2</c:v>
                </c:pt>
                <c:pt idx="2">
                  <c:v>4.0260154248295647E-2</c:v>
                </c:pt>
                <c:pt idx="3">
                  <c:v>4.7087226274626637E-2</c:v>
                </c:pt>
                <c:pt idx="4">
                  <c:v>5.4637358874837894E-2</c:v>
                </c:pt>
                <c:pt idx="5">
                  <c:v>6.2866346817802454E-2</c:v>
                </c:pt>
                <c:pt idx="6">
                  <c:v>7.1775841890506079E-2</c:v>
                </c:pt>
                <c:pt idx="7">
                  <c:v>8.1339763299760809E-2</c:v>
                </c:pt>
                <c:pt idx="8">
                  <c:v>9.1502573177009466E-2</c:v>
                </c:pt>
                <c:pt idx="9">
                  <c:v>0.10224410333633357</c:v>
                </c:pt>
                <c:pt idx="10">
                  <c:v>0.11349933862147454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9B9-4C16-8131-0214EFE035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Al₂O₃ thickness (nm)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20"/>
      </c:valAx>
      <c:valAx>
        <c:axId val="-2129643912"/>
        <c:scaling>
          <c:logBase val="10"/>
          <c:orientation val="minMax"/>
          <c:max val="10"/>
          <c:min val="0.01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sv-SE" sz="1100" b="0">
                    <a:latin typeface="Arial"/>
                  </a:rPr>
                  <a:t>Insertion loss (dB/cm, log)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0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40 nm Al₂O₃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</c:v>
                </c:pt>
                <c:pt idx="4">
                  <c:v>4.2</c:v>
                </c:pt>
                <c:pt idx="5">
                  <c:v>4.4000000000000004</c:v>
                </c:pt>
                <c:pt idx="6">
                  <c:v>4.5999999999999996</c:v>
                </c:pt>
                <c:pt idx="7">
                  <c:v>4.8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2.0577287432746307</c:v>
                </c:pt>
                <c:pt idx="1">
                  <c:v>2.1755678535809437</c:v>
                </c:pt>
                <c:pt idx="2">
                  <c:v>2.2927027128261961</c:v>
                </c:pt>
                <c:pt idx="3">
                  <c:v>2.409386055486002</c:v>
                </c:pt>
                <c:pt idx="4">
                  <c:v>2.5255336942555671</c:v>
                </c:pt>
                <c:pt idx="5">
                  <c:v>2.6412924457526898</c:v>
                </c:pt>
                <c:pt idx="6">
                  <c:v>2.7567267762935042</c:v>
                </c:pt>
                <c:pt idx="7">
                  <c:v>2.8719497039004187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D5-4879-AC11-2095B1250F46}"/>
            </c:ext>
          </c:extLst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no Al₂O₃</c:v>
                </c:pt>
              </c:strCache>
            </c:strRef>
          </c:tx>
          <c:spPr>
            <a:ln w="22225">
              <a:solidFill>
                <a:srgbClr val="8A8A8A"/>
              </a:solidFill>
            </a:ln>
          </c:spPr>
          <c:marker>
            <c:symbol val="circle"/>
            <c:size val="6"/>
            <c:spPr>
              <a:solidFill>
                <a:srgbClr val="8A8A8A"/>
              </a:solidFill>
              <a:ln>
                <a:solidFill>
                  <a:srgbClr val="8A8A8A"/>
                </a:solidFill>
              </a:ln>
            </c:spPr>
          </c:marker>
          <c:xVal>
            <c:numRef>
              <c:f>Sheet1!$A$12:$A$16</c:f>
              <c:numCache>
                <c:formatCode>General</c:formatCode>
                <c:ptCount val="5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</c:v>
                </c:pt>
                <c:pt idx="4">
                  <c:v>4.2</c:v>
                </c:pt>
              </c:numCache>
            </c:numRef>
          </c:xVal>
          <c:yVal>
            <c:numRef>
              <c:f>Sheet1!$B$12:$B$16</c:f>
              <c:numCache>
                <c:formatCode>General</c:formatCode>
                <c:ptCount val="5"/>
                <c:pt idx="0">
                  <c:v>2.1747194552923341</c:v>
                </c:pt>
                <c:pt idx="1">
                  <c:v>2.2941054498049227</c:v>
                </c:pt>
                <c:pt idx="2">
                  <c:v>2.412811638452852</c:v>
                </c:pt>
                <c:pt idx="3">
                  <c:v>2.5310335876606525</c:v>
                </c:pt>
                <c:pt idx="4">
                  <c:v>2.6487219175985417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6D5-4879-AC11-2095B1250F46}"/>
            </c:ext>
          </c:extLst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target 2.175 V·cm</c:v>
                </c:pt>
              </c:strCache>
            </c:strRef>
          </c:tx>
          <c:spPr>
            <a:ln w="15875">
              <a:solidFill>
                <a:srgbClr val="222222"/>
              </a:solidFill>
              <a:prstDash val="dash"/>
            </a:ln>
          </c:spPr>
          <c:marker>
            <c:symbol val="none"/>
          </c:marker>
          <c:xVal>
            <c:numRef>
              <c:f>Sheet1!$A$19:$A$20</c:f>
              <c:numCache>
                <c:formatCode>General</c:formatCode>
                <c:ptCount val="2"/>
                <c:pt idx="0">
                  <c:v>3.4</c:v>
                </c:pt>
                <c:pt idx="1">
                  <c:v>4.8</c:v>
                </c:pt>
              </c:numCache>
            </c:numRef>
          </c:xVal>
          <c:yVal>
            <c:numRef>
              <c:f>Sheet1!$B$19:$B$20</c:f>
              <c:numCache>
                <c:formatCode>General</c:formatCode>
                <c:ptCount val="2"/>
                <c:pt idx="0">
                  <c:v>2.1747000000000001</c:v>
                </c:pt>
                <c:pt idx="1">
                  <c:v>2.1747000000000001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6D5-4879-AC11-2095B125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4.8"/>
          <c:min val="3.4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Bottom gap (µm)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2.9"/>
          <c:min val="2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V</a:t>
                </a:r>
                <a:r>
                  <a:rPr lang="el-GR" sz="1100" b="0">
                    <a:latin typeface="Arial"/>
                  </a:rPr>
                  <a:t>π·</a:t>
                </a:r>
                <a:r>
                  <a:rPr lang="en-US" sz="1100" b="0">
                    <a:latin typeface="Arial"/>
                  </a:rPr>
                  <a:t>L (V·cm)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  <c:majorUnit val="0.1"/>
      </c:valAx>
    </c:plotArea>
    <c:legend>
      <c:legendPos val="t"/>
      <c:overlay val="0"/>
      <c:txPr>
        <a:bodyPr/>
        <a:lstStyle/>
        <a:p>
          <a:pPr>
            <a:defRPr sz="10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40 nm Al₂O₃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</c:v>
                </c:pt>
                <c:pt idx="4">
                  <c:v>4.2</c:v>
                </c:pt>
                <c:pt idx="5">
                  <c:v>4.4000000000000004</c:v>
                </c:pt>
                <c:pt idx="6">
                  <c:v>4.5999999999999996</c:v>
                </c:pt>
                <c:pt idx="7">
                  <c:v>4.8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5.4637358874837894E-2</c:v>
                </c:pt>
                <c:pt idx="1">
                  <c:v>2.8494819550763318E-2</c:v>
                </c:pt>
                <c:pt idx="2">
                  <c:v>1.4989636067109419E-2</c:v>
                </c:pt>
                <c:pt idx="3">
                  <c:v>7.9242361707003717E-3</c:v>
                </c:pt>
                <c:pt idx="4">
                  <c:v>4.2016857972835119E-3</c:v>
                </c:pt>
                <c:pt idx="5">
                  <c:v>2.2345214255118169E-3</c:v>
                </c:pt>
                <c:pt idx="6">
                  <c:v>1.1892547667506762E-3</c:v>
                </c:pt>
                <c:pt idx="7">
                  <c:v>6.3405376570231273E-4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EA8-4E40-81E3-126B9A522836}"/>
            </c:ext>
          </c:extLst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no Al₂O₃</c:v>
                </c:pt>
              </c:strCache>
            </c:strRef>
          </c:tx>
          <c:spPr>
            <a:ln w="22225">
              <a:solidFill>
                <a:srgbClr val="8A8A8A"/>
              </a:solidFill>
            </a:ln>
          </c:spPr>
          <c:marker>
            <c:symbol val="circle"/>
            <c:size val="6"/>
            <c:spPr>
              <a:solidFill>
                <a:srgbClr val="8A8A8A"/>
              </a:solidFill>
              <a:ln>
                <a:solidFill>
                  <a:srgbClr val="8A8A8A"/>
                </a:solidFill>
              </a:ln>
            </c:spPr>
          </c:marker>
          <c:xVal>
            <c:numRef>
              <c:f>Sheet1!$A$12:$A$16</c:f>
              <c:numCache>
                <c:formatCode>General</c:formatCode>
                <c:ptCount val="5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</c:v>
                </c:pt>
                <c:pt idx="4">
                  <c:v>4.2</c:v>
                </c:pt>
              </c:numCache>
            </c:numRef>
          </c:xVal>
          <c:yVal>
            <c:numRef>
              <c:f>Sheet1!$B$12:$B$16</c:f>
              <c:numCache>
                <c:formatCode>General</c:formatCode>
                <c:ptCount val="5"/>
                <c:pt idx="0">
                  <c:v>2.8716713295742591E-2</c:v>
                </c:pt>
                <c:pt idx="1">
                  <c:v>1.4884827715162812E-2</c:v>
                </c:pt>
                <c:pt idx="2">
                  <c:v>7.7659929502923051E-3</c:v>
                </c:pt>
                <c:pt idx="3">
                  <c:v>4.0691594215371127E-3</c:v>
                </c:pt>
                <c:pt idx="4">
                  <c:v>2.1350868257280077E-3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EA8-4E40-81E3-126B9A522836}"/>
            </c:ext>
          </c:extLst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Cordoba 0.43 dB/cm</c:v>
                </c:pt>
              </c:strCache>
            </c:strRef>
          </c:tx>
          <c:spPr>
            <a:ln w="15875">
              <a:solidFill>
                <a:srgbClr val="EB6834"/>
              </a:solidFill>
              <a:prstDash val="dash"/>
            </a:ln>
          </c:spPr>
          <c:marker>
            <c:symbol val="none"/>
          </c:marker>
          <c:xVal>
            <c:numRef>
              <c:f>Sheet1!$A$19:$A$20</c:f>
              <c:numCache>
                <c:formatCode>General</c:formatCode>
                <c:ptCount val="2"/>
                <c:pt idx="0">
                  <c:v>3.4</c:v>
                </c:pt>
                <c:pt idx="1">
                  <c:v>4.8</c:v>
                </c:pt>
              </c:numCache>
            </c:numRef>
          </c:xVal>
          <c:yVal>
            <c:numRef>
              <c:f>Sheet1!$B$19:$B$20</c:f>
              <c:numCache>
                <c:formatCode>General</c:formatCode>
                <c:ptCount val="2"/>
                <c:pt idx="0">
                  <c:v>0.42699999999999999</c:v>
                </c:pt>
                <c:pt idx="1">
                  <c:v>0.42699999999999999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EA8-4E40-81E3-126B9A5228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4.8"/>
          <c:min val="3.4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latin typeface="Arial"/>
                  </a:rPr>
                  <a:t>Bottom gap (µm)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logBase val="10"/>
          <c:orientation val="minMax"/>
          <c:max val="1"/>
          <c:min val="1E-4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sv-SE" sz="1100" b="0">
                    <a:latin typeface="Arial"/>
                  </a:rPr>
                  <a:t>Insertion loss (dB/cm, log)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0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8575">
              <a:solidFill>
                <a:srgbClr val="1B9E77"/>
              </a:solidFill>
            </a:ln>
          </c:spPr>
          <c:marker>
            <c:symbol val="circle"/>
            <c:size val="7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1.787976026371546</c:v>
                </c:pt>
                <c:pt idx="1">
                  <c:v>1.7736557133848085</c:v>
                </c:pt>
                <c:pt idx="2">
                  <c:v>1.760425558210077</c:v>
                </c:pt>
                <c:pt idx="3">
                  <c:v>1.747832606562693</c:v>
                </c:pt>
                <c:pt idx="4">
                  <c:v>1.7356475809742058</c:v>
                </c:pt>
                <c:pt idx="5">
                  <c:v>1.7239496978878162</c:v>
                </c:pt>
                <c:pt idx="6">
                  <c:v>1.7126626769436528</c:v>
                </c:pt>
                <c:pt idx="7">
                  <c:v>1.701643056088153</c:v>
                </c:pt>
                <c:pt idx="8">
                  <c:v>1.6909383336436128</c:v>
                </c:pt>
                <c:pt idx="9">
                  <c:v>1.6807034603352866</c:v>
                </c:pt>
                <c:pt idx="10">
                  <c:v>1.670595820977128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1.8"/>
          <c:min val="1.6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8575">
              <a:solidFill>
                <a:srgbClr val="1B9E77"/>
              </a:solidFill>
            </a:ln>
          </c:spPr>
          <c:marker>
            <c:symbol val="circle"/>
            <c:size val="7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0.10129062662031578</c:v>
                </c:pt>
                <c:pt idx="1">
                  <c:v>0.13556545180701393</c:v>
                </c:pt>
                <c:pt idx="2">
                  <c:v>0.17488097658740273</c:v>
                </c:pt>
                <c:pt idx="3">
                  <c:v>0.22047269964045704</c:v>
                </c:pt>
                <c:pt idx="4">
                  <c:v>0.272841778090244</c:v>
                </c:pt>
                <c:pt idx="5">
                  <c:v>0.3324941775369197</c:v>
                </c:pt>
                <c:pt idx="6">
                  <c:v>0.39965724311000167</c:v>
                </c:pt>
                <c:pt idx="7">
                  <c:v>0.4745417036264679</c:v>
                </c:pt>
                <c:pt idx="8">
                  <c:v>0.5565985853754379</c:v>
                </c:pt>
                <c:pt idx="9">
                  <c:v>0.6462341768032778</c:v>
                </c:pt>
                <c:pt idx="10">
                  <c:v>0.7428321234774781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0.8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Jerez V0, 1310 nm</c:v>
                </c:pt>
              </c:strCache>
            </c:strRef>
          </c:tx>
          <c:spPr>
            <a:ln w="28575">
              <a:solidFill>
                <a:srgbClr val="1B9E77"/>
              </a:solidFill>
            </a:ln>
          </c:spPr>
          <c:marker>
            <c:symbol val="circle"/>
            <c:size val="6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0.0</c:v>
                </c:pt>
                <c:pt idx="1">
                  <c:v>-0.014320312986737527</c:v>
                </c:pt>
                <c:pt idx="2">
                  <c:v>-0.02755046816146911</c:v>
                </c:pt>
                <c:pt idx="3">
                  <c:v>-0.040143419808853054</c:v>
                </c:pt>
                <c:pt idx="4">
                  <c:v>-0.05232844539734027</c:v>
                </c:pt>
                <c:pt idx="5">
                  <c:v>-0.06402632848372991</c:v>
                </c:pt>
                <c:pt idx="6">
                  <c:v>-0.07531334942789325</c:v>
                </c:pt>
                <c:pt idx="7">
                  <c:v>-0.08633297028339304</c:v>
                </c:pt>
                <c:pt idx="8">
                  <c:v>-0.09703769272793328</c:v>
                </c:pt>
                <c:pt idx="9">
                  <c:v>-0.10727256603625945</c:v>
                </c:pt>
                <c:pt idx="10">
                  <c:v>-0.11738020539441796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Cordoba, 1575 nm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0.0</c:v>
                </c:pt>
                <c:pt idx="1">
                  <c:v>-0.017600000000000282</c:v>
                </c:pt>
                <c:pt idx="2">
                  <c:v>-0.03400000000000025</c:v>
                </c:pt>
                <c:pt idx="3">
                  <c:v>-0.04940000000000033</c:v>
                </c:pt>
                <c:pt idx="4">
                  <c:v>-0.06430000000000025</c:v>
                </c:pt>
                <c:pt idx="5">
                  <c:v>-0.07860000000000023</c:v>
                </c:pt>
                <c:pt idx="6">
                  <c:v>-0.09230000000000027</c:v>
                </c:pt>
                <c:pt idx="7">
                  <c:v>-0.10570000000000013</c:v>
                </c:pt>
                <c:pt idx="8">
                  <c:v>-0.11860000000000026</c:v>
                </c:pt>
                <c:pt idx="9">
                  <c:v>-0.1311</c:v>
                </c:pt>
                <c:pt idx="10">
                  <c:v>-0.14329999999999998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0.0"/>
          <c:min val="-0.1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change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Jerez V0, 1310 nm</c:v>
                </c:pt>
              </c:strCache>
            </c:strRef>
          </c:tx>
          <c:spPr>
            <a:ln w="28575">
              <a:solidFill>
                <a:srgbClr val="1B9E77"/>
              </a:solidFill>
            </a:ln>
          </c:spPr>
          <c:marker>
            <c:symbol val="circle"/>
            <c:size val="6"/>
            <c:spPr>
              <a:solidFill>
                <a:srgbClr val="1B9E77"/>
              </a:solidFill>
              <a:ln>
                <a:solidFill>
                  <a:srgbClr val="1B9E77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1.0</c:v>
                </c:pt>
                <c:pt idx="1">
                  <c:v>1.3383810163913399</c:v>
                </c:pt>
                <c:pt idx="2">
                  <c:v>1.7265267520057674</c:v>
                </c:pt>
                <c:pt idx="3">
                  <c:v>2.1766347686532823</c:v>
                </c:pt>
                <c:pt idx="4">
                  <c:v>2.6936527810513153</c:v>
                </c:pt>
                <c:pt idx="5">
                  <c:v>3.2825759759909667</c:v>
                </c:pt>
                <c:pt idx="6">
                  <c:v>3.9456488368672282</c:v>
                </c:pt>
                <c:pt idx="7">
                  <c:v>4.6849518011698175</c:v>
                </c:pt>
                <c:pt idx="8">
                  <c:v>5.495065081015121</c:v>
                </c:pt>
                <c:pt idx="9">
                  <c:v>6.379999792336788</c:v>
                </c:pt>
                <c:pt idx="10">
                  <c:v>7.333670925563105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Cordoba, 1575 nm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1.0</c:v>
                </c:pt>
                <c:pt idx="1">
                  <c:v>1.2782853127196063</c:v>
                </c:pt>
                <c:pt idx="2">
                  <c:v>1.5626610447411573</c:v>
                </c:pt>
                <c:pt idx="3">
                  <c:v>1.8634340594987115</c:v>
                </c:pt>
                <c:pt idx="4">
                  <c:v>2.1857577887093</c:v>
                </c:pt>
                <c:pt idx="5">
                  <c:v>2.5301007261653785</c:v>
                </c:pt>
                <c:pt idx="6">
                  <c:v>2.8966971187631763</c:v>
                </c:pt>
                <c:pt idx="7">
                  <c:v>3.28788943546498</c:v>
                </c:pt>
                <c:pt idx="8">
                  <c:v>3.70016397282736</c:v>
                </c:pt>
                <c:pt idx="9">
                  <c:v>4.134691965331459</c:v>
                </c:pt>
                <c:pt idx="10">
                  <c:v>4.5851487467791054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Loss / loss without alumina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SiO₂ buffer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n_m</c:v>
                </c:pt>
                <c:pt idx="1">
                  <c:v>Z0</c:v>
                </c:pt>
                <c:pt idx="2">
                  <c:v>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-3.75</c:v>
                </c:pt>
                <c:pt idx="1">
                  <c:v>3.87</c:v>
                </c:pt>
                <c:pt idx="2">
                  <c:v>-3.73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ALD 40 nm</c:v>
                </c:pt>
              </c:strCache>
            </c:strRef>
          </c:tx>
          <c:spPr>
            <a:solidFill>
              <a:srgbClr val="BE185D"/>
            </a:solidFill>
          </c:spPr>
          <c:cat>
            <c:strRef>
              <c:f>Sheet1!$A$2:$A$4</c:f>
              <c:strCache>
                <c:ptCount val="3"/>
                <c:pt idx="0">
                  <c:v>n_m</c:v>
                </c:pt>
                <c:pt idx="1">
                  <c:v>Z0</c:v>
                </c:pt>
                <c:pt idx="2">
                  <c:v>α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</c:v>
                </c:pt>
                <c:pt idx="1">
                  <c:v>-0.64</c:v>
                </c:pt>
                <c:pt idx="2">
                  <c:v>0.64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Buffer + ALD</c:v>
                </c:pt>
              </c:strCache>
            </c:strRef>
          </c:tx>
          <c:spPr>
            <a:solidFill>
              <a:srgbClr val="1B9E77"/>
            </a:solidFill>
          </c:spPr>
          <c:cat>
            <c:strRef>
              <c:f>Sheet1!$A$2:$A$4</c:f>
              <c:strCache>
                <c:ptCount val="3"/>
                <c:pt idx="0">
                  <c:v>n_m</c:v>
                </c:pt>
                <c:pt idx="1">
                  <c:v>Z0</c:v>
                </c:pt>
                <c:pt idx="2">
                  <c:v>α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-2.8</c:v>
                </c:pt>
                <c:pt idx="1">
                  <c:v>2.9</c:v>
                </c:pt>
                <c:pt idx="2">
                  <c:v>-2.82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-5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t>change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Validated against COMSOL: the Vpi*L change matches point by point; the IL increase factor matches within about 3 %. Absolute IL differs by a nearly constant ~25 % ratio (gold model or metal mesh in COMSOL).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0.12 V*cm gained from the alumina buys only about 0.2 um of gap, because Vpi*L rises steeply with the gap. Loss is never the limit: it falls with the gap and is below 0.001 dB/cm at 4.8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148840"/>
            <a:ext cx="960120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222222"/>
                </a:solidFill>
                <a:latin typeface="Arial"/>
              </a:rPr>
              <a:t>ALD alumina protection layer:</a:t>
            </a:r>
          </a:p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222222"/>
                </a:solidFill>
                <a:latin typeface="Arial"/>
              </a:rPr>
              <a:t>Cordoba vs buffered Lisbon lifted</a:t>
            </a:r>
          </a:p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Effect on Vπ·L and insertion loss, gap relaxation and robustness at λ = 1575 nm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What we studied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A thin alumina film covers every exposed surface after the electrodes are made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E185D"/>
                </a:solidFill>
                <a:latin typeface="Arial"/>
              </a:rPr>
              <a:t>The layer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ALD Al₂O₃, conformal on all surfaces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Nominal 40 nm, swept 0 → 100 nm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Optical index 1.74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RF permittivity 9.8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EB6834"/>
                </a:solidFill>
                <a:latin typeface="Arial"/>
              </a:rPr>
              <a:t>Cordoba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Gold directly on the LN slab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Electrode gap 4.2 µm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Reference: 0.43 dB/cm, 2.17 V·cm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9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2A78D6"/>
                </a:solidFill>
                <a:latin typeface="Arial"/>
              </a:rPr>
              <a:t>Lisbon lifted, buffered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Gold on a 200 nm SiO₂ buffer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Bottom gap 3.4 µm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Reference: 0.03 dB/cm, 2.17 V·cm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9728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Common settings: 1575 nm, 550 nm LN film with 275 nm etch, rib top width 1.4 µm, SiO₂ cap 2.0 × 1.4 µm, full LN slab (no slab etch).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Questions: how much does the layer lower Vπ·L, how much loss does it add, and can it let us widen the Lisbon gap?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The two cross-sections with 40 nm of alumina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Alumina in pink; the red box marks the zoomed electrode corner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B6834"/>
                </a:solidFill>
                <a:latin typeface="Arial"/>
              </a:rPr>
              <a:t>Cordoba</a:t>
            </a:r>
          </a:p>
        </p:txBody>
      </p:sp>
      <p:pic>
        <p:nvPicPr>
          <p:cNvPr id="5" name="Picture 4" descr="xs_cordob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656590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Arial"/>
              </a:rPr>
              <a:t>Lisbon lifted with 200 nm SiO₂ buffer</a:t>
            </a:r>
          </a:p>
        </p:txBody>
      </p:sp>
      <p:pic>
        <p:nvPicPr>
          <p:cNvPr id="7" name="Picture 6" descr="xs_lisb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26280"/>
            <a:ext cx="6565900" cy="2148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2103120"/>
            <a:ext cx="402336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Legend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Gold: electrodes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Grey: lithium niobate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Blue: SiO₂ (box, cap, buffer, lift)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BE185D"/>
                </a:solidFill>
                <a:latin typeface="Arial"/>
              </a:rPr>
              <a:t>Pink: ALD alumina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Cordoba: lower Vπ·L, but twice the loss at 40 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Gap 4.2 µm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4630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5550408"/>
            <a:ext cx="3840480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Arial"/>
              </a:rPr>
              <a:t>−3 %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071616"/>
            <a:ext cx="3657600" cy="399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at 40 nm: 2.174 → 2.109 V·cm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5550408"/>
            <a:ext cx="3840480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×2.2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6071616"/>
            <a:ext cx="3657600" cy="399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40 nm: 0.43 → 0.93 dB/cm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Lisbon buffered: larger Vπ·L gain, very low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Bottom gap 3.4 µm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4630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5550408"/>
            <a:ext cx="3840480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−5.4 %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071616"/>
            <a:ext cx="3657600" cy="399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at 40 nm: 2.175 → 2.058 V·cm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5550408"/>
            <a:ext cx="3840480" cy="57835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0.055 dB/cm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6071616"/>
            <a:ext cx="3657600" cy="399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40 nm: still 8× below bare Cordoba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Side by side: same trend, different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Each curve is measured from its own design without alumina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577840"/>
            <a:ext cx="1078992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01168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Same starting Vπ·L (2.17 V·cm), but Lisbon gains almost twice as much.</a:t>
            </a:r>
          </a:p>
          <a:p>
            <a:pPr marL="256032" indent="-201168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Loss grows by a similar factor in both, yet Lisbon stays about 15 times lower.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Why Lisbon gains more: what the alumina sits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Simplified drawing, not to scale</a:t>
            </a:r>
          </a:p>
        </p:txBody>
      </p:sp>
      <p:pic>
        <p:nvPicPr>
          <p:cNvPr id="4" name="Picture 3" descr="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315200" cy="2588455"/>
          </a:xfrm>
          <a:prstGeom prst="rect">
            <a:avLst/>
          </a:prstGeom>
        </p:spPr>
      </p:pic>
      <p:pic>
        <p:nvPicPr>
          <p:cNvPr id="5" name="Picture 4" descr="equal_gap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91640"/>
            <a:ext cx="3566160" cy="25308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0"/>
            <a:ext cx="107899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01168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In Cordoba, the electric field already prefers the LN, which is far more polarisable than alumina.</a:t>
            </a:r>
          </a:p>
          <a:p>
            <a:pPr marL="256032" indent="-201168" algn="l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In Lisbon, alumina is the most polarisable material at the electrode level: it acts like a small extension of the electrode toward the waveguide.</a:t>
            </a:r>
          </a:p>
          <a:p>
            <a:pPr marL="256032" indent="-201168" algn="l">
              <a:spcAft>
                <a:spcPts val="600"/>
              </a:spcAft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Arial"/>
              </a:rPr>
              <a:t>Test at the same 4.2 µm gap: Lisbon still gains twice as much. The buffer, not the narrower gap, causes the difference.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Is it the mesh?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The 40 nm cases were repeated with a much finer mesh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2743200"/>
        </p:xfrm>
        <a:graphic>
          <a:graphicData uri="http://schemas.openxmlformats.org/drawingml/2006/table">
            <a:tbl>
              <a:tblPr firstRow="1" band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Case (40 nm alumina)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Mesh refinement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Vπ·L 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Loss 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Lisbon, gap 3.4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30 % finer everywhere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−0.8 %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Lisbon, gap 3.4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5 elements across the alumina (instead of 3)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&lt; 0.01 %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−0.2 %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Lisbon, gap 4.2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30 % finer everywhere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−0.8 %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Cordoba, gap 4.2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30 % finer everywhere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+0.02 %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−0.6 %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Cordoba, gap 4.2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5 elements across the alumina (instead of 3)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0.00 %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+0.03 %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108960" y="5029200"/>
            <a:ext cx="5943600" cy="118872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0" y="5138928"/>
            <a:ext cx="5943600" cy="6537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0.05 V·cm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742432"/>
            <a:ext cx="5760720" cy="45171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Lisbon–Cordoba difference at 40 nm: about 100× larger than any mesh effect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Gap relaxation: from 3.4 µm to 3.6 µm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Target: Vπ·L of Lisbon without alumina at 3.4 µm (2.175 V·cm, the same as Cordoba)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53212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641848"/>
            <a:ext cx="3291840" cy="5532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3.60 µm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35624"/>
            <a:ext cx="3108960" cy="3822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relaxed gap with 40 nm alumina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53212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5641848"/>
            <a:ext cx="3291840" cy="5532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0.029 dB/cm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6135624"/>
            <a:ext cx="3108960" cy="3822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3.60 µm: 15× below Cordoba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553212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5641848"/>
            <a:ext cx="3291840" cy="5532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+0.58 V·cm/µm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6135624"/>
            <a:ext cx="3108960" cy="3822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cost of widening the gap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Robustness: alumina thickness ±10 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Gap fixed at 3.60 µm, designed for 40 nm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920240"/>
          <a:ext cx="9418320" cy="2011680"/>
        </p:xfrm>
        <a:graphic>
          <a:graphicData uri="http://schemas.openxmlformats.org/drawingml/2006/table">
            <a:tbl>
              <a:tblPr firstRow="1" band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Alumina thickness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Vπ·L (V·cm)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Insertion loss (dB/cm)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30 nm (-10 nm)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2.200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+1.1 %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40 nm (nominal)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2.175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+0.0 %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50 nm (+10 nm)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2.152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-1.1 %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0.033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206240"/>
            <a:ext cx="960120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01168" algn="l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</a:rPr>
              <a:t>A ±10 nm error moves Vπ·L by only about ±1 %.</a:t>
            </a:r>
          </a:p>
          <a:p>
            <a:pPr marL="256032" indent="-201168" algn="l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</a:rPr>
              <a:t>This equals a gap error of about 40 nm: gap lithography matters more than alumina control.</a:t>
            </a:r>
          </a:p>
          <a:p>
            <a:pPr marL="256032" indent="-201168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</a:rPr>
              <a:t>Loss stays between 0.025 and 0.033 dB/cm, far below Cordoba's 0.43 dB/cm.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Jerez V0 in the O band: same alumina, new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Non-lifted Cordoba-type electrodes, unetched slab, λ = 1310 nm</a:t>
            </a:r>
          </a:p>
        </p:txBody>
      </p:sp>
      <p:pic>
        <p:nvPicPr>
          <p:cNvPr id="4" name="Picture 3" descr="xs_jerezv0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680960" cy="251376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45920"/>
            <a:ext cx="3200400" cy="31089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B9E77"/>
                </a:solidFill>
                <a:latin typeface="Arial"/>
              </a:rPr>
              <a:t>Jerez V0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LN film 400 nm, rib etch 170 nm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Rib top 1.0 µm (single mode)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Gap 4.15 µm, gold 2 µm on the slab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No buffer, no slab etch, no over-etch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SiO₂ cap 2.0 × 1.4 µm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E185D"/>
                </a:solidFill>
                <a:latin typeface="Arial"/>
              </a:rPr>
              <a:t>Alumina placed as for Cordoba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n 1.74, RF permittivity 9.8, swept 0 → 100 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1556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Mesh converged at 1310 nm: IL within 0.6 %, Vπ·L within 0.01 %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Jerez V0: lower Vπ·L, almost 3× the loss at 40 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Gap 4.15 µm, 1310 nm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4630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550408"/>
            <a:ext cx="384048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B9E77"/>
                </a:solidFill>
                <a:latin typeface="Arial"/>
              </a:rPr>
              <a:t>−2.9 %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071616"/>
            <a:ext cx="365760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at 40 nm: 1.788 → 1.736 V·cm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5550408"/>
            <a:ext cx="384048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×2.7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6071616"/>
            <a:ext cx="365760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40 nm: 0.10 → 0.27 dB/cm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Jerez V0 vs Cordoba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Each curve is measured from its own design without alumina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377440" y="5349240"/>
          <a:ext cx="7406640" cy="1097280"/>
        </p:xfrm>
        <a:graphic>
          <a:graphicData uri="http://schemas.openxmlformats.org/drawingml/2006/table">
            <a:tbl>
              <a:tblPr firstRow="1" bandRow="1"/>
              <a:tblGrid>
                <a:gridCol w="2468880"/>
                <a:gridCol w="2468880"/>
                <a:gridCol w="24688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At 40 nm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Jerez V0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Cordoba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Loss without alumina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0.10 dB/cm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0.43 dB/cm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Loss with 40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0.27 dB/cm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0.93 dB/cm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Vπ·L change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−2.9 %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−3.0 %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Alumina lowers Vπ·L in both designs: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by 3 % in Cordoba and 5.4 % in Lisbon at 40 nm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The difference is physical: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the buffer makes the alumina more effective; the mesh is not the 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2044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Loss is not a concern for Lisbon: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below 0.06 dB/cm at 3.4 µm, below 0.03 dB/cm at 3.6 µm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The gap gain is modest: 3.4 → 3.6 µm: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a wider gap is possible only by accepting a higher Vπ·L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4068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t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Process tolerance is comfortable: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±10 nm of alumina changes Vπ·L by about ±1 %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Optical group index: how it is computed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Same 2D FEM mode solver, three wavelengths on one fixed mesh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Method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n_g = n_eff − λ · dn_eff/dλ, central difference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Solves at λ₀ and λ₀ ± 1 nm (and ± 2 nm as a check)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One mesh for all wavelengths: discretisation errors cancel</a:t>
            </a:r>
          </a:p>
          <a:p>
            <a:pPr algn="l">
              <a:spcAft>
                <a:spcPts val="14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All materials dispersive: LN (Zelmon), SiO₂ (Malitson), Au (Johnson &amp; Christy), ALD Al₂O₃ (Sellmeier)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Checks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± 1 nm and ± 2 nm agree to all 5 decimals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Light and fine meshes give the same n_g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BE185D"/>
                </a:solidFill>
                <a:latin typeface="Arial"/>
              </a:rPr>
              <a:t>ALD Al₂O₃ optical index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No published ALD Sellmeier: fitted to ellipsometry of 20 nm ALD films (Zhukovsky et al., PRL 115, 177402, 2015)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Arial"/>
              </a:rPr>
              <a:t>n² = 1 + 1.5977 λ² / (λ² − 0.010751),  λ in µm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Error &lt; 4·10⁻⁴ over 0.35–1.69 µm</a:t>
            </a:r>
          </a:p>
          <a:p>
            <a:pPr algn="l">
              <a:spcAft>
                <a:spcPts val="14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n = 1.614 at 1575 nm, 1.615 at 1310 nm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The earlier value n = 1.74 is closer to crystalline alumina; the Sellmeier fit is used for the conclusions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Group index vs ALD thickness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Five cross-sections; solid: ALD Sellmeier, dashed: ALD scaled to n = 1.74</a:t>
            </a:r>
          </a:p>
        </p:txBody>
      </p:sp>
      <p:pic>
        <p:nvPicPr>
          <p:cNvPr id="4" name="Picture 3" descr="group_index_vs_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744855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1556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ALD lowers n_g by at most 0.005 (0.2 %) at 100 nm; with the buffer the drop is 2–3× smaller.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Cordoba at 1575 nm: rib width, buffer and ALD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ALD Sellmeier; gap 4.15 µm, 540/270 nm, unetched slab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6675120" cy="2962656"/>
        </p:xfrm>
        <a:graphic>
          <a:graphicData uri="http://schemas.openxmlformats.org/drawingml/2006/table">
            <a:tbl>
              <a:tblPr firstRow="1" bandRow="1"/>
              <a:tblGrid>
                <a:gridCol w="1280160"/>
                <a:gridCol w="1463040"/>
                <a:gridCol w="1097280"/>
                <a:gridCol w="1417320"/>
                <a:gridCol w="14173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Rib top (µm)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SiO₂ buffer (nm)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ALD (nm)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n_eff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n_g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1.879241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2.26139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1.879575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2.25986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1.879685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2.25917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1.879783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2.25855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1.899858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2.25710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1.900467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2.25518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1.900633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2.25437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1.900814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2.25349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98079" y="1691640"/>
            <a:ext cx="4206240" cy="41148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Reading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Rib width matters most: 1.0 → 1.4 µm lowers n_g by ≈ 0.004–0.005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Buffer alone: −0.002 to −0.003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40 nm ALD: −0.0006 to −0.0019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Higher n_eff, lower n_g?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The wider rib confines the mode more: n_eff falls less steeply with λ (−0.227 vs −0.243 µm⁻¹), so its −λ·dn/dλ term is 0.025 smaller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66751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All Cordoba cases lie within 2.252–2.261: &lt; 0.5 %. ALD and buffer do not affect the optical side of velocity matching.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RF study at 60 GHz: Cordoba push-pull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Full GSG cross-section, both arms, rib 1.0 µm, cap 2.0 × 1.4 µm</a:t>
            </a:r>
          </a:p>
        </p:txBody>
      </p:sp>
      <p:pic>
        <p:nvPicPr>
          <p:cNvPr id="4" name="Picture 3" descr="rf_cross_s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38724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66344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Signal 35 µm, gap 4.15 µm, grounds 49.85 µm, gold 2 µm, Si 550 µm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n_m, Z0 from the full-wave mode; R′ and L_int from the current inside the gold (volumetric, no IBC)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66344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Layers, drawn as in the optical models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Buffer: 200 nm SiO₂ (ε 3.9) under the gold and across the gaps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ALD: 40 nm conformal Al₂O₃, ε 9.8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RF figures of merit: buffer and ALD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60 GHz, lateral padding 200 µm; changes vs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400800" cy="1737360"/>
        </p:xfrm>
        <a:graphic>
          <a:graphicData uri="http://schemas.openxmlformats.org/drawingml/2006/table">
            <a:tbl>
              <a:tblPr firstRow="1" bandRow="1"/>
              <a:tblGrid>
                <a:gridCol w="1463040"/>
                <a:gridCol w="822960"/>
                <a:gridCol w="822960"/>
                <a:gridCol w="914400"/>
                <a:gridCol w="777240"/>
                <a:gridCol w="777240"/>
                <a:gridCol w="8229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Case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n_m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Z0 (Ω)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α (dB/cm)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Δn_m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ΔZ0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Δα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2.0121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35.97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5.364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SiO₂ buffer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1.9366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37.37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5.164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-3.75 %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+3.87 %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-3.73 %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ALD 40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2.0257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35.74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5.398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+0.68 %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-0.64 %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+0.64 %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Buffer + ALD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1.9557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37.02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5.213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-2.80 %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+2.90 %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-2.82 %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223760" y="1600200"/>
          <a:ext cx="44805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657600"/>
            <a:ext cx="6400800" cy="21945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Why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Buffer: low-ε SiO₂ between gold and LN (ε 28–44) where the RF field is strongest → C drops: n_m ↓, Z0 ↑; R′ unchanged, so α = R′/2Z0 ↓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ALD: ε 9.8 replaces air in the gaps → C slightly up, opposite and ≈ 5× smaller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Same changes at 800 µm padding (within 0.1 %)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4937760"/>
            <a:ext cx="44805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Buffer + ALD: n_m −2.8 %, Z0 +2.9 %, α −2.8 %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RF study: window, mesh and ALD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Absolute values depend on the closed simulation box; the buffer / ALD changes do not</a:t>
            </a:r>
          </a:p>
        </p:txBody>
      </p:sp>
      <p:pic>
        <p:nvPicPr>
          <p:cNvPr id="4" name="Picture 3" descr="rf_window_mesh_stud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30426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01768"/>
            <a:ext cx="3566160" cy="62865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0392B"/>
                </a:solidFill>
                <a:latin typeface="Arial"/>
              </a:rPr>
              <a:t>−2.4 %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3383279" cy="4343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full-wave Z0 from 100 to 1200 µm padding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(quasi-static: ±0.03 %)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5001768"/>
            <a:ext cx="3566160" cy="62865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≤ 0.5 %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5577840"/>
            <a:ext cx="3383279" cy="4343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mesh error at the chosen setting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(factor 0.35, 126k triangles)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5001768"/>
            <a:ext cx="3566160" cy="62865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+0.074 dB/cm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577840"/>
            <a:ext cx="3383279" cy="4343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ALD loss at a pessimistic tan δ = 0.05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(1.4 % of α): lossless is a fair assumption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Conclusions: group index and RF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10607040" cy="7315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Group index: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673352"/>
            <a:ext cx="77724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40 nm ALD ≤ 0.1 %, buffer ≈ 0.1 %, rib 1.0 → 1.4 µm 0.2 %: all negligible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607040" cy="7315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Velocity matching: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542032"/>
            <a:ext cx="77724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Optical side unaffected by ALD and buffer; RF n_m moves from 2.01 to 1.96 with buffer + ALD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37560"/>
            <a:ext cx="10607040" cy="7315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RF impedance and loss: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410712"/>
            <a:ext cx="77724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Buffer: Z0 +3.9 %, α −3.7 %; ALD: Z0 −0.6 %, α +0.6 %; together Z0 +2.9 %, α −2.8 %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10607040" cy="7315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ALD at RF: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279392"/>
            <a:ext cx="77724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Thin film: even tan δ = 0.05 adds only 1.4 % to 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10607040" cy="7315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Numerics: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148072"/>
            <a:ext cx="77724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Use the % changes; absolute RF values need absorbing boundaries to be window-independent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1129</Words>
  <Application>Microsoft Office PowerPoint</Application>
  <PresentationFormat>Widescreen</PresentationFormat>
  <Paragraphs>131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44</cp:revision>
  <dcterms:created xsi:type="dcterms:W3CDTF">2025-12-01T09:32:09Z</dcterms:created>
  <dcterms:modified xsi:type="dcterms:W3CDTF">2026-10-13T08:18:05Z</dcterms:modified>
</cp:coreProperties>
</file>