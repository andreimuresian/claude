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3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7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2.1736962310377974</c:v>
                </c:pt>
                <c:pt idx="1">
                  <c:v>2.1560552462363334</c:v>
                </c:pt>
                <c:pt idx="2">
                  <c:v>2.139714085777098</c:v>
                </c:pt>
                <c:pt idx="3">
                  <c:v>2.1242570582539266</c:v>
                </c:pt>
                <c:pt idx="4">
                  <c:v>2.1093871732948886</c:v>
                </c:pt>
                <c:pt idx="5">
                  <c:v>2.0951218728285044</c:v>
                </c:pt>
                <c:pt idx="6">
                  <c:v>2.0813918175586004</c:v>
                </c:pt>
                <c:pt idx="7">
                  <c:v>2.067966346621067</c:v>
                </c:pt>
                <c:pt idx="8">
                  <c:v>2.055068711964571</c:v>
                </c:pt>
                <c:pt idx="9">
                  <c:v>2.0425816755739326</c:v>
                </c:pt>
                <c:pt idx="10">
                  <c:v>2.030368693541768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2.2"/>
          <c:min val="2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7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0.4269134633797335</c:v>
                </c:pt>
                <c:pt idx="1">
                  <c:v>0.5456682540008697</c:v>
                </c:pt>
                <c:pt idx="2">
                  <c:v>0.6670712466167411</c:v>
                </c:pt>
                <c:pt idx="3">
                  <c:v>0.7955353864979577</c:v>
                </c:pt>
                <c:pt idx="4">
                  <c:v>0.9330875882008496</c:v>
                </c:pt>
                <c:pt idx="5">
                  <c:v>1.080080712739348</c:v>
                </c:pt>
                <c:pt idx="6">
                  <c:v>1.2366152409152136</c:v>
                </c:pt>
                <c:pt idx="7">
                  <c:v>1.4035925148914563</c:v>
                </c:pt>
                <c:pt idx="8">
                  <c:v>1.5796292312820297</c:v>
                </c:pt>
                <c:pt idx="9">
                  <c:v>1.7651097163551699</c:v>
                </c:pt>
                <c:pt idx="10">
                  <c:v>1.9574495247573225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2.2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Vπ·L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2.174719455292334</c:v>
                </c:pt>
                <c:pt idx="1">
                  <c:v>2.138364184102711</c:v>
                </c:pt>
                <c:pt idx="2">
                  <c:v>2.108625370512053</c:v>
                </c:pt>
                <c:pt idx="3">
                  <c:v>2.0821267860496744</c:v>
                </c:pt>
                <c:pt idx="4">
                  <c:v>2.0577287432746307</c:v>
                </c:pt>
                <c:pt idx="5">
                  <c:v>2.0351345207468468</c:v>
                </c:pt>
                <c:pt idx="6">
                  <c:v>2.0138627127564974</c:v>
                </c:pt>
                <c:pt idx="7">
                  <c:v>1.9939377847025521</c:v>
                </c:pt>
                <c:pt idx="8">
                  <c:v>1.9750382839001843</c:v>
                </c:pt>
                <c:pt idx="9">
                  <c:v>1.957121849376026</c:v>
                </c:pt>
                <c:pt idx="10">
                  <c:v>1.93996270834315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2.2"/>
          <c:min val="1.9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0.02871671329574259</c:v>
                </c:pt>
                <c:pt idx="1">
                  <c:v>0.0341363809586885</c:v>
                </c:pt>
                <c:pt idx="2">
                  <c:v>0.04026015424829565</c:v>
                </c:pt>
                <c:pt idx="3">
                  <c:v>0.04708722627462664</c:v>
                </c:pt>
                <c:pt idx="4">
                  <c:v>0.054637358874837894</c:v>
                </c:pt>
                <c:pt idx="5">
                  <c:v>0.06286634681780245</c:v>
                </c:pt>
                <c:pt idx="6">
                  <c:v>0.07177584189050608</c:v>
                </c:pt>
                <c:pt idx="7">
                  <c:v>0.08133976329976081</c:v>
                </c:pt>
                <c:pt idx="8">
                  <c:v>0.09150257317700947</c:v>
                </c:pt>
                <c:pt idx="9">
                  <c:v>0.10224410333633357</c:v>
                </c:pt>
                <c:pt idx="10">
                  <c:v>0.11349933862147454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12"/>
          <c:min val="0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Cordoba, gap 4.2 µm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-0.017640984801464032</c:v>
                </c:pt>
                <c:pt idx="2">
                  <c:v>-0.033982145260699426</c:v>
                </c:pt>
                <c:pt idx="3">
                  <c:v>-0.04943917278387078</c:v>
                </c:pt>
                <c:pt idx="4">
                  <c:v>-0.06430905774290885</c:v>
                </c:pt>
                <c:pt idx="5">
                  <c:v>-0.07857435820929304</c:v>
                </c:pt>
                <c:pt idx="6">
                  <c:v>-0.09230441347919704</c:v>
                </c:pt>
                <c:pt idx="7">
                  <c:v>-0.10572988441673026</c:v>
                </c:pt>
                <c:pt idx="8">
                  <c:v>-0.11862751907322622</c:v>
                </c:pt>
                <c:pt idx="9">
                  <c:v>-0.13111455546386486</c:v>
                </c:pt>
                <c:pt idx="10">
                  <c:v>-0.14332753749602922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Lisbon buffered, gap 3.4 µm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0.0</c:v>
                </c:pt>
                <c:pt idx="1">
                  <c:v>-0.03635527118962312</c:v>
                </c:pt>
                <c:pt idx="2">
                  <c:v>-0.06609408478028111</c:v>
                </c:pt>
                <c:pt idx="3">
                  <c:v>-0.09259266924265974</c:v>
                </c:pt>
                <c:pt idx="4">
                  <c:v>-0.11699071201770339</c:v>
                </c:pt>
                <c:pt idx="5">
                  <c:v>-0.13958493454548737</c:v>
                </c:pt>
                <c:pt idx="6">
                  <c:v>-0.1608567425358367</c:v>
                </c:pt>
                <c:pt idx="7">
                  <c:v>-0.180781670589782</c:v>
                </c:pt>
                <c:pt idx="8">
                  <c:v>-0.1996811713921498</c:v>
                </c:pt>
                <c:pt idx="9">
                  <c:v>-0.21759760591630806</c:v>
                </c:pt>
                <c:pt idx="10">
                  <c:v>-0.23475674694918403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0.0"/>
          <c:min val="-0.25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change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05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Cordoba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0.0</c:v>
                </c:pt>
                <c:pt idx="1">
                  <c:v>10.0</c:v>
                </c:pt>
                <c:pt idx="2">
                  <c:v>20.0</c:v>
                </c:pt>
                <c:pt idx="3">
                  <c:v>30.0</c:v>
                </c:pt>
                <c:pt idx="4">
                  <c:v>40.0</c:v>
                </c:pt>
                <c:pt idx="5">
                  <c:v>50.0</c:v>
                </c:pt>
                <c:pt idx="6">
                  <c:v>60.0</c:v>
                </c:pt>
                <c:pt idx="7">
                  <c:v>70.0</c:v>
                </c:pt>
                <c:pt idx="8">
                  <c:v>80.0</c:v>
                </c:pt>
                <c:pt idx="9">
                  <c:v>90.0</c:v>
                </c:pt>
                <c:pt idx="10">
                  <c:v>100.0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0.4269134633797335</c:v>
                </c:pt>
                <c:pt idx="1">
                  <c:v>0.5456682540008697</c:v>
                </c:pt>
                <c:pt idx="2">
                  <c:v>0.6670712466167411</c:v>
                </c:pt>
                <c:pt idx="3">
                  <c:v>0.7955353864979577</c:v>
                </c:pt>
                <c:pt idx="4">
                  <c:v>0.9330875882008496</c:v>
                </c:pt>
                <c:pt idx="5">
                  <c:v>1.080080712739348</c:v>
                </c:pt>
                <c:pt idx="6">
                  <c:v>1.2366152409152136</c:v>
                </c:pt>
                <c:pt idx="7">
                  <c:v>1.4035925148914563</c:v>
                </c:pt>
                <c:pt idx="8">
                  <c:v>1.5796292312820297</c:v>
                </c:pt>
                <c:pt idx="9">
                  <c:v>1.7651097163551699</c:v>
                </c:pt>
                <c:pt idx="10">
                  <c:v>1.9574495247573225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Lisbon buffered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0.02871671329574259</c:v>
                </c:pt>
                <c:pt idx="1">
                  <c:v>0.0341363809586885</c:v>
                </c:pt>
                <c:pt idx="2">
                  <c:v>0.04026015424829565</c:v>
                </c:pt>
                <c:pt idx="3">
                  <c:v>0.04708722627462664</c:v>
                </c:pt>
                <c:pt idx="4">
                  <c:v>0.054637358874837894</c:v>
                </c:pt>
                <c:pt idx="5">
                  <c:v>0.06286634681780245</c:v>
                </c:pt>
                <c:pt idx="6">
                  <c:v>0.07177584189050608</c:v>
                </c:pt>
                <c:pt idx="7">
                  <c:v>0.08133976329976081</c:v>
                </c:pt>
                <c:pt idx="8">
                  <c:v>0.09150257317700947</c:v>
                </c:pt>
                <c:pt idx="9">
                  <c:v>0.10224410333633357</c:v>
                </c:pt>
                <c:pt idx="10">
                  <c:v>0.11349933862147454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Al₂O₃ thickness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logBase val="10"/>
          <c:orientation val="minMax"/>
          <c:max val="10.0"/>
          <c:min val="0.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(dB/cm, log)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40 nm Al₂O₃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4.0</c:v>
                </c:pt>
                <c:pt idx="4">
                  <c:v>4.2</c:v>
                </c:pt>
                <c:pt idx="5">
                  <c:v>4.4</c:v>
                </c:pt>
                <c:pt idx="6">
                  <c:v>4.6</c:v>
                </c:pt>
                <c:pt idx="7">
                  <c:v>4.8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2.0577287432746307</c:v>
                </c:pt>
                <c:pt idx="1">
                  <c:v>2.1755678535809437</c:v>
                </c:pt>
                <c:pt idx="2">
                  <c:v>2.292702712826196</c:v>
                </c:pt>
                <c:pt idx="3">
                  <c:v>2.409386055486002</c:v>
                </c:pt>
                <c:pt idx="4">
                  <c:v>2.525533694255567</c:v>
                </c:pt>
                <c:pt idx="5">
                  <c:v>2.64129244575269</c:v>
                </c:pt>
                <c:pt idx="6">
                  <c:v>2.756726776293504</c:v>
                </c:pt>
                <c:pt idx="7">
                  <c:v>2.8719497039004187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no Al₂O₃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circle"/>
            <c:size val="6"/>
            <c:spPr>
              <a:solidFill>
                <a:srgbClr val="8A8A8A"/>
              </a:solidFill>
              <a:ln>
                <a:solidFill>
                  <a:srgbClr val="8A8A8A"/>
                </a:solidFill>
              </a:ln>
            </c:spPr>
          </c:marker>
          <c:xVal>
            <c:numRef>
              <c:f>Sheet1!$A$12:$A$16</c:f>
              <c:numCache>
                <c:formatCode>General</c:formatCode>
                <c:ptCount val="5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4.0</c:v>
                </c:pt>
                <c:pt idx="4">
                  <c:v>4.2</c:v>
                </c:pt>
              </c:numCache>
            </c:numRef>
          </c:xVal>
          <c:yVal>
            <c:numRef>
              <c:f>Sheet1!$B$12:$B$16</c:f>
              <c:numCache>
                <c:formatCode>General</c:formatCode>
                <c:ptCount val="5"/>
                <c:pt idx="0">
                  <c:v>2.174719455292334</c:v>
                </c:pt>
                <c:pt idx="1">
                  <c:v>2.2941054498049227</c:v>
                </c:pt>
                <c:pt idx="2">
                  <c:v>2.412811638452852</c:v>
                </c:pt>
                <c:pt idx="3">
                  <c:v>2.5310335876606525</c:v>
                </c:pt>
                <c:pt idx="4">
                  <c:v>2.6487219175985417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target 2.175 V·cm</c:v>
                </c:pt>
              </c:strCache>
            </c:strRef>
          </c:tx>
          <c:spPr>
            <a:ln w="15875">
              <a:solidFill>
                <a:srgbClr val="222222"/>
              </a:solidFill>
              <a:prstDash val="dash"/>
            </a:ln>
          </c:spPr>
          <c:marker>
            <c:symbol val="none"/>
          </c:marker>
          <c:xVal>
            <c:numRef>
              <c:f>Sheet1!$A$19:$A$20</c:f>
              <c:numCache>
                <c:formatCode>General</c:formatCode>
                <c:ptCount val="2"/>
                <c:pt idx="0">
                  <c:v>3.4</c:v>
                </c:pt>
                <c:pt idx="1">
                  <c:v>4.8</c:v>
                </c:pt>
              </c:numCache>
            </c:numRef>
          </c:xVal>
          <c:yVal>
            <c:numRef>
              <c:f>Sheet1!$B$19:$B$20</c:f>
              <c:numCache>
                <c:formatCode>General</c:formatCode>
                <c:ptCount val="2"/>
                <c:pt idx="0">
                  <c:v>2.1747</c:v>
                </c:pt>
                <c:pt idx="1">
                  <c:v>2.1747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.8"/>
          <c:min val="3.4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2.9"/>
          <c:min val="2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Vπ·L (V·cm)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40 nm Al₂O₃</c:v>
                </c:pt>
              </c:strCache>
            </c:strRef>
          </c:tx>
          <c:spPr>
            <a:ln w="31750">
              <a:solidFill>
                <a:srgbClr val="2A78D6"/>
              </a:solidFill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4.0</c:v>
                </c:pt>
                <c:pt idx="4">
                  <c:v>4.2</c:v>
                </c:pt>
                <c:pt idx="5">
                  <c:v>4.4</c:v>
                </c:pt>
                <c:pt idx="6">
                  <c:v>4.6</c:v>
                </c:pt>
                <c:pt idx="7">
                  <c:v>4.8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0.054637358874837894</c:v>
                </c:pt>
                <c:pt idx="1">
                  <c:v>0.028494819550763318</c:v>
                </c:pt>
                <c:pt idx="2">
                  <c:v>0.01498963606710942</c:v>
                </c:pt>
                <c:pt idx="3">
                  <c:v>0.007924236170700372</c:v>
                </c:pt>
                <c:pt idx="4">
                  <c:v>0.004201685797283512</c:v>
                </c:pt>
                <c:pt idx="5">
                  <c:v>0.002234521425511817</c:v>
                </c:pt>
                <c:pt idx="6">
                  <c:v>0.0011892547667506762</c:v>
                </c:pt>
                <c:pt idx="7">
                  <c:v>0.0006340537657023127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no Al₂O₃</c:v>
                </c:pt>
              </c:strCache>
            </c:strRef>
          </c:tx>
          <c:spPr>
            <a:ln w="22225">
              <a:solidFill>
                <a:srgbClr val="8A8A8A"/>
              </a:solidFill>
            </a:ln>
          </c:spPr>
          <c:marker>
            <c:symbol val="circle"/>
            <c:size val="6"/>
            <c:spPr>
              <a:solidFill>
                <a:srgbClr val="8A8A8A"/>
              </a:solidFill>
              <a:ln>
                <a:solidFill>
                  <a:srgbClr val="8A8A8A"/>
                </a:solidFill>
              </a:ln>
            </c:spPr>
          </c:marker>
          <c:xVal>
            <c:numRef>
              <c:f>Sheet1!$A$12:$A$16</c:f>
              <c:numCache>
                <c:formatCode>General</c:formatCode>
                <c:ptCount val="5"/>
                <c:pt idx="0">
                  <c:v>3.4</c:v>
                </c:pt>
                <c:pt idx="1">
                  <c:v>3.6</c:v>
                </c:pt>
                <c:pt idx="2">
                  <c:v>3.8</c:v>
                </c:pt>
                <c:pt idx="3">
                  <c:v>4.0</c:v>
                </c:pt>
                <c:pt idx="4">
                  <c:v>4.2</c:v>
                </c:pt>
              </c:numCache>
            </c:numRef>
          </c:xVal>
          <c:yVal>
            <c:numRef>
              <c:f>Sheet1!$B$12:$B$16</c:f>
              <c:numCache>
                <c:formatCode>General</c:formatCode>
                <c:ptCount val="5"/>
                <c:pt idx="0">
                  <c:v>0.02871671329574259</c:v>
                </c:pt>
                <c:pt idx="1">
                  <c:v>0.014884827715162812</c:v>
                </c:pt>
                <c:pt idx="2">
                  <c:v>0.007765992950292305</c:v>
                </c:pt>
                <c:pt idx="3">
                  <c:v>0.004069159421537113</c:v>
                </c:pt>
                <c:pt idx="4">
                  <c:v>0.0021350868257280077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Cordoba 0.43 dB/cm</c:v>
                </c:pt>
              </c:strCache>
            </c:strRef>
          </c:tx>
          <c:spPr>
            <a:ln w="15875">
              <a:solidFill>
                <a:srgbClr val="EB6834"/>
              </a:solidFill>
              <a:prstDash val="dash"/>
            </a:ln>
          </c:spPr>
          <c:marker>
            <c:symbol val="none"/>
          </c:marker>
          <c:xVal>
            <c:numRef>
              <c:f>Sheet1!$A$19:$A$20</c:f>
              <c:numCache>
                <c:formatCode>General</c:formatCode>
                <c:ptCount val="2"/>
                <c:pt idx="0">
                  <c:v>3.4</c:v>
                </c:pt>
                <c:pt idx="1">
                  <c:v>4.8</c:v>
                </c:pt>
              </c:numCache>
            </c:numRef>
          </c:xVal>
          <c:yVal>
            <c:numRef>
              <c:f>Sheet1!$B$19:$B$20</c:f>
              <c:numCache>
                <c:formatCode>General</c:formatCode>
                <c:ptCount val="2"/>
                <c:pt idx="0">
                  <c:v>0.427</c:v>
                </c:pt>
                <c:pt idx="1">
                  <c:v>0.427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4.8"/>
          <c:min val="3.4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Bottom gap (µm)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logBase val="10"/>
          <c:orientation val="minMax"/>
          <c:max val="1.0"/>
          <c:min val="0.0001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latin typeface="Arial"/>
                  </a:rPr>
                  <a:t>Insertion loss (dB/cm, log)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28940872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4B894-4718-4C4D-B942-55BEF7CC3F9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BACFE-D1E4-4E9E-9D2A-07301B51F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against COMSOL: the Vpi*L change matches point by point; the IL increase factor matches within about 3 %. Absolute IL differs by a nearly constant ~25 % ratio (gold model or metal mesh in COMSOL).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0.12 V*cm gained from the alumina buys only about 0.2 um of gap, because Vpi*L rises steeply with the gap. Loss is never the limit: it falls with the gap and is below 0.001 dB/cm at 4.8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2A20-D9C5-BEC1-A331-516D50C93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55FB-8776-2600-FB0D-D37C26A9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B4982-190C-6C07-7215-C2698E3A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7267E-3FDA-B66E-4AD8-C6CE92D5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8C8B-ACEA-A9A3-B4F0-BCD03B8FF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482B-292E-DBE7-F2D3-E10B4F58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1C4E-1EAF-9AB5-5CC4-FC701A97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5CCB-9B55-2936-B303-10802E3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C055-00ED-86ED-9C00-23DE18E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0205-9236-F40A-0142-178DCCE8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F1D0-DAB1-67E8-1B2F-73E26B78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1E0F4-EFC3-E680-F6BE-0E77EFE3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D891C-D277-DFAA-497C-2B8823A5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3FF4E-20C2-F541-1DAB-613C759B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AB07-57B8-0995-EE56-BB900832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A6F8-85E3-4B22-2629-A5CD88BC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67E19-2A08-183A-315B-2C68CBD48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4FEB9-11F8-683F-4BCD-D299C05A4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671DF-0476-B756-5E54-A09AD8F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4C4BB-5CDA-73D0-C1DA-C42A6DE9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1ABC2-6DE1-3D69-6A5D-C3CA3F6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1152-8B57-3EF5-D4C6-0E68766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A3013-0656-B7EA-B887-6A7B2A857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63B16-884B-1811-7BAE-21CA8A6B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255C07-A3DB-F6DA-0F4A-E9B970AC6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7223D-1F4E-936C-E584-1AAB09D0A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43326-229D-65B9-2C15-C2124F2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5B61B-ED00-86A7-6ACD-C43B67AC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9906-6F6F-6917-EF5E-B774E6919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5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6A1B-B2AF-E050-ECF5-ACC5B7AF4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89E8-F0D6-0E88-9769-D89E6292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829C5-1B60-2268-F333-5B76066F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F9A2B-0D7A-2052-FFC8-8CBE90A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24D48-6995-0099-CD08-7A3FDDC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EC935-6C37-2907-F27F-AE46F37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E360F-90C3-AD14-2358-FDAA383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1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657D0-E028-0FEC-8108-C43C00030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22123-834D-B3B6-8655-4F727434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83FF-5EC4-3A43-0CAD-1E9C63C28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F5EC1-48F3-74F5-A266-43E5E2B17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5FD67-83F7-52BD-E689-83B4411A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C7BE6-67AB-39DB-47FB-E76563134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0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4AD1-9B1D-6A0E-B035-2A091F8F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267C1-026F-6542-5C48-B04F16F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653625-A727-A9FB-C543-6910AD686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CE3EF-FE07-E44D-9BEE-561AE12B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48578-8457-617E-26C8-83CBD42A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16A0-6376-1E8B-ACC0-3E99A468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5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B6B-B40F-CD9E-5050-E8332EEE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61BA-32AA-F138-FF9C-253448691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3F75-3492-7080-C63D-3983901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1E4EE-94A7-4D60-6219-FE9FAEED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FFF6-B663-682E-609B-32623E2A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08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E4FA9-B5B0-671D-FF03-B5210A3B1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3531C-997D-F3F0-03A8-0A36E3B8A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AC5E-DA02-76B9-65D8-7F5388545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02A9-7AB1-C1FB-9260-FEB9B49CA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2E534-F0BB-DE3C-8762-F36B2DE8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19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040" y="0"/>
            <a:ext cx="2467880" cy="2057147"/>
          </a:xfrm>
          <a:prstGeom prst="rect">
            <a:avLst/>
          </a:prstGeom>
          <a:noFill/>
        </p:spPr>
      </p:pic>
      <p:grpSp>
        <p:nvGrpSpPr>
          <p:cNvPr id="8" name="组合 7"/>
          <p:cNvGrpSpPr/>
          <p:nvPr userDrawn="1"/>
        </p:nvGrpSpPr>
        <p:grpSpPr>
          <a:xfrm>
            <a:off x="0" y="6485001"/>
            <a:ext cx="12192000" cy="383243"/>
            <a:chOff x="0" y="4833033"/>
            <a:chExt cx="9144000" cy="287432"/>
          </a:xfrm>
        </p:grpSpPr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0" y="4835723"/>
              <a:ext cx="1763688" cy="284742"/>
            </a:xfrm>
            <a:prstGeom prst="rect">
              <a:avLst/>
            </a:prstGeom>
            <a:solidFill>
              <a:srgbClr val="DC0000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763688" y="4835723"/>
              <a:ext cx="7380312" cy="284742"/>
            </a:xfrm>
            <a:prstGeom prst="rect">
              <a:avLst/>
            </a:prstGeom>
            <a:solidFill>
              <a:srgbClr val="00288C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/>
              <a:endParaRPr kumimoji="1" lang="en-US" altLang="zh-TW" sz="1865" dirty="0">
                <a:solidFill>
                  <a:schemeClr val="bg1"/>
                </a:solidFill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0" y="4833033"/>
              <a:ext cx="914399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TW" sz="1800" dirty="0">
                  <a:solidFill>
                    <a:schemeClr val="bg1"/>
                  </a:solidFill>
                  <a:latin typeface="Arial" panose="020B0604020202020204" pitchFamily="34" charset="0"/>
                  <a:ea typeface="PMingLiU" pitchFamily="18" charset="-120"/>
                  <a:cs typeface="Arial" panose="020B0604020202020204" pitchFamily="34" charset="0"/>
                </a:rPr>
                <a:t>www.afrmilan.com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029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61"/>
          <p:cNvGrpSpPr/>
          <p:nvPr userDrawn="1"/>
        </p:nvGrpSpPr>
        <p:grpSpPr>
          <a:xfrm>
            <a:off x="631357" y="453550"/>
            <a:ext cx="996088" cy="0"/>
            <a:chOff x="707557" y="548800"/>
            <a:chExt cx="996088" cy="0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707557" y="548800"/>
              <a:ext cx="29953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F2001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983645" y="548800"/>
              <a:ext cx="72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rgbClr val="0E2268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 userDrawn="1"/>
        </p:nvGrpSpPr>
        <p:grpSpPr>
          <a:xfrm>
            <a:off x="10607281" y="233681"/>
            <a:ext cx="1177119" cy="900000"/>
            <a:chOff x="7955458" y="175261"/>
            <a:chExt cx="882839" cy="675000"/>
          </a:xfrm>
        </p:grpSpPr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60" t="23787" r="27970" b="32989"/>
            <a:stretch>
              <a:fillRect/>
            </a:stretch>
          </p:blipFill>
          <p:spPr>
            <a:xfrm>
              <a:off x="7955458" y="175261"/>
              <a:ext cx="882839" cy="675000"/>
            </a:xfrm>
            <a:prstGeom prst="rect">
              <a:avLst/>
            </a:prstGeom>
          </p:spPr>
        </p:pic>
        <p:sp>
          <p:nvSpPr>
            <p:cNvPr id="15" name="椭圆 14"/>
            <p:cNvSpPr/>
            <p:nvPr userDrawn="1"/>
          </p:nvSpPr>
          <p:spPr>
            <a:xfrm>
              <a:off x="8676456" y="195486"/>
              <a:ext cx="144016" cy="1440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9211454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7BB2C-76DC-90AF-74E8-5CA2C51AF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E614-5C6F-DC4C-07CD-F948CDE44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B5F60-52FA-13B8-32F6-4BFCF5859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E38A5-0897-4509-B474-CA7BACA3876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7BDF0-920C-8B79-6328-4F4CFFA1E3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0653-7ED0-A2A9-6425-DC06C7BEE1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C66D7-084B-4B9E-8AAC-516FE602C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1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0.xml"/><Relationship Id="rId3" Type="http://schemas.openxmlformats.org/officeDocument/2006/relationships/chart" Target="../charts/chart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4.xml"/><Relationship Id="rId3" Type="http://schemas.openxmlformats.org/officeDocument/2006/relationships/chart" Target="../charts/chart25.xml"/><Relationship Id="rId4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48840"/>
            <a:ext cx="96012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 i="0">
                <a:solidFill>
                  <a:srgbClr val="222222"/>
                </a:solidFill>
                <a:latin typeface="Arial"/>
              </a:rPr>
              <a:t>ALD alumina protection layer:</a:t>
            </a:r>
          </a:p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222222"/>
                </a:solidFill>
                <a:latin typeface="Arial"/>
              </a:rPr>
              <a:t>Cordoba vs buffered Lisbon lifted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Arial"/>
              </a:rPr>
              <a:t>Effect on Vπ·L and insertion loss, gap relaxation and robustness at λ = 1575 nm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What we studied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 thin alumina film covers every exposed surface after the electrodes are made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E185D"/>
                </a:solidFill>
                <a:latin typeface="Arial"/>
              </a:rPr>
              <a:t>The layer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ALD Al₂O₃, conformal on all surfaces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Nominal 40 nm, swept 0 → 100 nm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Optical index 1.74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RF permittivity 9.8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EB6834"/>
                </a:solidFill>
                <a:latin typeface="Arial"/>
              </a:rPr>
              <a:t>Cordoba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Gold directly on the LN slab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Electrode gap 4.2 µm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Reference: 0.43 dB/cm, 2.17 V·cm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1828800"/>
            <a:ext cx="347472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2A78D6"/>
                </a:solidFill>
                <a:latin typeface="Arial"/>
              </a:rPr>
              <a:t>Lisbon lifted, buffered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Gold on a 200 nm SiO₂ buffer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Bottom gap 3.4 µm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Reference: 0.03 dB/cm, 2.17 V·cm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Arial"/>
              </a:rPr>
              <a:t>Common settings: 1575 nm, 550 nm LN film with 275 nm etch, rib top width 1.4 µm, SiO₂ cap 2.0 × 1.4 µm, full LN slab (no slab etch).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Arial"/>
              </a:rPr>
              <a:t>Questions: how much does the layer lower Vπ·L, how much loss does it add, and can it let us widen the Lisbon gap?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The two cross-sections with 40 nm of alumina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Alumina in pink; the red box marks the zoomed electrode corner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B6834"/>
                </a:solidFill>
                <a:latin typeface="Arial"/>
              </a:rPr>
              <a:t>Cordoba</a:t>
            </a:r>
          </a:p>
        </p:txBody>
      </p:sp>
      <p:pic>
        <p:nvPicPr>
          <p:cNvPr id="5" name="Picture 4" descr="xs_cordob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656590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Arial"/>
              </a:rPr>
              <a:t>Lisbon lifted with 200 nm SiO₂ buffer</a:t>
            </a:r>
          </a:p>
        </p:txBody>
      </p:sp>
      <p:pic>
        <p:nvPicPr>
          <p:cNvPr id="7" name="Picture 6" descr="xs_lisb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26280"/>
            <a:ext cx="6565900" cy="2148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2103120"/>
            <a:ext cx="4023360" cy="2651760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4E79"/>
                </a:solidFill>
                <a:latin typeface="Arial"/>
              </a:rPr>
              <a:t>Legend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Gold: electrodes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Grey: lithium niobate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Blue: SiO₂ (box, cap, buffer, lift)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BE185D"/>
                </a:solidFill>
                <a:latin typeface="Arial"/>
              </a:rPr>
              <a:t>Pink: ALD alumina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Cordoba: lower Vπ·L, but twice the loss at 40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4.2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Arial"/>
              </a:rPr>
              <a:t>−3 %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2.174 → 2.109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×2.2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0.43 → 0.93 dB/cm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Lisbon buffered: larger Vπ·L gain, very low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Bottom gap 3.4 µm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4630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−5.4 %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at 40 nm: 2.175 → 2.058 V·cm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544068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5550408"/>
            <a:ext cx="3840480" cy="57835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0.055 dB/cm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6071616"/>
            <a:ext cx="3657600" cy="399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40 nm: still 8× below bare Cordoba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Side by side: same trend, different strength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Each curve is measured from its own design without alumina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7899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Same starting Vπ·L (2.17 V·cm), but Lisbon gains almost twice as much.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Loss grows by a similar factor in both, yet Lisbon stays about 15 times lower.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Why Lisbon gains more: what the alumina sits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Simplified drawing, not to scale</a:t>
            </a:r>
          </a:p>
        </p:txBody>
      </p:sp>
      <p:pic>
        <p:nvPicPr>
          <p:cNvPr id="4" name="Picture 3" descr="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315200" cy="2588455"/>
          </a:xfrm>
          <a:prstGeom prst="rect">
            <a:avLst/>
          </a:prstGeom>
        </p:spPr>
      </p:pic>
      <p:pic>
        <p:nvPicPr>
          <p:cNvPr id="5" name="Picture 4" descr="equal_ga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91640"/>
            <a:ext cx="3566160" cy="25308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0"/>
            <a:ext cx="10789920" cy="1920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In Cordoba, the electric field already prefers the LN, which is far more polarisable than alumina.</a:t>
            </a:r>
          </a:p>
          <a:p>
            <a:pPr algn="l" marL="256032" indent="-201168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222222"/>
                </a:solidFill>
                <a:latin typeface="Arial"/>
              </a:rPr>
              <a:t>In Lisbon, alumina is the most polarisable material at the electrode level: it acts like a small extension of the electrode toward the waveguide.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500" b="1" i="0">
                <a:solidFill>
                  <a:srgbClr val="1F4E79"/>
                </a:solidFill>
                <a:latin typeface="Arial"/>
              </a:rPr>
              <a:t>Test at the same 4.2 µm gap: Lisbon still gains twice as much. The buffer, not the narrower gap, causes the difference.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Is it the mesh?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The 40 nm cases were repeated with a much finer mesh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2743200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4480560"/>
                <a:gridCol w="164592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Case (40 nm alumina)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Mesh refinement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Vπ·L 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Loss 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3.4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−0.8 %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3.4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5 elements across the alumina (instead of 3)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&lt; 0.01 %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−0.2 %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Lisbon, gap 4.2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−0.8 %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Cordoba, gap 4.2 µm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30 % finer everywhere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+0.02 %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−0.6 %</a:t>
                      </a:r>
                    </a:p>
                  </a:txBody>
                  <a:tcPr marL="54864" marR="54864" marT="18288" marB="18288" anchor="ctr">
                    <a:solidFill>
                      <a:srgbClr val="DDE3E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Cordoba, gap 4.2 µm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5 elements across the alumina (instead of 3)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0.00 %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222222"/>
                          </a:solidFill>
                          <a:latin typeface="Arial"/>
                        </a:rPr>
                        <a:t>+0.03 %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108960" y="5029200"/>
            <a:ext cx="5943600" cy="118872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5138928"/>
            <a:ext cx="5943600" cy="6537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0.05 V·cm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742432"/>
            <a:ext cx="5760720" cy="45171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Lisbon–Cordoba difference at 40 nm: about 100× larger than any mesh effect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Gap relaxation: from 3.4 µm to 3.6 µm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Target: Vπ·L of Lisbon without alumina at 3.4 µm (2.175 V·cm, the same as Cordoba)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691640"/>
          <a:ext cx="54864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41848"/>
            <a:ext cx="3291840" cy="5532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2A78D6"/>
                </a:solidFill>
                <a:latin typeface="Arial"/>
              </a:rPr>
              <a:t>3.60 µm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35624"/>
            <a:ext cx="3108960" cy="3822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relaxed gap with 40 nm alumina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5641848"/>
            <a:ext cx="3291840" cy="5532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BE185D"/>
                </a:solidFill>
                <a:latin typeface="Arial"/>
              </a:rPr>
              <a:t>0.029 dB/cm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6135624"/>
            <a:ext cx="3108960" cy="3822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loss at 3.60 µm: 15× below Cordoba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532120"/>
            <a:ext cx="3291840" cy="100584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5641848"/>
            <a:ext cx="3291840" cy="5532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1F4E79"/>
                </a:solidFill>
                <a:latin typeface="Arial"/>
              </a:rPr>
              <a:t>+0.58 V·cm/µm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6135624"/>
            <a:ext cx="3108960" cy="38221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Vπ·L cost of widening the gap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Robustness: alumina thickness ±10 nm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15568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95959"/>
                </a:solidFill>
                <a:latin typeface="Arial"/>
              </a:rPr>
              <a:t>Gap fixed at 3.60 µm, designed for 40 nm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920240"/>
          <a:ext cx="9418320" cy="2011680"/>
        </p:xfrm>
        <a:graphic>
          <a:graphicData uri="http://schemas.openxmlformats.org/drawingml/2006/table">
            <a:tbl>
              <a:tblPr firstRow="1" bandRow="1"/>
              <a:tblGrid>
                <a:gridCol w="2926080"/>
                <a:gridCol w="2103120"/>
                <a:gridCol w="1828800"/>
                <a:gridCol w="25603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Alumina thickness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Vπ·L (V·cm)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Insertion loss (dB/cm)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30 nm (-10 nm)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2.200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+1.1 %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0.025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40 nm (nominal)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2.175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+0.0 %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0.029</a:t>
                      </a:r>
                    </a:p>
                  </a:txBody>
                  <a:tcPr marL="54864" marR="54864" marT="18288" marB="18288" anchor="ctr">
                    <a:solidFill>
                      <a:srgbClr val="FDE9D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50 nm (+10 nm)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2.152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-1.1 %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222222"/>
                          </a:solidFill>
                          <a:latin typeface="Arial"/>
                        </a:rPr>
                        <a:t>0.033</a:t>
                      </a:r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206240"/>
            <a:ext cx="96012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 marL="256032" indent="-201168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A ±10 nm error moves Vπ·L by only about ±1 %.</a:t>
            </a:r>
          </a:p>
          <a:p>
            <a:pPr algn="l" marL="256032" indent="-201168">
              <a:spcAft>
                <a:spcPts val="12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This equals a gap error of about 40 nm: gap lithography matters more than alumina control.</a:t>
            </a:r>
          </a:p>
          <a:p>
            <a:pPr algn="l" marL="256032" indent="-20116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</a:rPr>
              <a:t>Loss stays between 0.025 and 0.033 dB/cm, far below Cordoba's 0.43 dB/cm.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75488"/>
            <a:ext cx="102412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222222"/>
                </a:solidFill>
                <a:latin typeface="Arial"/>
              </a:rPr>
              <a:t>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Alumina lowers Vπ·L in both designs: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by 3 % in Cordoba and 5.4 % in Lisbon at 40 nm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The difference is physical: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the buffer makes the alumina more effective; the mesh is not the cause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Loss is not a concern for Lisbon: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below 0.06 dB/cm at 3.4 µm, below 0.03 dB/cm at 3.6 µm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The gap gain is modest: 3.4 → 3.6 µm: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a wider gap is possible only by accepting a higher Vπ·L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4068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EA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1440" bIns="91440"/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Process tolerance is comfortable:  </a:t>
            </a:r>
            <a:r>
              <a:rPr sz="1600" b="0" i="0">
                <a:solidFill>
                  <a:srgbClr val="222222"/>
                </a:solidFill>
                <a:latin typeface="Arial"/>
              </a:rPr>
              <a:t>±10 nm of alumina changes Vπ·L by about ±1 %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1568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Andrei.Muresian</dc:creator>
  <cp:lastModifiedBy>Andrei.Muresian</cp:lastModifiedBy>
  <cp:revision>44</cp:revision>
  <dcterms:created xsi:type="dcterms:W3CDTF">2025-12-01T09:32:09Z</dcterms:created>
  <dcterms:modified xsi:type="dcterms:W3CDTF">2026-10-01T11:55:02Z</dcterms:modified>
</cp:coreProperties>
</file>