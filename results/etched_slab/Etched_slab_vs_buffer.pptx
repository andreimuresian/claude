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7"/>
    <p:sldId id="257" r:id="rId6"/>
    <p:sldId id="258" r:id="rId5"/>
    <p:sldId id="259" r:id="rId4"/>
    <p:sldId id="260" r:id="rId3"/>
    <p:sldId id="261" r:id="rId2"/>
    <p:sldId id="262" r:id="rId13"/>
    <p:sldId id="263" r:id="rId14"/>
    <p:sldId id="264" r:id="rId15"/>
    <p:sldId id="265" r:id="rId16"/>
    <p:sldId id="266" r:id="rId17"/>
    <p:sldId id="267" r:id="rId18"/>
    <p:sldId id="26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x_lift = 7 µm (nominal)</c:v>
                </c:pt>
              </c:strCache>
            </c:strRef>
          </c:tx>
          <c:spPr>
            <a:ln w="19050">
              <a:solidFill>
                <a:srgbClr val="2A78D6"/>
              </a:solidFill>
            </a:ln>
          </c:spPr>
          <c:marker>
            <c:symbol val="circle"/>
            <c:size val="4"/>
            <c:spPr>
              <a:solidFill>
                <a:srgbClr val="2A78D6"/>
              </a:solidFill>
              <a:ln>
                <a:solidFill>
                  <a:srgbClr val="2A78D6"/>
                </a:solidFill>
              </a:ln>
            </c:spPr>
          </c:marker>
          <c:xVal>
            <c:numRef>
              <c:f>Sheet1!$A$2:$A$141</c:f>
              <c:numCache>
                <c:formatCode>General</c:formatCode>
                <c:ptCount val="140"/>
                <c:pt idx="0">
                  <c:v>2.4</c:v>
                </c:pt>
                <c:pt idx="1">
                  <c:v>2.8</c:v>
                </c:pt>
                <c:pt idx="2">
                  <c:v>3.2</c:v>
                </c:pt>
                <c:pt idx="3">
                  <c:v>3.6</c:v>
                </c:pt>
                <c:pt idx="4">
                  <c:v>4.0</c:v>
                </c:pt>
                <c:pt idx="5">
                  <c:v>4.1</c:v>
                </c:pt>
                <c:pt idx="6">
                  <c:v>4.15</c:v>
                </c:pt>
                <c:pt idx="7">
                  <c:v>4.2</c:v>
                </c:pt>
                <c:pt idx="8">
                  <c:v>4.25</c:v>
                </c:pt>
                <c:pt idx="9">
                  <c:v>4.3</c:v>
                </c:pt>
                <c:pt idx="10">
                  <c:v>4.4</c:v>
                </c:pt>
                <c:pt idx="11">
                  <c:v>4.5</c:v>
                </c:pt>
                <c:pt idx="12">
                  <c:v>4.6</c:v>
                </c:pt>
                <c:pt idx="13">
                  <c:v>4.7</c:v>
                </c:pt>
                <c:pt idx="14">
                  <c:v>4.75</c:v>
                </c:pt>
                <c:pt idx="15">
                  <c:v>4.8</c:v>
                </c:pt>
                <c:pt idx="16">
                  <c:v>4.85</c:v>
                </c:pt>
                <c:pt idx="17">
                  <c:v>4.9</c:v>
                </c:pt>
                <c:pt idx="18">
                  <c:v>4.95</c:v>
                </c:pt>
                <c:pt idx="19">
                  <c:v>5.0</c:v>
                </c:pt>
                <c:pt idx="20">
                  <c:v>5.05</c:v>
                </c:pt>
                <c:pt idx="21">
                  <c:v>5.1</c:v>
                </c:pt>
                <c:pt idx="22">
                  <c:v>5.15</c:v>
                </c:pt>
                <c:pt idx="23">
                  <c:v>5.2</c:v>
                </c:pt>
                <c:pt idx="24">
                  <c:v>5.4</c:v>
                </c:pt>
                <c:pt idx="25">
                  <c:v>5.6</c:v>
                </c:pt>
                <c:pt idx="26">
                  <c:v>5.8</c:v>
                </c:pt>
                <c:pt idx="27">
                  <c:v>6.0</c:v>
                </c:pt>
                <c:pt idx="28">
                  <c:v>6.2</c:v>
                </c:pt>
                <c:pt idx="29">
                  <c:v>6.4</c:v>
                </c:pt>
                <c:pt idx="30">
                  <c:v>6.45</c:v>
                </c:pt>
                <c:pt idx="31">
                  <c:v>6.5</c:v>
                </c:pt>
                <c:pt idx="32">
                  <c:v>6.55</c:v>
                </c:pt>
                <c:pt idx="33">
                  <c:v>6.6</c:v>
                </c:pt>
                <c:pt idx="34">
                  <c:v>6.65</c:v>
                </c:pt>
                <c:pt idx="35">
                  <c:v>6.7</c:v>
                </c:pt>
                <c:pt idx="36">
                  <c:v>6.75</c:v>
                </c:pt>
                <c:pt idx="37">
                  <c:v>6.8</c:v>
                </c:pt>
                <c:pt idx="38">
                  <c:v>6.85</c:v>
                </c:pt>
                <c:pt idx="39">
                  <c:v>6.9</c:v>
                </c:pt>
                <c:pt idx="40">
                  <c:v>6.95</c:v>
                </c:pt>
                <c:pt idx="41">
                  <c:v>7.0</c:v>
                </c:pt>
                <c:pt idx="42">
                  <c:v>7.05</c:v>
                </c:pt>
                <c:pt idx="43">
                  <c:v>7.2</c:v>
                </c:pt>
                <c:pt idx="44">
                  <c:v>7.4</c:v>
                </c:pt>
                <c:pt idx="45">
                  <c:v>7.6</c:v>
                </c:pt>
                <c:pt idx="46">
                  <c:v>7.8</c:v>
                </c:pt>
                <c:pt idx="47">
                  <c:v>8.0</c:v>
                </c:pt>
                <c:pt idx="48">
                  <c:v>8.2</c:v>
                </c:pt>
                <c:pt idx="49">
                  <c:v>8.25</c:v>
                </c:pt>
                <c:pt idx="50">
                  <c:v>8.3</c:v>
                </c:pt>
                <c:pt idx="51">
                  <c:v>8.35</c:v>
                </c:pt>
                <c:pt idx="52">
                  <c:v>8.4</c:v>
                </c:pt>
                <c:pt idx="53">
                  <c:v>8.45</c:v>
                </c:pt>
                <c:pt idx="54">
                  <c:v>8.5</c:v>
                </c:pt>
                <c:pt idx="55">
                  <c:v>8.55</c:v>
                </c:pt>
                <c:pt idx="56">
                  <c:v>8.6</c:v>
                </c:pt>
                <c:pt idx="57">
                  <c:v>8.65</c:v>
                </c:pt>
                <c:pt idx="58">
                  <c:v>8.7</c:v>
                </c:pt>
                <c:pt idx="59">
                  <c:v>8.75</c:v>
                </c:pt>
                <c:pt idx="60">
                  <c:v>8.8</c:v>
                </c:pt>
                <c:pt idx="61">
                  <c:v>8.85</c:v>
                </c:pt>
                <c:pt idx="62">
                  <c:v>9.0</c:v>
                </c:pt>
                <c:pt idx="63">
                  <c:v>9.2</c:v>
                </c:pt>
                <c:pt idx="64">
                  <c:v>9.4</c:v>
                </c:pt>
                <c:pt idx="65">
                  <c:v>9.6</c:v>
                </c:pt>
                <c:pt idx="66">
                  <c:v>9.8</c:v>
                </c:pt>
                <c:pt idx="67">
                  <c:v>10.0</c:v>
                </c:pt>
                <c:pt idx="68">
                  <c:v>10.05</c:v>
                </c:pt>
                <c:pt idx="69">
                  <c:v>10.1</c:v>
                </c:pt>
                <c:pt idx="70">
                  <c:v>10.15</c:v>
                </c:pt>
                <c:pt idx="71">
                  <c:v>10.2</c:v>
                </c:pt>
                <c:pt idx="72">
                  <c:v>10.25</c:v>
                </c:pt>
                <c:pt idx="73">
                  <c:v>10.3</c:v>
                </c:pt>
                <c:pt idx="74">
                  <c:v>10.35</c:v>
                </c:pt>
                <c:pt idx="75">
                  <c:v>10.4</c:v>
                </c:pt>
                <c:pt idx="76">
                  <c:v>10.45</c:v>
                </c:pt>
                <c:pt idx="77">
                  <c:v>10.5</c:v>
                </c:pt>
                <c:pt idx="78">
                  <c:v>10.55</c:v>
                </c:pt>
                <c:pt idx="79">
                  <c:v>10.6</c:v>
                </c:pt>
                <c:pt idx="80">
                  <c:v>10.65</c:v>
                </c:pt>
                <c:pt idx="81">
                  <c:v>10.8</c:v>
                </c:pt>
                <c:pt idx="82">
                  <c:v>11.0</c:v>
                </c:pt>
                <c:pt idx="83">
                  <c:v>11.2</c:v>
                </c:pt>
                <c:pt idx="84">
                  <c:v>11.4</c:v>
                </c:pt>
                <c:pt idx="85">
                  <c:v>11.6</c:v>
                </c:pt>
                <c:pt idx="86">
                  <c:v>11.8</c:v>
                </c:pt>
                <c:pt idx="87">
                  <c:v>11.85</c:v>
                </c:pt>
                <c:pt idx="88">
                  <c:v>11.9</c:v>
                </c:pt>
                <c:pt idx="89">
                  <c:v>11.95</c:v>
                </c:pt>
                <c:pt idx="90">
                  <c:v>12.0</c:v>
                </c:pt>
                <c:pt idx="91">
                  <c:v>12.05</c:v>
                </c:pt>
                <c:pt idx="92">
                  <c:v>12.1</c:v>
                </c:pt>
                <c:pt idx="93">
                  <c:v>12.15</c:v>
                </c:pt>
                <c:pt idx="94">
                  <c:v>12.2</c:v>
                </c:pt>
                <c:pt idx="95">
                  <c:v>12.25</c:v>
                </c:pt>
                <c:pt idx="96">
                  <c:v>12.3</c:v>
                </c:pt>
                <c:pt idx="97">
                  <c:v>12.35</c:v>
                </c:pt>
                <c:pt idx="98">
                  <c:v>12.4</c:v>
                </c:pt>
                <c:pt idx="99">
                  <c:v>12.45</c:v>
                </c:pt>
                <c:pt idx="100">
                  <c:v>12.6</c:v>
                </c:pt>
                <c:pt idx="101">
                  <c:v>12.8</c:v>
                </c:pt>
                <c:pt idx="102">
                  <c:v>13.0</c:v>
                </c:pt>
                <c:pt idx="103">
                  <c:v>13.2</c:v>
                </c:pt>
                <c:pt idx="104">
                  <c:v>13.4</c:v>
                </c:pt>
                <c:pt idx="105">
                  <c:v>13.6</c:v>
                </c:pt>
                <c:pt idx="106">
                  <c:v>13.65</c:v>
                </c:pt>
                <c:pt idx="107">
                  <c:v>13.7</c:v>
                </c:pt>
                <c:pt idx="108">
                  <c:v>13.75</c:v>
                </c:pt>
                <c:pt idx="109">
                  <c:v>13.8</c:v>
                </c:pt>
                <c:pt idx="110">
                  <c:v>13.85</c:v>
                </c:pt>
                <c:pt idx="111">
                  <c:v>13.9</c:v>
                </c:pt>
                <c:pt idx="112">
                  <c:v>13.95</c:v>
                </c:pt>
                <c:pt idx="113">
                  <c:v>14.0</c:v>
                </c:pt>
                <c:pt idx="114">
                  <c:v>14.05</c:v>
                </c:pt>
                <c:pt idx="115">
                  <c:v>14.1</c:v>
                </c:pt>
                <c:pt idx="116">
                  <c:v>14.2</c:v>
                </c:pt>
                <c:pt idx="117">
                  <c:v>14.3</c:v>
                </c:pt>
                <c:pt idx="118">
                  <c:v>14.4</c:v>
                </c:pt>
                <c:pt idx="119">
                  <c:v>14.5</c:v>
                </c:pt>
                <c:pt idx="120">
                  <c:v>14.6</c:v>
                </c:pt>
                <c:pt idx="121">
                  <c:v>14.7</c:v>
                </c:pt>
                <c:pt idx="122">
                  <c:v>14.8</c:v>
                </c:pt>
                <c:pt idx="123">
                  <c:v>14.9</c:v>
                </c:pt>
                <c:pt idx="124">
                  <c:v>15.0</c:v>
                </c:pt>
                <c:pt idx="125">
                  <c:v>15.2</c:v>
                </c:pt>
                <c:pt idx="126">
                  <c:v>15.4</c:v>
                </c:pt>
                <c:pt idx="127">
                  <c:v>15.6</c:v>
                </c:pt>
                <c:pt idx="128">
                  <c:v>15.8</c:v>
                </c:pt>
                <c:pt idx="129">
                  <c:v>16.0</c:v>
                </c:pt>
                <c:pt idx="130">
                  <c:v>16.4</c:v>
                </c:pt>
                <c:pt idx="131">
                  <c:v>16.8</c:v>
                </c:pt>
                <c:pt idx="132">
                  <c:v>17.2</c:v>
                </c:pt>
                <c:pt idx="133">
                  <c:v>17.6</c:v>
                </c:pt>
                <c:pt idx="134">
                  <c:v>18.0</c:v>
                </c:pt>
                <c:pt idx="135">
                  <c:v>18.4</c:v>
                </c:pt>
                <c:pt idx="136">
                  <c:v>18.8</c:v>
                </c:pt>
                <c:pt idx="137">
                  <c:v>19.2</c:v>
                </c:pt>
                <c:pt idx="138">
                  <c:v>19.6</c:v>
                </c:pt>
                <c:pt idx="139">
                  <c:v>20.0</c:v>
                </c:pt>
              </c:numCache>
            </c:numRef>
          </c:xVal>
          <c:yVal>
            <c:numRef>
              <c:f>Sheet1!$B$2:$B$141</c:f>
              <c:numCache>
                <c:formatCode>General</c:formatCode>
                <c:ptCount val="140"/>
                <c:pt idx="0">
                  <c:v>1.6709e-05</c:v>
                </c:pt>
                <c:pt idx="1">
                  <c:v>5.1145e-05</c:v>
                </c:pt>
                <c:pt idx="2">
                  <c:v>0.00016374</c:v>
                </c:pt>
                <c:pt idx="3">
                  <c:v>0.00056997</c:v>
                </c:pt>
                <c:pt idx="4">
                  <c:v>0.0029238</c:v>
                </c:pt>
                <c:pt idx="5">
                  <c:v>0.006843538536730506</c:v>
                </c:pt>
                <c:pt idx="6">
                  <c:v>0.01625920803843066</c:v>
                </c:pt>
                <c:pt idx="7">
                  <c:v>0.3992121897806185</c:v>
                </c:pt>
                <c:pt idx="8">
                  <c:v>0.27518994608104475</c:v>
                </c:pt>
                <c:pt idx="9">
                  <c:v>0.20288752830513648</c:v>
                </c:pt>
                <c:pt idx="10">
                  <c:v>0.12714081822264087</c:v>
                </c:pt>
                <c:pt idx="11">
                  <c:v>0.09945827170621555</c:v>
                </c:pt>
                <c:pt idx="12">
                  <c:v>0.10402871592391051</c:v>
                </c:pt>
                <c:pt idx="13">
                  <c:v>0.15987199038363142</c:v>
                </c:pt>
                <c:pt idx="14">
                  <c:v>0.23637755360007337</c:v>
                </c:pt>
                <c:pt idx="15">
                  <c:v>0.4067314194640136</c:v>
                </c:pt>
                <c:pt idx="16">
                  <c:v>0.8728543581784377</c:v>
                </c:pt>
                <c:pt idx="17">
                  <c:v>2.6909140034704686</c:v>
                </c:pt>
                <c:pt idx="18">
                  <c:v>7.40141686807917</c:v>
                </c:pt>
                <c:pt idx="19">
                  <c:v>2.613677307782508</c:v>
                </c:pt>
                <c:pt idx="20">
                  <c:v>0.9499524505542624</c:v>
                </c:pt>
                <c:pt idx="21">
                  <c:v>0.47863188763472647</c:v>
                </c:pt>
                <c:pt idx="22">
                  <c:v>0.29344053720659385</c:v>
                </c:pt>
                <c:pt idx="23">
                  <c:v>0.20098</c:v>
                </c:pt>
                <c:pt idx="24">
                  <c:v>0.07812</c:v>
                </c:pt>
                <c:pt idx="25">
                  <c:v>0.047693</c:v>
                </c:pt>
                <c:pt idx="26">
                  <c:v>0.038338</c:v>
                </c:pt>
                <c:pt idx="27">
                  <c:v>0.040597</c:v>
                </c:pt>
                <c:pt idx="28">
                  <c:v>0.05943</c:v>
                </c:pt>
                <c:pt idx="29">
                  <c:v>0.13186</c:v>
                </c:pt>
                <c:pt idx="30">
                  <c:v>0.17595</c:v>
                </c:pt>
                <c:pt idx="31">
                  <c:v>0.24574</c:v>
                </c:pt>
                <c:pt idx="32">
                  <c:v>0.36588</c:v>
                </c:pt>
                <c:pt idx="33">
                  <c:v>0.5908</c:v>
                </c:pt>
                <c:pt idx="34">
                  <c:v>1.0475</c:v>
                </c:pt>
                <c:pt idx="35">
                  <c:v>1.9426</c:v>
                </c:pt>
                <c:pt idx="36">
                  <c:v>2.8834</c:v>
                </c:pt>
                <c:pt idx="37">
                  <c:v>2.3294</c:v>
                </c:pt>
                <c:pt idx="38">
                  <c:v>1.3523</c:v>
                </c:pt>
                <c:pt idx="39">
                  <c:v>0.79579</c:v>
                </c:pt>
                <c:pt idx="40">
                  <c:v>0.51346</c:v>
                </c:pt>
                <c:pt idx="41">
                  <c:v>0.35857</c:v>
                </c:pt>
                <c:pt idx="42">
                  <c:v>0.2676</c:v>
                </c:pt>
                <c:pt idx="43">
                  <c:v>0.14145</c:v>
                </c:pt>
                <c:pt idx="44">
                  <c:v>0.087431</c:v>
                </c:pt>
                <c:pt idx="45">
                  <c:v>0.07145</c:v>
                </c:pt>
                <c:pt idx="46">
                  <c:v>0.076405</c:v>
                </c:pt>
                <c:pt idx="47">
                  <c:v>0.10839</c:v>
                </c:pt>
                <c:pt idx="48">
                  <c:v>0.22249</c:v>
                </c:pt>
                <c:pt idx="49">
                  <c:v>0.28742</c:v>
                </c:pt>
                <c:pt idx="50">
                  <c:v>0.38712</c:v>
                </c:pt>
                <c:pt idx="51">
                  <c:v>0.54357</c:v>
                </c:pt>
                <c:pt idx="52">
                  <c:v>0.78893</c:v>
                </c:pt>
                <c:pt idx="53">
                  <c:v>1.176</c:v>
                </c:pt>
                <c:pt idx="54">
                  <c:v>1.6516</c:v>
                </c:pt>
                <c:pt idx="55">
                  <c:v>1.8869</c:v>
                </c:pt>
                <c:pt idx="56">
                  <c:v>1.6364</c:v>
                </c:pt>
                <c:pt idx="57">
                  <c:v>1.1974</c:v>
                </c:pt>
                <c:pt idx="58">
                  <c:v>0.83269</c:v>
                </c:pt>
                <c:pt idx="59">
                  <c:v>0.59773</c:v>
                </c:pt>
                <c:pt idx="60">
                  <c:v>0.4444</c:v>
                </c:pt>
                <c:pt idx="61">
                  <c:v>0.34446</c:v>
                </c:pt>
                <c:pt idx="62">
                  <c:v>0.19321</c:v>
                </c:pt>
                <c:pt idx="63">
                  <c:v>0.12381</c:v>
                </c:pt>
                <c:pt idx="64">
                  <c:v>0.10406</c:v>
                </c:pt>
                <c:pt idx="65">
                  <c:v>0.11143</c:v>
                </c:pt>
                <c:pt idx="66">
                  <c:v>0.15637</c:v>
                </c:pt>
                <c:pt idx="67">
                  <c:v>0.30755</c:v>
                </c:pt>
                <c:pt idx="68">
                  <c:v>0.38598</c:v>
                </c:pt>
                <c:pt idx="69">
                  <c:v>0.49568</c:v>
                </c:pt>
                <c:pt idx="70">
                  <c:v>0.65265</c:v>
                </c:pt>
                <c:pt idx="71">
                  <c:v>0.86814</c:v>
                </c:pt>
                <c:pt idx="72">
                  <c:v>1.1297</c:v>
                </c:pt>
                <c:pt idx="73">
                  <c:v>1.3567</c:v>
                </c:pt>
                <c:pt idx="74">
                  <c:v>1.401</c:v>
                </c:pt>
                <c:pt idx="75">
                  <c:v>1.2539</c:v>
                </c:pt>
                <c:pt idx="76">
                  <c:v>1.012</c:v>
                </c:pt>
                <c:pt idx="77">
                  <c:v>0.79194</c:v>
                </c:pt>
                <c:pt idx="78">
                  <c:v>0.61665</c:v>
                </c:pt>
                <c:pt idx="79">
                  <c:v>0.48684</c:v>
                </c:pt>
                <c:pt idx="80">
                  <c:v>0.39263</c:v>
                </c:pt>
                <c:pt idx="81">
                  <c:v>0.23703</c:v>
                </c:pt>
                <c:pt idx="82">
                  <c:v>0.15775</c:v>
                </c:pt>
                <c:pt idx="83">
                  <c:v>0.1349</c:v>
                </c:pt>
                <c:pt idx="84">
                  <c:v>0.1457</c:v>
                </c:pt>
                <c:pt idx="85">
                  <c:v>0.20227</c:v>
                </c:pt>
                <c:pt idx="86">
                  <c:v>0.3718</c:v>
                </c:pt>
                <c:pt idx="87">
                  <c:v>0.45102</c:v>
                </c:pt>
                <c:pt idx="88">
                  <c:v>0.56349</c:v>
                </c:pt>
                <c:pt idx="89">
                  <c:v>0.70054</c:v>
                </c:pt>
                <c:pt idx="90">
                  <c:v>0.85705</c:v>
                </c:pt>
                <c:pt idx="91">
                  <c:v>1.0124</c:v>
                </c:pt>
                <c:pt idx="92">
                  <c:v>1.1173</c:v>
                </c:pt>
                <c:pt idx="93">
                  <c:v>1.1232</c:v>
                </c:pt>
                <c:pt idx="94">
                  <c:v>1.0285</c:v>
                </c:pt>
                <c:pt idx="95">
                  <c:v>0.88238</c:v>
                </c:pt>
                <c:pt idx="96">
                  <c:v>0.72937</c:v>
                </c:pt>
                <c:pt idx="97">
                  <c:v>0.59735</c:v>
                </c:pt>
                <c:pt idx="98">
                  <c:v>0.49693</c:v>
                </c:pt>
                <c:pt idx="99">
                  <c:v>0.41352</c:v>
                </c:pt>
                <c:pt idx="100">
                  <c:v>0.2679</c:v>
                </c:pt>
                <c:pt idx="101">
                  <c:v>0.18706</c:v>
                </c:pt>
                <c:pt idx="102">
                  <c:v>0.1641</c:v>
                </c:pt>
                <c:pt idx="103">
                  <c:v>0.17824</c:v>
                </c:pt>
                <c:pt idx="104">
                  <c:v>0.24572</c:v>
                </c:pt>
                <c:pt idx="105">
                  <c:v>0.42104</c:v>
                </c:pt>
                <c:pt idx="106">
                  <c:v>0.49707</c:v>
                </c:pt>
                <c:pt idx="107">
                  <c:v>0.59762</c:v>
                </c:pt>
                <c:pt idx="108">
                  <c:v>0.70092</c:v>
                </c:pt>
                <c:pt idx="109">
                  <c:v>0.81596</c:v>
                </c:pt>
                <c:pt idx="110">
                  <c:v>0.90723</c:v>
                </c:pt>
                <c:pt idx="111">
                  <c:v>0.9557</c:v>
                </c:pt>
                <c:pt idx="112">
                  <c:v>0.92507</c:v>
                </c:pt>
                <c:pt idx="113">
                  <c:v>0.25021</c:v>
                </c:pt>
                <c:pt idx="114">
                  <c:v>0.21182</c:v>
                </c:pt>
                <c:pt idx="115">
                  <c:v>0.19435</c:v>
                </c:pt>
                <c:pt idx="116">
                  <c:v>0.18796</c:v>
                </c:pt>
                <c:pt idx="117">
                  <c:v>0.19386</c:v>
                </c:pt>
                <c:pt idx="118">
                  <c:v>0.20109</c:v>
                </c:pt>
                <c:pt idx="119">
                  <c:v>0.20655</c:v>
                </c:pt>
                <c:pt idx="120">
                  <c:v>0.21206</c:v>
                </c:pt>
                <c:pt idx="121">
                  <c:v>0.21629</c:v>
                </c:pt>
                <c:pt idx="122">
                  <c:v>0.21797</c:v>
                </c:pt>
                <c:pt idx="123">
                  <c:v>0.2208</c:v>
                </c:pt>
                <c:pt idx="124">
                  <c:v>0.2227</c:v>
                </c:pt>
                <c:pt idx="125">
                  <c:v>0.2246</c:v>
                </c:pt>
                <c:pt idx="126">
                  <c:v>0.22618</c:v>
                </c:pt>
                <c:pt idx="127">
                  <c:v>0.22705</c:v>
                </c:pt>
                <c:pt idx="128">
                  <c:v>0.22748</c:v>
                </c:pt>
                <c:pt idx="129">
                  <c:v>0.2288</c:v>
                </c:pt>
                <c:pt idx="130">
                  <c:v>0.2269</c:v>
                </c:pt>
                <c:pt idx="131">
                  <c:v>0.22685</c:v>
                </c:pt>
                <c:pt idx="132">
                  <c:v>0.22708</c:v>
                </c:pt>
                <c:pt idx="133">
                  <c:v>0.22721</c:v>
                </c:pt>
                <c:pt idx="134">
                  <c:v>0.22725</c:v>
                </c:pt>
                <c:pt idx="135">
                  <c:v>0.22703</c:v>
                </c:pt>
                <c:pt idx="136">
                  <c:v>0.22785</c:v>
                </c:pt>
                <c:pt idx="137">
                  <c:v>0.22713</c:v>
                </c:pt>
                <c:pt idx="138">
                  <c:v>0.22736</c:v>
                </c:pt>
                <c:pt idx="139">
                  <c:v>0.22745</c:v>
                </c:pt>
              </c:numCache>
            </c:numRef>
          </c:yVal>
          <c:smooth val="0"/>
        </c:ser>
        <c:ser>
          <c:idx val="1"/>
          <c:order val="1"/>
          <c:tx>
            <c:strRef>
              <c:f>Sheet1!$B$143</c:f>
              <c:strCache>
                <c:ptCount val="1"/>
                <c:pt idx="0">
                  <c:v>wider gold, x_lift = 11 µm</c:v>
                </c:pt>
              </c:strCache>
            </c:strRef>
          </c:tx>
          <c:spPr>
            <a:ln w="19050">
              <a:solidFill>
                <a:srgbClr val="EB6834"/>
              </a:solidFill>
            </a:ln>
          </c:spPr>
          <c:marker>
            <c:symbol val="circle"/>
            <c:size val="4"/>
            <c:spPr>
              <a:solidFill>
                <a:srgbClr val="EB6834"/>
              </a:solidFill>
              <a:ln>
                <a:solidFill>
                  <a:srgbClr val="EB6834"/>
                </a:solidFill>
              </a:ln>
            </c:spPr>
          </c:marker>
          <c:xVal>
            <c:numRef>
              <c:f>Sheet1!$A$144:$A$224</c:f>
              <c:numCache>
                <c:formatCode>General</c:formatCode>
                <c:ptCount val="81"/>
                <c:pt idx="0">
                  <c:v>12.0</c:v>
                </c:pt>
                <c:pt idx="1">
                  <c:v>12.1</c:v>
                </c:pt>
                <c:pt idx="2">
                  <c:v>12.2</c:v>
                </c:pt>
                <c:pt idx="3">
                  <c:v>12.3</c:v>
                </c:pt>
                <c:pt idx="4">
                  <c:v>12.4</c:v>
                </c:pt>
                <c:pt idx="5">
                  <c:v>12.5</c:v>
                </c:pt>
                <c:pt idx="6">
                  <c:v>12.6</c:v>
                </c:pt>
                <c:pt idx="7">
                  <c:v>12.7</c:v>
                </c:pt>
                <c:pt idx="8">
                  <c:v>12.8</c:v>
                </c:pt>
                <c:pt idx="9">
                  <c:v>12.9</c:v>
                </c:pt>
                <c:pt idx="10">
                  <c:v>13.0</c:v>
                </c:pt>
                <c:pt idx="11">
                  <c:v>13.1</c:v>
                </c:pt>
                <c:pt idx="12">
                  <c:v>13.2</c:v>
                </c:pt>
                <c:pt idx="13">
                  <c:v>13.3</c:v>
                </c:pt>
                <c:pt idx="14">
                  <c:v>13.4</c:v>
                </c:pt>
                <c:pt idx="15">
                  <c:v>13.5</c:v>
                </c:pt>
                <c:pt idx="16">
                  <c:v>13.6</c:v>
                </c:pt>
                <c:pt idx="17">
                  <c:v>13.7</c:v>
                </c:pt>
                <c:pt idx="18">
                  <c:v>13.8</c:v>
                </c:pt>
                <c:pt idx="19">
                  <c:v>13.9</c:v>
                </c:pt>
                <c:pt idx="20">
                  <c:v>14.0</c:v>
                </c:pt>
                <c:pt idx="21">
                  <c:v>14.1</c:v>
                </c:pt>
                <c:pt idx="22">
                  <c:v>14.2</c:v>
                </c:pt>
                <c:pt idx="23">
                  <c:v>14.3</c:v>
                </c:pt>
                <c:pt idx="24">
                  <c:v>14.4</c:v>
                </c:pt>
                <c:pt idx="25">
                  <c:v>14.5</c:v>
                </c:pt>
                <c:pt idx="26">
                  <c:v>14.6</c:v>
                </c:pt>
                <c:pt idx="27">
                  <c:v>14.7</c:v>
                </c:pt>
                <c:pt idx="28">
                  <c:v>14.8</c:v>
                </c:pt>
                <c:pt idx="29">
                  <c:v>14.9</c:v>
                </c:pt>
                <c:pt idx="30">
                  <c:v>15.0</c:v>
                </c:pt>
                <c:pt idx="31">
                  <c:v>15.1</c:v>
                </c:pt>
                <c:pt idx="32">
                  <c:v>15.2</c:v>
                </c:pt>
                <c:pt idx="33">
                  <c:v>15.3</c:v>
                </c:pt>
                <c:pt idx="34">
                  <c:v>15.4</c:v>
                </c:pt>
                <c:pt idx="35">
                  <c:v>15.5</c:v>
                </c:pt>
                <c:pt idx="36">
                  <c:v>15.6</c:v>
                </c:pt>
                <c:pt idx="37">
                  <c:v>15.7</c:v>
                </c:pt>
                <c:pt idx="38">
                  <c:v>15.8</c:v>
                </c:pt>
                <c:pt idx="39">
                  <c:v>15.9</c:v>
                </c:pt>
                <c:pt idx="40">
                  <c:v>16.0</c:v>
                </c:pt>
                <c:pt idx="41">
                  <c:v>16.1</c:v>
                </c:pt>
                <c:pt idx="42">
                  <c:v>16.2</c:v>
                </c:pt>
                <c:pt idx="43">
                  <c:v>16.3</c:v>
                </c:pt>
                <c:pt idx="44">
                  <c:v>16.4</c:v>
                </c:pt>
                <c:pt idx="45">
                  <c:v>16.5</c:v>
                </c:pt>
                <c:pt idx="46">
                  <c:v>16.6</c:v>
                </c:pt>
                <c:pt idx="47">
                  <c:v>16.7</c:v>
                </c:pt>
                <c:pt idx="48">
                  <c:v>16.8</c:v>
                </c:pt>
                <c:pt idx="49">
                  <c:v>16.9</c:v>
                </c:pt>
                <c:pt idx="50">
                  <c:v>17.0</c:v>
                </c:pt>
                <c:pt idx="51">
                  <c:v>17.1</c:v>
                </c:pt>
                <c:pt idx="52">
                  <c:v>17.2</c:v>
                </c:pt>
                <c:pt idx="53">
                  <c:v>17.3</c:v>
                </c:pt>
                <c:pt idx="54">
                  <c:v>17.4</c:v>
                </c:pt>
                <c:pt idx="55">
                  <c:v>17.5</c:v>
                </c:pt>
                <c:pt idx="56">
                  <c:v>17.6</c:v>
                </c:pt>
                <c:pt idx="57">
                  <c:v>17.7</c:v>
                </c:pt>
                <c:pt idx="58">
                  <c:v>17.8</c:v>
                </c:pt>
                <c:pt idx="59">
                  <c:v>17.9</c:v>
                </c:pt>
                <c:pt idx="60">
                  <c:v>18.0</c:v>
                </c:pt>
                <c:pt idx="61">
                  <c:v>18.1</c:v>
                </c:pt>
                <c:pt idx="62">
                  <c:v>18.2</c:v>
                </c:pt>
                <c:pt idx="63">
                  <c:v>18.3</c:v>
                </c:pt>
                <c:pt idx="64">
                  <c:v>18.4</c:v>
                </c:pt>
                <c:pt idx="65">
                  <c:v>18.5</c:v>
                </c:pt>
                <c:pt idx="66">
                  <c:v>18.6</c:v>
                </c:pt>
                <c:pt idx="67">
                  <c:v>18.7</c:v>
                </c:pt>
                <c:pt idx="68">
                  <c:v>18.8</c:v>
                </c:pt>
                <c:pt idx="69">
                  <c:v>18.9</c:v>
                </c:pt>
                <c:pt idx="70">
                  <c:v>19.0</c:v>
                </c:pt>
                <c:pt idx="71">
                  <c:v>19.1</c:v>
                </c:pt>
                <c:pt idx="72">
                  <c:v>19.2</c:v>
                </c:pt>
                <c:pt idx="73">
                  <c:v>19.3</c:v>
                </c:pt>
                <c:pt idx="74">
                  <c:v>19.4</c:v>
                </c:pt>
                <c:pt idx="75">
                  <c:v>19.5</c:v>
                </c:pt>
                <c:pt idx="76">
                  <c:v>19.6</c:v>
                </c:pt>
                <c:pt idx="77">
                  <c:v>19.7</c:v>
                </c:pt>
                <c:pt idx="78">
                  <c:v>19.8</c:v>
                </c:pt>
                <c:pt idx="79">
                  <c:v>19.9</c:v>
                </c:pt>
                <c:pt idx="80">
                  <c:v>20.0</c:v>
                </c:pt>
              </c:numCache>
            </c:numRef>
          </c:xVal>
          <c:yVal>
            <c:numRef>
              <c:f>Sheet1!$B$144:$B$224</c:f>
              <c:numCache>
                <c:formatCode>General</c:formatCode>
                <c:ptCount val="81"/>
                <c:pt idx="0">
                  <c:v>0.8580584546078861</c:v>
                </c:pt>
                <c:pt idx="1">
                  <c:v>1.1184940781120203</c:v>
                </c:pt>
                <c:pt idx="2">
                  <c:v>1.0289909892999953</c:v>
                </c:pt>
                <c:pt idx="3">
                  <c:v>0.7295038826014548</c:v>
                </c:pt>
                <c:pt idx="4">
                  <c:v>0.49713542980492437</c:v>
                </c:pt>
                <c:pt idx="5">
                  <c:v>0.35409681168024826</c:v>
                </c:pt>
                <c:pt idx="6">
                  <c:v>0.2679895040155632</c:v>
                </c:pt>
                <c:pt idx="7">
                  <c:v>0.21693843907295535</c:v>
                </c:pt>
                <c:pt idx="8">
                  <c:v>0.18712833171523757</c:v>
                </c:pt>
                <c:pt idx="9">
                  <c:v>0.17077314088315254</c:v>
                </c:pt>
                <c:pt idx="10">
                  <c:v>0.1640959263209856</c:v>
                </c:pt>
                <c:pt idx="11">
                  <c:v>0.16627546340432914</c:v>
                </c:pt>
                <c:pt idx="12">
                  <c:v>0.17842057863027366</c:v>
                </c:pt>
                <c:pt idx="13">
                  <c:v>0.2027177392477695</c:v>
                </c:pt>
                <c:pt idx="14">
                  <c:v>0.24209840530849971</c:v>
                </c:pt>
                <c:pt idx="15">
                  <c:v>0.3094214990959109</c:v>
                </c:pt>
                <c:pt idx="16">
                  <c:v>0.41806224023115723</c:v>
                </c:pt>
                <c:pt idx="17">
                  <c:v>0.5887522191270279</c:v>
                </c:pt>
                <c:pt idx="18">
                  <c:v>0.7984590303892711</c:v>
                </c:pt>
                <c:pt idx="19">
                  <c:v>0.9584419034226116</c:v>
                </c:pt>
                <c:pt idx="20">
                  <c:v>0.8789875547404696</c:v>
                </c:pt>
                <c:pt idx="21">
                  <c:v>0.6848389652655276</c:v>
                </c:pt>
                <c:pt idx="22">
                  <c:v>0.49640776241620876</c:v>
                </c:pt>
                <c:pt idx="23">
                  <c:v>0.3746447527044568</c:v>
                </c:pt>
                <c:pt idx="24">
                  <c:v>0.2961918129524997</c:v>
                </c:pt>
                <c:pt idx="25">
                  <c:v>0.24568130092722346</c:v>
                </c:pt>
                <c:pt idx="26">
                  <c:v>0.2147207860787743</c:v>
                </c:pt>
                <c:pt idx="27">
                  <c:v>0.19807106320839957</c:v>
                </c:pt>
                <c:pt idx="28">
                  <c:v>0.19168145051891552</c:v>
                </c:pt>
                <c:pt idx="29">
                  <c:v>0.1949836744305632</c:v>
                </c:pt>
                <c:pt idx="30">
                  <c:v>0.20834849880330727</c:v>
                </c:pt>
                <c:pt idx="31">
                  <c:v>0.2345341295486604</c:v>
                </c:pt>
                <c:pt idx="32">
                  <c:v>0.2771026717885259</c:v>
                </c:pt>
                <c:pt idx="33">
                  <c:v>0.3445262529772358</c:v>
                </c:pt>
                <c:pt idx="34">
                  <c:v>0.4489014771814871</c:v>
                </c:pt>
                <c:pt idx="35">
                  <c:v>0.5925984610388106</c:v>
                </c:pt>
                <c:pt idx="36">
                  <c:v>0.7506408877022427</c:v>
                </c:pt>
                <c:pt idx="37">
                  <c:v>0.8362977346024848</c:v>
                </c:pt>
                <c:pt idx="38">
                  <c:v>0.7773220252884833</c:v>
                </c:pt>
                <c:pt idx="39">
                  <c:v>0.6340408513675686</c:v>
                </c:pt>
                <c:pt idx="40">
                  <c:v>0.4932545370651076</c:v>
                </c:pt>
                <c:pt idx="41">
                  <c:v>0.383550015509215</c:v>
                </c:pt>
                <c:pt idx="42">
                  <c:v>0.31396422265117857</c:v>
                </c:pt>
                <c:pt idx="43">
                  <c:v>0.26752518291990657</c:v>
                </c:pt>
                <c:pt idx="44">
                  <c:v>0.23954117419958473</c:v>
                </c:pt>
                <c:pt idx="45">
                  <c:v>0.22237515399150223</c:v>
                </c:pt>
                <c:pt idx="46">
                  <c:v>0.2167582547671781</c:v>
                </c:pt>
                <c:pt idx="47">
                  <c:v>0.22111732893386518</c:v>
                </c:pt>
                <c:pt idx="48">
                  <c:v>0.23570532753621226</c:v>
                </c:pt>
                <c:pt idx="49">
                  <c:v>0.265269414014888</c:v>
                </c:pt>
                <c:pt idx="50">
                  <c:v>0.3093002211977916</c:v>
                </c:pt>
                <c:pt idx="51">
                  <c:v>0.37720891397897865</c:v>
                </c:pt>
                <c:pt idx="52">
                  <c:v>0.473572866741751</c:v>
                </c:pt>
                <c:pt idx="53">
                  <c:v>0.5934300809116285</c:v>
                </c:pt>
                <c:pt idx="54">
                  <c:v>0.705282953805634</c:v>
                </c:pt>
                <c:pt idx="55">
                  <c:v>0.7485964888482322</c:v>
                </c:pt>
                <c:pt idx="56">
                  <c:v>0.699115106415568</c:v>
                </c:pt>
                <c:pt idx="57">
                  <c:v>0.5929103184911174</c:v>
                </c:pt>
                <c:pt idx="58">
                  <c:v>0.48431462343231535</c:v>
                </c:pt>
                <c:pt idx="59">
                  <c:v>0.39460362965208606</c:v>
                </c:pt>
                <c:pt idx="60">
                  <c:v>0.3308287806553646</c:v>
                </c:pt>
                <c:pt idx="61">
                  <c:v>0.2868776703769394</c:v>
                </c:pt>
                <c:pt idx="62">
                  <c:v>0.2601133708034171</c:v>
                </c:pt>
                <c:pt idx="63">
                  <c:v>0.24360225124517876</c:v>
                </c:pt>
                <c:pt idx="64">
                  <c:v>0.24001935562645504</c:v>
                </c:pt>
                <c:pt idx="65">
                  <c:v>0.24529321165324178</c:v>
                </c:pt>
                <c:pt idx="66">
                  <c:v>0.2615097991731905</c:v>
                </c:pt>
                <c:pt idx="67">
                  <c:v>0.2919817373463592</c:v>
                </c:pt>
                <c:pt idx="68">
                  <c:v>0.3366951658415341</c:v>
                </c:pt>
                <c:pt idx="69">
                  <c:v>0.3998012538571979</c:v>
                </c:pt>
                <c:pt idx="70">
                  <c:v>0.48237417706240693</c:v>
                </c:pt>
                <c:pt idx="71">
                  <c:v>0.5739216647284423</c:v>
                </c:pt>
                <c:pt idx="72">
                  <c:v>0.6539997283151978</c:v>
                </c:pt>
                <c:pt idx="73">
                  <c:v>0.6809234216976768</c:v>
                </c:pt>
                <c:pt idx="74">
                  <c:v>0.642599605891986</c:v>
                </c:pt>
                <c:pt idx="75">
                  <c:v>0.5606850484194243</c:v>
                </c:pt>
                <c:pt idx="76">
                  <c:v>0.47281054852500126</c:v>
                </c:pt>
                <c:pt idx="77">
                  <c:v>0.3970638384425056</c:v>
                </c:pt>
                <c:pt idx="78">
                  <c:v>0.3424021572187468</c:v>
                </c:pt>
                <c:pt idx="79">
                  <c:v>0.30273388928533373</c:v>
                </c:pt>
                <c:pt idx="80">
                  <c:v>0.27866195905005936</c:v>
                </c:pt>
              </c:numCache>
            </c:numRef>
          </c:yVal>
          <c:smooth val="0"/>
        </c:ser>
        <c:ser>
          <c:idx val="2"/>
          <c:order val="2"/>
          <c:tx>
            <c:strRef>
              <c:f>Sheet1!$B$226</c:f>
              <c:strCache>
                <c:ptCount val="1"/>
                <c:pt idx="0">
                  <c:v>standard lifted (no etch)</c:v>
                </c:pt>
              </c:strCache>
            </c:strRef>
          </c:tx>
          <c:spPr>
            <a:ln w="15875">
              <a:solidFill>
                <a:srgbClr val="8A8A8A"/>
              </a:solidFill>
              <a:prstDash val="dash"/>
            </a:ln>
          </c:spPr>
          <c:marker>
            <c:symbol val="none"/>
          </c:marker>
          <c:xVal>
            <c:numRef>
              <c:f>Sheet1!$A$227:$A$228</c:f>
              <c:numCache>
                <c:formatCode>General</c:formatCode>
                <c:ptCount val="2"/>
                <c:pt idx="0">
                  <c:v>2.0</c:v>
                </c:pt>
                <c:pt idx="1">
                  <c:v>20.0</c:v>
                </c:pt>
              </c:numCache>
            </c:numRef>
          </c:xVal>
          <c:yVal>
            <c:numRef>
              <c:f>Sheet1!$B$227:$B$228</c:f>
              <c:numCache>
                <c:formatCode>General</c:formatCode>
                <c:ptCount val="2"/>
                <c:pt idx="0">
                  <c:v>0.2295</c:v>
                </c:pt>
                <c:pt idx="1">
                  <c:v>0.2295</c:v>
                </c:pt>
              </c:numCache>
            </c:numRef>
          </c:yVal>
          <c:smooth val="0"/>
        </c:ser>
        <c:ser>
          <c:idx val="3"/>
          <c:order val="3"/>
          <c:tx>
            <c:strRef>
              <c:f>Sheet1!$B$230</c:f>
              <c:strCache>
                <c:ptCount val="1"/>
                <c:pt idx="0">
                  <c:v>_v4.2</c:v>
                </c:pt>
              </c:strCache>
            </c:strRef>
          </c:tx>
          <c:spPr>
            <a:ln w="12700">
              <a:solidFill>
                <a:srgbClr val="B0B0B0"/>
              </a:solidFill>
              <a:prstDash val="dash"/>
            </a:ln>
          </c:spPr>
          <c:marker>
            <c:symbol val="none"/>
          </c:marker>
          <c:xVal>
            <c:numRef>
              <c:f>Sheet1!$A$231:$A$232</c:f>
              <c:numCache>
                <c:formatCode>General</c:formatCode>
                <c:ptCount val="2"/>
                <c:pt idx="0">
                  <c:v>4.2</c:v>
                </c:pt>
                <c:pt idx="1">
                  <c:v>4.2</c:v>
                </c:pt>
              </c:numCache>
            </c:numRef>
          </c:xVal>
          <c:yVal>
            <c:numRef>
              <c:f>Sheet1!$B$231:$B$232</c:f>
              <c:numCache>
                <c:formatCode>General</c:formatCode>
                <c:ptCount val="2"/>
                <c:pt idx="0">
                  <c:v>1e-05</c:v>
                </c:pt>
                <c:pt idx="1">
                  <c:v>10</c:v>
                </c:pt>
              </c:numCache>
            </c:numRef>
          </c:yVal>
          <c:smooth val="0"/>
        </c:ser>
        <c:ser>
          <c:idx val="4"/>
          <c:order val="4"/>
          <c:tx>
            <c:strRef>
              <c:f>Sheet1!$B$234</c:f>
              <c:strCache>
                <c:ptCount val="1"/>
                <c:pt idx="0">
                  <c:v>_v14.0</c:v>
                </c:pt>
              </c:strCache>
            </c:strRef>
          </c:tx>
          <c:spPr>
            <a:ln w="12700">
              <a:solidFill>
                <a:srgbClr val="B0B0B0"/>
              </a:solidFill>
              <a:prstDash val="dash"/>
            </a:ln>
          </c:spPr>
          <c:marker>
            <c:symbol val="none"/>
          </c:marker>
          <c:xVal>
            <c:numRef>
              <c:f>Sheet1!$A$235:$A$236</c:f>
              <c:numCache>
                <c:formatCode>General</c:formatCode>
                <c:ptCount val="2"/>
                <c:pt idx="0">
                  <c:v>14.0</c:v>
                </c:pt>
                <c:pt idx="1">
                  <c:v>14.0</c:v>
                </c:pt>
              </c:numCache>
            </c:numRef>
          </c:xVal>
          <c:yVal>
            <c:numRef>
              <c:f>Sheet1!$B$235:$B$236</c:f>
              <c:numCache>
                <c:formatCode>General</c:formatCode>
                <c:ptCount val="2"/>
                <c:pt idx="0">
                  <c:v>1e-05</c:v>
                </c:pt>
                <c:pt idx="1">
                  <c:v>10</c:v>
                </c:pt>
              </c:numCache>
            </c:numRef>
          </c:yVal>
          <c:smooth val="0"/>
        </c:ser>
        <c:axId val="-2128940872"/>
        <c:axId val="-2129643912"/>
      </c:scatterChart>
      <c:valAx>
        <c:axId val="-2128940872"/>
        <c:scaling>
          <c:orientation val="minMax"/>
          <c:max val="20.0"/>
          <c:min val="2.0"/>
        </c:scaling>
        <c:delete val="0"/>
        <c:axPos val="b"/>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2.0"/>
      </c:valAx>
      <c:valAx>
        <c:axId val="-2129643912"/>
        <c:scaling>
          <c:logBase val="10"/>
          <c:orientation val="minMax"/>
          <c:max val="10.0"/>
          <c:min val="1e-05"/>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egendEntry>
        <c:idx val="4"/>
        <c:delete val="1"/>
      </c:legendEntry>
      <c:legendEntry>
        <c:idx val="3"/>
        <c:delete val="1"/>
      </c:legendEntry>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x_lift = 7 µm</c:v>
                </c:pt>
              </c:strCache>
            </c:strRef>
          </c:tx>
          <c:spPr>
            <a:ln w="19050">
              <a:solidFill>
                <a:srgbClr val="2A78D6"/>
              </a:solidFill>
            </a:ln>
          </c:spPr>
          <c:marker>
            <c:symbol val="circle"/>
            <c:size val="3"/>
            <c:spPr>
              <a:solidFill>
                <a:srgbClr val="2A78D6"/>
              </a:solidFill>
              <a:ln>
                <a:solidFill>
                  <a:srgbClr val="2A78D6"/>
                </a:solidFill>
              </a:ln>
            </c:spPr>
          </c:marker>
          <c:xVal>
            <c:numRef>
              <c:f>Sheet1!$A$2:$A$141</c:f>
              <c:numCache>
                <c:formatCode>General</c:formatCode>
                <c:ptCount val="140"/>
                <c:pt idx="0">
                  <c:v>2.4</c:v>
                </c:pt>
                <c:pt idx="1">
                  <c:v>2.8</c:v>
                </c:pt>
                <c:pt idx="2">
                  <c:v>3.2</c:v>
                </c:pt>
                <c:pt idx="3">
                  <c:v>3.6</c:v>
                </c:pt>
                <c:pt idx="4">
                  <c:v>4.0</c:v>
                </c:pt>
                <c:pt idx="5">
                  <c:v>4.1</c:v>
                </c:pt>
                <c:pt idx="6">
                  <c:v>4.15</c:v>
                </c:pt>
                <c:pt idx="7">
                  <c:v>4.2</c:v>
                </c:pt>
                <c:pt idx="8">
                  <c:v>4.25</c:v>
                </c:pt>
                <c:pt idx="9">
                  <c:v>4.3</c:v>
                </c:pt>
                <c:pt idx="10">
                  <c:v>4.4</c:v>
                </c:pt>
                <c:pt idx="11">
                  <c:v>4.5</c:v>
                </c:pt>
                <c:pt idx="12">
                  <c:v>4.6</c:v>
                </c:pt>
                <c:pt idx="13">
                  <c:v>4.7</c:v>
                </c:pt>
                <c:pt idx="14">
                  <c:v>4.75</c:v>
                </c:pt>
                <c:pt idx="15">
                  <c:v>4.8</c:v>
                </c:pt>
                <c:pt idx="16">
                  <c:v>4.85</c:v>
                </c:pt>
                <c:pt idx="17">
                  <c:v>4.9</c:v>
                </c:pt>
                <c:pt idx="18">
                  <c:v>4.95</c:v>
                </c:pt>
                <c:pt idx="19">
                  <c:v>5.0</c:v>
                </c:pt>
                <c:pt idx="20">
                  <c:v>5.05</c:v>
                </c:pt>
                <c:pt idx="21">
                  <c:v>5.1</c:v>
                </c:pt>
                <c:pt idx="22">
                  <c:v>5.15</c:v>
                </c:pt>
                <c:pt idx="23">
                  <c:v>5.2</c:v>
                </c:pt>
                <c:pt idx="24">
                  <c:v>5.4</c:v>
                </c:pt>
                <c:pt idx="25">
                  <c:v>5.6</c:v>
                </c:pt>
                <c:pt idx="26">
                  <c:v>5.8</c:v>
                </c:pt>
                <c:pt idx="27">
                  <c:v>6.0</c:v>
                </c:pt>
                <c:pt idx="28">
                  <c:v>6.2</c:v>
                </c:pt>
                <c:pt idx="29">
                  <c:v>6.4</c:v>
                </c:pt>
                <c:pt idx="30">
                  <c:v>6.45</c:v>
                </c:pt>
                <c:pt idx="31">
                  <c:v>6.5</c:v>
                </c:pt>
                <c:pt idx="32">
                  <c:v>6.55</c:v>
                </c:pt>
                <c:pt idx="33">
                  <c:v>6.6</c:v>
                </c:pt>
                <c:pt idx="34">
                  <c:v>6.65</c:v>
                </c:pt>
                <c:pt idx="35">
                  <c:v>6.7</c:v>
                </c:pt>
                <c:pt idx="36">
                  <c:v>6.75</c:v>
                </c:pt>
                <c:pt idx="37">
                  <c:v>6.8</c:v>
                </c:pt>
                <c:pt idx="38">
                  <c:v>6.85</c:v>
                </c:pt>
                <c:pt idx="39">
                  <c:v>6.9</c:v>
                </c:pt>
                <c:pt idx="40">
                  <c:v>6.95</c:v>
                </c:pt>
                <c:pt idx="41">
                  <c:v>7.0</c:v>
                </c:pt>
                <c:pt idx="42">
                  <c:v>7.05</c:v>
                </c:pt>
                <c:pt idx="43">
                  <c:v>7.2</c:v>
                </c:pt>
                <c:pt idx="44">
                  <c:v>7.4</c:v>
                </c:pt>
                <c:pt idx="45">
                  <c:v>7.6</c:v>
                </c:pt>
                <c:pt idx="46">
                  <c:v>7.8</c:v>
                </c:pt>
                <c:pt idx="47">
                  <c:v>8.0</c:v>
                </c:pt>
                <c:pt idx="48">
                  <c:v>8.2</c:v>
                </c:pt>
                <c:pt idx="49">
                  <c:v>8.25</c:v>
                </c:pt>
                <c:pt idx="50">
                  <c:v>8.3</c:v>
                </c:pt>
                <c:pt idx="51">
                  <c:v>8.35</c:v>
                </c:pt>
                <c:pt idx="52">
                  <c:v>8.4</c:v>
                </c:pt>
                <c:pt idx="53">
                  <c:v>8.45</c:v>
                </c:pt>
                <c:pt idx="54">
                  <c:v>8.5</c:v>
                </c:pt>
                <c:pt idx="55">
                  <c:v>8.55</c:v>
                </c:pt>
                <c:pt idx="56">
                  <c:v>8.6</c:v>
                </c:pt>
                <c:pt idx="57">
                  <c:v>8.65</c:v>
                </c:pt>
                <c:pt idx="58">
                  <c:v>8.7</c:v>
                </c:pt>
                <c:pt idx="59">
                  <c:v>8.75</c:v>
                </c:pt>
                <c:pt idx="60">
                  <c:v>8.8</c:v>
                </c:pt>
                <c:pt idx="61">
                  <c:v>8.85</c:v>
                </c:pt>
                <c:pt idx="62">
                  <c:v>9.0</c:v>
                </c:pt>
                <c:pt idx="63">
                  <c:v>9.2</c:v>
                </c:pt>
                <c:pt idx="64">
                  <c:v>9.4</c:v>
                </c:pt>
                <c:pt idx="65">
                  <c:v>9.6</c:v>
                </c:pt>
                <c:pt idx="66">
                  <c:v>9.8</c:v>
                </c:pt>
                <c:pt idx="67">
                  <c:v>10.0</c:v>
                </c:pt>
                <c:pt idx="68">
                  <c:v>10.05</c:v>
                </c:pt>
                <c:pt idx="69">
                  <c:v>10.1</c:v>
                </c:pt>
                <c:pt idx="70">
                  <c:v>10.15</c:v>
                </c:pt>
                <c:pt idx="71">
                  <c:v>10.2</c:v>
                </c:pt>
                <c:pt idx="72">
                  <c:v>10.25</c:v>
                </c:pt>
                <c:pt idx="73">
                  <c:v>10.3</c:v>
                </c:pt>
                <c:pt idx="74">
                  <c:v>10.35</c:v>
                </c:pt>
                <c:pt idx="75">
                  <c:v>10.4</c:v>
                </c:pt>
                <c:pt idx="76">
                  <c:v>10.45</c:v>
                </c:pt>
                <c:pt idx="77">
                  <c:v>10.5</c:v>
                </c:pt>
                <c:pt idx="78">
                  <c:v>10.55</c:v>
                </c:pt>
                <c:pt idx="79">
                  <c:v>10.6</c:v>
                </c:pt>
                <c:pt idx="80">
                  <c:v>10.65</c:v>
                </c:pt>
                <c:pt idx="81">
                  <c:v>10.8</c:v>
                </c:pt>
                <c:pt idx="82">
                  <c:v>11.0</c:v>
                </c:pt>
                <c:pt idx="83">
                  <c:v>11.2</c:v>
                </c:pt>
                <c:pt idx="84">
                  <c:v>11.4</c:v>
                </c:pt>
                <c:pt idx="85">
                  <c:v>11.6</c:v>
                </c:pt>
                <c:pt idx="86">
                  <c:v>11.8</c:v>
                </c:pt>
                <c:pt idx="87">
                  <c:v>11.85</c:v>
                </c:pt>
                <c:pt idx="88">
                  <c:v>11.9</c:v>
                </c:pt>
                <c:pt idx="89">
                  <c:v>11.95</c:v>
                </c:pt>
                <c:pt idx="90">
                  <c:v>12.0</c:v>
                </c:pt>
                <c:pt idx="91">
                  <c:v>12.05</c:v>
                </c:pt>
                <c:pt idx="92">
                  <c:v>12.1</c:v>
                </c:pt>
                <c:pt idx="93">
                  <c:v>12.15</c:v>
                </c:pt>
                <c:pt idx="94">
                  <c:v>12.2</c:v>
                </c:pt>
                <c:pt idx="95">
                  <c:v>12.25</c:v>
                </c:pt>
                <c:pt idx="96">
                  <c:v>12.3</c:v>
                </c:pt>
                <c:pt idx="97">
                  <c:v>12.35</c:v>
                </c:pt>
                <c:pt idx="98">
                  <c:v>12.4</c:v>
                </c:pt>
                <c:pt idx="99">
                  <c:v>12.45</c:v>
                </c:pt>
                <c:pt idx="100">
                  <c:v>12.6</c:v>
                </c:pt>
                <c:pt idx="101">
                  <c:v>12.8</c:v>
                </c:pt>
                <c:pt idx="102">
                  <c:v>13.0</c:v>
                </c:pt>
                <c:pt idx="103">
                  <c:v>13.2</c:v>
                </c:pt>
                <c:pt idx="104">
                  <c:v>13.4</c:v>
                </c:pt>
                <c:pt idx="105">
                  <c:v>13.6</c:v>
                </c:pt>
                <c:pt idx="106">
                  <c:v>13.65</c:v>
                </c:pt>
                <c:pt idx="107">
                  <c:v>13.7</c:v>
                </c:pt>
                <c:pt idx="108">
                  <c:v>13.75</c:v>
                </c:pt>
                <c:pt idx="109">
                  <c:v>13.8</c:v>
                </c:pt>
                <c:pt idx="110">
                  <c:v>13.85</c:v>
                </c:pt>
                <c:pt idx="111">
                  <c:v>13.9</c:v>
                </c:pt>
                <c:pt idx="112">
                  <c:v>13.95</c:v>
                </c:pt>
                <c:pt idx="113">
                  <c:v>14.0</c:v>
                </c:pt>
                <c:pt idx="114">
                  <c:v>14.05</c:v>
                </c:pt>
                <c:pt idx="115">
                  <c:v>14.1</c:v>
                </c:pt>
                <c:pt idx="116">
                  <c:v>14.2</c:v>
                </c:pt>
                <c:pt idx="117">
                  <c:v>14.3</c:v>
                </c:pt>
                <c:pt idx="118">
                  <c:v>14.4</c:v>
                </c:pt>
                <c:pt idx="119">
                  <c:v>14.5</c:v>
                </c:pt>
                <c:pt idx="120">
                  <c:v>14.6</c:v>
                </c:pt>
                <c:pt idx="121">
                  <c:v>14.7</c:v>
                </c:pt>
                <c:pt idx="122">
                  <c:v>14.8</c:v>
                </c:pt>
                <c:pt idx="123">
                  <c:v>14.9</c:v>
                </c:pt>
                <c:pt idx="124">
                  <c:v>15.0</c:v>
                </c:pt>
                <c:pt idx="125">
                  <c:v>15.2</c:v>
                </c:pt>
                <c:pt idx="126">
                  <c:v>15.4</c:v>
                </c:pt>
                <c:pt idx="127">
                  <c:v>15.6</c:v>
                </c:pt>
                <c:pt idx="128">
                  <c:v>15.8</c:v>
                </c:pt>
                <c:pt idx="129">
                  <c:v>16.0</c:v>
                </c:pt>
                <c:pt idx="130">
                  <c:v>16.4</c:v>
                </c:pt>
                <c:pt idx="131">
                  <c:v>16.8</c:v>
                </c:pt>
                <c:pt idx="132">
                  <c:v>17.2</c:v>
                </c:pt>
                <c:pt idx="133">
                  <c:v>17.6</c:v>
                </c:pt>
                <c:pt idx="134">
                  <c:v>18.0</c:v>
                </c:pt>
                <c:pt idx="135">
                  <c:v>18.4</c:v>
                </c:pt>
                <c:pt idx="136">
                  <c:v>18.8</c:v>
                </c:pt>
                <c:pt idx="137">
                  <c:v>19.2</c:v>
                </c:pt>
                <c:pt idx="138">
                  <c:v>19.6</c:v>
                </c:pt>
                <c:pt idx="139">
                  <c:v>20.0</c:v>
                </c:pt>
              </c:numCache>
            </c:numRef>
          </c:xVal>
          <c:yVal>
            <c:numRef>
              <c:f>Sheet1!$B$2:$B$141</c:f>
              <c:numCache>
                <c:formatCode>General</c:formatCode>
                <c:ptCount val="140"/>
                <c:pt idx="0">
                  <c:v>5.386</c:v>
                </c:pt>
                <c:pt idx="1">
                  <c:v>4.7811</c:v>
                </c:pt>
                <c:pt idx="2">
                  <c:v>4.2476</c:v>
                </c:pt>
                <c:pt idx="3">
                  <c:v>3.7256</c:v>
                </c:pt>
                <c:pt idx="4">
                  <c:v>3.0595</c:v>
                </c:pt>
                <c:pt idx="5">
                  <c:v>2.7753</c:v>
                </c:pt>
                <c:pt idx="6">
                  <c:v>2.5579</c:v>
                </c:pt>
                <c:pt idx="7">
                  <c:v>2.1506</c:v>
                </c:pt>
                <c:pt idx="8">
                  <c:v>2.1753</c:v>
                </c:pt>
                <c:pt idx="9">
                  <c:v>2.1954</c:v>
                </c:pt>
                <c:pt idx="10">
                  <c:v>2.2241</c:v>
                </c:pt>
                <c:pt idx="11">
                  <c:v>2.2412</c:v>
                </c:pt>
                <c:pt idx="12">
                  <c:v>2.2513</c:v>
                </c:pt>
                <c:pt idx="13">
                  <c:v>2.257</c:v>
                </c:pt>
                <c:pt idx="14">
                  <c:v>2.2589</c:v>
                </c:pt>
                <c:pt idx="15">
                  <c:v>2.2603</c:v>
                </c:pt>
                <c:pt idx="16">
                  <c:v>2.2612</c:v>
                </c:pt>
                <c:pt idx="17">
                  <c:v>2.2617</c:v>
                </c:pt>
                <c:pt idx="18">
                  <c:v>2.262</c:v>
                </c:pt>
                <c:pt idx="19">
                  <c:v>2.2637</c:v>
                </c:pt>
                <c:pt idx="20">
                  <c:v>2.2643</c:v>
                </c:pt>
                <c:pt idx="21">
                  <c:v>2.2646</c:v>
                </c:pt>
                <c:pt idx="22">
                  <c:v>2.2649</c:v>
                </c:pt>
                <c:pt idx="23">
                  <c:v>2.2651</c:v>
                </c:pt>
                <c:pt idx="24">
                  <c:v>2.2657</c:v>
                </c:pt>
                <c:pt idx="25">
                  <c:v>2.266</c:v>
                </c:pt>
                <c:pt idx="26">
                  <c:v>2.2662</c:v>
                </c:pt>
                <c:pt idx="27">
                  <c:v>2.2663</c:v>
                </c:pt>
                <c:pt idx="28">
                  <c:v>2.2664</c:v>
                </c:pt>
                <c:pt idx="29">
                  <c:v>2.2664</c:v>
                </c:pt>
                <c:pt idx="30">
                  <c:v>2.2664</c:v>
                </c:pt>
                <c:pt idx="31">
                  <c:v>2.2664</c:v>
                </c:pt>
                <c:pt idx="32">
                  <c:v>2.2664</c:v>
                </c:pt>
                <c:pt idx="33">
                  <c:v>2.2664</c:v>
                </c:pt>
                <c:pt idx="34">
                  <c:v>2.2663</c:v>
                </c:pt>
                <c:pt idx="35">
                  <c:v>2.2663</c:v>
                </c:pt>
                <c:pt idx="36">
                  <c:v>2.2664</c:v>
                </c:pt>
                <c:pt idx="37">
                  <c:v>2.2665</c:v>
                </c:pt>
                <c:pt idx="38">
                  <c:v>2.2666</c:v>
                </c:pt>
                <c:pt idx="39">
                  <c:v>2.2667</c:v>
                </c:pt>
                <c:pt idx="40">
                  <c:v>2.2667</c:v>
                </c:pt>
                <c:pt idx="41">
                  <c:v>2.2667</c:v>
                </c:pt>
                <c:pt idx="42">
                  <c:v>2.2667</c:v>
                </c:pt>
                <c:pt idx="43">
                  <c:v>2.2667</c:v>
                </c:pt>
                <c:pt idx="44">
                  <c:v>2.2667</c:v>
                </c:pt>
                <c:pt idx="45">
                  <c:v>2.2667</c:v>
                </c:pt>
                <c:pt idx="46">
                  <c:v>2.2667</c:v>
                </c:pt>
                <c:pt idx="47">
                  <c:v>2.2667</c:v>
                </c:pt>
                <c:pt idx="48">
                  <c:v>2.2667</c:v>
                </c:pt>
                <c:pt idx="49">
                  <c:v>2.2667</c:v>
                </c:pt>
                <c:pt idx="50">
                  <c:v>2.2667</c:v>
                </c:pt>
                <c:pt idx="51">
                  <c:v>2.2667</c:v>
                </c:pt>
                <c:pt idx="52">
                  <c:v>2.2666</c:v>
                </c:pt>
                <c:pt idx="53">
                  <c:v>2.2666</c:v>
                </c:pt>
                <c:pt idx="54">
                  <c:v>2.2667</c:v>
                </c:pt>
                <c:pt idx="55">
                  <c:v>2.2667</c:v>
                </c:pt>
                <c:pt idx="56">
                  <c:v>2.2668</c:v>
                </c:pt>
                <c:pt idx="57">
                  <c:v>2.2668</c:v>
                </c:pt>
                <c:pt idx="58">
                  <c:v>2.2668</c:v>
                </c:pt>
                <c:pt idx="59">
                  <c:v>2.2668</c:v>
                </c:pt>
                <c:pt idx="60">
                  <c:v>2.2668</c:v>
                </c:pt>
                <c:pt idx="61">
                  <c:v>2.2668</c:v>
                </c:pt>
                <c:pt idx="62">
                  <c:v>2.2668</c:v>
                </c:pt>
                <c:pt idx="63">
                  <c:v>2.2668</c:v>
                </c:pt>
                <c:pt idx="64">
                  <c:v>2.2668</c:v>
                </c:pt>
                <c:pt idx="65">
                  <c:v>2.2668</c:v>
                </c:pt>
                <c:pt idx="66">
                  <c:v>2.2668</c:v>
                </c:pt>
                <c:pt idx="67">
                  <c:v>2.2668</c:v>
                </c:pt>
                <c:pt idx="68">
                  <c:v>2.2668</c:v>
                </c:pt>
                <c:pt idx="69">
                  <c:v>2.2668</c:v>
                </c:pt>
                <c:pt idx="70">
                  <c:v>2.2668</c:v>
                </c:pt>
                <c:pt idx="71">
                  <c:v>2.2668</c:v>
                </c:pt>
                <c:pt idx="72">
                  <c:v>2.2668</c:v>
                </c:pt>
                <c:pt idx="73">
                  <c:v>2.2668</c:v>
                </c:pt>
                <c:pt idx="74">
                  <c:v>2.2668</c:v>
                </c:pt>
                <c:pt idx="75">
                  <c:v>2.2669</c:v>
                </c:pt>
                <c:pt idx="76">
                  <c:v>2.2669</c:v>
                </c:pt>
                <c:pt idx="77">
                  <c:v>2.2669</c:v>
                </c:pt>
                <c:pt idx="78">
                  <c:v>2.2669</c:v>
                </c:pt>
                <c:pt idx="79">
                  <c:v>2.2669</c:v>
                </c:pt>
                <c:pt idx="80">
                  <c:v>2.2669</c:v>
                </c:pt>
                <c:pt idx="81">
                  <c:v>2.2669</c:v>
                </c:pt>
                <c:pt idx="82">
                  <c:v>2.2669</c:v>
                </c:pt>
                <c:pt idx="83">
                  <c:v>2.2669</c:v>
                </c:pt>
                <c:pt idx="84">
                  <c:v>2.2669</c:v>
                </c:pt>
                <c:pt idx="85">
                  <c:v>2.2668</c:v>
                </c:pt>
                <c:pt idx="86">
                  <c:v>2.2668</c:v>
                </c:pt>
                <c:pt idx="87">
                  <c:v>2.2668</c:v>
                </c:pt>
                <c:pt idx="88">
                  <c:v>2.2668</c:v>
                </c:pt>
                <c:pt idx="89">
                  <c:v>2.2668</c:v>
                </c:pt>
                <c:pt idx="90">
                  <c:v>2.2668</c:v>
                </c:pt>
                <c:pt idx="91">
                  <c:v>2.2668</c:v>
                </c:pt>
                <c:pt idx="92">
                  <c:v>2.2668</c:v>
                </c:pt>
                <c:pt idx="93">
                  <c:v>2.2669</c:v>
                </c:pt>
                <c:pt idx="94">
                  <c:v>2.2669</c:v>
                </c:pt>
                <c:pt idx="95">
                  <c:v>2.2669</c:v>
                </c:pt>
                <c:pt idx="96">
                  <c:v>2.2669</c:v>
                </c:pt>
                <c:pt idx="97">
                  <c:v>2.2669</c:v>
                </c:pt>
                <c:pt idx="98">
                  <c:v>2.2669</c:v>
                </c:pt>
                <c:pt idx="99">
                  <c:v>2.2669</c:v>
                </c:pt>
                <c:pt idx="100">
                  <c:v>2.2669</c:v>
                </c:pt>
                <c:pt idx="101">
                  <c:v>2.2669</c:v>
                </c:pt>
                <c:pt idx="102">
                  <c:v>2.2669</c:v>
                </c:pt>
                <c:pt idx="103">
                  <c:v>2.2669</c:v>
                </c:pt>
                <c:pt idx="104">
                  <c:v>2.2669</c:v>
                </c:pt>
                <c:pt idx="105">
                  <c:v>2.2669</c:v>
                </c:pt>
                <c:pt idx="106">
                  <c:v>2.2668</c:v>
                </c:pt>
                <c:pt idx="107">
                  <c:v>2.2668</c:v>
                </c:pt>
                <c:pt idx="108">
                  <c:v>2.2669</c:v>
                </c:pt>
                <c:pt idx="109">
                  <c:v>2.2669</c:v>
                </c:pt>
                <c:pt idx="110">
                  <c:v>2.267</c:v>
                </c:pt>
                <c:pt idx="111">
                  <c:v>2.2669</c:v>
                </c:pt>
                <c:pt idx="112">
                  <c:v>2.2669</c:v>
                </c:pt>
                <c:pt idx="113">
                  <c:v>2.2669</c:v>
                </c:pt>
                <c:pt idx="114">
                  <c:v>2.267</c:v>
                </c:pt>
                <c:pt idx="115">
                  <c:v>2.2669</c:v>
                </c:pt>
                <c:pt idx="116">
                  <c:v>2.2669</c:v>
                </c:pt>
                <c:pt idx="117">
                  <c:v>2.2669</c:v>
                </c:pt>
                <c:pt idx="118">
                  <c:v>2.2669</c:v>
                </c:pt>
                <c:pt idx="119">
                  <c:v>2.2669</c:v>
                </c:pt>
                <c:pt idx="120">
                  <c:v>2.2668</c:v>
                </c:pt>
                <c:pt idx="121">
                  <c:v>2.2668</c:v>
                </c:pt>
                <c:pt idx="122">
                  <c:v>2.2668</c:v>
                </c:pt>
                <c:pt idx="123">
                  <c:v>2.2668</c:v>
                </c:pt>
                <c:pt idx="124">
                  <c:v>2.2668</c:v>
                </c:pt>
                <c:pt idx="125">
                  <c:v>2.2668</c:v>
                </c:pt>
                <c:pt idx="126">
                  <c:v>2.2668</c:v>
                </c:pt>
                <c:pt idx="127">
                  <c:v>2.2668</c:v>
                </c:pt>
                <c:pt idx="128">
                  <c:v>2.2668</c:v>
                </c:pt>
                <c:pt idx="129">
                  <c:v>2.2668</c:v>
                </c:pt>
                <c:pt idx="130">
                  <c:v>2.2668</c:v>
                </c:pt>
                <c:pt idx="131">
                  <c:v>2.2668</c:v>
                </c:pt>
                <c:pt idx="132">
                  <c:v>2.2668</c:v>
                </c:pt>
                <c:pt idx="133">
                  <c:v>2.2668</c:v>
                </c:pt>
                <c:pt idx="134">
                  <c:v>2.2668</c:v>
                </c:pt>
                <c:pt idx="135">
                  <c:v>2.2668</c:v>
                </c:pt>
                <c:pt idx="136">
                  <c:v>2.2668</c:v>
                </c:pt>
                <c:pt idx="137">
                  <c:v>2.2668</c:v>
                </c:pt>
                <c:pt idx="138">
                  <c:v>2.2668</c:v>
                </c:pt>
                <c:pt idx="139">
                  <c:v>2.2668</c:v>
                </c:pt>
              </c:numCache>
            </c:numRef>
          </c:yVal>
          <c:smooth val="0"/>
        </c:ser>
        <c:ser>
          <c:idx val="1"/>
          <c:order val="1"/>
          <c:tx>
            <c:strRef>
              <c:f>Sheet1!$B$143</c:f>
              <c:strCache>
                <c:ptCount val="1"/>
                <c:pt idx="0">
                  <c:v>x_lift = 11 µm</c:v>
                </c:pt>
              </c:strCache>
            </c:strRef>
          </c:tx>
          <c:spPr>
            <a:ln w="19050">
              <a:solidFill>
                <a:srgbClr val="EB6834"/>
              </a:solidFill>
            </a:ln>
          </c:spPr>
          <c:marker>
            <c:symbol val="circle"/>
            <c:size val="3"/>
            <c:spPr>
              <a:solidFill>
                <a:srgbClr val="EB6834"/>
              </a:solidFill>
              <a:ln>
                <a:solidFill>
                  <a:srgbClr val="EB6834"/>
                </a:solidFill>
              </a:ln>
            </c:spPr>
          </c:marker>
          <c:xVal>
            <c:numRef>
              <c:f>Sheet1!$A$144:$A$224</c:f>
              <c:numCache>
                <c:formatCode>General</c:formatCode>
                <c:ptCount val="81"/>
                <c:pt idx="0">
                  <c:v>12.0</c:v>
                </c:pt>
                <c:pt idx="1">
                  <c:v>12.1</c:v>
                </c:pt>
                <c:pt idx="2">
                  <c:v>12.2</c:v>
                </c:pt>
                <c:pt idx="3">
                  <c:v>12.3</c:v>
                </c:pt>
                <c:pt idx="4">
                  <c:v>12.4</c:v>
                </c:pt>
                <c:pt idx="5">
                  <c:v>12.5</c:v>
                </c:pt>
                <c:pt idx="6">
                  <c:v>12.6</c:v>
                </c:pt>
                <c:pt idx="7">
                  <c:v>12.7</c:v>
                </c:pt>
                <c:pt idx="8">
                  <c:v>12.8</c:v>
                </c:pt>
                <c:pt idx="9">
                  <c:v>12.9</c:v>
                </c:pt>
                <c:pt idx="10">
                  <c:v>13.0</c:v>
                </c:pt>
                <c:pt idx="11">
                  <c:v>13.1</c:v>
                </c:pt>
                <c:pt idx="12">
                  <c:v>13.2</c:v>
                </c:pt>
                <c:pt idx="13">
                  <c:v>13.3</c:v>
                </c:pt>
                <c:pt idx="14">
                  <c:v>13.4</c:v>
                </c:pt>
                <c:pt idx="15">
                  <c:v>13.5</c:v>
                </c:pt>
                <c:pt idx="16">
                  <c:v>13.6</c:v>
                </c:pt>
                <c:pt idx="17">
                  <c:v>13.7</c:v>
                </c:pt>
                <c:pt idx="18">
                  <c:v>13.8</c:v>
                </c:pt>
                <c:pt idx="19">
                  <c:v>13.9</c:v>
                </c:pt>
                <c:pt idx="20">
                  <c:v>14.0</c:v>
                </c:pt>
                <c:pt idx="21">
                  <c:v>14.1</c:v>
                </c:pt>
                <c:pt idx="22">
                  <c:v>14.2</c:v>
                </c:pt>
                <c:pt idx="23">
                  <c:v>14.3</c:v>
                </c:pt>
                <c:pt idx="24">
                  <c:v>14.4</c:v>
                </c:pt>
                <c:pt idx="25">
                  <c:v>14.5</c:v>
                </c:pt>
                <c:pt idx="26">
                  <c:v>14.6</c:v>
                </c:pt>
                <c:pt idx="27">
                  <c:v>14.7</c:v>
                </c:pt>
                <c:pt idx="28">
                  <c:v>14.8</c:v>
                </c:pt>
                <c:pt idx="29">
                  <c:v>14.9</c:v>
                </c:pt>
                <c:pt idx="30">
                  <c:v>15.0</c:v>
                </c:pt>
                <c:pt idx="31">
                  <c:v>15.1</c:v>
                </c:pt>
                <c:pt idx="32">
                  <c:v>15.2</c:v>
                </c:pt>
                <c:pt idx="33">
                  <c:v>15.3</c:v>
                </c:pt>
                <c:pt idx="34">
                  <c:v>15.4</c:v>
                </c:pt>
                <c:pt idx="35">
                  <c:v>15.5</c:v>
                </c:pt>
                <c:pt idx="36">
                  <c:v>15.6</c:v>
                </c:pt>
                <c:pt idx="37">
                  <c:v>15.7</c:v>
                </c:pt>
                <c:pt idx="38">
                  <c:v>15.8</c:v>
                </c:pt>
                <c:pt idx="39">
                  <c:v>15.9</c:v>
                </c:pt>
                <c:pt idx="40">
                  <c:v>16.0</c:v>
                </c:pt>
                <c:pt idx="41">
                  <c:v>16.1</c:v>
                </c:pt>
                <c:pt idx="42">
                  <c:v>16.2</c:v>
                </c:pt>
                <c:pt idx="43">
                  <c:v>16.3</c:v>
                </c:pt>
                <c:pt idx="44">
                  <c:v>16.4</c:v>
                </c:pt>
                <c:pt idx="45">
                  <c:v>16.5</c:v>
                </c:pt>
                <c:pt idx="46">
                  <c:v>16.6</c:v>
                </c:pt>
                <c:pt idx="47">
                  <c:v>16.7</c:v>
                </c:pt>
                <c:pt idx="48">
                  <c:v>16.8</c:v>
                </c:pt>
                <c:pt idx="49">
                  <c:v>16.9</c:v>
                </c:pt>
                <c:pt idx="50">
                  <c:v>17.0</c:v>
                </c:pt>
                <c:pt idx="51">
                  <c:v>17.1</c:v>
                </c:pt>
                <c:pt idx="52">
                  <c:v>17.2</c:v>
                </c:pt>
                <c:pt idx="53">
                  <c:v>17.3</c:v>
                </c:pt>
                <c:pt idx="54">
                  <c:v>17.4</c:v>
                </c:pt>
                <c:pt idx="55">
                  <c:v>17.5</c:v>
                </c:pt>
                <c:pt idx="56">
                  <c:v>17.6</c:v>
                </c:pt>
                <c:pt idx="57">
                  <c:v>17.7</c:v>
                </c:pt>
                <c:pt idx="58">
                  <c:v>17.8</c:v>
                </c:pt>
                <c:pt idx="59">
                  <c:v>17.9</c:v>
                </c:pt>
                <c:pt idx="60">
                  <c:v>18.0</c:v>
                </c:pt>
                <c:pt idx="61">
                  <c:v>18.1</c:v>
                </c:pt>
                <c:pt idx="62">
                  <c:v>18.2</c:v>
                </c:pt>
                <c:pt idx="63">
                  <c:v>18.3</c:v>
                </c:pt>
                <c:pt idx="64">
                  <c:v>18.4</c:v>
                </c:pt>
                <c:pt idx="65">
                  <c:v>18.5</c:v>
                </c:pt>
                <c:pt idx="66">
                  <c:v>18.6</c:v>
                </c:pt>
                <c:pt idx="67">
                  <c:v>18.7</c:v>
                </c:pt>
                <c:pt idx="68">
                  <c:v>18.8</c:v>
                </c:pt>
                <c:pt idx="69">
                  <c:v>18.9</c:v>
                </c:pt>
                <c:pt idx="70">
                  <c:v>19.0</c:v>
                </c:pt>
                <c:pt idx="71">
                  <c:v>19.1</c:v>
                </c:pt>
                <c:pt idx="72">
                  <c:v>19.2</c:v>
                </c:pt>
                <c:pt idx="73">
                  <c:v>19.3</c:v>
                </c:pt>
                <c:pt idx="74">
                  <c:v>19.4</c:v>
                </c:pt>
                <c:pt idx="75">
                  <c:v>19.5</c:v>
                </c:pt>
                <c:pt idx="76">
                  <c:v>19.6</c:v>
                </c:pt>
                <c:pt idx="77">
                  <c:v>19.7</c:v>
                </c:pt>
                <c:pt idx="78">
                  <c:v>19.8</c:v>
                </c:pt>
                <c:pt idx="79">
                  <c:v>19.9</c:v>
                </c:pt>
                <c:pt idx="80">
                  <c:v>20.0</c:v>
                </c:pt>
              </c:numCache>
            </c:numRef>
          </c:xVal>
          <c:yVal>
            <c:numRef>
              <c:f>Sheet1!$B$144:$B$224</c:f>
              <c:numCache>
                <c:formatCode>General</c:formatCode>
                <c:ptCount val="81"/>
                <c:pt idx="0">
                  <c:v>2.2668</c:v>
                </c:pt>
                <c:pt idx="1">
                  <c:v>2.2669</c:v>
                </c:pt>
                <c:pt idx="2">
                  <c:v>2.2669</c:v>
                </c:pt>
                <c:pt idx="3">
                  <c:v>2.2669</c:v>
                </c:pt>
                <c:pt idx="4">
                  <c:v>2.267</c:v>
                </c:pt>
                <c:pt idx="5">
                  <c:v>2.2669</c:v>
                </c:pt>
                <c:pt idx="6">
                  <c:v>2.2669</c:v>
                </c:pt>
                <c:pt idx="7">
                  <c:v>2.2669</c:v>
                </c:pt>
                <c:pt idx="8">
                  <c:v>2.2669</c:v>
                </c:pt>
                <c:pt idx="9">
                  <c:v>2.2669</c:v>
                </c:pt>
                <c:pt idx="10">
                  <c:v>2.2669</c:v>
                </c:pt>
                <c:pt idx="11">
                  <c:v>2.2669</c:v>
                </c:pt>
                <c:pt idx="12">
                  <c:v>2.2669</c:v>
                </c:pt>
                <c:pt idx="13">
                  <c:v>2.2669</c:v>
                </c:pt>
                <c:pt idx="14">
                  <c:v>2.2669</c:v>
                </c:pt>
                <c:pt idx="15">
                  <c:v>2.2669</c:v>
                </c:pt>
                <c:pt idx="16">
                  <c:v>2.2669</c:v>
                </c:pt>
                <c:pt idx="17">
                  <c:v>2.2669</c:v>
                </c:pt>
                <c:pt idx="18">
                  <c:v>2.2669</c:v>
                </c:pt>
                <c:pt idx="19">
                  <c:v>2.2669</c:v>
                </c:pt>
                <c:pt idx="20">
                  <c:v>2.2669</c:v>
                </c:pt>
                <c:pt idx="21">
                  <c:v>2.267</c:v>
                </c:pt>
                <c:pt idx="22">
                  <c:v>2.267</c:v>
                </c:pt>
                <c:pt idx="23">
                  <c:v>2.2669</c:v>
                </c:pt>
                <c:pt idx="24">
                  <c:v>2.2669</c:v>
                </c:pt>
                <c:pt idx="25">
                  <c:v>2.2669</c:v>
                </c:pt>
                <c:pt idx="26">
                  <c:v>2.2669</c:v>
                </c:pt>
                <c:pt idx="27">
                  <c:v>2.2669</c:v>
                </c:pt>
                <c:pt idx="28">
                  <c:v>2.2669</c:v>
                </c:pt>
                <c:pt idx="29">
                  <c:v>2.2669</c:v>
                </c:pt>
                <c:pt idx="30">
                  <c:v>2.2669</c:v>
                </c:pt>
                <c:pt idx="31">
                  <c:v>2.2669</c:v>
                </c:pt>
                <c:pt idx="32">
                  <c:v>2.2669</c:v>
                </c:pt>
                <c:pt idx="33">
                  <c:v>2.2669</c:v>
                </c:pt>
                <c:pt idx="34">
                  <c:v>2.2669</c:v>
                </c:pt>
                <c:pt idx="35">
                  <c:v>2.2669</c:v>
                </c:pt>
                <c:pt idx="36">
                  <c:v>2.2669</c:v>
                </c:pt>
                <c:pt idx="37">
                  <c:v>2.2669</c:v>
                </c:pt>
                <c:pt idx="38">
                  <c:v>2.2669</c:v>
                </c:pt>
                <c:pt idx="39">
                  <c:v>2.2669</c:v>
                </c:pt>
                <c:pt idx="40">
                  <c:v>2.267</c:v>
                </c:pt>
                <c:pt idx="41">
                  <c:v>2.2669</c:v>
                </c:pt>
                <c:pt idx="42">
                  <c:v>2.2669</c:v>
                </c:pt>
                <c:pt idx="43">
                  <c:v>2.2669</c:v>
                </c:pt>
                <c:pt idx="44">
                  <c:v>2.2669</c:v>
                </c:pt>
                <c:pt idx="45">
                  <c:v>2.2669</c:v>
                </c:pt>
                <c:pt idx="46">
                  <c:v>2.2669</c:v>
                </c:pt>
                <c:pt idx="47">
                  <c:v>2.2669</c:v>
                </c:pt>
                <c:pt idx="48">
                  <c:v>2.2669</c:v>
                </c:pt>
                <c:pt idx="49">
                  <c:v>2.2669</c:v>
                </c:pt>
                <c:pt idx="50">
                  <c:v>2.2669</c:v>
                </c:pt>
                <c:pt idx="51">
                  <c:v>2.2669</c:v>
                </c:pt>
                <c:pt idx="52">
                  <c:v>2.2669</c:v>
                </c:pt>
                <c:pt idx="53">
                  <c:v>2.2669</c:v>
                </c:pt>
                <c:pt idx="54">
                  <c:v>2.2669</c:v>
                </c:pt>
                <c:pt idx="55">
                  <c:v>2.2669</c:v>
                </c:pt>
                <c:pt idx="56">
                  <c:v>2.2669</c:v>
                </c:pt>
                <c:pt idx="57">
                  <c:v>2.2669</c:v>
                </c:pt>
                <c:pt idx="58">
                  <c:v>2.2669</c:v>
                </c:pt>
                <c:pt idx="59">
                  <c:v>2.2669</c:v>
                </c:pt>
                <c:pt idx="60">
                  <c:v>2.2669</c:v>
                </c:pt>
                <c:pt idx="61">
                  <c:v>2.2669</c:v>
                </c:pt>
                <c:pt idx="62">
                  <c:v>2.2669</c:v>
                </c:pt>
                <c:pt idx="63">
                  <c:v>2.2669</c:v>
                </c:pt>
                <c:pt idx="64">
                  <c:v>2.2669</c:v>
                </c:pt>
                <c:pt idx="65">
                  <c:v>2.2669</c:v>
                </c:pt>
                <c:pt idx="66">
                  <c:v>2.2669</c:v>
                </c:pt>
                <c:pt idx="67">
                  <c:v>2.2669</c:v>
                </c:pt>
                <c:pt idx="68">
                  <c:v>2.2669</c:v>
                </c:pt>
                <c:pt idx="69">
                  <c:v>2.2669</c:v>
                </c:pt>
                <c:pt idx="70">
                  <c:v>2.2669</c:v>
                </c:pt>
                <c:pt idx="71">
                  <c:v>2.2669</c:v>
                </c:pt>
                <c:pt idx="72">
                  <c:v>2.2669</c:v>
                </c:pt>
                <c:pt idx="73">
                  <c:v>2.2669</c:v>
                </c:pt>
                <c:pt idx="74">
                  <c:v>2.2669</c:v>
                </c:pt>
                <c:pt idx="75">
                  <c:v>2.2669</c:v>
                </c:pt>
                <c:pt idx="76">
                  <c:v>2.2669</c:v>
                </c:pt>
                <c:pt idx="77">
                  <c:v>2.2669</c:v>
                </c:pt>
                <c:pt idx="78">
                  <c:v>2.2669</c:v>
                </c:pt>
                <c:pt idx="79">
                  <c:v>2.2669</c:v>
                </c:pt>
                <c:pt idx="80">
                  <c:v>2.2669</c:v>
                </c:pt>
              </c:numCache>
            </c:numRef>
          </c:yVal>
          <c:smooth val="0"/>
        </c:ser>
        <c:ser>
          <c:idx val="2"/>
          <c:order val="2"/>
          <c:tx>
            <c:strRef>
              <c:f>Sheet1!$B$226</c:f>
              <c:strCache>
                <c:ptCount val="1"/>
                <c:pt idx="0">
                  <c:v>_v4.2</c:v>
                </c:pt>
              </c:strCache>
            </c:strRef>
          </c:tx>
          <c:spPr>
            <a:ln w="12700">
              <a:solidFill>
                <a:srgbClr val="B0B0B0"/>
              </a:solidFill>
              <a:prstDash val="dash"/>
            </a:ln>
          </c:spPr>
          <c:marker>
            <c:symbol val="none"/>
          </c:marker>
          <c:xVal>
            <c:numRef>
              <c:f>Sheet1!$A$227:$A$228</c:f>
              <c:numCache>
                <c:formatCode>General</c:formatCode>
                <c:ptCount val="2"/>
                <c:pt idx="0">
                  <c:v>4.2</c:v>
                </c:pt>
                <c:pt idx="1">
                  <c:v>4.2</c:v>
                </c:pt>
              </c:numCache>
            </c:numRef>
          </c:xVal>
          <c:yVal>
            <c:numRef>
              <c:f>Sheet1!$B$227:$B$228</c:f>
              <c:numCache>
                <c:formatCode>General</c:formatCode>
                <c:ptCount val="2"/>
                <c:pt idx="0">
                  <c:v>2.0</c:v>
                </c:pt>
                <c:pt idx="1">
                  <c:v>6.0</c:v>
                </c:pt>
              </c:numCache>
            </c:numRef>
          </c:yVal>
          <c:smooth val="0"/>
        </c:ser>
        <c:ser>
          <c:idx val="3"/>
          <c:order val="3"/>
          <c:tx>
            <c:strRef>
              <c:f>Sheet1!$B$230</c:f>
              <c:strCache>
                <c:ptCount val="1"/>
                <c:pt idx="0">
                  <c:v>_v14.0</c:v>
                </c:pt>
              </c:strCache>
            </c:strRef>
          </c:tx>
          <c:spPr>
            <a:ln w="12700">
              <a:solidFill>
                <a:srgbClr val="B0B0B0"/>
              </a:solidFill>
              <a:prstDash val="dash"/>
            </a:ln>
          </c:spPr>
          <c:marker>
            <c:symbol val="none"/>
          </c:marker>
          <c:xVal>
            <c:numRef>
              <c:f>Sheet1!$A$231:$A$232</c:f>
              <c:numCache>
                <c:formatCode>General</c:formatCode>
                <c:ptCount val="2"/>
                <c:pt idx="0">
                  <c:v>14.0</c:v>
                </c:pt>
                <c:pt idx="1">
                  <c:v>14.0</c:v>
                </c:pt>
              </c:numCache>
            </c:numRef>
          </c:xVal>
          <c:yVal>
            <c:numRef>
              <c:f>Sheet1!$B$231:$B$232</c:f>
              <c:numCache>
                <c:formatCode>General</c:formatCode>
                <c:ptCount val="2"/>
                <c:pt idx="0">
                  <c:v>2.0</c:v>
                </c:pt>
                <c:pt idx="1">
                  <c:v>6.0</c:v>
                </c:pt>
              </c:numCache>
            </c:numRef>
          </c:yVal>
          <c:smooth val="0"/>
        </c:ser>
        <c:axId val="-2128940872"/>
        <c:axId val="-2129643912"/>
      </c:scatterChart>
      <c:valAx>
        <c:axId val="-2128940872"/>
        <c:scaling>
          <c:orientation val="minMax"/>
          <c:max val="20.0"/>
          <c:min val="2.0"/>
        </c:scaling>
        <c:delete val="0"/>
        <c:axPos val="b"/>
        <c:title>
          <c:tx>
            <c:rich>
              <a:bodyPr/>
              <a:lstStyle/>
              <a:p>
                <a:r>
                  <a:rPr sz="1100" b="0">
                    <a:latin typeface="Arial"/>
                  </a:rPr>
                  <a:t>slab_w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2.0"/>
      </c:valAx>
      <c:valAx>
        <c:axId val="-2129643912"/>
        <c:scaling>
          <c:orientation val="minMax"/>
          <c:max val="6.0"/>
          <c:min val="2.0"/>
        </c:scaling>
        <c:delete val="0"/>
        <c:axPos val="l"/>
        <c:majorGridlines>
          <c:spPr>
            <a:ln>
              <a:solidFill>
                <a:srgbClr val="E3E3E3"/>
              </a:solidFill>
            </a:ln>
          </c:spPr>
        </c:majorGridlines>
        <c:title>
          <c:tx>
            <c:rich>
              <a:bodyPr/>
              <a:lstStyle/>
              <a:p>
                <a:r>
                  <a:rPr sz="1100" b="0">
                    <a:latin typeface="Arial"/>
                  </a:rPr>
                  <a:t>Vπ·L (V·cm)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majorUnit val="1.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previous unetched x_lift sweep</c:v>
                </c:pt>
              </c:strCache>
            </c:strRef>
          </c:tx>
          <c:spPr>
            <a:ln w="15875">
              <a:solidFill>
                <a:srgbClr val="B0B0B0"/>
              </a:solidFill>
            </a:ln>
          </c:spPr>
          <c:marker>
            <c:symbol val="none"/>
          </c:marker>
          <c:xVal>
            <c:numRef>
              <c:f>Sheet1!$A$2:$A$47</c:f>
              <c:numCache>
                <c:formatCode>General</c:formatCode>
                <c:ptCount val="46"/>
                <c:pt idx="0">
                  <c:v>4.4</c:v>
                </c:pt>
                <c:pt idx="1">
                  <c:v>4.5</c:v>
                </c:pt>
                <c:pt idx="2">
                  <c:v>4.6</c:v>
                </c:pt>
                <c:pt idx="3">
                  <c:v>4.699999999999999</c:v>
                </c:pt>
                <c:pt idx="4">
                  <c:v>4.800000000000001</c:v>
                </c:pt>
                <c:pt idx="5">
                  <c:v>4.9</c:v>
                </c:pt>
                <c:pt idx="6">
                  <c:v>5.0</c:v>
                </c:pt>
                <c:pt idx="7">
                  <c:v>5.1</c:v>
                </c:pt>
                <c:pt idx="8">
                  <c:v>5.199999999999999</c:v>
                </c:pt>
                <c:pt idx="9">
                  <c:v>5.300000000000001</c:v>
                </c:pt>
                <c:pt idx="10">
                  <c:v>5.4</c:v>
                </c:pt>
                <c:pt idx="11">
                  <c:v>5.5</c:v>
                </c:pt>
                <c:pt idx="12">
                  <c:v>5.6</c:v>
                </c:pt>
                <c:pt idx="13">
                  <c:v>5.699999999999999</c:v>
                </c:pt>
                <c:pt idx="14">
                  <c:v>5.800000000000001</c:v>
                </c:pt>
                <c:pt idx="15">
                  <c:v>5.9</c:v>
                </c:pt>
                <c:pt idx="16">
                  <c:v>6.0</c:v>
                </c:pt>
                <c:pt idx="17">
                  <c:v>6.1</c:v>
                </c:pt>
                <c:pt idx="18">
                  <c:v>6.200000000000001</c:v>
                </c:pt>
                <c:pt idx="19">
                  <c:v>6.300000000000001</c:v>
                </c:pt>
                <c:pt idx="20">
                  <c:v>6.4</c:v>
                </c:pt>
                <c:pt idx="21">
                  <c:v>6.5</c:v>
                </c:pt>
                <c:pt idx="22">
                  <c:v>6.6</c:v>
                </c:pt>
                <c:pt idx="23">
                  <c:v>6.700000000000001</c:v>
                </c:pt>
                <c:pt idx="24">
                  <c:v>6.800000000000001</c:v>
                </c:pt>
                <c:pt idx="25">
                  <c:v>6.9</c:v>
                </c:pt>
                <c:pt idx="26">
                  <c:v>7.0</c:v>
                </c:pt>
                <c:pt idx="27">
                  <c:v>7.1</c:v>
                </c:pt>
                <c:pt idx="28">
                  <c:v>7.200000000000001</c:v>
                </c:pt>
                <c:pt idx="29">
                  <c:v>7.300000000000001</c:v>
                </c:pt>
                <c:pt idx="30">
                  <c:v>7.4</c:v>
                </c:pt>
                <c:pt idx="31">
                  <c:v>7.5</c:v>
                </c:pt>
                <c:pt idx="32">
                  <c:v>7.6</c:v>
                </c:pt>
                <c:pt idx="33">
                  <c:v>7.700000000000001</c:v>
                </c:pt>
                <c:pt idx="34">
                  <c:v>7.800000000000001</c:v>
                </c:pt>
                <c:pt idx="35">
                  <c:v>7.9</c:v>
                </c:pt>
                <c:pt idx="36">
                  <c:v>8.0</c:v>
                </c:pt>
                <c:pt idx="37">
                  <c:v>8.1</c:v>
                </c:pt>
                <c:pt idx="38">
                  <c:v>8.200000000000001</c:v>
                </c:pt>
                <c:pt idx="39">
                  <c:v>8.3</c:v>
                </c:pt>
                <c:pt idx="40">
                  <c:v>8.4</c:v>
                </c:pt>
                <c:pt idx="41">
                  <c:v>8.5</c:v>
                </c:pt>
                <c:pt idx="42">
                  <c:v>8.6</c:v>
                </c:pt>
                <c:pt idx="43">
                  <c:v>8.700000000000001</c:v>
                </c:pt>
                <c:pt idx="44">
                  <c:v>8.8</c:v>
                </c:pt>
                <c:pt idx="45">
                  <c:v>8.9</c:v>
                </c:pt>
              </c:numCache>
            </c:numRef>
          </c:xVal>
          <c:yVal>
            <c:numRef>
              <c:f>Sheet1!$B$2:$B$47</c:f>
              <c:numCache>
                <c:formatCode>General</c:formatCode>
                <c:ptCount val="46"/>
                <c:pt idx="0">
                  <c:v>0.6815</c:v>
                </c:pt>
                <c:pt idx="1">
                  <c:v>0.3521</c:v>
                </c:pt>
                <c:pt idx="2">
                  <c:v>0.2271</c:v>
                </c:pt>
                <c:pt idx="3">
                  <c:v>0.1826</c:v>
                </c:pt>
                <c:pt idx="4">
                  <c:v>0.1807</c:v>
                </c:pt>
                <c:pt idx="5">
                  <c:v>0.2216</c:v>
                </c:pt>
                <c:pt idx="6">
                  <c:v>0.3345</c:v>
                </c:pt>
                <c:pt idx="7">
                  <c:v>0.6016</c:v>
                </c:pt>
                <c:pt idx="8">
                  <c:v>0.8827</c:v>
                </c:pt>
                <c:pt idx="9">
                  <c:v>0.6382</c:v>
                </c:pt>
                <c:pt idx="10">
                  <c:v>0.3731</c:v>
                </c:pt>
                <c:pt idx="11">
                  <c:v>0.2513</c:v>
                </c:pt>
                <c:pt idx="12">
                  <c:v>0.2077</c:v>
                </c:pt>
                <c:pt idx="13">
                  <c:v>0.2073</c:v>
                </c:pt>
                <c:pt idx="14">
                  <c:v>0.2509</c:v>
                </c:pt>
                <c:pt idx="15">
                  <c:v>0.3633</c:v>
                </c:pt>
                <c:pt idx="16">
                  <c:v>0.5965</c:v>
                </c:pt>
                <c:pt idx="17">
                  <c:v>0.7824</c:v>
                </c:pt>
                <c:pt idx="18">
                  <c:v>0.6002</c:v>
                </c:pt>
                <c:pt idx="19">
                  <c:v>0.3825</c:v>
                </c:pt>
                <c:pt idx="20">
                  <c:v>0.2751</c:v>
                </c:pt>
                <c:pt idx="21">
                  <c:v>0.231</c:v>
                </c:pt>
                <c:pt idx="22">
                  <c:v>0.2329</c:v>
                </c:pt>
                <c:pt idx="23">
                  <c:v>0.2782</c:v>
                </c:pt>
                <c:pt idx="24">
                  <c:v>0.391</c:v>
                </c:pt>
                <c:pt idx="25">
                  <c:v>0.585</c:v>
                </c:pt>
                <c:pt idx="26">
                  <c:v>0.7076</c:v>
                </c:pt>
                <c:pt idx="27">
                  <c:v>0.566</c:v>
                </c:pt>
                <c:pt idx="28">
                  <c:v>0.3916</c:v>
                </c:pt>
                <c:pt idx="29">
                  <c:v>0.2914</c:v>
                </c:pt>
                <c:pt idx="30">
                  <c:v>0.2525</c:v>
                </c:pt>
                <c:pt idx="31">
                  <c:v>0.2549</c:v>
                </c:pt>
                <c:pt idx="32">
                  <c:v>0.3051</c:v>
                </c:pt>
                <c:pt idx="33">
                  <c:v>0.4036</c:v>
                </c:pt>
                <c:pt idx="34">
                  <c:v>0.5742</c:v>
                </c:pt>
                <c:pt idx="35">
                  <c:v>0.6495</c:v>
                </c:pt>
                <c:pt idx="36">
                  <c:v>0.5403</c:v>
                </c:pt>
                <c:pt idx="37">
                  <c:v>0.3937</c:v>
                </c:pt>
                <c:pt idx="38">
                  <c:v>0.3071</c:v>
                </c:pt>
                <c:pt idx="39">
                  <c:v>0.2723</c:v>
                </c:pt>
                <c:pt idx="40">
                  <c:v>0.276</c:v>
                </c:pt>
                <c:pt idx="41">
                  <c:v>0.3228</c:v>
                </c:pt>
                <c:pt idx="42">
                  <c:v>0.4169</c:v>
                </c:pt>
                <c:pt idx="43">
                  <c:v>0.5605</c:v>
                </c:pt>
                <c:pt idx="44">
                  <c:v>0.6071</c:v>
                </c:pt>
                <c:pt idx="45">
                  <c:v>0.5169</c:v>
                </c:pt>
              </c:numCache>
            </c:numRef>
          </c:yVal>
          <c:smooth val="0"/>
        </c:ser>
        <c:ser>
          <c:idx val="1"/>
          <c:order val="1"/>
          <c:tx>
            <c:strRef>
              <c:f>Sheet1!$B$49</c:f>
              <c:strCache>
                <c:ptCount val="1"/>
                <c:pt idx="0">
                  <c:v>mirror: slab end in gold</c:v>
                </c:pt>
              </c:strCache>
            </c:strRef>
          </c:tx>
          <c:spPr>
            <a:ln w="15875">
              <a:solidFill>
                <a:srgbClr val="EB6834"/>
              </a:solidFill>
            </a:ln>
          </c:spPr>
          <c:marker>
            <c:symbol val="circle"/>
            <c:size val="3"/>
            <c:spPr>
              <a:solidFill>
                <a:srgbClr val="EB6834"/>
              </a:solidFill>
              <a:ln>
                <a:solidFill>
                  <a:srgbClr val="EB6834"/>
                </a:solidFill>
              </a:ln>
            </c:spPr>
          </c:marker>
          <c:xVal>
            <c:numRef>
              <c:f>Sheet1!$A$50:$A$154</c:f>
              <c:numCache>
                <c:formatCode>General</c:formatCode>
                <c:ptCount val="105"/>
                <c:pt idx="0">
                  <c:v>0.02499999999999991</c:v>
                </c:pt>
                <c:pt idx="1">
                  <c:v>0.04999999999999982</c:v>
                </c:pt>
                <c:pt idx="2">
                  <c:v>0.10000000000000009</c:v>
                </c:pt>
                <c:pt idx="3">
                  <c:v>0.1499999999999999</c:v>
                </c:pt>
                <c:pt idx="4">
                  <c:v>0.19999999999999973</c:v>
                </c:pt>
                <c:pt idx="5">
                  <c:v>0.25</c:v>
                </c:pt>
                <c:pt idx="6">
                  <c:v>0.2749999999999999</c:v>
                </c:pt>
                <c:pt idx="7">
                  <c:v>0.2999999999999998</c:v>
                </c:pt>
                <c:pt idx="8">
                  <c:v>0.32499999999999973</c:v>
                </c:pt>
                <c:pt idx="9">
                  <c:v>0.3500000000000001</c:v>
                </c:pt>
                <c:pt idx="10">
                  <c:v>0.375</c:v>
                </c:pt>
                <c:pt idx="11">
                  <c:v>0.3999999999999999</c:v>
                </c:pt>
                <c:pt idx="12">
                  <c:v>0.4249999999999998</c:v>
                </c:pt>
                <c:pt idx="13">
                  <c:v>0.44999999999999973</c:v>
                </c:pt>
                <c:pt idx="14">
                  <c:v>0.4750000000000001</c:v>
                </c:pt>
                <c:pt idx="15">
                  <c:v>0.5</c:v>
                </c:pt>
                <c:pt idx="16">
                  <c:v>0.6000000000000001</c:v>
                </c:pt>
                <c:pt idx="17">
                  <c:v>0.6999999999999997</c:v>
                </c:pt>
                <c:pt idx="18">
                  <c:v>0.7999999999999998</c:v>
                </c:pt>
                <c:pt idx="19">
                  <c:v>0.8999999999999999</c:v>
                </c:pt>
                <c:pt idx="20">
                  <c:v>1.0</c:v>
                </c:pt>
                <c:pt idx="21">
                  <c:v>1.1</c:v>
                </c:pt>
                <c:pt idx="22">
                  <c:v>1.125</c:v>
                </c:pt>
                <c:pt idx="23">
                  <c:v>1.15</c:v>
                </c:pt>
                <c:pt idx="24">
                  <c:v>1.1749999999999998</c:v>
                </c:pt>
                <c:pt idx="25">
                  <c:v>1.1999999999999997</c:v>
                </c:pt>
                <c:pt idx="26">
                  <c:v>1.225</c:v>
                </c:pt>
                <c:pt idx="27">
                  <c:v>1.25</c:v>
                </c:pt>
                <c:pt idx="28">
                  <c:v>1.275</c:v>
                </c:pt>
                <c:pt idx="29">
                  <c:v>1.2999999999999998</c:v>
                </c:pt>
                <c:pt idx="30">
                  <c:v>1.3249999999999997</c:v>
                </c:pt>
                <c:pt idx="31">
                  <c:v>1.35</c:v>
                </c:pt>
                <c:pt idx="32">
                  <c:v>1.375</c:v>
                </c:pt>
                <c:pt idx="33">
                  <c:v>1.4</c:v>
                </c:pt>
                <c:pt idx="34">
                  <c:v>1.4249999999999998</c:v>
                </c:pt>
                <c:pt idx="35">
                  <c:v>1.5</c:v>
                </c:pt>
                <c:pt idx="36">
                  <c:v>1.6</c:v>
                </c:pt>
                <c:pt idx="37">
                  <c:v>1.6999999999999997</c:v>
                </c:pt>
                <c:pt idx="38">
                  <c:v>1.7999999999999998</c:v>
                </c:pt>
                <c:pt idx="39">
                  <c:v>1.9</c:v>
                </c:pt>
                <c:pt idx="40">
                  <c:v>1.9999999999999996</c:v>
                </c:pt>
                <c:pt idx="41">
                  <c:v>2.025</c:v>
                </c:pt>
                <c:pt idx="42">
                  <c:v>2.0500000000000003</c:v>
                </c:pt>
                <c:pt idx="43">
                  <c:v>2.0749999999999997</c:v>
                </c:pt>
                <c:pt idx="44">
                  <c:v>2.1</c:v>
                </c:pt>
                <c:pt idx="45">
                  <c:v>2.1249999999999996</c:v>
                </c:pt>
                <c:pt idx="46">
                  <c:v>2.15</c:v>
                </c:pt>
                <c:pt idx="47">
                  <c:v>2.1750000000000003</c:v>
                </c:pt>
                <c:pt idx="48">
                  <c:v>2.1999999999999997</c:v>
                </c:pt>
                <c:pt idx="49">
                  <c:v>2.225</c:v>
                </c:pt>
                <c:pt idx="50">
                  <c:v>2.2499999999999996</c:v>
                </c:pt>
                <c:pt idx="51">
                  <c:v>2.275</c:v>
                </c:pt>
                <c:pt idx="52">
                  <c:v>2.3000000000000003</c:v>
                </c:pt>
                <c:pt idx="53">
                  <c:v>2.3249999999999997</c:v>
                </c:pt>
                <c:pt idx="54">
                  <c:v>2.4</c:v>
                </c:pt>
                <c:pt idx="55">
                  <c:v>2.4999999999999996</c:v>
                </c:pt>
                <c:pt idx="56">
                  <c:v>2.6</c:v>
                </c:pt>
                <c:pt idx="57">
                  <c:v>2.6999999999999997</c:v>
                </c:pt>
                <c:pt idx="58">
                  <c:v>2.8000000000000003</c:v>
                </c:pt>
                <c:pt idx="59">
                  <c:v>2.9</c:v>
                </c:pt>
                <c:pt idx="60">
                  <c:v>2.9250000000000003</c:v>
                </c:pt>
                <c:pt idx="61">
                  <c:v>2.9499999999999997</c:v>
                </c:pt>
                <c:pt idx="62">
                  <c:v>2.975</c:v>
                </c:pt>
                <c:pt idx="63">
                  <c:v>2.9999999999999996</c:v>
                </c:pt>
                <c:pt idx="64">
                  <c:v>3.025</c:v>
                </c:pt>
                <c:pt idx="65">
                  <c:v>3.0500000000000003</c:v>
                </c:pt>
                <c:pt idx="66">
                  <c:v>3.0749999999999997</c:v>
                </c:pt>
                <c:pt idx="67">
                  <c:v>3.1</c:v>
                </c:pt>
                <c:pt idx="68">
                  <c:v>3.1249999999999996</c:v>
                </c:pt>
                <c:pt idx="69">
                  <c:v>3.15</c:v>
                </c:pt>
                <c:pt idx="70">
                  <c:v>3.1750000000000003</c:v>
                </c:pt>
                <c:pt idx="71">
                  <c:v>3.1999999999999997</c:v>
                </c:pt>
                <c:pt idx="72">
                  <c:v>3.225</c:v>
                </c:pt>
                <c:pt idx="73">
                  <c:v>3.3000000000000003</c:v>
                </c:pt>
                <c:pt idx="74">
                  <c:v>3.4</c:v>
                </c:pt>
                <c:pt idx="75">
                  <c:v>3.4999999999999996</c:v>
                </c:pt>
                <c:pt idx="76">
                  <c:v>3.6</c:v>
                </c:pt>
                <c:pt idx="77">
                  <c:v>3.6999999999999997</c:v>
                </c:pt>
                <c:pt idx="78">
                  <c:v>3.8000000000000003</c:v>
                </c:pt>
                <c:pt idx="79">
                  <c:v>3.8249999999999997</c:v>
                </c:pt>
                <c:pt idx="80">
                  <c:v>3.85</c:v>
                </c:pt>
                <c:pt idx="81">
                  <c:v>3.8749999999999996</c:v>
                </c:pt>
                <c:pt idx="82">
                  <c:v>3.9</c:v>
                </c:pt>
                <c:pt idx="83">
                  <c:v>3.9250000000000003</c:v>
                </c:pt>
                <c:pt idx="84">
                  <c:v>3.9499999999999997</c:v>
                </c:pt>
                <c:pt idx="85">
                  <c:v>3.975</c:v>
                </c:pt>
                <c:pt idx="86">
                  <c:v>3.9999999999999996</c:v>
                </c:pt>
                <c:pt idx="87">
                  <c:v>4.025</c:v>
                </c:pt>
                <c:pt idx="88">
                  <c:v>4.050000000000001</c:v>
                </c:pt>
                <c:pt idx="89">
                  <c:v>4.074999999999999</c:v>
                </c:pt>
                <c:pt idx="90">
                  <c:v>4.1</c:v>
                </c:pt>
                <c:pt idx="91">
                  <c:v>4.125</c:v>
                </c:pt>
                <c:pt idx="92">
                  <c:v>4.199999999999999</c:v>
                </c:pt>
                <c:pt idx="93">
                  <c:v>4.300000000000001</c:v>
                </c:pt>
                <c:pt idx="94">
                  <c:v>4.4</c:v>
                </c:pt>
                <c:pt idx="95">
                  <c:v>4.5</c:v>
                </c:pt>
                <c:pt idx="96">
                  <c:v>4.6</c:v>
                </c:pt>
                <c:pt idx="97">
                  <c:v>4.699999999999999</c:v>
                </c:pt>
                <c:pt idx="98">
                  <c:v>4.725</c:v>
                </c:pt>
                <c:pt idx="99">
                  <c:v>4.75</c:v>
                </c:pt>
                <c:pt idx="100">
                  <c:v>4.775</c:v>
                </c:pt>
                <c:pt idx="101">
                  <c:v>4.800000000000001</c:v>
                </c:pt>
                <c:pt idx="102">
                  <c:v>4.824999999999999</c:v>
                </c:pt>
                <c:pt idx="103">
                  <c:v>4.85</c:v>
                </c:pt>
                <c:pt idx="104">
                  <c:v>4.875</c:v>
                </c:pt>
              </c:numCache>
            </c:numRef>
          </c:xVal>
          <c:yVal>
            <c:numRef>
              <c:f>Sheet1!$B$50:$B$154</c:f>
              <c:numCache>
                <c:formatCode>General</c:formatCode>
                <c:ptCount val="105"/>
                <c:pt idx="0">
                  <c:v>0.27518994608104475</c:v>
                </c:pt>
                <c:pt idx="1">
                  <c:v>0.20288752830513648</c:v>
                </c:pt>
                <c:pt idx="2">
                  <c:v>0.12714081822264087</c:v>
                </c:pt>
                <c:pt idx="3">
                  <c:v>0.09945827170621555</c:v>
                </c:pt>
                <c:pt idx="4">
                  <c:v>0.10402871592391051</c:v>
                </c:pt>
                <c:pt idx="5">
                  <c:v>0.15987199038363142</c:v>
                </c:pt>
                <c:pt idx="6">
                  <c:v>0.23637755360007337</c:v>
                </c:pt>
                <c:pt idx="7">
                  <c:v>0.4067314194640136</c:v>
                </c:pt>
                <c:pt idx="8">
                  <c:v>0.8728543581784377</c:v>
                </c:pt>
                <c:pt idx="9">
                  <c:v>2.6909140034704686</c:v>
                </c:pt>
                <c:pt idx="10">
                  <c:v>7.40141686807917</c:v>
                </c:pt>
                <c:pt idx="11">
                  <c:v>2.613677307782508</c:v>
                </c:pt>
                <c:pt idx="12">
                  <c:v>0.9499524505542624</c:v>
                </c:pt>
                <c:pt idx="13">
                  <c:v>0.47863188763472647</c:v>
                </c:pt>
                <c:pt idx="14">
                  <c:v>0.29344053720659385</c:v>
                </c:pt>
                <c:pt idx="15">
                  <c:v>0.20098</c:v>
                </c:pt>
                <c:pt idx="16">
                  <c:v>0.07812</c:v>
                </c:pt>
                <c:pt idx="17">
                  <c:v>0.047693</c:v>
                </c:pt>
                <c:pt idx="18">
                  <c:v>0.038338</c:v>
                </c:pt>
                <c:pt idx="19">
                  <c:v>0.040597</c:v>
                </c:pt>
                <c:pt idx="20">
                  <c:v>0.05943</c:v>
                </c:pt>
                <c:pt idx="21">
                  <c:v>0.13186</c:v>
                </c:pt>
                <c:pt idx="22">
                  <c:v>0.17595</c:v>
                </c:pt>
                <c:pt idx="23">
                  <c:v>0.24574</c:v>
                </c:pt>
                <c:pt idx="24">
                  <c:v>0.36588</c:v>
                </c:pt>
                <c:pt idx="25">
                  <c:v>0.5908</c:v>
                </c:pt>
                <c:pt idx="26">
                  <c:v>1.0475</c:v>
                </c:pt>
                <c:pt idx="27">
                  <c:v>1.9426</c:v>
                </c:pt>
                <c:pt idx="28">
                  <c:v>2.8834</c:v>
                </c:pt>
                <c:pt idx="29">
                  <c:v>2.3294</c:v>
                </c:pt>
                <c:pt idx="30">
                  <c:v>1.3523</c:v>
                </c:pt>
                <c:pt idx="31">
                  <c:v>0.79579</c:v>
                </c:pt>
                <c:pt idx="32">
                  <c:v>0.51346</c:v>
                </c:pt>
                <c:pt idx="33">
                  <c:v>0.35857</c:v>
                </c:pt>
                <c:pt idx="34">
                  <c:v>0.2676</c:v>
                </c:pt>
                <c:pt idx="35">
                  <c:v>0.14145</c:v>
                </c:pt>
                <c:pt idx="36">
                  <c:v>0.087431</c:v>
                </c:pt>
                <c:pt idx="37">
                  <c:v>0.07145</c:v>
                </c:pt>
                <c:pt idx="38">
                  <c:v>0.076405</c:v>
                </c:pt>
                <c:pt idx="39">
                  <c:v>0.10839</c:v>
                </c:pt>
                <c:pt idx="40">
                  <c:v>0.22249</c:v>
                </c:pt>
                <c:pt idx="41">
                  <c:v>0.28742</c:v>
                </c:pt>
                <c:pt idx="42">
                  <c:v>0.38712</c:v>
                </c:pt>
                <c:pt idx="43">
                  <c:v>0.54357</c:v>
                </c:pt>
                <c:pt idx="44">
                  <c:v>0.78893</c:v>
                </c:pt>
                <c:pt idx="45">
                  <c:v>1.176</c:v>
                </c:pt>
                <c:pt idx="46">
                  <c:v>1.6516</c:v>
                </c:pt>
                <c:pt idx="47">
                  <c:v>1.8869</c:v>
                </c:pt>
                <c:pt idx="48">
                  <c:v>1.6364</c:v>
                </c:pt>
                <c:pt idx="49">
                  <c:v>1.1974</c:v>
                </c:pt>
                <c:pt idx="50">
                  <c:v>0.83269</c:v>
                </c:pt>
                <c:pt idx="51">
                  <c:v>0.59773</c:v>
                </c:pt>
                <c:pt idx="52">
                  <c:v>0.4444</c:v>
                </c:pt>
                <c:pt idx="53">
                  <c:v>0.34446</c:v>
                </c:pt>
                <c:pt idx="54">
                  <c:v>0.19321</c:v>
                </c:pt>
                <c:pt idx="55">
                  <c:v>0.12381</c:v>
                </c:pt>
                <c:pt idx="56">
                  <c:v>0.10406</c:v>
                </c:pt>
                <c:pt idx="57">
                  <c:v>0.11143</c:v>
                </c:pt>
                <c:pt idx="58">
                  <c:v>0.15637</c:v>
                </c:pt>
                <c:pt idx="59">
                  <c:v>0.30755</c:v>
                </c:pt>
                <c:pt idx="60">
                  <c:v>0.38598</c:v>
                </c:pt>
                <c:pt idx="61">
                  <c:v>0.49568</c:v>
                </c:pt>
                <c:pt idx="62">
                  <c:v>0.65265</c:v>
                </c:pt>
                <c:pt idx="63">
                  <c:v>0.86814</c:v>
                </c:pt>
                <c:pt idx="64">
                  <c:v>1.1297</c:v>
                </c:pt>
                <c:pt idx="65">
                  <c:v>1.3567</c:v>
                </c:pt>
                <c:pt idx="66">
                  <c:v>1.401</c:v>
                </c:pt>
                <c:pt idx="67">
                  <c:v>1.2539</c:v>
                </c:pt>
                <c:pt idx="68">
                  <c:v>1.012</c:v>
                </c:pt>
                <c:pt idx="69">
                  <c:v>0.79194</c:v>
                </c:pt>
                <c:pt idx="70">
                  <c:v>0.61665</c:v>
                </c:pt>
                <c:pt idx="71">
                  <c:v>0.48684</c:v>
                </c:pt>
                <c:pt idx="72">
                  <c:v>0.39263</c:v>
                </c:pt>
                <c:pt idx="73">
                  <c:v>0.23703</c:v>
                </c:pt>
                <c:pt idx="74">
                  <c:v>0.15775</c:v>
                </c:pt>
                <c:pt idx="75">
                  <c:v>0.1349</c:v>
                </c:pt>
                <c:pt idx="76">
                  <c:v>0.1457</c:v>
                </c:pt>
                <c:pt idx="77">
                  <c:v>0.20227</c:v>
                </c:pt>
                <c:pt idx="78">
                  <c:v>0.3718</c:v>
                </c:pt>
                <c:pt idx="79">
                  <c:v>0.45102</c:v>
                </c:pt>
                <c:pt idx="80">
                  <c:v>0.56349</c:v>
                </c:pt>
                <c:pt idx="81">
                  <c:v>0.70054</c:v>
                </c:pt>
                <c:pt idx="82">
                  <c:v>0.85705</c:v>
                </c:pt>
                <c:pt idx="83">
                  <c:v>1.0124</c:v>
                </c:pt>
                <c:pt idx="84">
                  <c:v>1.1173</c:v>
                </c:pt>
                <c:pt idx="85">
                  <c:v>1.1232</c:v>
                </c:pt>
                <c:pt idx="86">
                  <c:v>1.0285</c:v>
                </c:pt>
                <c:pt idx="87">
                  <c:v>0.88238</c:v>
                </c:pt>
                <c:pt idx="88">
                  <c:v>0.72937</c:v>
                </c:pt>
                <c:pt idx="89">
                  <c:v>0.59735</c:v>
                </c:pt>
                <c:pt idx="90">
                  <c:v>0.49693</c:v>
                </c:pt>
                <c:pt idx="91">
                  <c:v>0.41352</c:v>
                </c:pt>
                <c:pt idx="92">
                  <c:v>0.2679</c:v>
                </c:pt>
                <c:pt idx="93">
                  <c:v>0.18706</c:v>
                </c:pt>
                <c:pt idx="94">
                  <c:v>0.1641</c:v>
                </c:pt>
                <c:pt idx="95">
                  <c:v>0.17824</c:v>
                </c:pt>
                <c:pt idx="96">
                  <c:v>0.24572</c:v>
                </c:pt>
                <c:pt idx="97">
                  <c:v>0.42104</c:v>
                </c:pt>
                <c:pt idx="98">
                  <c:v>0.49707</c:v>
                </c:pt>
                <c:pt idx="99">
                  <c:v>0.59762</c:v>
                </c:pt>
                <c:pt idx="100">
                  <c:v>0.70092</c:v>
                </c:pt>
                <c:pt idx="101">
                  <c:v>0.81596</c:v>
                </c:pt>
                <c:pt idx="102">
                  <c:v>0.90723</c:v>
                </c:pt>
                <c:pt idx="103">
                  <c:v>0.9557</c:v>
                </c:pt>
                <c:pt idx="104">
                  <c:v>0.92507</c:v>
                </c:pt>
              </c:numCache>
            </c:numRef>
          </c:yVal>
          <c:smooth val="0"/>
        </c:ser>
        <c:ser>
          <c:idx val="2"/>
          <c:order val="2"/>
          <c:tx>
            <c:strRef>
              <c:f>Sheet1!$B$156</c:f>
              <c:strCache>
                <c:ptCount val="1"/>
                <c:pt idx="0">
                  <c:v>mirror: gold/SiO₂ edge</c:v>
                </c:pt>
              </c:strCache>
            </c:strRef>
          </c:tx>
          <c:spPr>
            <a:ln w="15875">
              <a:solidFill>
                <a:srgbClr val="2A78D6"/>
              </a:solidFill>
            </a:ln>
          </c:spPr>
          <c:marker>
            <c:symbol val="circle"/>
            <c:size val="3"/>
            <c:spPr>
              <a:solidFill>
                <a:srgbClr val="2A78D6"/>
              </a:solidFill>
              <a:ln>
                <a:solidFill>
                  <a:srgbClr val="2A78D6"/>
                </a:solidFill>
              </a:ln>
            </c:spPr>
          </c:marker>
          <c:xVal>
            <c:numRef>
              <c:f>Sheet1!$A$157:$A$202</c:f>
              <c:numCache>
                <c:formatCode>General</c:formatCode>
                <c:ptCount val="46"/>
                <c:pt idx="0">
                  <c:v>4.4</c:v>
                </c:pt>
                <c:pt idx="1">
                  <c:v>4.5</c:v>
                </c:pt>
                <c:pt idx="2">
                  <c:v>4.6</c:v>
                </c:pt>
                <c:pt idx="3">
                  <c:v>4.699999999999999</c:v>
                </c:pt>
                <c:pt idx="4">
                  <c:v>4.800000000000001</c:v>
                </c:pt>
                <c:pt idx="5">
                  <c:v>4.9</c:v>
                </c:pt>
                <c:pt idx="6">
                  <c:v>5.0</c:v>
                </c:pt>
                <c:pt idx="7">
                  <c:v>5.1</c:v>
                </c:pt>
                <c:pt idx="8">
                  <c:v>5.199999999999999</c:v>
                </c:pt>
                <c:pt idx="9">
                  <c:v>5.300000000000001</c:v>
                </c:pt>
                <c:pt idx="10">
                  <c:v>5.4</c:v>
                </c:pt>
                <c:pt idx="11">
                  <c:v>5.5</c:v>
                </c:pt>
                <c:pt idx="12">
                  <c:v>5.6</c:v>
                </c:pt>
                <c:pt idx="13">
                  <c:v>5.699999999999999</c:v>
                </c:pt>
                <c:pt idx="14">
                  <c:v>5.800000000000001</c:v>
                </c:pt>
                <c:pt idx="15">
                  <c:v>5.9</c:v>
                </c:pt>
                <c:pt idx="16">
                  <c:v>6.0</c:v>
                </c:pt>
                <c:pt idx="17">
                  <c:v>6.1</c:v>
                </c:pt>
                <c:pt idx="18">
                  <c:v>6.200000000000001</c:v>
                </c:pt>
                <c:pt idx="19">
                  <c:v>6.300000000000001</c:v>
                </c:pt>
                <c:pt idx="20">
                  <c:v>6.4</c:v>
                </c:pt>
                <c:pt idx="21">
                  <c:v>6.5</c:v>
                </c:pt>
                <c:pt idx="22">
                  <c:v>6.6</c:v>
                </c:pt>
                <c:pt idx="23">
                  <c:v>6.700000000000001</c:v>
                </c:pt>
                <c:pt idx="24">
                  <c:v>6.800000000000001</c:v>
                </c:pt>
                <c:pt idx="25">
                  <c:v>6.9</c:v>
                </c:pt>
                <c:pt idx="26">
                  <c:v>7.0</c:v>
                </c:pt>
                <c:pt idx="27">
                  <c:v>7.1</c:v>
                </c:pt>
                <c:pt idx="28">
                  <c:v>7.200000000000001</c:v>
                </c:pt>
                <c:pt idx="29">
                  <c:v>7.300000000000001</c:v>
                </c:pt>
                <c:pt idx="30">
                  <c:v>7.4</c:v>
                </c:pt>
                <c:pt idx="31">
                  <c:v>7.5</c:v>
                </c:pt>
                <c:pt idx="32">
                  <c:v>7.6</c:v>
                </c:pt>
                <c:pt idx="33">
                  <c:v>7.700000000000001</c:v>
                </c:pt>
                <c:pt idx="34">
                  <c:v>7.800000000000001</c:v>
                </c:pt>
                <c:pt idx="35">
                  <c:v>7.9</c:v>
                </c:pt>
                <c:pt idx="36">
                  <c:v>8.0</c:v>
                </c:pt>
                <c:pt idx="37">
                  <c:v>8.1</c:v>
                </c:pt>
                <c:pt idx="38">
                  <c:v>8.200000000000001</c:v>
                </c:pt>
                <c:pt idx="39">
                  <c:v>8.3</c:v>
                </c:pt>
                <c:pt idx="40">
                  <c:v>8.4</c:v>
                </c:pt>
                <c:pt idx="41">
                  <c:v>8.5</c:v>
                </c:pt>
                <c:pt idx="42">
                  <c:v>8.6</c:v>
                </c:pt>
                <c:pt idx="43">
                  <c:v>8.700000000000001</c:v>
                </c:pt>
                <c:pt idx="44">
                  <c:v>8.8</c:v>
                </c:pt>
                <c:pt idx="45">
                  <c:v>8.9</c:v>
                </c:pt>
              </c:numCache>
            </c:numRef>
          </c:xVal>
          <c:yVal>
            <c:numRef>
              <c:f>Sheet1!$B$157:$B$202</c:f>
              <c:numCache>
                <c:formatCode>General</c:formatCode>
                <c:ptCount val="46"/>
                <c:pt idx="0">
                  <c:v>0.63924</c:v>
                </c:pt>
                <c:pt idx="1">
                  <c:v>0.33575</c:v>
                </c:pt>
                <c:pt idx="2">
                  <c:v>0.2216</c:v>
                </c:pt>
                <c:pt idx="3">
                  <c:v>0.18184</c:v>
                </c:pt>
                <c:pt idx="4">
                  <c:v>0.18385</c:v>
                </c:pt>
                <c:pt idx="5">
                  <c:v>0.22925</c:v>
                </c:pt>
                <c:pt idx="6">
                  <c:v>0.35663</c:v>
                </c:pt>
                <c:pt idx="7">
                  <c:v>0.65157</c:v>
                </c:pt>
                <c:pt idx="8">
                  <c:v>0.88616</c:v>
                </c:pt>
                <c:pt idx="9">
                  <c:v>0.60414</c:v>
                </c:pt>
                <c:pt idx="10">
                  <c:v>0.35337</c:v>
                </c:pt>
                <c:pt idx="11">
                  <c:v>0.24609</c:v>
                </c:pt>
                <c:pt idx="12">
                  <c:v>0.20746</c:v>
                </c:pt>
                <c:pt idx="13">
                  <c:v>0.21191</c:v>
                </c:pt>
                <c:pt idx="14">
                  <c:v>0.26211</c:v>
                </c:pt>
                <c:pt idx="15">
                  <c:v>0.39058</c:v>
                </c:pt>
                <c:pt idx="16">
                  <c:v>0.64017</c:v>
                </c:pt>
                <c:pt idx="17">
                  <c:v>0.78252</c:v>
                </c:pt>
                <c:pt idx="18">
                  <c:v>0.56997</c:v>
                </c:pt>
                <c:pt idx="19">
                  <c:v>0.36591</c:v>
                </c:pt>
                <c:pt idx="20">
                  <c:v>0.26772</c:v>
                </c:pt>
                <c:pt idx="21">
                  <c:v>0.2313</c:v>
                </c:pt>
                <c:pt idx="22">
                  <c:v>0.2378</c:v>
                </c:pt>
                <c:pt idx="23">
                  <c:v>0.29018</c:v>
                </c:pt>
                <c:pt idx="24">
                  <c:v>0.4129</c:v>
                </c:pt>
                <c:pt idx="25">
                  <c:v>0.61907</c:v>
                </c:pt>
                <c:pt idx="26">
                  <c:v>0.70546</c:v>
                </c:pt>
                <c:pt idx="27">
                  <c:v>0.54346</c:v>
                </c:pt>
                <c:pt idx="28">
                  <c:v>0.37406</c:v>
                </c:pt>
                <c:pt idx="29">
                  <c:v>0.28641</c:v>
                </c:pt>
                <c:pt idx="30">
                  <c:v>0.25289</c:v>
                </c:pt>
                <c:pt idx="31">
                  <c:v>0.26192</c:v>
                </c:pt>
                <c:pt idx="32">
                  <c:v>0.31458</c:v>
                </c:pt>
                <c:pt idx="33">
                  <c:v>0.43147</c:v>
                </c:pt>
                <c:pt idx="34">
                  <c:v>0.59617</c:v>
                </c:pt>
                <c:pt idx="35">
                  <c:v>0.64794</c:v>
                </c:pt>
                <c:pt idx="36">
                  <c:v>0.51924</c:v>
                </c:pt>
                <c:pt idx="37">
                  <c:v>0.37925</c:v>
                </c:pt>
                <c:pt idx="38">
                  <c:v>0.30182</c:v>
                </c:pt>
                <c:pt idx="39">
                  <c:v>0.27251</c:v>
                </c:pt>
                <c:pt idx="40">
                  <c:v>0.28341</c:v>
                </c:pt>
                <c:pt idx="41">
                  <c:v>0.3364</c:v>
                </c:pt>
                <c:pt idx="42">
                  <c:v>0.44225</c:v>
                </c:pt>
                <c:pt idx="43">
                  <c:v>0.57312</c:v>
                </c:pt>
                <c:pt idx="44">
                  <c:v>0.60299</c:v>
                </c:pt>
                <c:pt idx="45">
                  <c:v>0.50084</c:v>
                </c:pt>
              </c:numCache>
            </c:numRef>
          </c:yVal>
          <c:smooth val="0"/>
        </c:ser>
        <c:axId val="-2128940872"/>
        <c:axId val="-2129643912"/>
      </c:scatterChart>
      <c:valAx>
        <c:axId val="-2128940872"/>
        <c:scaling>
          <c:orientation val="minMax"/>
          <c:max val="9.0"/>
          <c:min val="0.0"/>
        </c:scaling>
        <c:delete val="0"/>
        <c:axPos val="b"/>
        <c:title>
          <c:tx>
            <c:rich>
              <a:bodyPr/>
              <a:lstStyle/>
              <a:p>
                <a:r>
                  <a:rPr sz="1100" b="0">
                    <a:latin typeface="Arial"/>
                  </a:rPr>
                  <a:t>cavity length L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1.0"/>
      </c:valAx>
      <c:valAx>
        <c:axId val="-2129643912"/>
        <c:scaling>
          <c:logBase val="10"/>
          <c:orientation val="minMax"/>
          <c:max val="10.0"/>
          <c:min val="0.02"/>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slab 175 nm</c:v>
                </c:pt>
              </c:strCache>
            </c:strRef>
          </c:tx>
          <c:spPr>
            <a:ln w="19050">
              <a:solidFill>
                <a:srgbClr val="EB6834"/>
              </a:solidFill>
            </a:ln>
          </c:spPr>
          <c:marker>
            <c:symbol val="circle"/>
            <c:size val="4"/>
            <c:spPr>
              <a:solidFill>
                <a:srgbClr val="EB6834"/>
              </a:solidFill>
              <a:ln>
                <a:solidFill>
                  <a:srgbClr val="EB6834"/>
                </a:solidFill>
              </a:ln>
            </c:spPr>
          </c:marker>
          <c:xVal>
            <c:numRef>
              <c:f>Sheet1!$A$2:$A$17</c:f>
              <c:numCache>
                <c:formatCode>General</c:formatCode>
                <c:ptCount val="16"/>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numCache>
            </c:numRef>
          </c:xVal>
          <c:yVal>
            <c:numRef>
              <c:f>Sheet1!$B$2:$B$17</c:f>
              <c:numCache>
                <c:formatCode>General</c:formatCode>
                <c:ptCount val="16"/>
                <c:pt idx="0">
                  <c:v>0.12335001763571268</c:v>
                </c:pt>
                <c:pt idx="1">
                  <c:v>0.12300697443817529</c:v>
                </c:pt>
                <c:pt idx="2">
                  <c:v>0.12245602627243345</c:v>
                </c:pt>
                <c:pt idx="3">
                  <c:v>0.12186696219585412</c:v>
                </c:pt>
                <c:pt idx="4">
                  <c:v>0.12173875413212804</c:v>
                </c:pt>
                <c:pt idx="5">
                  <c:v>0.1210214819918226</c:v>
                </c:pt>
                <c:pt idx="6">
                  <c:v>0.12162787148241898</c:v>
                </c:pt>
                <c:pt idx="7">
                  <c:v>0.12195705434874272</c:v>
                </c:pt>
                <c:pt idx="8">
                  <c:v>0.12187735744426434</c:v>
                </c:pt>
                <c:pt idx="9">
                  <c:v>0.12209912274368245</c:v>
                </c:pt>
                <c:pt idx="10">
                  <c:v>0.12224119113862217</c:v>
                </c:pt>
                <c:pt idx="11">
                  <c:v>0.12251493268009139</c:v>
                </c:pt>
                <c:pt idx="12">
                  <c:v>0.1230035093553719</c:v>
                </c:pt>
                <c:pt idx="13">
                  <c:v>0.12308320625985028</c:v>
                </c:pt>
                <c:pt idx="14">
                  <c:v>0.12329111122805475</c:v>
                </c:pt>
                <c:pt idx="15">
                  <c:v>0.12337427321533655</c:v>
                </c:pt>
              </c:numCache>
            </c:numRef>
          </c:yVal>
          <c:smooth val="0"/>
        </c:ser>
        <c:ser>
          <c:idx val="1"/>
          <c:order val="1"/>
          <c:tx>
            <c:strRef>
              <c:f>Sheet1!$B$19</c:f>
              <c:strCache>
                <c:ptCount val="1"/>
                <c:pt idx="0">
                  <c:v>slab 150 nm</c:v>
                </c:pt>
              </c:strCache>
            </c:strRef>
          </c:tx>
          <c:spPr>
            <a:ln w="19050">
              <a:solidFill>
                <a:srgbClr val="2A78D6"/>
              </a:solidFill>
            </a:ln>
          </c:spPr>
          <c:marker>
            <c:symbol val="circle"/>
            <c:size val="4"/>
            <c:spPr>
              <a:solidFill>
                <a:srgbClr val="2A78D6"/>
              </a:solidFill>
              <a:ln>
                <a:solidFill>
                  <a:srgbClr val="2A78D6"/>
                </a:solidFill>
              </a:ln>
            </c:spPr>
          </c:marker>
          <c:xVal>
            <c:numRef>
              <c:f>Sheet1!$A$20:$A$35</c:f>
              <c:numCache>
                <c:formatCode>General</c:formatCode>
                <c:ptCount val="16"/>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numCache>
            </c:numRef>
          </c:xVal>
          <c:yVal>
            <c:numRef>
              <c:f>Sheet1!$B$20:$B$35</c:f>
              <c:numCache>
                <c:formatCode>General</c:formatCode>
                <c:ptCount val="16"/>
                <c:pt idx="0">
                  <c:v>0.0034375353951207584</c:v>
                </c:pt>
                <c:pt idx="1">
                  <c:v>0.0034367384260759752</c:v>
                </c:pt>
                <c:pt idx="2">
                  <c:v>0.0034374660934646905</c:v>
                </c:pt>
                <c:pt idx="3">
                  <c:v>0.0034376739984328946</c:v>
                </c:pt>
                <c:pt idx="4">
                  <c:v>0.003437985855885202</c:v>
                </c:pt>
                <c:pt idx="5">
                  <c:v>0.003438886777414088</c:v>
                </c:pt>
                <c:pt idx="6">
                  <c:v>0.0034388521265860533</c:v>
                </c:pt>
                <c:pt idx="7">
                  <c:v>0.0034367037752479406</c:v>
                </c:pt>
                <c:pt idx="8">
                  <c:v>0.003436114711171361</c:v>
                </c:pt>
                <c:pt idx="9">
                  <c:v>0.0034363919177956338</c:v>
                </c:pt>
                <c:pt idx="10">
                  <c:v>0.0034365998227638386</c:v>
                </c:pt>
                <c:pt idx="11">
                  <c:v>0.00343711958518435</c:v>
                </c:pt>
                <c:pt idx="12">
                  <c:v>0.0034348326305341003</c:v>
                </c:pt>
                <c:pt idx="13">
                  <c:v>0.003436426568623668</c:v>
                </c:pt>
                <c:pt idx="14">
                  <c:v>0.003435109837158373</c:v>
                </c:pt>
                <c:pt idx="15">
                  <c:v>0.0034365305211077704</c:v>
                </c:pt>
              </c:numCache>
            </c:numRef>
          </c:yVal>
          <c:smooth val="0"/>
        </c:ser>
        <c:ser>
          <c:idx val="2"/>
          <c:order val="2"/>
          <c:tx>
            <c:strRef>
              <c:f>Sheet1!$B$37</c:f>
              <c:strCache>
                <c:ptCount val="1"/>
                <c:pt idx="0">
                  <c:v>slab 275 nm (today)</c:v>
                </c:pt>
              </c:strCache>
            </c:strRef>
          </c:tx>
          <c:spPr>
            <a:ln w="15875">
              <a:solidFill>
                <a:srgbClr val="B0B0B0"/>
              </a:solidFill>
            </a:ln>
          </c:spPr>
          <c:marker>
            <c:symbol val="circle"/>
            <c:size val="3"/>
            <c:spPr>
              <a:solidFill>
                <a:srgbClr val="B0B0B0"/>
              </a:solidFill>
              <a:ln>
                <a:solidFill>
                  <a:srgbClr val="B0B0B0"/>
                </a:solidFill>
              </a:ln>
            </c:spPr>
          </c:marker>
          <c:xVal>
            <c:numRef>
              <c:f>Sheet1!$A$38:$A$53</c:f>
              <c:numCache>
                <c:formatCode>General</c:formatCode>
                <c:ptCount val="16"/>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numCache>
            </c:numRef>
          </c:xVal>
          <c:yVal>
            <c:numRef>
              <c:f>Sheet1!$B$38:$B$53</c:f>
              <c:numCache>
                <c:formatCode>General</c:formatCode>
                <c:ptCount val="16"/>
                <c:pt idx="0">
                  <c:v>0.63924</c:v>
                </c:pt>
                <c:pt idx="1">
                  <c:v>0.33575</c:v>
                </c:pt>
                <c:pt idx="2">
                  <c:v>0.2216</c:v>
                </c:pt>
                <c:pt idx="3">
                  <c:v>0.18184</c:v>
                </c:pt>
                <c:pt idx="4">
                  <c:v>0.18385</c:v>
                </c:pt>
                <c:pt idx="5">
                  <c:v>0.22925</c:v>
                </c:pt>
                <c:pt idx="6">
                  <c:v>0.35663</c:v>
                </c:pt>
                <c:pt idx="7">
                  <c:v>0.65157</c:v>
                </c:pt>
                <c:pt idx="8">
                  <c:v>0.88616</c:v>
                </c:pt>
                <c:pt idx="9">
                  <c:v>0.60414</c:v>
                </c:pt>
                <c:pt idx="10">
                  <c:v>0.35337</c:v>
                </c:pt>
                <c:pt idx="11">
                  <c:v>0.24609</c:v>
                </c:pt>
                <c:pt idx="12">
                  <c:v>0.20746</c:v>
                </c:pt>
                <c:pt idx="13">
                  <c:v>0.21191</c:v>
                </c:pt>
                <c:pt idx="14">
                  <c:v>0.26211</c:v>
                </c:pt>
                <c:pt idx="15">
                  <c:v>0.39058</c:v>
                </c:pt>
              </c:numCache>
            </c:numRef>
          </c:yVal>
          <c:smooth val="0"/>
        </c:ser>
        <c:axId val="-2128940872"/>
        <c:axId val="-2129643912"/>
      </c:scatterChart>
      <c:valAx>
        <c:axId val="-2128940872"/>
        <c:scaling>
          <c:orientation val="minMax"/>
          <c:max val="8.0"/>
          <c:min val="6.5"/>
        </c:scaling>
        <c:delete val="0"/>
        <c:axPos val="b"/>
        <c:title>
          <c:tx>
            <c:rich>
              <a:bodyPr/>
              <a:lstStyle/>
              <a:p>
                <a:r>
                  <a:rPr sz="1100" b="0">
                    <a:latin typeface="Arial"/>
                  </a:rPr>
                  <a:t>x_lift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0.5"/>
      </c:valAx>
      <c:valAx>
        <c:axId val="-2129643912"/>
        <c:scaling>
          <c:logBase val="10"/>
          <c:orientation val="minMax"/>
          <c:max val="2.0"/>
          <c:min val="0.001"/>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125 nm left</c:v>
                </c:pt>
              </c:strCache>
            </c:strRef>
          </c:tx>
          <c:spPr>
            <a:ln w="19050">
              <a:solidFill>
                <a:srgbClr val="2A78D6"/>
              </a:solidFill>
            </a:ln>
          </c:spPr>
          <c:marker>
            <c:symbol val="circle"/>
            <c:size val="5"/>
            <c:spPr>
              <a:solidFill>
                <a:srgbClr val="2A78D6"/>
              </a:solidFill>
              <a:ln>
                <a:solidFill>
                  <a:srgbClr val="2A78D6"/>
                </a:solidFill>
              </a:ln>
            </c:spPr>
          </c:marker>
          <c:xVal>
            <c:numRef>
              <c:f>Sheet1!$A$2:$A$11</c:f>
              <c:numCache>
                <c:formatCode>General</c:formatCode>
                <c:ptCount val="10"/>
                <c:pt idx="0">
                  <c:v>2.4</c:v>
                </c:pt>
                <c:pt idx="1">
                  <c:v>2.8</c:v>
                </c:pt>
                <c:pt idx="2">
                  <c:v>3.2</c:v>
                </c:pt>
                <c:pt idx="3">
                  <c:v>3.6</c:v>
                </c:pt>
                <c:pt idx="4">
                  <c:v>4.0</c:v>
                </c:pt>
                <c:pt idx="5">
                  <c:v>4.4</c:v>
                </c:pt>
                <c:pt idx="6">
                  <c:v>4.8</c:v>
                </c:pt>
                <c:pt idx="7">
                  <c:v>5.2</c:v>
                </c:pt>
                <c:pt idx="8">
                  <c:v>6.0</c:v>
                </c:pt>
                <c:pt idx="9">
                  <c:v>7.0</c:v>
                </c:pt>
              </c:numCache>
            </c:numRef>
          </c:xVal>
          <c:yVal>
            <c:numRef>
              <c:f>Sheet1!$B$2:$B$11</c:f>
              <c:numCache>
                <c:formatCode>General</c:formatCode>
                <c:ptCount val="10"/>
                <c:pt idx="0">
                  <c:v>0.0018591208765124144</c:v>
                </c:pt>
                <c:pt idx="1">
                  <c:v>0.0038143631499913625</c:v>
                </c:pt>
                <c:pt idx="2">
                  <c:v>0.007938504702607388</c:v>
                </c:pt>
                <c:pt idx="3">
                  <c:v>0.01756970235467951</c:v>
                </c:pt>
                <c:pt idx="4">
                  <c:v>0.05939151925041057</c:v>
                </c:pt>
                <c:pt idx="5">
                  <c:v>2.4183852409824413</c:v>
                </c:pt>
                <c:pt idx="6">
                  <c:v>0.6740625577469292</c:v>
                </c:pt>
                <c:pt idx="7">
                  <c:v>0.09913255392269521</c:v>
                </c:pt>
                <c:pt idx="8">
                  <c:v>0.08315852219898502</c:v>
                </c:pt>
                <c:pt idx="9">
                  <c:v>0.17293881763528243</c:v>
                </c:pt>
              </c:numCache>
            </c:numRef>
          </c:yVal>
          <c:smooth val="0"/>
        </c:ser>
        <c:ser>
          <c:idx val="1"/>
          <c:order val="1"/>
          <c:tx>
            <c:strRef>
              <c:f>Sheet1!$B$13</c:f>
              <c:strCache>
                <c:ptCount val="1"/>
                <c:pt idx="0">
                  <c:v>_v4.2</c:v>
                </c:pt>
              </c:strCache>
            </c:strRef>
          </c:tx>
          <c:spPr>
            <a:ln w="12700">
              <a:solidFill>
                <a:srgbClr val="B0B0B0"/>
              </a:solidFill>
              <a:prstDash val="dash"/>
            </a:ln>
          </c:spPr>
          <c:marker>
            <c:symbol val="none"/>
          </c:marker>
          <c:xVal>
            <c:numRef>
              <c:f>Sheet1!$A$14:$A$15</c:f>
              <c:numCache>
                <c:formatCode>General</c:formatCode>
                <c:ptCount val="2"/>
                <c:pt idx="0">
                  <c:v>4.2</c:v>
                </c:pt>
                <c:pt idx="1">
                  <c:v>4.2</c:v>
                </c:pt>
              </c:numCache>
            </c:numRef>
          </c:xVal>
          <c:yVal>
            <c:numRef>
              <c:f>Sheet1!$B$14:$B$15</c:f>
              <c:numCache>
                <c:formatCode>General</c:formatCode>
                <c:ptCount val="2"/>
                <c:pt idx="0">
                  <c:v>0.001</c:v>
                </c:pt>
                <c:pt idx="1">
                  <c:v>10</c:v>
                </c:pt>
              </c:numCache>
            </c:numRef>
          </c:yVal>
          <c:smooth val="0"/>
        </c:ser>
        <c:axId val="-2128940872"/>
        <c:axId val="-2129643912"/>
      </c:scatterChart>
      <c:valAx>
        <c:axId val="-2128940872"/>
        <c:scaling>
          <c:orientation val="minMax"/>
          <c:max val="7.0"/>
          <c:min val="2.0"/>
        </c:scaling>
        <c:delete val="0"/>
        <c:axPos val="b"/>
        <c:title>
          <c:tx>
            <c:rich>
              <a:bodyPr/>
              <a:lstStyle/>
              <a:p>
                <a:r>
                  <a:rPr sz="1100" b="0">
                    <a:latin typeface="Arial"/>
                  </a:rPr>
                  <a:t>slab_w (µm)   [step under the gold for slab_w &gt; 4.2]</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1.0"/>
      </c:valAx>
      <c:valAx>
        <c:axId val="-2129643912"/>
        <c:scaling>
          <c:logBase val="10"/>
          <c:orientation val="minMax"/>
          <c:max val="10.0"/>
          <c:min val="0.001"/>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partial 2nd etch (100 – 150 nm left)</c:v>
                </c:pt>
              </c:strCache>
            </c:strRef>
          </c:tx>
          <c:spPr>
            <a:ln>
              <a:noFill/>
            </a:ln>
          </c:spPr>
          <c:marker>
            <c:symbol val="circle"/>
            <c:size val="8"/>
            <c:spPr>
              <a:solidFill>
                <a:srgbClr val="EB6834"/>
              </a:solidFill>
              <a:ln>
                <a:solidFill>
                  <a:srgbClr val="EB6834"/>
                </a:solidFill>
              </a:ln>
            </c:spPr>
          </c:marker>
          <c:xVal>
            <c:numRef>
              <c:f>Sheet1!$A$2:$A$12</c:f>
              <c:numCache>
                <c:formatCode>General</c:formatCode>
                <c:ptCount val="11"/>
                <c:pt idx="0">
                  <c:v>1.8511</c:v>
                </c:pt>
                <c:pt idx="1">
                  <c:v>1.9344</c:v>
                </c:pt>
                <c:pt idx="2">
                  <c:v>2.0328</c:v>
                </c:pt>
                <c:pt idx="3">
                  <c:v>2.0555</c:v>
                </c:pt>
                <c:pt idx="4">
                  <c:v>2.1766</c:v>
                </c:pt>
                <c:pt idx="5">
                  <c:v>2.2733</c:v>
                </c:pt>
                <c:pt idx="6">
                  <c:v>2.375</c:v>
                </c:pt>
                <c:pt idx="7">
                  <c:v>2.4664</c:v>
                </c:pt>
                <c:pt idx="8">
                  <c:v>2.5397</c:v>
                </c:pt>
                <c:pt idx="9">
                  <c:v>2.5791</c:v>
                </c:pt>
                <c:pt idx="10">
                  <c:v>2.6887</c:v>
                </c:pt>
              </c:numCache>
            </c:numRef>
          </c:xVal>
          <c:yVal>
            <c:numRef>
              <c:f>Sheet1!$B$2:$B$12</c:f>
              <c:numCache>
                <c:formatCode>General</c:formatCode>
                <c:ptCount val="11"/>
                <c:pt idx="0">
                  <c:v>0.7496706645172886</c:v>
                </c:pt>
                <c:pt idx="1">
                  <c:v>0.45475746711924636</c:v>
                </c:pt>
                <c:pt idx="2">
                  <c:v>0.2084940322810504</c:v>
                </c:pt>
                <c:pt idx="3">
                  <c:v>0.23814128074700797</c:v>
                </c:pt>
                <c:pt idx="4">
                  <c:v>0.12440340280794866</c:v>
                </c:pt>
                <c:pt idx="5">
                  <c:v>0.05691745012877736</c:v>
                </c:pt>
                <c:pt idx="6">
                  <c:v>0.05939151925041057</c:v>
                </c:pt>
                <c:pt idx="7">
                  <c:v>0.05518144364427003</c:v>
                </c:pt>
                <c:pt idx="8">
                  <c:v>0.01756970235467951</c:v>
                </c:pt>
                <c:pt idx="9">
                  <c:v>0.028044301161101102</c:v>
                </c:pt>
                <c:pt idx="10">
                  <c:v>0.007938504702607388</c:v>
                </c:pt>
              </c:numCache>
            </c:numRef>
          </c:yVal>
          <c:smooth val="0"/>
        </c:ser>
        <c:ser>
          <c:idx val="1"/>
          <c:order val="1"/>
          <c:tx>
            <c:strRef>
              <c:f>Sheet1!$B$14</c:f>
              <c:strCache>
                <c:ptCount val="1"/>
                <c:pt idx="0">
                  <c:v>buffered 200 nm (gap 2.4 – 3.6 µm)</c:v>
                </c:pt>
              </c:strCache>
            </c:strRef>
          </c:tx>
          <c:spPr>
            <a:ln w="25400">
              <a:solidFill>
                <a:srgbClr val="2A78D6"/>
              </a:solidFill>
            </a:ln>
          </c:spPr>
          <c:marker>
            <c:symbol val="circle"/>
            <c:size val="6"/>
            <c:spPr>
              <a:solidFill>
                <a:srgbClr val="2A78D6"/>
              </a:solidFill>
              <a:ln>
                <a:solidFill>
                  <a:srgbClr val="2A78D6"/>
                </a:solidFill>
              </a:ln>
            </c:spPr>
          </c:marker>
          <c:xVal>
            <c:numRef>
              <c:f>Sheet1!$A$15:$A$21</c:f>
              <c:numCache>
                <c:formatCode>General</c:formatCode>
                <c:ptCount val="7"/>
                <c:pt idx="0">
                  <c:v>1.6353</c:v>
                </c:pt>
                <c:pt idx="1">
                  <c:v>1.7704</c:v>
                </c:pt>
                <c:pt idx="2">
                  <c:v>1.8993</c:v>
                </c:pt>
                <c:pt idx="3">
                  <c:v>2.0249</c:v>
                </c:pt>
                <c:pt idx="4">
                  <c:v>2.1484</c:v>
                </c:pt>
                <c:pt idx="5">
                  <c:v>2.2707</c:v>
                </c:pt>
                <c:pt idx="6">
                  <c:v>2.392</c:v>
                </c:pt>
              </c:numCache>
            </c:numRef>
          </c:xVal>
          <c:yVal>
            <c:numRef>
              <c:f>Sheet1!$B$15:$B$21</c:f>
              <c:numCache>
                <c:formatCode>General</c:formatCode>
                <c:ptCount val="7"/>
                <c:pt idx="0">
                  <c:v>0.6509</c:v>
                </c:pt>
                <c:pt idx="1">
                  <c:v>0.3257</c:v>
                </c:pt>
                <c:pt idx="2">
                  <c:v>0.1689</c:v>
                </c:pt>
                <c:pt idx="3">
                  <c:v>0.0895</c:v>
                </c:pt>
                <c:pt idx="4">
                  <c:v>0.0481</c:v>
                </c:pt>
                <c:pt idx="5">
                  <c:v>0.026</c:v>
                </c:pt>
                <c:pt idx="6">
                  <c:v>0.0142</c:v>
                </c:pt>
              </c:numCache>
            </c:numRef>
          </c:yVal>
          <c:smooth val="0"/>
        </c:ser>
        <c:ser>
          <c:idx val="2"/>
          <c:order val="2"/>
          <c:tx>
            <c:strRef>
              <c:f>Sheet1!$B$23</c:f>
              <c:strCache>
                <c:ptCount val="1"/>
                <c:pt idx="0">
                  <c:v>full etch, slab ends in the gap</c:v>
                </c:pt>
              </c:strCache>
            </c:strRef>
          </c:tx>
          <c:spPr>
            <a:ln>
              <a:noFill/>
            </a:ln>
          </c:spPr>
          <c:marker>
            <c:symbol val="circle"/>
            <c:size val="8"/>
            <c:spPr>
              <a:solidFill>
                <a:srgbClr val="EDA100"/>
              </a:solidFill>
              <a:ln>
                <a:solidFill>
                  <a:srgbClr val="EDA100"/>
                </a:solidFill>
              </a:ln>
            </c:spPr>
          </c:marker>
          <c:xVal>
            <c:numRef>
              <c:f>Sheet1!$A$24:$A$30</c:f>
              <c:numCache>
                <c:formatCode>General</c:formatCode>
                <c:ptCount val="7"/>
                <c:pt idx="0">
                  <c:v>2.4711</c:v>
                </c:pt>
                <c:pt idx="1">
                  <c:v>2.7077</c:v>
                </c:pt>
                <c:pt idx="2">
                  <c:v>2.8808</c:v>
                </c:pt>
                <c:pt idx="3">
                  <c:v>3.0595</c:v>
                </c:pt>
                <c:pt idx="4">
                  <c:v>3.1049</c:v>
                </c:pt>
                <c:pt idx="5">
                  <c:v>3.7256</c:v>
                </c:pt>
                <c:pt idx="6">
                  <c:v>4.2476</c:v>
                </c:pt>
              </c:numCache>
            </c:numRef>
          </c:xVal>
          <c:yVal>
            <c:numRef>
              <c:f>Sheet1!$B$24:$B$30</c:f>
              <c:numCache>
                <c:formatCode>General</c:formatCode>
                <c:ptCount val="7"/>
                <c:pt idx="0">
                  <c:v>0.0828431996638749</c:v>
                </c:pt>
                <c:pt idx="1">
                  <c:v>0.02173992950858086</c:v>
                </c:pt>
                <c:pt idx="2">
                  <c:v>0.03257281787687482</c:v>
                </c:pt>
                <c:pt idx="3">
                  <c:v>0.0029238</c:v>
                </c:pt>
                <c:pt idx="4">
                  <c:v>0.008534152436513195</c:v>
                </c:pt>
                <c:pt idx="5">
                  <c:v>0.00056997</c:v>
                </c:pt>
                <c:pt idx="6">
                  <c:v>0.00016374</c:v>
                </c:pt>
              </c:numCache>
            </c:numRef>
          </c:yVal>
          <c:smooth val="0"/>
        </c:ser>
        <c:ser>
          <c:idx val="3"/>
          <c:order val="3"/>
          <c:tx>
            <c:strRef>
              <c:f>Sheet1!$B$32</c:f>
              <c:strCache>
                <c:ptCount val="1"/>
                <c:pt idx="0">
                  <c:v>deeper rib etch (125 – 150 nm slab)</c:v>
                </c:pt>
              </c:strCache>
            </c:strRef>
          </c:tx>
          <c:spPr>
            <a:ln>
              <a:noFill/>
            </a:ln>
          </c:spPr>
          <c:marker>
            <c:symbol val="circle"/>
            <c:size val="8"/>
            <c:spPr>
              <a:solidFill>
                <a:srgbClr val="1BAF7A"/>
              </a:solidFill>
              <a:ln>
                <a:solidFill>
                  <a:srgbClr val="1BAF7A"/>
                </a:solidFill>
              </a:ln>
            </c:spPr>
          </c:marker>
          <c:xVal>
            <c:numRef>
              <c:f>Sheet1!$A$33:$A$38</c:f>
              <c:numCache>
                <c:formatCode>General</c:formatCode>
                <c:ptCount val="6"/>
                <c:pt idx="0">
                  <c:v>2.2198</c:v>
                </c:pt>
                <c:pt idx="1">
                  <c:v>2.3969</c:v>
                </c:pt>
                <c:pt idx="2">
                  <c:v>2.5945</c:v>
                </c:pt>
                <c:pt idx="3">
                  <c:v>2.8124</c:v>
                </c:pt>
                <c:pt idx="4">
                  <c:v>3.1515</c:v>
                </c:pt>
                <c:pt idx="5">
                  <c:v>3.4283</c:v>
                </c:pt>
              </c:numCache>
            </c:numRef>
          </c:xVal>
          <c:yVal>
            <c:numRef>
              <c:f>Sheet1!$B$33:$B$38</c:f>
              <c:numCache>
                <c:formatCode>General</c:formatCode>
                <c:ptCount val="6"/>
                <c:pt idx="0">
                  <c:v>0.3568688779229746</c:v>
                </c:pt>
                <c:pt idx="1">
                  <c:v>0.0800988540835759</c:v>
                </c:pt>
                <c:pt idx="2">
                  <c:v>0.05483147028112583</c:v>
                </c:pt>
                <c:pt idx="3">
                  <c:v>0.010973224221831984</c:v>
                </c:pt>
                <c:pt idx="4">
                  <c:v>0.003438886777414088</c:v>
                </c:pt>
                <c:pt idx="5">
                  <c:v>0.0005846634214190067</c:v>
                </c:pt>
              </c:numCache>
            </c:numRef>
          </c:yVal>
          <c:smooth val="0"/>
        </c:ser>
        <c:ser>
          <c:idx val="4"/>
          <c:order val="4"/>
          <c:tx>
            <c:strRef>
              <c:f>Sheet1!$B$40</c:f>
              <c:strCache>
                <c:ptCount val="1"/>
                <c:pt idx="0">
                  <c:v>standard lifted: ripple range</c:v>
                </c:pt>
              </c:strCache>
            </c:strRef>
          </c:tx>
          <c:spPr>
            <a:ln w="25400">
              <a:solidFill>
                <a:srgbClr val="8A8A8A"/>
              </a:solidFill>
            </a:ln>
          </c:spPr>
          <c:marker>
            <c:symbol val="circle"/>
            <c:size val="6"/>
            <c:spPr>
              <a:solidFill>
                <a:srgbClr val="8A8A8A"/>
              </a:solidFill>
              <a:ln>
                <a:solidFill>
                  <a:srgbClr val="8A8A8A"/>
                </a:solidFill>
              </a:ln>
            </c:spPr>
          </c:marker>
          <c:xVal>
            <c:numRef>
              <c:f>Sheet1!$A$41:$A$42</c:f>
              <c:numCache>
                <c:formatCode>General</c:formatCode>
                <c:ptCount val="2"/>
                <c:pt idx="0">
                  <c:v>2.2668</c:v>
                </c:pt>
                <c:pt idx="1">
                  <c:v>2.2668</c:v>
                </c:pt>
              </c:numCache>
            </c:numRef>
          </c:xVal>
          <c:yVal>
            <c:numRef>
              <c:f>Sheet1!$B$41:$B$42</c:f>
              <c:numCache>
                <c:formatCode>General</c:formatCode>
                <c:ptCount val="2"/>
                <c:pt idx="0">
                  <c:v>0.18184</c:v>
                </c:pt>
                <c:pt idx="1">
                  <c:v>0.88616</c:v>
                </c:pt>
              </c:numCache>
            </c:numRef>
          </c:yVal>
          <c:smooth val="0"/>
        </c:ser>
        <c:axId val="-2128940872"/>
        <c:axId val="-2129643912"/>
      </c:scatterChart>
      <c:valAx>
        <c:axId val="-2128940872"/>
        <c:scaling>
          <c:orientation val="minMax"/>
          <c:max val="3.6"/>
          <c:min val="1.6"/>
        </c:scaling>
        <c:delete val="0"/>
        <c:axPos val="b"/>
        <c:title>
          <c:tx>
            <c:rich>
              <a:bodyPr/>
              <a:lstStyle/>
              <a:p>
                <a:r>
                  <a:rPr sz="1100" b="0">
                    <a:latin typeface="Arial"/>
                  </a:rPr>
                  <a:t>Vπ·L (V·cm)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0.2"/>
      </c:valAx>
      <c:valAx>
        <c:axId val="-2129643912"/>
        <c:scaling>
          <c:logBase val="10"/>
          <c:orientation val="minMax"/>
          <c:max val="2.0"/>
          <c:min val="0.0005"/>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no spacer</c:v>
                </c:pt>
              </c:strCache>
            </c:strRef>
          </c:tx>
          <c:spPr>
            <a:ln w="19050">
              <a:solidFill>
                <a:srgbClr val="2A78D6"/>
              </a:solidFill>
            </a:ln>
          </c:spPr>
          <c:marker>
            <c:symbol val="circle"/>
            <c:size val="3"/>
            <c:spPr>
              <a:solidFill>
                <a:srgbClr val="2A78D6"/>
              </a:solidFill>
              <a:ln>
                <a:solidFill>
                  <a:srgbClr val="2A78D6"/>
                </a:solidFill>
              </a:ln>
            </c:spPr>
          </c:marker>
          <c:xVal>
            <c:numRef>
              <c:f>Sheet1!$A$2:$A$22</c:f>
              <c:numCache>
                <c:formatCode>General</c:formatCode>
                <c:ptCount val="21"/>
                <c:pt idx="0">
                  <c:v>6.0</c:v>
                </c:pt>
                <c:pt idx="1">
                  <c:v>6.2</c:v>
                </c:pt>
                <c:pt idx="2">
                  <c:v>6.4</c:v>
                </c:pt>
                <c:pt idx="3">
                  <c:v>6.45</c:v>
                </c:pt>
                <c:pt idx="4">
                  <c:v>6.5</c:v>
                </c:pt>
                <c:pt idx="5">
                  <c:v>6.55</c:v>
                </c:pt>
                <c:pt idx="6">
                  <c:v>6.6</c:v>
                </c:pt>
                <c:pt idx="7">
                  <c:v>6.65</c:v>
                </c:pt>
                <c:pt idx="8">
                  <c:v>6.7</c:v>
                </c:pt>
                <c:pt idx="9">
                  <c:v>6.75</c:v>
                </c:pt>
                <c:pt idx="10">
                  <c:v>6.8</c:v>
                </c:pt>
                <c:pt idx="11">
                  <c:v>6.85</c:v>
                </c:pt>
                <c:pt idx="12">
                  <c:v>6.9</c:v>
                </c:pt>
                <c:pt idx="13">
                  <c:v>6.95</c:v>
                </c:pt>
                <c:pt idx="14">
                  <c:v>7.0</c:v>
                </c:pt>
                <c:pt idx="15">
                  <c:v>7.05</c:v>
                </c:pt>
                <c:pt idx="16">
                  <c:v>7.2</c:v>
                </c:pt>
                <c:pt idx="17">
                  <c:v>7.4</c:v>
                </c:pt>
                <c:pt idx="18">
                  <c:v>7.6</c:v>
                </c:pt>
                <c:pt idx="19">
                  <c:v>7.8</c:v>
                </c:pt>
                <c:pt idx="20">
                  <c:v>8.0</c:v>
                </c:pt>
              </c:numCache>
            </c:numRef>
          </c:xVal>
          <c:yVal>
            <c:numRef>
              <c:f>Sheet1!$B$2:$B$22</c:f>
              <c:numCache>
                <c:formatCode>General</c:formatCode>
                <c:ptCount val="21"/>
                <c:pt idx="0">
                  <c:v>0.040597</c:v>
                </c:pt>
                <c:pt idx="1">
                  <c:v>0.05943</c:v>
                </c:pt>
                <c:pt idx="2">
                  <c:v>0.13186</c:v>
                </c:pt>
                <c:pt idx="3">
                  <c:v>0.17595</c:v>
                </c:pt>
                <c:pt idx="4">
                  <c:v>0.24574</c:v>
                </c:pt>
                <c:pt idx="5">
                  <c:v>0.36588</c:v>
                </c:pt>
                <c:pt idx="6">
                  <c:v>0.5908</c:v>
                </c:pt>
                <c:pt idx="7">
                  <c:v>1.0475</c:v>
                </c:pt>
                <c:pt idx="8">
                  <c:v>1.9426</c:v>
                </c:pt>
                <c:pt idx="9">
                  <c:v>2.8834</c:v>
                </c:pt>
                <c:pt idx="10">
                  <c:v>2.3294</c:v>
                </c:pt>
                <c:pt idx="11">
                  <c:v>1.3523</c:v>
                </c:pt>
                <c:pt idx="12">
                  <c:v>0.79579</c:v>
                </c:pt>
                <c:pt idx="13">
                  <c:v>0.51346</c:v>
                </c:pt>
                <c:pt idx="14">
                  <c:v>0.35857</c:v>
                </c:pt>
                <c:pt idx="15">
                  <c:v>0.2676</c:v>
                </c:pt>
                <c:pt idx="16">
                  <c:v>0.14145</c:v>
                </c:pt>
                <c:pt idx="17">
                  <c:v>0.087431</c:v>
                </c:pt>
                <c:pt idx="18">
                  <c:v>0.07145</c:v>
                </c:pt>
                <c:pt idx="19">
                  <c:v>0.076405</c:v>
                </c:pt>
                <c:pt idx="20">
                  <c:v>0.10839</c:v>
                </c:pt>
              </c:numCache>
            </c:numRef>
          </c:yVal>
          <c:smooth val="0"/>
        </c:ser>
        <c:ser>
          <c:idx val="1"/>
          <c:order val="1"/>
          <c:tx>
            <c:strRef>
              <c:f>Sheet1!$B$24</c:f>
              <c:strCache>
                <c:ptCount val="1"/>
                <c:pt idx="0">
                  <c:v>100 nm</c:v>
                </c:pt>
              </c:strCache>
            </c:strRef>
          </c:tx>
          <c:spPr>
            <a:ln w="19050">
              <a:solidFill>
                <a:srgbClr val="1BAF7A"/>
              </a:solidFill>
            </a:ln>
          </c:spPr>
          <c:marker>
            <c:symbol val="circle"/>
            <c:size val="3"/>
            <c:spPr>
              <a:solidFill>
                <a:srgbClr val="1BAF7A"/>
              </a:solidFill>
              <a:ln>
                <a:solidFill>
                  <a:srgbClr val="1BAF7A"/>
                </a:solidFill>
              </a:ln>
            </c:spPr>
          </c:marker>
          <c:xVal>
            <c:numRef>
              <c:f>Sheet1!$A$25:$A$45</c:f>
              <c:numCache>
                <c:formatCode>General</c:formatCode>
                <c:ptCount val="21"/>
                <c:pt idx="0">
                  <c:v>6.0</c:v>
                </c:pt>
                <c:pt idx="1">
                  <c:v>6.1</c:v>
                </c:pt>
                <c:pt idx="2">
                  <c:v>6.2</c:v>
                </c:pt>
                <c:pt idx="3">
                  <c:v>6.3</c:v>
                </c:pt>
                <c:pt idx="4">
                  <c:v>6.4</c:v>
                </c:pt>
                <c:pt idx="5">
                  <c:v>6.5</c:v>
                </c:pt>
                <c:pt idx="6">
                  <c:v>6.6</c:v>
                </c:pt>
                <c:pt idx="7">
                  <c:v>6.7</c:v>
                </c:pt>
                <c:pt idx="8">
                  <c:v>6.8</c:v>
                </c:pt>
                <c:pt idx="9">
                  <c:v>6.9</c:v>
                </c:pt>
                <c:pt idx="10">
                  <c:v>7.0</c:v>
                </c:pt>
                <c:pt idx="11">
                  <c:v>7.1</c:v>
                </c:pt>
                <c:pt idx="12">
                  <c:v>7.2</c:v>
                </c:pt>
                <c:pt idx="13">
                  <c:v>7.3</c:v>
                </c:pt>
                <c:pt idx="14">
                  <c:v>7.4</c:v>
                </c:pt>
                <c:pt idx="15">
                  <c:v>7.5</c:v>
                </c:pt>
                <c:pt idx="16">
                  <c:v>7.6</c:v>
                </c:pt>
                <c:pt idx="17">
                  <c:v>7.7</c:v>
                </c:pt>
                <c:pt idx="18">
                  <c:v>7.8</c:v>
                </c:pt>
                <c:pt idx="19">
                  <c:v>7.9</c:v>
                </c:pt>
                <c:pt idx="20">
                  <c:v>8.0</c:v>
                </c:pt>
              </c:numCache>
            </c:numRef>
          </c:xVal>
          <c:yVal>
            <c:numRef>
              <c:f>Sheet1!$B$25:$B$45</c:f>
              <c:numCache>
                <c:formatCode>General</c:formatCode>
                <c:ptCount val="21"/>
                <c:pt idx="0">
                  <c:v>0.04928040763006646</c:v>
                </c:pt>
                <c:pt idx="1">
                  <c:v>0.06539997283151978</c:v>
                </c:pt>
                <c:pt idx="2">
                  <c:v>0.0966099736418143</c:v>
                </c:pt>
                <c:pt idx="3">
                  <c:v>0.16403008974772085</c:v>
                </c:pt>
                <c:pt idx="4">
                  <c:v>0.3392627921988593</c:v>
                </c:pt>
                <c:pt idx="5">
                  <c:v>0.9510612770513529</c:v>
                </c:pt>
                <c:pt idx="6">
                  <c:v>2.881666811798071</c:v>
                </c:pt>
                <c:pt idx="7">
                  <c:v>1.4574484779413763</c:v>
                </c:pt>
                <c:pt idx="8">
                  <c:v>0.53227136943148</c:v>
                </c:pt>
                <c:pt idx="9">
                  <c:v>0.2720540461439606</c:v>
                </c:pt>
                <c:pt idx="10">
                  <c:v>0.16990687018230058</c:v>
                </c:pt>
                <c:pt idx="11">
                  <c:v>0.12156203490915424</c:v>
                </c:pt>
                <c:pt idx="12">
                  <c:v>0.0951165229535455</c:v>
                </c:pt>
                <c:pt idx="13">
                  <c:v>0.08017508590525085</c:v>
                </c:pt>
                <c:pt idx="14">
                  <c:v>0.07234399876954911</c:v>
                </c:pt>
                <c:pt idx="15">
                  <c:v>0.06974172158418981</c:v>
                </c:pt>
                <c:pt idx="16">
                  <c:v>0.07162672662924369</c:v>
                </c:pt>
                <c:pt idx="17">
                  <c:v>0.07878905278388772</c:v>
                </c:pt>
                <c:pt idx="18">
                  <c:v>0.09326616873652573</c:v>
                </c:pt>
                <c:pt idx="19">
                  <c:v>0.12104227248864305</c:v>
                </c:pt>
                <c:pt idx="20">
                  <c:v>0.1714696225266375</c:v>
                </c:pt>
              </c:numCache>
            </c:numRef>
          </c:yVal>
          <c:smooth val="0"/>
        </c:ser>
        <c:ser>
          <c:idx val="2"/>
          <c:order val="2"/>
          <c:tx>
            <c:strRef>
              <c:f>Sheet1!$B$47</c:f>
              <c:strCache>
                <c:ptCount val="1"/>
                <c:pt idx="0">
                  <c:v>300 nm</c:v>
                </c:pt>
              </c:strCache>
            </c:strRef>
          </c:tx>
          <c:spPr>
            <a:ln w="19050">
              <a:solidFill>
                <a:srgbClr val="EB6834"/>
              </a:solidFill>
            </a:ln>
          </c:spPr>
          <c:marker>
            <c:symbol val="circle"/>
            <c:size val="3"/>
            <c:spPr>
              <a:solidFill>
                <a:srgbClr val="EB6834"/>
              </a:solidFill>
              <a:ln>
                <a:solidFill>
                  <a:srgbClr val="EB6834"/>
                </a:solidFill>
              </a:ln>
            </c:spPr>
          </c:marker>
          <c:xVal>
            <c:numRef>
              <c:f>Sheet1!$A$48:$A$68</c:f>
              <c:numCache>
                <c:formatCode>General</c:formatCode>
                <c:ptCount val="21"/>
                <c:pt idx="0">
                  <c:v>6.0</c:v>
                </c:pt>
                <c:pt idx="1">
                  <c:v>6.1</c:v>
                </c:pt>
                <c:pt idx="2">
                  <c:v>6.2</c:v>
                </c:pt>
                <c:pt idx="3">
                  <c:v>6.3</c:v>
                </c:pt>
                <c:pt idx="4">
                  <c:v>6.4</c:v>
                </c:pt>
                <c:pt idx="5">
                  <c:v>6.5</c:v>
                </c:pt>
                <c:pt idx="6">
                  <c:v>6.6</c:v>
                </c:pt>
                <c:pt idx="7">
                  <c:v>6.7</c:v>
                </c:pt>
                <c:pt idx="8">
                  <c:v>6.8</c:v>
                </c:pt>
                <c:pt idx="9">
                  <c:v>6.9</c:v>
                </c:pt>
                <c:pt idx="10">
                  <c:v>7.0</c:v>
                </c:pt>
                <c:pt idx="11">
                  <c:v>7.1</c:v>
                </c:pt>
                <c:pt idx="12">
                  <c:v>7.2</c:v>
                </c:pt>
                <c:pt idx="13">
                  <c:v>7.3</c:v>
                </c:pt>
                <c:pt idx="14">
                  <c:v>7.4</c:v>
                </c:pt>
                <c:pt idx="15">
                  <c:v>7.5</c:v>
                </c:pt>
                <c:pt idx="16">
                  <c:v>7.6</c:v>
                </c:pt>
                <c:pt idx="17">
                  <c:v>7.7</c:v>
                </c:pt>
                <c:pt idx="18">
                  <c:v>7.8</c:v>
                </c:pt>
                <c:pt idx="19">
                  <c:v>7.9</c:v>
                </c:pt>
                <c:pt idx="20">
                  <c:v>8.0</c:v>
                </c:pt>
              </c:numCache>
            </c:numRef>
          </c:xVal>
          <c:yVal>
            <c:numRef>
              <c:f>Sheet1!$B$48:$B$68</c:f>
              <c:numCache>
                <c:formatCode>General</c:formatCode>
                <c:ptCount val="21"/>
                <c:pt idx="0">
                  <c:v>0.063379829557133</c:v>
                </c:pt>
                <c:pt idx="1">
                  <c:v>0.0941462997685913</c:v>
                </c:pt>
                <c:pt idx="2">
                  <c:v>0.16014919700790406</c:v>
                </c:pt>
                <c:pt idx="3">
                  <c:v>0.33290090017180246</c:v>
                </c:pt>
                <c:pt idx="4">
                  <c:v>0.9455517953939344</c:v>
                </c:pt>
                <c:pt idx="5">
                  <c:v>2.9348558328303818</c:v>
                </c:pt>
                <c:pt idx="6">
                  <c:v>1.4491669300412315</c:v>
                </c:pt>
                <c:pt idx="7">
                  <c:v>0.5259302679012436</c:v>
                </c:pt>
                <c:pt idx="8">
                  <c:v>0.26752864800271</c:v>
                </c:pt>
                <c:pt idx="9">
                  <c:v>0.16716945476760836</c:v>
                </c:pt>
                <c:pt idx="10">
                  <c:v>0.11939289307422092</c:v>
                </c:pt>
                <c:pt idx="11">
                  <c:v>0.0934844689531404</c:v>
                </c:pt>
                <c:pt idx="12">
                  <c:v>0.07904200382853649</c:v>
                </c:pt>
                <c:pt idx="13">
                  <c:v>0.0711485452023734</c:v>
                </c:pt>
                <c:pt idx="14">
                  <c:v>0.0685462680170141</c:v>
                </c:pt>
                <c:pt idx="15">
                  <c:v>0.07047285405570888</c:v>
                </c:pt>
                <c:pt idx="16">
                  <c:v>0.07752083247784045</c:v>
                </c:pt>
                <c:pt idx="17">
                  <c:v>0.09185588003553873</c:v>
                </c:pt>
                <c:pt idx="18">
                  <c:v>0.11842266988926672</c:v>
                </c:pt>
                <c:pt idx="19">
                  <c:v>0.16947026974907117</c:v>
                </c:pt>
                <c:pt idx="20">
                  <c:v>0.273374242692059</c:v>
                </c:pt>
              </c:numCache>
            </c:numRef>
          </c:yVal>
          <c:smooth val="0"/>
        </c:ser>
        <c:ser>
          <c:idx val="3"/>
          <c:order val="3"/>
          <c:tx>
            <c:strRef>
              <c:f>Sheet1!$B$70</c:f>
              <c:strCache>
                <c:ptCount val="1"/>
                <c:pt idx="0">
                  <c:v>600 nm</c:v>
                </c:pt>
              </c:strCache>
            </c:strRef>
          </c:tx>
          <c:spPr>
            <a:ln w="19050">
              <a:solidFill>
                <a:srgbClr val="EDA100"/>
              </a:solidFill>
            </a:ln>
          </c:spPr>
          <c:marker>
            <c:symbol val="circle"/>
            <c:size val="3"/>
            <c:spPr>
              <a:solidFill>
                <a:srgbClr val="EDA100"/>
              </a:solidFill>
              <a:ln>
                <a:solidFill>
                  <a:srgbClr val="EDA100"/>
                </a:solidFill>
              </a:ln>
            </c:spPr>
          </c:marker>
          <c:xVal>
            <c:numRef>
              <c:f>Sheet1!$A$71:$A$90</c:f>
              <c:numCache>
                <c:formatCode>General</c:formatCode>
                <c:ptCount val="20"/>
                <c:pt idx="0">
                  <c:v>6.0</c:v>
                </c:pt>
                <c:pt idx="1">
                  <c:v>6.1</c:v>
                </c:pt>
                <c:pt idx="2">
                  <c:v>6.2</c:v>
                </c:pt>
                <c:pt idx="3">
                  <c:v>6.3</c:v>
                </c:pt>
                <c:pt idx="4">
                  <c:v>6.4</c:v>
                </c:pt>
                <c:pt idx="5">
                  <c:v>6.5</c:v>
                </c:pt>
                <c:pt idx="6">
                  <c:v>6.6</c:v>
                </c:pt>
                <c:pt idx="7">
                  <c:v>6.7</c:v>
                </c:pt>
                <c:pt idx="8">
                  <c:v>6.8</c:v>
                </c:pt>
                <c:pt idx="9">
                  <c:v>6.9</c:v>
                </c:pt>
                <c:pt idx="10">
                  <c:v>7.0</c:v>
                </c:pt>
                <c:pt idx="11">
                  <c:v>7.1</c:v>
                </c:pt>
                <c:pt idx="12">
                  <c:v>7.2</c:v>
                </c:pt>
                <c:pt idx="13">
                  <c:v>7.3</c:v>
                </c:pt>
                <c:pt idx="14">
                  <c:v>7.4</c:v>
                </c:pt>
                <c:pt idx="15">
                  <c:v>7.5</c:v>
                </c:pt>
                <c:pt idx="16">
                  <c:v>7.6</c:v>
                </c:pt>
                <c:pt idx="17">
                  <c:v>7.7</c:v>
                </c:pt>
                <c:pt idx="18">
                  <c:v>7.8</c:v>
                </c:pt>
                <c:pt idx="19">
                  <c:v>7.9</c:v>
                </c:pt>
              </c:numCache>
            </c:numRef>
          </c:xVal>
          <c:yVal>
            <c:numRef>
              <c:f>Sheet1!$B$71:$B$90</c:f>
              <c:numCache>
                <c:formatCode>General</c:formatCode>
                <c:ptCount val="20"/>
                <c:pt idx="0">
                  <c:v>0.06629742927760242</c:v>
                </c:pt>
                <c:pt idx="1">
                  <c:v>0.09988794197383813</c:v>
                </c:pt>
                <c:pt idx="2">
                  <c:v>0.17445998898597848</c:v>
                </c:pt>
                <c:pt idx="3">
                  <c:v>0.3754070709212066</c:v>
                </c:pt>
                <c:pt idx="4">
                  <c:v>1.131245582828561</c:v>
                </c:pt>
                <c:pt idx="5">
                  <c:v>3.0429317654686723</c:v>
                </c:pt>
                <c:pt idx="6">
                  <c:v>1.227817440559538</c:v>
                </c:pt>
                <c:pt idx="7">
                  <c:v>0.47031568890654757</c:v>
                </c:pt>
                <c:pt idx="8">
                  <c:v>0.24763214254554208</c:v>
                </c:pt>
                <c:pt idx="9">
                  <c:v>0.1582780522940638</c:v>
                </c:pt>
                <c:pt idx="10">
                  <c:v>0.11490561084380775</c:v>
                </c:pt>
                <c:pt idx="11">
                  <c:v>0.09084061077414023</c:v>
                </c:pt>
                <c:pt idx="12">
                  <c:v>0.07751736739503703</c:v>
                </c:pt>
                <c:pt idx="13">
                  <c:v>0.07047978422131569</c:v>
                </c:pt>
                <c:pt idx="14">
                  <c:v>0.06839380437366417</c:v>
                </c:pt>
                <c:pt idx="15">
                  <c:v>0.07089559415772463</c:v>
                </c:pt>
                <c:pt idx="16">
                  <c:v>0.07872321621062298</c:v>
                </c:pt>
                <c:pt idx="17">
                  <c:v>0.09441657622725713</c:v>
                </c:pt>
                <c:pt idx="18">
                  <c:v>0.12373464182689095</c:v>
                </c:pt>
                <c:pt idx="19">
                  <c:v>0.17921061750945066</c:v>
                </c:pt>
              </c:numCache>
            </c:numRef>
          </c:yVal>
          <c:smooth val="0"/>
        </c:ser>
        <c:axId val="-2128940872"/>
        <c:axId val="-2129643912"/>
      </c:scatterChart>
      <c:valAx>
        <c:axId val="-2128940872"/>
        <c:scaling>
          <c:orientation val="minMax"/>
          <c:max val="8.0"/>
          <c:min val="6.0"/>
        </c:scaling>
        <c:delete val="0"/>
        <c:axPos val="b"/>
        <c:title>
          <c:tx>
            <c:rich>
              <a:bodyPr/>
              <a:lstStyle/>
              <a:p>
                <a:r>
                  <a:rPr sz="1100" b="0">
                    <a:latin typeface="Arial"/>
                  </a:rPr>
                  <a:t>slab_w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0.5"/>
      </c:valAx>
      <c:valAx>
        <c:axId val="-2129643912"/>
        <c:scaling>
          <c:logBase val="10"/>
          <c:orientation val="minMax"/>
          <c:max val="10.0"/>
          <c:min val="0.02"/>
        </c:scaling>
        <c:delete val="0"/>
        <c:axPos val="l"/>
        <c:majorGridlines>
          <c:spPr>
            <a:ln>
              <a:solidFill>
                <a:srgbClr val="E3E3E3"/>
              </a:solidFill>
            </a:ln>
          </c:spPr>
        </c:majorGridlines>
        <c:title>
          <c:tx>
            <c:rich>
              <a:bodyPr/>
              <a:lstStyle/>
              <a:p>
                <a:r>
                  <a:rPr sz="1100" b="0">
                    <a:latin typeface="Arial"/>
                  </a:rPr>
                  <a:t>IL (dB/cm)</a:t>
                </a:r>
              </a:p>
            </c:rich>
          </c:tx>
          <c:layout/>
          <c:overlay val="0"/>
        </c:title>
        <c:numFmt formatCode="General" sourceLinked="0"/>
        <c:majorTickMark val="out"/>
        <c:minorTickMark val="none"/>
        <c:tickLblPos val="nextTo"/>
        <c:txPr>
          <a:bodyPr/>
          <a:lstStyle/>
          <a:p>
            <a:pPr>
              <a:defRPr sz="1000">
                <a:latin typeface="Arial"/>
              </a:defRPr>
            </a:pPr>
          </a:p>
        </c:txPr>
        <c:crossAx val="-2128940872"/>
        <c:crosses val="autoZero"/>
        <c:crossBetween val="midCat"/>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34B894-4718-4C4D-B942-55BEF7CC3F90}"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BACFE-D1E4-4E9E-9D2A-07301B51FADE}" type="slidenum">
              <a:rPr lang="en-US" smtClean="0"/>
              <a:t>‹#›</a:t>
            </a:fld>
            <a:endParaRPr lang="en-US"/>
          </a:p>
        </p:txBody>
      </p:sp>
    </p:spTree>
    <p:extLst>
      <p:ext uri="{BB962C8B-B14F-4D97-AF65-F5344CB8AC3E}">
        <p14:creationId xmlns:p14="http://schemas.microsoft.com/office/powerpoint/2010/main" val="2653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Follow-up of the lifted-electrode study: does a full etch of the LN slab remove the standing wave, how does it compare with the standard lifted and the buffered designs, and why the ripple behaves the way it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Etched slab: the slab is removed outside slab_w; gold fills the etched zone under the lower blocks, SiO2 under the pads, air in the gap. The spacer variant puts a SiO2 block between the slab end and the gold.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regimes. (1) slab_w &lt; gap: no slab under the gold, no leak, IL ~0, but Vpi*L rises because the DC field crosses the air pocket. (2) slab ends in the gold: the gold-wrapped slab end is a mirror, ripples up to 7 dB/cm, first resonance at slab_w 4.95 um. (3) slab past the gold/SiO2 edge: identical to the standard lifted design; the cavity is clamped by x_lift. The orange curve uses a longer gold lower block (x_lift = 11 um) so the slab still ends in the gold up to slab_w 20: the ripple keeps decaying toward IL_inf. Check: at slab_w 8.6 / 10.4 / 12.2 the x_lift = 11 model gives the same IL as the nominal one within 0.2 %.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Slab in the gap: the field never reaches the gold. Slab in the gold: a standing wave between the gold inner edge and the slab end. Slab past the edge: the standing wave stops at x_lift; beyond it the slab is under SiO2 and the field decays evanescently, so the slab end is invisible.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cavity scanned in frequency has resonances spaced by the free spectral range c/2nL, which depends on L. Here the frequency and the propagation constant beta of the rib mode are fixed, so the lateral wavenumber kx is fixed. Changing L by lambda_x/2 adds one half-wavelength and brings the same resonance back: the ripple period in L is lambda_x/2, independent of L. Off resonance the wave still exists because the cavity is continuously driven by the rib mode; the reflected wave returns with the wrong phase and partially cancels the incoming one, so the field under the gold is weaker and the absorption (IL) is lower.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light under the gold is a gold-bound TM wave of the Au/LN/BOX stack with n_sw ~ 2.07-2.08. Its lateral wavenumber is kx = k0*sqrt(n_sw^2 - n_rib^2). The mirror material does not appear: it only terminates this guide. The guide exists only where gold covers LN, so it ends either where the slab ends or where the gold leaves the slab. The wave is strongest exactly at the gold/LN interface, at the top of the slab, so the gold edge is not 'away' from the field. With a SiO2 buffer above the cutoff the same stack gives n_sw below n_rib: kx becomes imaginary and no lateral wave can exist.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Period, asymptote and decay coincide: they belong to the cavity medium. The mirrors differ in strength and in reflection phase. At the gold-wrapped slab end the field must vanish at the metal wall: a node sits at the wall. At the gold/SiO2 edge the guide ends into a slab where the wave is evanescent: the field has an antinode at the edge and leaks ~0.3 um into the SiO2-covered slab. This moves the effective mirror plane by ~0.30 um (field cuts) and shifts the curves by 0.34 um (fits).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cuts aligned on the mirror position. Left: slab_w 12 um, the slab end wrapped in gold; the last node coincides with the wall. Right: slab past the edge, x_lift 7; the field has a local maximum at the edge and decays evanescently beyond it; the last node is 0.30 um inside. A shift of the effective mirror plane shifts every resonance by the same length, which is the offset seen between the two IL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gold-bound wave under the electrodes needs enough LN: below ~180 nm its index drops under the rib-mode index and the lateral wave is cut off, exactly like the SiO2 buffer does. Two ways to get there without new materials: etch the rib deeper (one etch step, thin slab everywhere), or a second partial etch that thins the slab only outside slab_w, keeping the nominal 275 nm slab around the rib.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Deeper rib etch: one process step, no new material. The ripple disappears (flat IL vs x_lift at 150 nm, nearly flat at 175 nm, close to the cutoff). But Vpi*L rises because less LN carries the DC field and the mode, and recovering it with a smaller gap puts the metal close to the mode.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Partial second etch: the slab is thinned to 125 nm from slab_w outward, so the gold sits on LN that cannot carry the lateral wave. IL is flat in x_lift. The DC field still crosses LN instead of air, so the Vpi*L penalty of the full etch is much smaller. Requirement: the thickness step must lie in the gap with margin for the litho overlay; if it falls under the gold, a short cavity forms.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Trade-off between loss and drive voltage. The buffered curve is its gap scan (2.4 to 3.6 um, 200 nm SiO2; computed with the previous SiO2 constant, ~2 % lower IL). Every alternative point lies above the buffered curve: for the same Vpi*L the alternatives absorb more, because thin LN under the gold still brings the metal closer to the mode, or the rib mode is less confined. The standard lifted design is a vertical bar: its IL depends on x_lift.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gold the wave can only be absorbed or reflected: beta of the rib mode exceeds k0*n of every cladding, so nothing can radiate away. A SiO2 spacer replaces the hard metal wall with a soft (evanescent) mirror: the peaks move by ~0.25 um in slab_w, their height does not drop (100, 300, 600 nm simulated). Wider spacers were not simulated: the spacer was judged not viable for fabrication, and from 300 to 600 nm the curve no longer changes.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ranges: standard and slab-past-edge over x_lift 6.5-11 um; slab in gold over slab_w 4.2-14 um; spacer over slab_w 6-8 um for 100 and 300 nm. All at 1575 nm with Sellmeier SiO2 and Johnson &amp; Christy gold. Buffered values from the buffered study (x_lift = 7 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keep the 200 nm buffered lifted design. Etching the slab either keeps the cavity (slab in the gold, or past the edge) or kills it at a large Vpi*L cost (slab in the gap).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2A20-D9C5-BEC1-A331-516D50C93A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255FB-8776-2600-FB0D-D37C26A92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FB4982-190C-6C07-7215-C2698E3AA75F}"/>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2987267E-3FDA-B66E-4AD8-C6CE92D5E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F8C8B-ACEA-A9A3-B4F0-BCD03B8FF702}"/>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17714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482B-292E-DBE7-F2D3-E10B4F58E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E01C4E-1EAF-9AB5-5CC4-FC701A9785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75CCB-9B55-2936-B303-10802E385EAB}"/>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90AFC055-00ED-86ED-9C00-23DE18ECA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B0205-9236-F40A-0142-178DCCE8C33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3508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4F1D0-DAB1-67E8-1B2F-73E26B789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51E0F4-EFC3-E680-F6BE-0E77EFE3E5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3D891C-D277-DFAA-497C-2B8823A52BCA}"/>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6F63FF4E-20C2-F541-1DAB-613C759BA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AB07-57B8-0995-EE56-BB900832FFB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088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A6F8-85E3-4B22-2629-A5CD88BCA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67E19-2A08-183A-315B-2C68CBD483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04FEB9-11F8-683F-4BCD-D299C05A43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7671DF-0476-B756-5E54-A09AD8F8BAE7}"/>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6" name="Footer Placeholder 5">
            <a:extLst>
              <a:ext uri="{FF2B5EF4-FFF2-40B4-BE49-F238E27FC236}">
                <a16:creationId xmlns:a16="http://schemas.microsoft.com/office/drawing/2014/main" id="{4AC4C4BB-5CDA-73D0-C1DA-C42A6DE9F4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1ABC2-6DE1-3D69-6A5D-C3CA3F61EB8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1466857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1152-8B57-3EF5-D4C6-0E68766625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EA3013-0656-B7EA-B887-6A7B2A857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63B16-884B-1811-7BAE-21CA8A6B70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255C07-A3DB-F6DA-0F4A-E9B970AC6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7223D-1F4E-936C-E584-1AAB09D0A3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643326-229D-65B9-2C15-C2124F231C78}"/>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8" name="Footer Placeholder 7">
            <a:extLst>
              <a:ext uri="{FF2B5EF4-FFF2-40B4-BE49-F238E27FC236}">
                <a16:creationId xmlns:a16="http://schemas.microsoft.com/office/drawing/2014/main" id="{E5F5B61B-ED00-86A7-6ACD-C43B67ACF9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119906-6F6F-6917-EF5E-B774E6919AA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03665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C6A1B-B2AF-E050-ECF5-ACC5B7AF4F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D89E8-F0D6-0E88-9769-D89E6292FE8A}"/>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4" name="Footer Placeholder 3">
            <a:extLst>
              <a:ext uri="{FF2B5EF4-FFF2-40B4-BE49-F238E27FC236}">
                <a16:creationId xmlns:a16="http://schemas.microsoft.com/office/drawing/2014/main" id="{892829C5-1B60-2268-F333-5B76066F8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AF9A2B-0D7A-2052-FFC8-8CBE90A14DEA}"/>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6698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624D48-6995-0099-CD08-7A3FDDC78293}"/>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3" name="Footer Placeholder 2">
            <a:extLst>
              <a:ext uri="{FF2B5EF4-FFF2-40B4-BE49-F238E27FC236}">
                <a16:creationId xmlns:a16="http://schemas.microsoft.com/office/drawing/2014/main" id="{C8EEC935-6C37-2907-F27F-AE46F371B8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2E360F-90C3-AD14-2358-FDAA383A91E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23614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57D0-E028-0FEC-8108-C43C000302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222123-834D-B3B6-8655-4F727434A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6483FF-5EC4-3A43-0CAD-1E9C63C280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6F5EC1-48F3-74F5-A266-43E5E2B174E4}"/>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6" name="Footer Placeholder 5">
            <a:extLst>
              <a:ext uri="{FF2B5EF4-FFF2-40B4-BE49-F238E27FC236}">
                <a16:creationId xmlns:a16="http://schemas.microsoft.com/office/drawing/2014/main" id="{F155FD67-83F7-52BD-E689-83B4411AC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C7BE6-67AB-39DB-47FB-E76563134D7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913708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4AD1-9B1D-6A0E-B035-2A091F8FBA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C267C1-026F-6542-5C48-B04F16F3C2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653625-A727-A9FB-C543-6910AD686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CE3EF-FE07-E44D-9BEE-561AE12BC6B1}"/>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6" name="Footer Placeholder 5">
            <a:extLst>
              <a:ext uri="{FF2B5EF4-FFF2-40B4-BE49-F238E27FC236}">
                <a16:creationId xmlns:a16="http://schemas.microsoft.com/office/drawing/2014/main" id="{09148578-8457-617E-26C8-83CBD42AA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0716A0-6376-1E8B-ACC0-3E99A468AAD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847855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1CB6B-B40F-CD9E-5050-E8332EEE06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861BA-32AA-F138-FF9C-253448691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BC3F75-3492-7080-C63D-3983901FBA19}"/>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A161E4EE-94A7-4D60-6219-FE9FAEED3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9FFF6-B663-682E-609B-32623E2A883E}"/>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723808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E4FA9-B5B0-671D-FF03-B5210A3B1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3531C-997D-F3F0-03A8-0A36E3B8A4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CAC5E-DA02-76B9-65D8-7F5388545F99}"/>
              </a:ext>
            </a:extLst>
          </p:cNvPr>
          <p:cNvSpPr>
            <a:spLocks noGrp="1"/>
          </p:cNvSpPr>
          <p:nvPr>
            <p:ph type="dt" sz="half" idx="10"/>
          </p:nvPr>
        </p:nvSpPr>
        <p:spPr/>
        <p:txBody>
          <a:body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85B902A9-7AB1-C1FB-9260-FEB9B49CA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22E534-F0BB-DE3C-8762-F36B2DE8270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01919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290299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9211454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27BB2C-76DC-90AF-74E8-5CA2C51AF7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12E614-5C6F-DC4C-07CD-F948CDE4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B5F60-52FA-13B8-32F6-4BFCF5859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7E38A5-0897-4509-B474-CA7BACA3876E}" type="datetimeFigureOut">
              <a:rPr lang="en-US" smtClean="0"/>
              <a:t>10/1/2026</a:t>
            </a:fld>
            <a:endParaRPr lang="en-US"/>
          </a:p>
        </p:txBody>
      </p:sp>
      <p:sp>
        <p:nvSpPr>
          <p:cNvPr id="5" name="Footer Placeholder 4">
            <a:extLst>
              <a:ext uri="{FF2B5EF4-FFF2-40B4-BE49-F238E27FC236}">
                <a16:creationId xmlns:a16="http://schemas.microsoft.com/office/drawing/2014/main" id="{4F57BDF0-920C-8B79-6328-4F4CFFA1E3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440653-7ED0-A2A9-6425-DC06C7BEE1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FC66D7-084B-4B9E-8AAC-516FE602CE91}" type="slidenum">
              <a:rPr lang="en-US" smtClean="0"/>
              <a:t>‹#›</a:t>
            </a:fld>
            <a:endParaRPr lang="en-US"/>
          </a:p>
        </p:txBody>
      </p:sp>
    </p:spTree>
    <p:extLst>
      <p:ext uri="{BB962C8B-B14F-4D97-AF65-F5344CB8AC3E}">
        <p14:creationId xmlns:p14="http://schemas.microsoft.com/office/powerpoint/2010/main" val="718418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chart" Target="../charts/chart7.xml"/><Relationship Id="rId4"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chart" Target="../charts/chart5.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6.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2103120"/>
            <a:ext cx="10058400" cy="2377440"/>
          </a:xfrm>
          <a:prstGeom prst="rect">
            <a:avLst/>
          </a:prstGeom>
          <a:noFill/>
        </p:spPr>
        <p:txBody>
          <a:bodyPr wrap="square" lIns="45720" rIns="45720" tIns="27432" bIns="27432" anchor="t">
            <a:spAutoFit/>
          </a:bodyPr>
          <a:lstStyle/>
          <a:p>
            <a:pPr algn="ctr">
              <a:spcAft>
                <a:spcPts val="600"/>
              </a:spcAft>
            </a:pPr>
            <a:r>
              <a:rPr sz="3400" b="1" i="0">
                <a:solidFill>
                  <a:srgbClr val="222222"/>
                </a:solidFill>
                <a:latin typeface="Arial"/>
              </a:rPr>
              <a:t>Etching the LN slab vs a SiO₂ buffer</a:t>
            </a:r>
          </a:p>
          <a:p>
            <a:pPr algn="ctr">
              <a:spcAft>
                <a:spcPts val="600"/>
              </a:spcAft>
            </a:pPr>
            <a:r>
              <a:rPr sz="2400" b="0" i="0">
                <a:solidFill>
                  <a:srgbClr val="222222"/>
                </a:solidFill>
                <a:latin typeface="Arial"/>
              </a:rPr>
              <a:t>Can we remove the lateral standing wave of the lifted electrodes?</a:t>
            </a:r>
          </a:p>
          <a:p>
            <a:pPr algn="ctr">
              <a:spcAft>
                <a:spcPts val="600"/>
              </a:spcAft>
            </a:pPr>
            <a:r>
              <a:rPr sz="1700" b="0" i="0">
                <a:solidFill>
                  <a:srgbClr val="595959"/>
                </a:solidFill>
                <a:latin typeface="Arial"/>
              </a:rPr>
              <a:t>λ = 1575 nm · 550 nm film, 275 nm etch · gap 4.2 µm · x_lift 7 µm · 2D FEM (femwell)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Geometries compared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Same rib, cap and lifted electrodes; only what sits under the gold changes</a:t>
            </a:r>
          </a:p>
        </p:txBody>
      </p:sp>
      <p:pic>
        <p:nvPicPr>
          <p:cNvPr id="4" name="Picture 3" descr="geoms6.png"/>
          <p:cNvPicPr>
            <a:picLocks noChangeAspect="1"/>
          </p:cNvPicPr>
          <p:nvPr/>
        </p:nvPicPr>
        <p:blipFill>
          <a:blip r:embed="rId2"/>
          <a:stretch>
            <a:fillRect/>
          </a:stretch>
        </p:blipFill>
        <p:spPr>
          <a:xfrm>
            <a:off x="822960" y="1600200"/>
            <a:ext cx="10209086" cy="4343400"/>
          </a:xfrm>
          <a:prstGeom prst="rect">
            <a:avLst/>
          </a:prstGeom>
        </p:spPr>
      </p:pic>
      <p:sp>
        <p:nvSpPr>
          <p:cNvPr id="5" name="TextBox 4"/>
          <p:cNvSpPr txBox="1"/>
          <p:nvPr/>
        </p:nvSpPr>
        <p:spPr>
          <a:xfrm>
            <a:off x="822960" y="6035040"/>
            <a:ext cx="10972800" cy="457200"/>
          </a:xfrm>
          <a:prstGeom prst="rect">
            <a:avLst/>
          </a:prstGeom>
          <a:noFill/>
        </p:spPr>
        <p:txBody>
          <a:bodyPr wrap="square" lIns="45720" rIns="45720" tIns="27432" bIns="27432" anchor="t">
            <a:spAutoFit/>
          </a:bodyPr>
          <a:lstStyle/>
          <a:p>
            <a:pPr algn="l">
              <a:spcAft>
                <a:spcPts val="600"/>
              </a:spcAft>
            </a:pPr>
            <a:r>
              <a:rPr sz="1300" b="1" i="0">
                <a:solidFill>
                  <a:srgbClr val="6B7582"/>
                </a:solidFill>
                <a:latin typeface="Arial"/>
              </a:rPr>
              <a:t>LN </a:t>
            </a:r>
            <a:r>
              <a:rPr sz="1300" b="0" i="0">
                <a:solidFill>
                  <a:srgbClr val="595959"/>
                </a:solidFill>
                <a:latin typeface="Arial"/>
              </a:rPr>
              <a:t>slab   </a:t>
            </a:r>
            <a:r>
              <a:rPr sz="1300" b="1" i="0">
                <a:solidFill>
                  <a:srgbClr val="4C8FD0"/>
                </a:solidFill>
                <a:latin typeface="Arial"/>
              </a:rPr>
              <a:t>SiO₂ </a:t>
            </a:r>
            <a:r>
              <a:rPr sz="1300" b="0" i="0">
                <a:solidFill>
                  <a:srgbClr val="595959"/>
                </a:solidFill>
                <a:latin typeface="Arial"/>
              </a:rPr>
              <a:t>buffer / lift / BOX   </a:t>
            </a:r>
            <a:r>
              <a:rPr sz="1300" b="1" i="0">
                <a:solidFill>
                  <a:srgbClr val="C99310"/>
                </a:solidFill>
                <a:latin typeface="Arial"/>
              </a:rPr>
              <a:t>Au </a:t>
            </a:r>
            <a:r>
              <a:rPr sz="1300" b="0" i="0">
                <a:solidFill>
                  <a:srgbClr val="595959"/>
                </a:solidFill>
                <a:latin typeface="Arial"/>
              </a:rPr>
              <a:t>electrodes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Etched slab: IL and Vπ·L vs slab width</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λ = 1575 nm, gap 4.2 µm. slab_w = gap + 2d (d: slab edge beyond the gold inner edge)</a:t>
            </a:r>
          </a:p>
        </p:txBody>
      </p:sp>
      <p:graphicFrame>
        <p:nvGraphicFramePr>
          <p:cNvPr id="4" name="Chart 3"/>
          <p:cNvGraphicFramePr>
            <a:graphicFrameLocks noGrp="1"/>
          </p:cNvGraphicFramePr>
          <p:nvPr/>
        </p:nvGraphicFramePr>
        <p:xfrm>
          <a:off x="411480" y="1600200"/>
          <a:ext cx="7863840" cy="333756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411480" y="4892040"/>
          <a:ext cx="7863840" cy="1783080"/>
        </p:xfrm>
        <a:graphic>
          <a:graphicData uri="http://schemas.openxmlformats.org/drawingml/2006/chart">
            <c:chart xmlns:c="http://schemas.openxmlformats.org/drawingml/2006/chart" r:id="rId3"/>
          </a:graphicData>
        </a:graphic>
      </p:graphicFrame>
      <p:sp>
        <p:nvSpPr>
          <p:cNvPr id="6" name="Rounded Rectangle 5"/>
          <p:cNvSpPr/>
          <p:nvPr/>
        </p:nvSpPr>
        <p:spPr>
          <a:xfrm>
            <a:off x="8549640" y="169164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01368"/>
            <a:ext cx="3246120" cy="779526"/>
          </a:xfrm>
          <a:prstGeom prst="rect">
            <a:avLst/>
          </a:prstGeom>
          <a:noFill/>
        </p:spPr>
        <p:txBody>
          <a:bodyPr wrap="square" lIns="45720" rIns="45720" tIns="27432" bIns="27432" anchor="ctr">
            <a:spAutoFit/>
          </a:bodyPr>
          <a:lstStyle/>
          <a:p>
            <a:pPr algn="ctr">
              <a:spcAft>
                <a:spcPts val="600"/>
              </a:spcAft>
            </a:pPr>
            <a:r>
              <a:rPr sz="3000" b="1" i="0">
                <a:solidFill>
                  <a:srgbClr val="1BAF7A"/>
                </a:solidFill>
                <a:latin typeface="Arial"/>
              </a:rPr>
              <a:t>≤ 0.003 dB/cm</a:t>
            </a:r>
          </a:p>
        </p:txBody>
      </p:sp>
      <p:sp>
        <p:nvSpPr>
          <p:cNvPr id="8" name="TextBox 7"/>
          <p:cNvSpPr txBox="1"/>
          <p:nvPr/>
        </p:nvSpPr>
        <p:spPr>
          <a:xfrm>
            <a:off x="8641080" y="2542032"/>
            <a:ext cx="3063239" cy="538581"/>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slab ends in the gap</a:t>
            </a:r>
          </a:p>
          <a:p>
            <a:pPr algn="ctr">
              <a:spcAft>
                <a:spcPts val="0"/>
              </a:spcAft>
            </a:pPr>
            <a:r>
              <a:rPr sz="1100" b="0" i="0">
                <a:solidFill>
                  <a:srgbClr val="595959"/>
                </a:solidFill>
                <a:latin typeface="Arial"/>
              </a:rPr>
              <a:t>but Vπ·L 3.1 – 5.4 V·cm</a:t>
            </a:r>
          </a:p>
        </p:txBody>
      </p:sp>
      <p:sp>
        <p:nvSpPr>
          <p:cNvPr id="9" name="Rounded Rectangle 8"/>
          <p:cNvSpPr/>
          <p:nvPr/>
        </p:nvSpPr>
        <p:spPr>
          <a:xfrm>
            <a:off x="8549640" y="324612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3355848"/>
            <a:ext cx="3246120" cy="779526"/>
          </a:xfrm>
          <a:prstGeom prst="rect">
            <a:avLst/>
          </a:prstGeom>
          <a:noFill/>
        </p:spPr>
        <p:txBody>
          <a:bodyPr wrap="square" lIns="45720" rIns="45720" tIns="27432" bIns="27432" anchor="ctr">
            <a:spAutoFit/>
          </a:bodyPr>
          <a:lstStyle/>
          <a:p>
            <a:pPr algn="ctr">
              <a:spcAft>
                <a:spcPts val="600"/>
              </a:spcAft>
            </a:pPr>
            <a:r>
              <a:rPr sz="3000" b="1" i="0">
                <a:solidFill>
                  <a:srgbClr val="EB6834"/>
                </a:solidFill>
                <a:latin typeface="Arial"/>
              </a:rPr>
              <a:t>0.04 – 7.4</a:t>
            </a:r>
          </a:p>
        </p:txBody>
      </p:sp>
      <p:sp>
        <p:nvSpPr>
          <p:cNvPr id="11" name="TextBox 10"/>
          <p:cNvSpPr txBox="1"/>
          <p:nvPr/>
        </p:nvSpPr>
        <p:spPr>
          <a:xfrm>
            <a:off x="8641080" y="4096511"/>
            <a:ext cx="3063239" cy="538581"/>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dB/cm, slab ends in the gold</a:t>
            </a:r>
          </a:p>
          <a:p>
            <a:pPr algn="ctr">
              <a:spcAft>
                <a:spcPts val="0"/>
              </a:spcAft>
            </a:pPr>
            <a:r>
              <a:rPr sz="1100" b="0" i="0">
                <a:solidFill>
                  <a:srgbClr val="595959"/>
                </a:solidFill>
                <a:latin typeface="Arial"/>
              </a:rPr>
              <a:t>ripple period 1.79 µm in slab_w</a:t>
            </a:r>
          </a:p>
        </p:txBody>
      </p:sp>
      <p:sp>
        <p:nvSpPr>
          <p:cNvPr id="12" name="Rounded Rectangle 11"/>
          <p:cNvSpPr/>
          <p:nvPr/>
        </p:nvSpPr>
        <p:spPr>
          <a:xfrm>
            <a:off x="8549640" y="480060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4910328"/>
            <a:ext cx="3246120" cy="779526"/>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 standard</a:t>
            </a:r>
          </a:p>
        </p:txBody>
      </p:sp>
      <p:sp>
        <p:nvSpPr>
          <p:cNvPr id="14" name="TextBox 13"/>
          <p:cNvSpPr txBox="1"/>
          <p:nvPr/>
        </p:nvSpPr>
        <p:spPr>
          <a:xfrm>
            <a:off x="8641080" y="5650992"/>
            <a:ext cx="3063239" cy="538581"/>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slab past the gold/SiO₂ edge</a:t>
            </a:r>
          </a:p>
          <a:p>
            <a:pPr algn="ctr">
              <a:spcAft>
                <a:spcPts val="0"/>
              </a:spcAft>
            </a:pPr>
            <a:r>
              <a:rPr sz="1100" b="0" i="0">
                <a:solidFill>
                  <a:srgbClr val="595959"/>
                </a:solidFill>
                <a:latin typeface="Arial"/>
              </a:rPr>
              <a:t>IL 0.228 dB/cm at x_lift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Where the light goes</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|E|² along the slab mid-height; shaded = gold on the slab region, dotted = slab end</a:t>
            </a:r>
          </a:p>
        </p:txBody>
      </p:sp>
      <p:pic>
        <p:nvPicPr>
          <p:cNvPr id="4" name="Picture 3" descr="fieldcuts.png"/>
          <p:cNvPicPr>
            <a:picLocks noChangeAspect="1"/>
          </p:cNvPicPr>
          <p:nvPr/>
        </p:nvPicPr>
        <p:blipFill>
          <a:blip r:embed="rId2"/>
          <a:stretch>
            <a:fillRect/>
          </a:stretch>
        </p:blipFill>
        <p:spPr>
          <a:xfrm>
            <a:off x="822960" y="1600200"/>
            <a:ext cx="9844709"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Why the ripple period does not depend on the cavity length</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We sweep the mirror position at fixed λ, not λ at fixed mirror position</a:t>
            </a:r>
          </a:p>
        </p:txBody>
      </p:sp>
      <p:pic>
        <p:nvPicPr>
          <p:cNvPr id="4" name="Picture 3" descr="q1_cavity.png"/>
          <p:cNvPicPr>
            <a:picLocks noChangeAspect="1"/>
          </p:cNvPicPr>
          <p:nvPr/>
        </p:nvPicPr>
        <p:blipFill>
          <a:blip r:embed="rId2"/>
          <a:stretch>
            <a:fillRect/>
          </a:stretch>
        </p:blipFill>
        <p:spPr>
          <a:xfrm>
            <a:off x="411480" y="1645920"/>
            <a:ext cx="7863840" cy="3554233"/>
          </a:xfrm>
          <a:prstGeom prst="rect">
            <a:avLst/>
          </a:prstGeom>
        </p:spPr>
      </p:pic>
      <p:sp>
        <p:nvSpPr>
          <p:cNvPr id="5" name="Rounded Rectangle 4"/>
          <p:cNvSpPr/>
          <p:nvPr/>
        </p:nvSpPr>
        <p:spPr>
          <a:xfrm>
            <a:off x="8549640" y="1691640"/>
            <a:ext cx="3246120" cy="475488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222222"/>
                </a:solidFill>
                <a:latin typeface="Arial"/>
              </a:rPr>
              <a:t>λ and β are fixed</a:t>
            </a:r>
          </a:p>
          <a:p>
            <a:pPr algn="l">
              <a:spcAft>
                <a:spcPts val="1200"/>
              </a:spcAft>
            </a:pPr>
            <a:r>
              <a:rPr sz="1300" b="0" i="0">
                <a:solidFill>
                  <a:srgbClr val="222222"/>
                </a:solidFill>
                <a:latin typeface="Arial"/>
              </a:rPr>
              <a:t>→ the lateral wavelength λx = 1.79 µm is fixed by the source, not by the cavity</a:t>
            </a:r>
          </a:p>
          <a:p>
            <a:pPr algn="l">
              <a:spcAft>
                <a:spcPts val="500"/>
              </a:spcAft>
            </a:pPr>
            <a:r>
              <a:rPr sz="1400" b="1" i="0">
                <a:solidFill>
                  <a:srgbClr val="222222"/>
                </a:solidFill>
                <a:latin typeface="Arial"/>
              </a:rPr>
              <a:t>Resonance: 2kx·L + φ = 2πm</a:t>
            </a:r>
          </a:p>
          <a:p>
            <a:pPr algn="l">
              <a:spcAft>
                <a:spcPts val="1200"/>
              </a:spcAft>
            </a:pPr>
            <a:r>
              <a:rPr sz="1300" b="0" i="0">
                <a:solidFill>
                  <a:srgbClr val="222222"/>
                </a:solidFill>
                <a:latin typeface="Arial"/>
              </a:rPr>
              <a:t>→ a new resonance every ΔL = λx/2 = 0.895 µm, whatever L is (like scanning a Fabry–Pérot mirror)</a:t>
            </a:r>
          </a:p>
          <a:p>
            <a:pPr algn="l">
              <a:spcAft>
                <a:spcPts val="500"/>
              </a:spcAft>
            </a:pPr>
            <a:r>
              <a:rPr sz="1400" b="1" i="0">
                <a:solidFill>
                  <a:srgbClr val="222222"/>
                </a:solidFill>
                <a:latin typeface="Arial"/>
              </a:rPr>
              <a:t>Off resonance</a:t>
            </a:r>
          </a:p>
          <a:p>
            <a:pPr algn="l">
              <a:spcAft>
                <a:spcPts val="500"/>
              </a:spcAft>
            </a:pPr>
            <a:r>
              <a:rPr sz="1300" b="0" i="0">
                <a:solidFill>
                  <a:srgbClr val="222222"/>
                </a:solidFill>
                <a:latin typeface="Arial"/>
              </a:rPr>
              <a:t>the rib keeps feeding the cavity; the echo returns out of phase → weaker field → dip, not zero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What sets the period: the wave under the gold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The stack Au / LN slab / BOX and the rib mode, not the mirror</a:t>
            </a:r>
          </a:p>
        </p:txBody>
      </p:sp>
      <p:pic>
        <p:nvPicPr>
          <p:cNvPr id="4" name="Picture 3" descr="q2_phase_matching.png"/>
          <p:cNvPicPr>
            <a:picLocks noChangeAspect="1"/>
          </p:cNvPicPr>
          <p:nvPr/>
        </p:nvPicPr>
        <p:blipFill>
          <a:blip r:embed="rId2"/>
          <a:stretch>
            <a:fillRect/>
          </a:stretch>
        </p:blipFill>
        <p:spPr>
          <a:xfrm>
            <a:off x="411480" y="1645920"/>
            <a:ext cx="7955279" cy="3401752"/>
          </a:xfrm>
          <a:prstGeom prst="rect">
            <a:avLst/>
          </a:prstGeom>
        </p:spPr>
      </p:pic>
      <p:sp>
        <p:nvSpPr>
          <p:cNvPr id="5" name="Rounded Rectangle 4"/>
          <p:cNvSpPr/>
          <p:nvPr/>
        </p:nvSpPr>
        <p:spPr>
          <a:xfrm>
            <a:off x="8641080" y="1691640"/>
            <a:ext cx="3154680" cy="475488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222222"/>
                </a:solidFill>
                <a:latin typeface="Arial"/>
              </a:rPr>
              <a:t>Period</a:t>
            </a:r>
          </a:p>
          <a:p>
            <a:pPr algn="l">
              <a:spcAft>
                <a:spcPts val="500"/>
              </a:spcAft>
            </a:pPr>
            <a:r>
              <a:rPr sz="1300" b="0" i="0">
                <a:solidFill>
                  <a:srgbClr val="222222"/>
                </a:solidFill>
                <a:latin typeface="Arial"/>
              </a:rPr>
              <a:t>1D stack: n_sw = 2.08, rib: 1.884</a:t>
            </a:r>
          </a:p>
          <a:p>
            <a:pPr algn="l">
              <a:spcAft>
                <a:spcPts val="500"/>
              </a:spcAft>
            </a:pPr>
            <a:r>
              <a:rPr sz="1300" b="0" i="0">
                <a:solidFill>
                  <a:srgbClr val="222222"/>
                </a:solidFill>
                <a:latin typeface="Arial"/>
              </a:rPr>
              <a:t>→ λx/2 = 0.89 – 0.93 µm</a:t>
            </a:r>
          </a:p>
          <a:p>
            <a:pPr algn="l">
              <a:spcAft>
                <a:spcPts val="1200"/>
              </a:spcAft>
            </a:pPr>
            <a:r>
              <a:rPr sz="1300" b="0" i="0">
                <a:solidFill>
                  <a:srgbClr val="222222"/>
                </a:solidFill>
                <a:latin typeface="Arial"/>
              </a:rPr>
              <a:t>2D fit: 0.895 µm for both mirrors</a:t>
            </a:r>
          </a:p>
          <a:p>
            <a:pPr algn="l">
              <a:spcAft>
                <a:spcPts val="500"/>
              </a:spcAft>
            </a:pPr>
            <a:r>
              <a:rPr sz="1400" b="1" i="0">
                <a:solidFill>
                  <a:srgbClr val="222222"/>
                </a:solidFill>
                <a:latin typeface="Arial"/>
              </a:rPr>
              <a:t>Both mirrors end the same guide</a:t>
            </a:r>
          </a:p>
          <a:p>
            <a:pPr algn="l">
              <a:spcAft>
                <a:spcPts val="500"/>
              </a:spcAft>
            </a:pPr>
            <a:r>
              <a:rPr sz="1300" b="0" i="0">
                <a:solidFill>
                  <a:srgbClr val="222222"/>
                </a:solidFill>
                <a:latin typeface="Arial"/>
              </a:rPr>
              <a:t>slab end: the slab stops</a:t>
            </a:r>
          </a:p>
          <a:p>
            <a:pPr algn="l">
              <a:spcAft>
                <a:spcPts val="500"/>
              </a:spcAft>
            </a:pPr>
            <a:r>
              <a:rPr sz="1300" b="0" i="0">
                <a:solidFill>
                  <a:srgbClr val="222222"/>
                </a:solidFill>
                <a:latin typeface="Arial"/>
              </a:rPr>
              <a:t>gold/SiO₂ edge: the gold cover stops</a:t>
            </a:r>
          </a:p>
          <a:p>
            <a:pPr algn="l">
              <a:spcAft>
                <a:spcPts val="1200"/>
              </a:spcAft>
            </a:pPr>
            <a:r>
              <a:rPr sz="1300" b="0" i="0">
                <a:solidFill>
                  <a:srgbClr val="222222"/>
                </a:solidFill>
                <a:latin typeface="Arial"/>
              </a:rPr>
              <a:t>both at the top of the slab, where the field peaks</a:t>
            </a:r>
          </a:p>
          <a:p>
            <a:pPr algn="l">
              <a:spcAft>
                <a:spcPts val="500"/>
              </a:spcAft>
            </a:pPr>
            <a:r>
              <a:rPr sz="1400" b="1" i="0">
                <a:solidFill>
                  <a:srgbClr val="222222"/>
                </a:solidFill>
                <a:latin typeface="Arial"/>
              </a:rPr>
              <a:t>Buffer ≥ 38 nm: n_sw &lt; n_rib</a:t>
            </a:r>
          </a:p>
          <a:p>
            <a:pPr algn="l">
              <a:spcAft>
                <a:spcPts val="500"/>
              </a:spcAft>
            </a:pPr>
            <a:r>
              <a:rPr sz="1300" b="0" i="0">
                <a:solidFill>
                  <a:srgbClr val="222222"/>
                </a:solidFill>
                <a:latin typeface="Arial"/>
              </a:rPr>
              <a:t>→ kx imaginary: no wave, no cavity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Same cavity, two mirrors</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IL vs cavity length L = mirror position − gold inner edge</a:t>
            </a:r>
          </a:p>
        </p:txBody>
      </p:sp>
      <p:graphicFrame>
        <p:nvGraphicFramePr>
          <p:cNvPr id="4" name="Chart 3"/>
          <p:cNvGraphicFramePr>
            <a:graphicFrameLocks noGrp="1"/>
          </p:cNvGraphicFramePr>
          <p:nvPr/>
        </p:nvGraphicFramePr>
        <p:xfrm>
          <a:off x="411480" y="1600200"/>
          <a:ext cx="6949440" cy="493776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7635240" y="1828800"/>
          <a:ext cx="4206240" cy="1828800"/>
        </p:xfrm>
        <a:graphic>
          <a:graphicData uri="http://schemas.openxmlformats.org/drawingml/2006/table">
            <a:tbl>
              <a:tblPr firstRow="1" bandRow="1"/>
              <a:tblGrid>
                <a:gridCol w="1737360"/>
                <a:gridCol w="1234440"/>
                <a:gridCol w="1234440"/>
              </a:tblGrid>
              <a:tr h="365760">
                <a:tc>
                  <a:txBody>
                    <a:bodyPr wrap="square"/>
                    <a:lstStyle/>
                    <a:p>
                      <a:pPr algn="l"/>
                      <a:r>
                        <a:rPr sz="1300" b="1" i="0">
                          <a:solidFill>
                            <a:srgbClr val="FFFFFF"/>
                          </a:solidFill>
                          <a:latin typeface="Arial"/>
                        </a:rPr>
                        <a:t>fit</a:t>
                      </a:r>
                    </a:p>
                  </a:txBody>
                  <a:tcPr marL="54864" marR="54864" marT="18288" marB="18288" anchor="ctr">
                    <a:solidFill>
                      <a:srgbClr val="1F4E79"/>
                    </a:solidFill>
                  </a:tcPr>
                </a:tc>
                <a:tc>
                  <a:txBody>
                    <a:bodyPr wrap="square"/>
                    <a:lstStyle/>
                    <a:p>
                      <a:pPr algn="ctr"/>
                      <a:r>
                        <a:rPr sz="1300" b="1" i="0">
                          <a:solidFill>
                            <a:srgbClr val="FFFFFF"/>
                          </a:solidFill>
                          <a:latin typeface="Arial"/>
                        </a:rPr>
                        <a:t>slab end</a:t>
                      </a:r>
                    </a:p>
                  </a:txBody>
                  <a:tcPr marL="54864" marR="54864" marT="18288" marB="18288" anchor="ctr">
                    <a:solidFill>
                      <a:srgbClr val="1F4E79"/>
                    </a:solidFill>
                  </a:tcPr>
                </a:tc>
                <a:tc>
                  <a:txBody>
                    <a:bodyPr wrap="square"/>
                    <a:lstStyle/>
                    <a:p>
                      <a:pPr algn="ctr"/>
                      <a:r>
                        <a:rPr sz="1300" b="1" i="0">
                          <a:solidFill>
                            <a:srgbClr val="FFFFFF"/>
                          </a:solidFill>
                          <a:latin typeface="Arial"/>
                        </a:rPr>
                        <a:t>gold/SiO₂ edge</a:t>
                      </a:r>
                    </a:p>
                  </a:txBody>
                  <a:tcPr marL="54864" marR="54864" marT="18288" marB="18288" anchor="ctr">
                    <a:solidFill>
                      <a:srgbClr val="1F4E79"/>
                    </a:solidFill>
                  </a:tcPr>
                </a:tc>
              </a:tr>
              <a:tr h="365760">
                <a:tc>
                  <a:txBody>
                    <a:bodyPr wrap="square"/>
                    <a:lstStyle/>
                    <a:p>
                      <a:pPr algn="l"/>
                      <a:r>
                        <a:rPr sz="1300" b="0" i="0">
                          <a:solidFill>
                            <a:srgbClr val="222222"/>
                          </a:solidFill>
                          <a:latin typeface="Arial"/>
                        </a:rPr>
                        <a:t>period (µm)</a:t>
                      </a:r>
                    </a:p>
                  </a:txBody>
                  <a:tcPr marL="54864" marR="54864" marT="18288" marB="18288" anchor="ctr">
                    <a:solidFill>
                      <a:srgbClr val="F4F6F9"/>
                    </a:solidFill>
                  </a:tcPr>
                </a:tc>
                <a:tc>
                  <a:txBody>
                    <a:bodyPr wrap="square"/>
                    <a:lstStyle/>
                    <a:p>
                      <a:pPr algn="ctr"/>
                      <a:r>
                        <a:rPr sz="1300" b="0" i="0">
                          <a:solidFill>
                            <a:srgbClr val="222222"/>
                          </a:solidFill>
                          <a:latin typeface="Arial"/>
                        </a:rPr>
                        <a:t>0.895</a:t>
                      </a:r>
                    </a:p>
                  </a:txBody>
                  <a:tcPr marL="54864" marR="54864" marT="18288" marB="18288" anchor="ctr">
                    <a:solidFill>
                      <a:srgbClr val="F4F6F9"/>
                    </a:solidFill>
                  </a:tcPr>
                </a:tc>
                <a:tc>
                  <a:txBody>
                    <a:bodyPr wrap="square"/>
                    <a:lstStyle/>
                    <a:p>
                      <a:pPr algn="ctr"/>
                      <a:r>
                        <a:rPr sz="1300" b="0" i="0">
                          <a:solidFill>
                            <a:srgbClr val="222222"/>
                          </a:solidFill>
                          <a:latin typeface="Arial"/>
                        </a:rPr>
                        <a:t>0.894</a:t>
                      </a:r>
                    </a:p>
                  </a:txBody>
                  <a:tcPr marL="54864" marR="54864" marT="18288" marB="18288" anchor="ctr">
                    <a:solidFill>
                      <a:srgbClr val="F4F6F9"/>
                    </a:solidFill>
                  </a:tcPr>
                </a:tc>
              </a:tr>
              <a:tr h="365760">
                <a:tc>
                  <a:txBody>
                    <a:bodyPr wrap="square"/>
                    <a:lstStyle/>
                    <a:p>
                      <a:pPr algn="l"/>
                      <a:r>
                        <a:rPr sz="1300" b="0" i="0">
                          <a:solidFill>
                            <a:srgbClr val="222222"/>
                          </a:solidFill>
                          <a:latin typeface="Arial"/>
                        </a:rPr>
                        <a:t>IL∞ (dB/cm)</a:t>
                      </a:r>
                    </a:p>
                  </a:txBody>
                  <a:tcPr marL="54864" marR="54864" marT="18288" marB="18288" anchor="ctr">
                    <a:solidFill>
                      <a:srgbClr val="DDE3EA"/>
                    </a:solidFill>
                  </a:tcPr>
                </a:tc>
                <a:tc>
                  <a:txBody>
                    <a:bodyPr wrap="square"/>
                    <a:lstStyle/>
                    <a:p>
                      <a:pPr algn="ctr"/>
                      <a:r>
                        <a:rPr sz="1300" b="0" i="0">
                          <a:solidFill>
                            <a:srgbClr val="222222"/>
                          </a:solidFill>
                          <a:latin typeface="Arial"/>
                        </a:rPr>
                        <a:t>0.414</a:t>
                      </a:r>
                    </a:p>
                  </a:txBody>
                  <a:tcPr marL="54864" marR="54864" marT="18288" marB="18288" anchor="ctr">
                    <a:solidFill>
                      <a:srgbClr val="DDE3EA"/>
                    </a:solidFill>
                  </a:tcPr>
                </a:tc>
                <a:tc>
                  <a:txBody>
                    <a:bodyPr wrap="square"/>
                    <a:lstStyle/>
                    <a:p>
                      <a:pPr algn="ctr"/>
                      <a:r>
                        <a:rPr sz="1300" b="0" i="0">
                          <a:solidFill>
                            <a:srgbClr val="222222"/>
                          </a:solidFill>
                          <a:latin typeface="Arial"/>
                        </a:rPr>
                        <a:t>0.415</a:t>
                      </a:r>
                    </a:p>
                  </a:txBody>
                  <a:tcPr marL="54864" marR="54864" marT="18288" marB="18288" anchor="ctr">
                    <a:solidFill>
                      <a:srgbClr val="DDE3EA"/>
                    </a:solidFill>
                  </a:tcPr>
                </a:tc>
              </a:tr>
              <a:tr h="365760">
                <a:tc>
                  <a:txBody>
                    <a:bodyPr wrap="square"/>
                    <a:lstStyle/>
                    <a:p>
                      <a:pPr algn="l"/>
                      <a:r>
                        <a:rPr sz="1300" b="0" i="0">
                          <a:solidFill>
                            <a:srgbClr val="222222"/>
                          </a:solidFill>
                          <a:latin typeface="Arial"/>
                        </a:rPr>
                        <a:t>decay 2α (1/µm)</a:t>
                      </a:r>
                    </a:p>
                  </a:txBody>
                  <a:tcPr marL="54864" marR="54864" marT="18288" marB="18288" anchor="ctr">
                    <a:solidFill>
                      <a:srgbClr val="F4F6F9"/>
                    </a:solidFill>
                  </a:tcPr>
                </a:tc>
                <a:tc>
                  <a:txBody>
                    <a:bodyPr wrap="square"/>
                    <a:lstStyle/>
                    <a:p>
                      <a:pPr algn="ctr"/>
                      <a:r>
                        <a:rPr sz="1300" b="0" i="0">
                          <a:solidFill>
                            <a:srgbClr val="222222"/>
                          </a:solidFill>
                          <a:latin typeface="Arial"/>
                        </a:rPr>
                        <a:t>0.182</a:t>
                      </a:r>
                    </a:p>
                  </a:txBody>
                  <a:tcPr marL="54864" marR="54864" marT="18288" marB="18288" anchor="ctr">
                    <a:solidFill>
                      <a:srgbClr val="F4F6F9"/>
                    </a:solidFill>
                  </a:tcPr>
                </a:tc>
                <a:tc>
                  <a:txBody>
                    <a:bodyPr wrap="square"/>
                    <a:lstStyle/>
                    <a:p>
                      <a:pPr algn="ctr"/>
                      <a:r>
                        <a:rPr sz="1300" b="0" i="0">
                          <a:solidFill>
                            <a:srgbClr val="222222"/>
                          </a:solidFill>
                          <a:latin typeface="Arial"/>
                        </a:rPr>
                        <a:t>0.179</a:t>
                      </a:r>
                    </a:p>
                  </a:txBody>
                  <a:tcPr marL="54864" marR="54864" marT="18288" marB="18288" anchor="ctr">
                    <a:solidFill>
                      <a:srgbClr val="F4F6F9"/>
                    </a:solidFill>
                  </a:tcPr>
                </a:tc>
              </a:tr>
              <a:tr h="365760">
                <a:tc>
                  <a:txBody>
                    <a:bodyPr wrap="square"/>
                    <a:lstStyle/>
                    <a:p>
                      <a:pPr algn="l"/>
                      <a:r>
                        <a:rPr sz="1300" b="0" i="0">
                          <a:solidFill>
                            <a:srgbClr val="222222"/>
                          </a:solidFill>
                          <a:latin typeface="Arial"/>
                        </a:rPr>
                        <a:t>mirror ρ₀</a:t>
                      </a:r>
                    </a:p>
                  </a:txBody>
                  <a:tcPr marL="54864" marR="54864" marT="18288" marB="18288" anchor="ctr">
                    <a:solidFill>
                      <a:srgbClr val="DDE3EA"/>
                    </a:solidFill>
                  </a:tcPr>
                </a:tc>
                <a:tc>
                  <a:txBody>
                    <a:bodyPr wrap="square"/>
                    <a:lstStyle/>
                    <a:p>
                      <a:pPr algn="ctr"/>
                      <a:r>
                        <a:rPr sz="1300" b="0" i="0">
                          <a:solidFill>
                            <a:srgbClr val="222222"/>
                          </a:solidFill>
                          <a:latin typeface="Arial"/>
                        </a:rPr>
                        <a:t>0.957</a:t>
                      </a:r>
                    </a:p>
                  </a:txBody>
                  <a:tcPr marL="54864" marR="54864" marT="18288" marB="18288" anchor="ctr">
                    <a:solidFill>
                      <a:srgbClr val="DDE3EA"/>
                    </a:solidFill>
                  </a:tcPr>
                </a:tc>
                <a:tc>
                  <a:txBody>
                    <a:bodyPr wrap="square"/>
                    <a:lstStyle/>
                    <a:p>
                      <a:pPr algn="ctr"/>
                      <a:r>
                        <a:rPr sz="1300" b="0" i="0">
                          <a:solidFill>
                            <a:srgbClr val="222222"/>
                          </a:solidFill>
                          <a:latin typeface="Arial"/>
                        </a:rPr>
                        <a:t>0.922</a:t>
                      </a:r>
                    </a:p>
                  </a:txBody>
                  <a:tcPr marL="54864" marR="54864" marT="18288" marB="18288" anchor="ctr">
                    <a:solidFill>
                      <a:srgbClr val="DDE3EA"/>
                    </a:solidFill>
                  </a:tcPr>
                </a:tc>
              </a:tr>
            </a:tbl>
          </a:graphicData>
        </a:graphic>
      </p:graphicFrame>
      <p:sp>
        <p:nvSpPr>
          <p:cNvPr id="6" name="Rounded Rectangle 5"/>
          <p:cNvSpPr/>
          <p:nvPr/>
        </p:nvSpPr>
        <p:spPr>
          <a:xfrm>
            <a:off x="7635240" y="3931920"/>
            <a:ext cx="4206240" cy="251460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222222"/>
                </a:solidFill>
                <a:latin typeface="Arial"/>
              </a:rPr>
              <a:t>Same period, IL∞ and decay</a:t>
            </a:r>
          </a:p>
          <a:p>
            <a:pPr algn="l">
              <a:spcAft>
                <a:spcPts val="1000"/>
              </a:spcAft>
            </a:pPr>
            <a:r>
              <a:rPr sz="1300" b="0" i="0">
                <a:solidFill>
                  <a:srgbClr val="222222"/>
                </a:solidFill>
                <a:latin typeface="Arial"/>
              </a:rPr>
              <a:t>→ they belong to the cavity (the wave under the gold)</a:t>
            </a:r>
          </a:p>
          <a:p>
            <a:pPr algn="l">
              <a:spcAft>
                <a:spcPts val="500"/>
              </a:spcAft>
            </a:pPr>
            <a:r>
              <a:rPr sz="1400" b="1" i="0">
                <a:solidFill>
                  <a:srgbClr val="222222"/>
                </a:solidFill>
                <a:latin typeface="Arial"/>
              </a:rPr>
              <a:t>Different ρ₀ and phase</a:t>
            </a:r>
          </a:p>
          <a:p>
            <a:pPr algn="l">
              <a:spcAft>
                <a:spcPts val="500"/>
              </a:spcAft>
            </a:pPr>
            <a:r>
              <a:rPr sz="1300" b="0" i="0">
                <a:solidFill>
                  <a:srgbClr val="222222"/>
                </a:solidFill>
                <a:latin typeface="Arial"/>
              </a:rPr>
              <a:t>→ they belong to the mirror: curves shifted by 0.34 µm (next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Why the two curves are offset</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The two mirrors reflect with a different phase</a:t>
            </a:r>
          </a:p>
        </p:txBody>
      </p:sp>
      <p:pic>
        <p:nvPicPr>
          <p:cNvPr id="4" name="Picture 3" descr="q4_mirrors.png"/>
          <p:cNvPicPr>
            <a:picLocks noChangeAspect="1"/>
          </p:cNvPicPr>
          <p:nvPr/>
        </p:nvPicPr>
        <p:blipFill>
          <a:blip r:embed="rId2"/>
          <a:stretch>
            <a:fillRect/>
          </a:stretch>
        </p:blipFill>
        <p:spPr>
          <a:xfrm>
            <a:off x="1097280" y="1600200"/>
            <a:ext cx="10091058" cy="3429000"/>
          </a:xfrm>
          <a:prstGeom prst="rect">
            <a:avLst/>
          </a:prstGeom>
        </p:spPr>
      </p:pic>
      <p:sp>
        <p:nvSpPr>
          <p:cNvPr id="5" name="TextBox 4"/>
          <p:cNvSpPr txBox="1"/>
          <p:nvPr/>
        </p:nvSpPr>
        <p:spPr>
          <a:xfrm>
            <a:off x="1097280" y="5212080"/>
            <a:ext cx="10515600" cy="1280160"/>
          </a:xfrm>
          <a:prstGeom prst="rect">
            <a:avLst/>
          </a:prstGeom>
          <a:noFill/>
        </p:spPr>
        <p:txBody>
          <a:bodyPr wrap="square" lIns="45720" rIns="45720" tIns="27432" bIns="27432" anchor="t">
            <a:spAutoFit/>
          </a:bodyPr>
          <a:lstStyle/>
          <a:p>
            <a:pPr algn="l">
              <a:spcAft>
                <a:spcPts val="600"/>
              </a:spcAft>
            </a:pPr>
            <a:r>
              <a:rPr sz="1500" b="1" i="0">
                <a:solidFill>
                  <a:srgbClr val="222222"/>
                </a:solidFill>
                <a:latin typeface="Arial"/>
              </a:rPr>
              <a:t>Hard mirror: </a:t>
            </a:r>
            <a:r>
              <a:rPr sz="1500" b="0" i="0">
                <a:solidFill>
                  <a:srgbClr val="222222"/>
                </a:solidFill>
                <a:latin typeface="Arial"/>
              </a:rPr>
              <a:t>the field must vanish at the gold wall → node at the mirror</a:t>
            </a:r>
          </a:p>
          <a:p>
            <a:pPr algn="l">
              <a:spcAft>
                <a:spcPts val="600"/>
              </a:spcAft>
            </a:pPr>
            <a:r>
              <a:rPr sz="1500" b="1" i="0">
                <a:solidFill>
                  <a:srgbClr val="222222"/>
                </a:solidFill>
                <a:latin typeface="Arial"/>
              </a:rPr>
              <a:t>Soft mirror: </a:t>
            </a:r>
            <a:r>
              <a:rPr sz="1500" b="0" i="0">
                <a:solidFill>
                  <a:srgbClr val="222222"/>
                </a:solidFill>
                <a:latin typeface="Arial"/>
              </a:rPr>
              <a:t>the wave turns evanescent past the edge → antinode at the edge, tail into the SiO₂-covered slab</a:t>
            </a:r>
          </a:p>
          <a:p>
            <a:pPr algn="l">
              <a:spcAft>
                <a:spcPts val="600"/>
              </a:spcAft>
            </a:pPr>
            <a:r>
              <a:rPr sz="1500" b="1" i="0">
                <a:solidFill>
                  <a:srgbClr val="1F4E79"/>
                </a:solidFill>
                <a:latin typeface="Arial"/>
              </a:rPr>
              <a:t>→ effective mirror planes 0.30 µm apart (field) ≈ 0.34 µm shift of the IL curves (fit)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Countermeasure 1: SiO₂ spacer at the slab end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Slab ending in the gold, SiO₂ spacer of width w between slab end and gold (fabrication: not viable)</a:t>
            </a:r>
          </a:p>
        </p:txBody>
      </p:sp>
      <p:pic>
        <p:nvPicPr>
          <p:cNvPr id="4" name="Picture 3" descr="geom_spacer.png"/>
          <p:cNvPicPr>
            <a:picLocks noChangeAspect="1"/>
          </p:cNvPicPr>
          <p:nvPr/>
        </p:nvPicPr>
        <p:blipFill>
          <a:blip r:embed="rId2"/>
          <a:stretch>
            <a:fillRect/>
          </a:stretch>
        </p:blipFill>
        <p:spPr>
          <a:xfrm>
            <a:off x="502920" y="1645920"/>
            <a:ext cx="4206240" cy="840030"/>
          </a:xfrm>
          <a:prstGeom prst="rect">
            <a:avLst/>
          </a:prstGeom>
        </p:spPr>
      </p:pic>
      <p:graphicFrame>
        <p:nvGraphicFramePr>
          <p:cNvPr id="5" name="Chart 4"/>
          <p:cNvGraphicFramePr>
            <a:graphicFrameLocks noGrp="1"/>
          </p:cNvGraphicFramePr>
          <p:nvPr/>
        </p:nvGraphicFramePr>
        <p:xfrm>
          <a:off x="4846320" y="1600200"/>
          <a:ext cx="6949440" cy="493776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02920" y="3017520"/>
          <a:ext cx="4114800" cy="1508760"/>
        </p:xfrm>
        <a:graphic>
          <a:graphicData uri="http://schemas.openxmlformats.org/drawingml/2006/table">
            <a:tbl>
              <a:tblPr firstRow="1" bandRow="1"/>
              <a:tblGrid>
                <a:gridCol w="1371600"/>
                <a:gridCol w="1371600"/>
                <a:gridCol w="1371600"/>
              </a:tblGrid>
              <a:tr h="301752">
                <a:tc>
                  <a:txBody>
                    <a:bodyPr wrap="square"/>
                    <a:lstStyle/>
                    <a:p>
                      <a:pPr algn="l"/>
                      <a:r>
                        <a:rPr sz="1200" b="1" i="0">
                          <a:solidFill>
                            <a:srgbClr val="FFFFFF"/>
                          </a:solidFill>
                          <a:latin typeface="Arial"/>
                        </a:rPr>
                        <a:t>spacer w</a:t>
                      </a:r>
                    </a:p>
                  </a:txBody>
                  <a:tcPr marL="54864" marR="54864" marT="18288" marB="18288" anchor="ctr">
                    <a:solidFill>
                      <a:srgbClr val="1F4E79"/>
                    </a:solidFill>
                  </a:tcPr>
                </a:tc>
                <a:tc>
                  <a:txBody>
                    <a:bodyPr wrap="square"/>
                    <a:lstStyle/>
                    <a:p>
                      <a:pPr algn="ctr"/>
                      <a:r>
                        <a:rPr sz="1200" b="1" i="0">
                          <a:solidFill>
                            <a:srgbClr val="FFFFFF"/>
                          </a:solidFill>
                          <a:latin typeface="Arial"/>
                        </a:rPr>
                        <a:t>peak IL</a:t>
                      </a:r>
                    </a:p>
                  </a:txBody>
                  <a:tcPr marL="54864" marR="54864" marT="18288" marB="18288" anchor="ctr">
                    <a:solidFill>
                      <a:srgbClr val="1F4E79"/>
                    </a:solidFill>
                  </a:tcPr>
                </a:tc>
                <a:tc>
                  <a:txBody>
                    <a:bodyPr wrap="square"/>
                    <a:lstStyle/>
                    <a:p>
                      <a:pPr algn="ctr"/>
                      <a:r>
                        <a:rPr sz="1200" b="1" i="0">
                          <a:solidFill>
                            <a:srgbClr val="FFFFFF"/>
                          </a:solidFill>
                          <a:latin typeface="Arial"/>
                        </a:rPr>
                        <a:t>at slab_w</a:t>
                      </a:r>
                    </a:p>
                  </a:txBody>
                  <a:tcPr marL="54864" marR="54864" marT="18288" marB="18288" anchor="ctr">
                    <a:solidFill>
                      <a:srgbClr val="1F4E79"/>
                    </a:solidFill>
                  </a:tcPr>
                </a:tc>
              </a:tr>
              <a:tr h="301752">
                <a:tc>
                  <a:txBody>
                    <a:bodyPr wrap="square"/>
                    <a:lstStyle/>
                    <a:p>
                      <a:pPr algn="l"/>
                      <a:r>
                        <a:rPr sz="1200" b="0" i="0">
                          <a:solidFill>
                            <a:srgbClr val="222222"/>
                          </a:solidFill>
                          <a:latin typeface="Arial"/>
                        </a:rPr>
                        <a:t>none</a:t>
                      </a:r>
                    </a:p>
                  </a:txBody>
                  <a:tcPr marL="54864" marR="54864" marT="18288" marB="18288" anchor="ctr">
                    <a:solidFill>
                      <a:srgbClr val="F4F6F9"/>
                    </a:solidFill>
                  </a:tcPr>
                </a:tc>
                <a:tc>
                  <a:txBody>
                    <a:bodyPr wrap="square"/>
                    <a:lstStyle/>
                    <a:p>
                      <a:pPr algn="ctr"/>
                      <a:r>
                        <a:rPr sz="1200" b="0" i="0">
                          <a:solidFill>
                            <a:srgbClr val="222222"/>
                          </a:solidFill>
                          <a:latin typeface="Arial"/>
                        </a:rPr>
                        <a:t>2.88</a:t>
                      </a:r>
                    </a:p>
                  </a:txBody>
                  <a:tcPr marL="54864" marR="54864" marT="18288" marB="18288" anchor="ctr">
                    <a:solidFill>
                      <a:srgbClr val="F4F6F9"/>
                    </a:solidFill>
                  </a:tcPr>
                </a:tc>
                <a:tc>
                  <a:txBody>
                    <a:bodyPr wrap="square"/>
                    <a:lstStyle/>
                    <a:p>
                      <a:pPr algn="ctr"/>
                      <a:r>
                        <a:rPr sz="1200" b="0" i="0">
                          <a:solidFill>
                            <a:srgbClr val="222222"/>
                          </a:solidFill>
                          <a:latin typeface="Arial"/>
                        </a:rPr>
                        <a:t>6.75</a:t>
                      </a:r>
                    </a:p>
                  </a:txBody>
                  <a:tcPr marL="54864" marR="54864" marT="18288" marB="18288" anchor="ctr">
                    <a:solidFill>
                      <a:srgbClr val="F4F6F9"/>
                    </a:solidFill>
                  </a:tcPr>
                </a:tc>
              </a:tr>
              <a:tr h="301752">
                <a:tc>
                  <a:txBody>
                    <a:bodyPr wrap="square"/>
                    <a:lstStyle/>
                    <a:p>
                      <a:pPr algn="l"/>
                      <a:r>
                        <a:rPr sz="1200" b="0" i="0">
                          <a:solidFill>
                            <a:srgbClr val="222222"/>
                          </a:solidFill>
                          <a:latin typeface="Arial"/>
                        </a:rPr>
                        <a:t>100 nm</a:t>
                      </a:r>
                    </a:p>
                  </a:txBody>
                  <a:tcPr marL="54864" marR="54864" marT="18288" marB="18288" anchor="ctr">
                    <a:solidFill>
                      <a:srgbClr val="DDE3EA"/>
                    </a:solidFill>
                  </a:tcPr>
                </a:tc>
                <a:tc>
                  <a:txBody>
                    <a:bodyPr wrap="square"/>
                    <a:lstStyle/>
                    <a:p>
                      <a:pPr algn="ctr"/>
                      <a:r>
                        <a:rPr sz="1200" b="0" i="0">
                          <a:solidFill>
                            <a:srgbClr val="222222"/>
                          </a:solidFill>
                          <a:latin typeface="Arial"/>
                        </a:rPr>
                        <a:t>2.88</a:t>
                      </a:r>
                    </a:p>
                  </a:txBody>
                  <a:tcPr marL="54864" marR="54864" marT="18288" marB="18288" anchor="ctr">
                    <a:solidFill>
                      <a:srgbClr val="DDE3EA"/>
                    </a:solidFill>
                  </a:tcPr>
                </a:tc>
                <a:tc>
                  <a:txBody>
                    <a:bodyPr wrap="square"/>
                    <a:lstStyle/>
                    <a:p>
                      <a:pPr algn="ctr"/>
                      <a:r>
                        <a:rPr sz="1200" b="0" i="0">
                          <a:solidFill>
                            <a:srgbClr val="222222"/>
                          </a:solidFill>
                          <a:latin typeface="Arial"/>
                        </a:rPr>
                        <a:t>6.60</a:t>
                      </a:r>
                    </a:p>
                  </a:txBody>
                  <a:tcPr marL="54864" marR="54864" marT="18288" marB="18288" anchor="ctr">
                    <a:solidFill>
                      <a:srgbClr val="DDE3EA"/>
                    </a:solidFill>
                  </a:tcPr>
                </a:tc>
              </a:tr>
              <a:tr h="301752">
                <a:tc>
                  <a:txBody>
                    <a:bodyPr wrap="square"/>
                    <a:lstStyle/>
                    <a:p>
                      <a:pPr algn="l"/>
                      <a:r>
                        <a:rPr sz="1200" b="0" i="0">
                          <a:solidFill>
                            <a:srgbClr val="222222"/>
                          </a:solidFill>
                          <a:latin typeface="Arial"/>
                        </a:rPr>
                        <a:t>300 nm</a:t>
                      </a:r>
                    </a:p>
                  </a:txBody>
                  <a:tcPr marL="54864" marR="54864" marT="18288" marB="18288" anchor="ctr">
                    <a:solidFill>
                      <a:srgbClr val="F4F6F9"/>
                    </a:solidFill>
                  </a:tcPr>
                </a:tc>
                <a:tc>
                  <a:txBody>
                    <a:bodyPr wrap="square"/>
                    <a:lstStyle/>
                    <a:p>
                      <a:pPr algn="ctr"/>
                      <a:r>
                        <a:rPr sz="1200" b="0" i="0">
                          <a:solidFill>
                            <a:srgbClr val="222222"/>
                          </a:solidFill>
                          <a:latin typeface="Arial"/>
                        </a:rPr>
                        <a:t>2.93</a:t>
                      </a:r>
                    </a:p>
                  </a:txBody>
                  <a:tcPr marL="54864" marR="54864" marT="18288" marB="18288" anchor="ctr">
                    <a:solidFill>
                      <a:srgbClr val="F4F6F9"/>
                    </a:solidFill>
                  </a:tcPr>
                </a:tc>
                <a:tc>
                  <a:txBody>
                    <a:bodyPr wrap="square"/>
                    <a:lstStyle/>
                    <a:p>
                      <a:pPr algn="ctr"/>
                      <a:r>
                        <a:rPr sz="1200" b="0" i="0">
                          <a:solidFill>
                            <a:srgbClr val="222222"/>
                          </a:solidFill>
                          <a:latin typeface="Arial"/>
                        </a:rPr>
                        <a:t>6.50</a:t>
                      </a:r>
                    </a:p>
                  </a:txBody>
                  <a:tcPr marL="54864" marR="54864" marT="18288" marB="18288" anchor="ctr">
                    <a:solidFill>
                      <a:srgbClr val="F4F6F9"/>
                    </a:solidFill>
                  </a:tcPr>
                </a:tc>
              </a:tr>
              <a:tr h="301752">
                <a:tc>
                  <a:txBody>
                    <a:bodyPr wrap="square"/>
                    <a:lstStyle/>
                    <a:p>
                      <a:pPr algn="l"/>
                      <a:r>
                        <a:rPr sz="1200" b="0" i="0">
                          <a:solidFill>
                            <a:srgbClr val="222222"/>
                          </a:solidFill>
                          <a:latin typeface="Arial"/>
                        </a:rPr>
                        <a:t>600 nm</a:t>
                      </a:r>
                    </a:p>
                  </a:txBody>
                  <a:tcPr marL="54864" marR="54864" marT="18288" marB="18288" anchor="ctr">
                    <a:solidFill>
                      <a:srgbClr val="DDE3EA"/>
                    </a:solidFill>
                  </a:tcPr>
                </a:tc>
                <a:tc>
                  <a:txBody>
                    <a:bodyPr wrap="square"/>
                    <a:lstStyle/>
                    <a:p>
                      <a:pPr algn="ctr"/>
                      <a:r>
                        <a:rPr sz="1200" b="0" i="0">
                          <a:solidFill>
                            <a:srgbClr val="222222"/>
                          </a:solidFill>
                          <a:latin typeface="Arial"/>
                        </a:rPr>
                        <a:t>3.04</a:t>
                      </a:r>
                    </a:p>
                  </a:txBody>
                  <a:tcPr marL="54864" marR="54864" marT="18288" marB="18288" anchor="ctr">
                    <a:solidFill>
                      <a:srgbClr val="DDE3EA"/>
                    </a:solidFill>
                  </a:tcPr>
                </a:tc>
                <a:tc>
                  <a:txBody>
                    <a:bodyPr wrap="square"/>
                    <a:lstStyle/>
                    <a:p>
                      <a:pPr algn="ctr"/>
                      <a:r>
                        <a:rPr sz="1200" b="0" i="0">
                          <a:solidFill>
                            <a:srgbClr val="222222"/>
                          </a:solidFill>
                          <a:latin typeface="Arial"/>
                        </a:rPr>
                        <a:t>6.50</a:t>
                      </a:r>
                    </a:p>
                  </a:txBody>
                  <a:tcPr marL="54864" marR="54864" marT="18288" marB="18288" anchor="ctr">
                    <a:solidFill>
                      <a:srgbClr val="DDE3EA"/>
                    </a:solidFill>
                  </a:tcPr>
                </a:tc>
              </a:tr>
            </a:tbl>
          </a:graphicData>
        </a:graphic>
      </p:graphicFrame>
      <p:sp>
        <p:nvSpPr>
          <p:cNvPr id="7" name="TextBox 6"/>
          <p:cNvSpPr txBox="1"/>
          <p:nvPr/>
        </p:nvSpPr>
        <p:spPr>
          <a:xfrm>
            <a:off x="502920" y="4663440"/>
            <a:ext cx="4114800" cy="1280160"/>
          </a:xfrm>
          <a:prstGeom prst="rect">
            <a:avLst/>
          </a:prstGeom>
          <a:noFill/>
        </p:spPr>
        <p:txBody>
          <a:bodyPr wrap="square" lIns="45720" rIns="45720" tIns="27432" bIns="27432" anchor="t">
            <a:spAutoFit/>
          </a:bodyPr>
          <a:lstStyle/>
          <a:p>
            <a:pPr algn="l">
              <a:spcAft>
                <a:spcPts val="600"/>
              </a:spcAft>
            </a:pPr>
            <a:r>
              <a:rPr sz="1400" b="1" i="0">
                <a:solidFill>
                  <a:srgbClr val="1F4E79"/>
                </a:solidFill>
                <a:latin typeface="Arial"/>
              </a:rPr>
              <a:t>The ripple survives at every width</a:t>
            </a:r>
          </a:p>
          <a:p>
            <a:pPr algn="l">
              <a:spcAft>
                <a:spcPts val="600"/>
              </a:spcAft>
            </a:pPr>
            <a:r>
              <a:rPr sz="1250" b="0" i="0">
                <a:solidFill>
                  <a:srgbClr val="222222"/>
                </a:solidFill>
                <a:latin typeface="Arial"/>
              </a:rPr>
              <a:t>Gold over SiO₂ cannot carry the wave (n &lt; n_rib): the spacer is just another mirror, it only shifts the peaks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Countermeasure 2: no wave under the gold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A slab thinner than ~180 nm under the gold cannot carry the wave (1D model, 1575 nm)</a:t>
            </a:r>
          </a:p>
        </p:txBody>
      </p:sp>
      <p:pic>
        <p:nvPicPr>
          <p:cNvPr id="4" name="Picture 3" descr="nsw_vs_thickness.png"/>
          <p:cNvPicPr>
            <a:picLocks noChangeAspect="1"/>
          </p:cNvPicPr>
          <p:nvPr/>
        </p:nvPicPr>
        <p:blipFill>
          <a:blip r:embed="rId2"/>
          <a:stretch>
            <a:fillRect/>
          </a:stretch>
        </p:blipFill>
        <p:spPr>
          <a:xfrm>
            <a:off x="502920" y="1645920"/>
            <a:ext cx="6970120" cy="4572000"/>
          </a:xfrm>
          <a:prstGeom prst="rect">
            <a:avLst/>
          </a:prstGeom>
        </p:spPr>
      </p:pic>
      <p:pic>
        <p:nvPicPr>
          <p:cNvPr id="5" name="Picture 4" descr="geom_deep.png"/>
          <p:cNvPicPr>
            <a:picLocks noChangeAspect="1"/>
          </p:cNvPicPr>
          <p:nvPr/>
        </p:nvPicPr>
        <p:blipFill>
          <a:blip r:embed="rId3"/>
          <a:stretch>
            <a:fillRect/>
          </a:stretch>
        </p:blipFill>
        <p:spPr>
          <a:xfrm>
            <a:off x="7818120" y="1965960"/>
            <a:ext cx="3931920" cy="1024038"/>
          </a:xfrm>
          <a:prstGeom prst="rect">
            <a:avLst/>
          </a:prstGeom>
        </p:spPr>
      </p:pic>
      <p:sp>
        <p:nvSpPr>
          <p:cNvPr id="6" name="TextBox 5"/>
          <p:cNvSpPr txBox="1"/>
          <p:nvPr/>
        </p:nvSpPr>
        <p:spPr>
          <a:xfrm>
            <a:off x="7818120" y="1645920"/>
            <a:ext cx="3931920" cy="320040"/>
          </a:xfrm>
          <a:prstGeom prst="rect">
            <a:avLst/>
          </a:prstGeom>
          <a:noFill/>
        </p:spPr>
        <p:txBody>
          <a:bodyPr wrap="square" lIns="45720" rIns="45720" tIns="27432" bIns="27432" anchor="t">
            <a:spAutoFit/>
          </a:bodyPr>
          <a:lstStyle/>
          <a:p>
            <a:pPr algn="l">
              <a:spcAft>
                <a:spcPts val="600"/>
              </a:spcAft>
            </a:pPr>
            <a:r>
              <a:rPr sz="1300" b="1" i="0">
                <a:solidFill>
                  <a:srgbClr val="222222"/>
                </a:solidFill>
                <a:latin typeface="Arial"/>
              </a:rPr>
              <a:t>A. deeper rib etch (one etch, 150 nm slab)</a:t>
            </a:r>
          </a:p>
        </p:txBody>
      </p:sp>
      <p:pic>
        <p:nvPicPr>
          <p:cNvPr id="7" name="Picture 6" descr="geom_partial.png"/>
          <p:cNvPicPr>
            <a:picLocks noChangeAspect="1"/>
          </p:cNvPicPr>
          <p:nvPr/>
        </p:nvPicPr>
        <p:blipFill>
          <a:blip r:embed="rId4"/>
          <a:stretch>
            <a:fillRect/>
          </a:stretch>
        </p:blipFill>
        <p:spPr>
          <a:xfrm>
            <a:off x="7818120" y="3977639"/>
            <a:ext cx="3931920" cy="1024038"/>
          </a:xfrm>
          <a:prstGeom prst="rect">
            <a:avLst/>
          </a:prstGeom>
        </p:spPr>
      </p:pic>
      <p:sp>
        <p:nvSpPr>
          <p:cNvPr id="8" name="TextBox 7"/>
          <p:cNvSpPr txBox="1"/>
          <p:nvPr/>
        </p:nvSpPr>
        <p:spPr>
          <a:xfrm>
            <a:off x="7818120" y="3657600"/>
            <a:ext cx="3931920" cy="320040"/>
          </a:xfrm>
          <a:prstGeom prst="rect">
            <a:avLst/>
          </a:prstGeom>
          <a:noFill/>
        </p:spPr>
        <p:txBody>
          <a:bodyPr wrap="square" lIns="45720" rIns="45720" tIns="27432" bIns="27432" anchor="t">
            <a:spAutoFit/>
          </a:bodyPr>
          <a:lstStyle/>
          <a:p>
            <a:pPr algn="l">
              <a:spcAft>
                <a:spcPts val="600"/>
              </a:spcAft>
            </a:pPr>
            <a:r>
              <a:rPr sz="1300" b="1" i="0">
                <a:solidFill>
                  <a:srgbClr val="222222"/>
                </a:solidFill>
                <a:latin typeface="Arial"/>
              </a:rPr>
              <a:t>B. partial 2nd etch outside slab_w (125 nm)</a:t>
            </a:r>
          </a:p>
        </p:txBody>
      </p:sp>
      <p:sp>
        <p:nvSpPr>
          <p:cNvPr id="9" name="TextBox 8"/>
          <p:cNvSpPr txBox="1"/>
          <p:nvPr/>
        </p:nvSpPr>
        <p:spPr>
          <a:xfrm>
            <a:off x="7818120" y="5120640"/>
            <a:ext cx="4023360" cy="1188720"/>
          </a:xfrm>
          <a:prstGeom prst="rect">
            <a:avLst/>
          </a:prstGeom>
          <a:noFill/>
        </p:spPr>
        <p:txBody>
          <a:bodyPr wrap="square" lIns="45720" rIns="45720" tIns="27432" bIns="27432" anchor="t">
            <a:spAutoFit/>
          </a:bodyPr>
          <a:lstStyle/>
          <a:p>
            <a:pPr algn="l">
              <a:spcAft>
                <a:spcPts val="600"/>
              </a:spcAft>
            </a:pPr>
            <a:r>
              <a:rPr sz="1300" b="0" i="0">
                <a:solidFill>
                  <a:srgbClr val="595959"/>
                </a:solidFill>
                <a:latin typeface="Arial"/>
              </a:rPr>
              <a:t>Same materials, lift kept, no buffer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Option A: deeper rib etch</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550 nm film, slab left after the rib etch: 275 nm (today) → 175 / 150 / 125 nm</a:t>
            </a:r>
          </a:p>
        </p:txBody>
      </p:sp>
      <p:graphicFrame>
        <p:nvGraphicFramePr>
          <p:cNvPr id="4" name="Chart 3"/>
          <p:cNvGraphicFramePr>
            <a:graphicFrameLocks noGrp="1"/>
          </p:cNvGraphicFramePr>
          <p:nvPr/>
        </p:nvGraphicFramePr>
        <p:xfrm>
          <a:off x="411480" y="1600200"/>
          <a:ext cx="5852160" cy="493776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6537960" y="1691640"/>
          <a:ext cx="5257800" cy="3621024"/>
        </p:xfrm>
        <a:graphic>
          <a:graphicData uri="http://schemas.openxmlformats.org/drawingml/2006/table">
            <a:tbl>
              <a:tblPr firstRow="1" bandRow="1"/>
              <a:tblGrid>
                <a:gridCol w="1600200"/>
                <a:gridCol w="914400"/>
                <a:gridCol w="1371600"/>
                <a:gridCol w="1371600"/>
              </a:tblGrid>
              <a:tr h="329184">
                <a:tc>
                  <a:txBody>
                    <a:bodyPr wrap="square"/>
                    <a:lstStyle/>
                    <a:p>
                      <a:pPr algn="l"/>
                      <a:r>
                        <a:rPr sz="1200" b="1" i="0">
                          <a:solidFill>
                            <a:srgbClr val="FFFFFF"/>
                          </a:solidFill>
                          <a:latin typeface="Arial"/>
                        </a:rPr>
                        <a:t>slab</a:t>
                      </a:r>
                    </a:p>
                  </a:txBody>
                  <a:tcPr marL="54864" marR="54864" marT="18288" marB="18288" anchor="ctr">
                    <a:solidFill>
                      <a:srgbClr val="1F4E79"/>
                    </a:solidFill>
                  </a:tcPr>
                </a:tc>
                <a:tc>
                  <a:txBody>
                    <a:bodyPr wrap="square"/>
                    <a:lstStyle/>
                    <a:p>
                      <a:pPr algn="ctr"/>
                      <a:r>
                        <a:rPr sz="1200" b="1" i="0">
                          <a:solidFill>
                            <a:srgbClr val="FFFFFF"/>
                          </a:solidFill>
                          <a:latin typeface="Arial"/>
                        </a:rPr>
                        <a:t>gap (µm)</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c>
                  <a:txBody>
                    <a:bodyPr wrap="square"/>
                    <a:lstStyle/>
                    <a:p>
                      <a:pPr algn="ctr"/>
                      <a:r>
                        <a:rPr sz="1200" b="1" i="0">
                          <a:solidFill>
                            <a:srgbClr val="FFFFFF"/>
                          </a:solidFill>
                          <a:latin typeface="Arial"/>
                        </a:rPr>
                        <a:t>Vπ·L (V·cm)</a:t>
                      </a:r>
                    </a:p>
                  </a:txBody>
                  <a:tcPr marL="54864" marR="54864" marT="18288" marB="18288" anchor="ctr">
                    <a:solidFill>
                      <a:srgbClr val="1F4E79"/>
                    </a:solidFill>
                  </a:tcPr>
                </a:tc>
              </a:tr>
              <a:tr h="329184">
                <a:tc>
                  <a:txBody>
                    <a:bodyPr wrap="square"/>
                    <a:lstStyle/>
                    <a:p>
                      <a:pPr algn="l"/>
                      <a:r>
                        <a:rPr sz="1200" b="0" i="0">
                          <a:solidFill>
                            <a:srgbClr val="222222"/>
                          </a:solidFill>
                          <a:latin typeface="Arial"/>
                        </a:rPr>
                        <a:t>275 nm (today)</a:t>
                      </a:r>
                    </a:p>
                  </a:txBody>
                  <a:tcPr marL="54864" marR="54864" marT="18288" marB="18288" anchor="ctr">
                    <a:solidFill>
                      <a:srgbClr val="F4F6F9"/>
                    </a:solidFill>
                  </a:tcPr>
                </a:tc>
                <a:tc>
                  <a:txBody>
                    <a:bodyPr wrap="square"/>
                    <a:lstStyle/>
                    <a:p>
                      <a:pPr algn="ctr"/>
                      <a:r>
                        <a:rPr sz="1200" b="0" i="0">
                          <a:solidFill>
                            <a:srgbClr val="222222"/>
                          </a:solidFill>
                          <a:latin typeface="Arial"/>
                        </a:rPr>
                        <a:t>4.2</a:t>
                      </a:r>
                    </a:p>
                  </a:txBody>
                  <a:tcPr marL="54864" marR="54864" marT="18288" marB="18288" anchor="ctr">
                    <a:solidFill>
                      <a:srgbClr val="F4F6F9"/>
                    </a:solidFill>
                  </a:tcPr>
                </a:tc>
                <a:tc>
                  <a:txBody>
                    <a:bodyPr wrap="square"/>
                    <a:lstStyle/>
                    <a:p>
                      <a:pPr algn="ctr"/>
                      <a:r>
                        <a:rPr sz="1200" b="0" i="0">
                          <a:solidFill>
                            <a:srgbClr val="222222"/>
                          </a:solidFill>
                          <a:latin typeface="Arial"/>
                        </a:rPr>
                        <a:t>0.18 – 0.89</a:t>
                      </a:r>
                    </a:p>
                  </a:txBody>
                  <a:tcPr marL="54864" marR="54864" marT="18288" marB="18288" anchor="ctr">
                    <a:solidFill>
                      <a:srgbClr val="F4F6F9"/>
                    </a:solidFill>
                  </a:tcPr>
                </a:tc>
                <a:tc>
                  <a:txBody>
                    <a:bodyPr wrap="square"/>
                    <a:lstStyle/>
                    <a:p>
                      <a:pPr algn="ctr"/>
                      <a:r>
                        <a:rPr sz="1200" b="0" i="0">
                          <a:solidFill>
                            <a:srgbClr val="222222"/>
                          </a:solidFill>
                          <a:latin typeface="Arial"/>
                        </a:rPr>
                        <a:t>2.27</a:t>
                      </a:r>
                    </a:p>
                  </a:txBody>
                  <a:tcPr marL="54864" marR="54864" marT="18288" marB="18288" anchor="ctr">
                    <a:solidFill>
                      <a:srgbClr val="F4F6F9"/>
                    </a:solidFill>
                  </a:tcPr>
                </a:tc>
              </a:tr>
              <a:tr h="329184">
                <a:tc>
                  <a:txBody>
                    <a:bodyPr wrap="square"/>
                    <a:lstStyle/>
                    <a:p>
                      <a:pPr algn="l"/>
                      <a:r>
                        <a:rPr sz="1200" b="0" i="0">
                          <a:solidFill>
                            <a:srgbClr val="222222"/>
                          </a:solidFill>
                          <a:latin typeface="Arial"/>
                        </a:rPr>
                        <a:t>200 nm</a:t>
                      </a:r>
                    </a:p>
                  </a:txBody>
                  <a:tcPr marL="54864" marR="54864" marT="18288" marB="18288" anchor="ctr">
                    <a:solidFill>
                      <a:srgbClr val="DDE3EA"/>
                    </a:solidFill>
                  </a:tcPr>
                </a:tc>
                <a:tc>
                  <a:txBody>
                    <a:bodyPr wrap="square"/>
                    <a:lstStyle/>
                    <a:p>
                      <a:pPr algn="ctr"/>
                      <a:r>
                        <a:rPr sz="1200" b="0" i="0">
                          <a:solidFill>
                            <a:srgbClr val="222222"/>
                          </a:solidFill>
                          <a:latin typeface="Arial"/>
                        </a:rPr>
                        <a:t>4.2</a:t>
                      </a:r>
                    </a:p>
                  </a:txBody>
                  <a:tcPr marL="54864" marR="54864" marT="18288" marB="18288" anchor="ctr">
                    <a:solidFill>
                      <a:srgbClr val="DDE3EA"/>
                    </a:solidFill>
                  </a:tcPr>
                </a:tc>
                <a:tc>
                  <a:txBody>
                    <a:bodyPr wrap="square"/>
                    <a:lstStyle/>
                    <a:p>
                      <a:pPr algn="ctr"/>
                      <a:r>
                        <a:rPr sz="1200" b="0" i="0">
                          <a:solidFill>
                            <a:srgbClr val="222222"/>
                          </a:solidFill>
                          <a:latin typeface="Arial"/>
                        </a:rPr>
                        <a:t>0.0658</a:t>
                      </a:r>
                    </a:p>
                  </a:txBody>
                  <a:tcPr marL="54864" marR="54864" marT="18288" marB="18288" anchor="ctr">
                    <a:solidFill>
                      <a:srgbClr val="DDE3EA"/>
                    </a:solidFill>
                  </a:tcPr>
                </a:tc>
                <a:tc>
                  <a:txBody>
                    <a:bodyPr wrap="square"/>
                    <a:lstStyle/>
                    <a:p>
                      <a:pPr algn="ctr"/>
                      <a:r>
                        <a:rPr sz="1200" b="0" i="0">
                          <a:solidFill>
                            <a:srgbClr val="222222"/>
                          </a:solidFill>
                          <a:latin typeface="Arial"/>
                        </a:rPr>
                        <a:t>2.72</a:t>
                      </a:r>
                    </a:p>
                  </a:txBody>
                  <a:tcPr marL="54864" marR="54864" marT="18288" marB="18288" anchor="ctr">
                    <a:solidFill>
                      <a:srgbClr val="DDE3EA"/>
                    </a:solidFill>
                  </a:tcPr>
                </a:tc>
              </a:tr>
              <a:tr h="329184">
                <a:tc>
                  <a:txBody>
                    <a:bodyPr wrap="square"/>
                    <a:lstStyle/>
                    <a:p>
                      <a:pPr algn="l"/>
                      <a:r>
                        <a:rPr sz="1200" b="0" i="0">
                          <a:solidFill>
                            <a:srgbClr val="222222"/>
                          </a:solidFill>
                          <a:latin typeface="Arial"/>
                        </a:rPr>
                        <a:t>175 nm</a:t>
                      </a:r>
                    </a:p>
                  </a:txBody>
                  <a:tcPr marL="54864" marR="54864" marT="18288" marB="18288" anchor="ctr">
                    <a:solidFill>
                      <a:srgbClr val="F4F6F9"/>
                    </a:solidFill>
                  </a:tcPr>
                </a:tc>
                <a:tc>
                  <a:txBody>
                    <a:bodyPr wrap="square"/>
                    <a:lstStyle/>
                    <a:p>
                      <a:pPr algn="ctr"/>
                      <a:r>
                        <a:rPr sz="1200" b="0" i="0">
                          <a:solidFill>
                            <a:srgbClr val="222222"/>
                          </a:solidFill>
                          <a:latin typeface="Arial"/>
                        </a:rPr>
                        <a:t>4.2</a:t>
                      </a:r>
                    </a:p>
                  </a:txBody>
                  <a:tcPr marL="54864" marR="54864" marT="18288" marB="18288" anchor="ctr">
                    <a:solidFill>
                      <a:srgbClr val="F4F6F9"/>
                    </a:solidFill>
                  </a:tcPr>
                </a:tc>
                <a:tc>
                  <a:txBody>
                    <a:bodyPr wrap="square"/>
                    <a:lstStyle/>
                    <a:p>
                      <a:pPr algn="ctr"/>
                      <a:r>
                        <a:rPr sz="1200" b="0" i="0">
                          <a:solidFill>
                            <a:srgbClr val="222222"/>
                          </a:solidFill>
                          <a:latin typeface="Arial"/>
                        </a:rPr>
                        <a:t>0.121</a:t>
                      </a:r>
                    </a:p>
                  </a:txBody>
                  <a:tcPr marL="54864" marR="54864" marT="18288" marB="18288" anchor="ctr">
                    <a:solidFill>
                      <a:srgbClr val="F4F6F9"/>
                    </a:solidFill>
                  </a:tcPr>
                </a:tc>
                <a:tc>
                  <a:txBody>
                    <a:bodyPr wrap="square"/>
                    <a:lstStyle/>
                    <a:p>
                      <a:pPr algn="ctr"/>
                      <a:r>
                        <a:rPr sz="1200" b="0" i="0">
                          <a:solidFill>
                            <a:srgbClr val="222222"/>
                          </a:solidFill>
                          <a:latin typeface="Arial"/>
                        </a:rPr>
                        <a:t>2.92</a:t>
                      </a:r>
                    </a:p>
                  </a:txBody>
                  <a:tcPr marL="54864" marR="54864" marT="18288" marB="18288" anchor="ctr">
                    <a:solidFill>
                      <a:srgbClr val="F4F6F9"/>
                    </a:solidFill>
                  </a:tcPr>
                </a:tc>
              </a:tr>
              <a:tr h="329184">
                <a:tc>
                  <a:txBody>
                    <a:bodyPr wrap="square"/>
                    <a:lstStyle/>
                    <a:p>
                      <a:pPr algn="l"/>
                      <a:r>
                        <a:rPr sz="1200" b="0" i="0">
                          <a:solidFill>
                            <a:srgbClr val="222222"/>
                          </a:solidFill>
                          <a:latin typeface="Arial"/>
                        </a:rPr>
                        <a:t>150 nm</a:t>
                      </a:r>
                    </a:p>
                  </a:txBody>
                  <a:tcPr marL="54864" marR="54864" marT="18288" marB="18288" anchor="ctr">
                    <a:solidFill>
                      <a:srgbClr val="DDE3EA"/>
                    </a:solidFill>
                  </a:tcPr>
                </a:tc>
                <a:tc>
                  <a:txBody>
                    <a:bodyPr wrap="square"/>
                    <a:lstStyle/>
                    <a:p>
                      <a:pPr algn="ctr"/>
                      <a:r>
                        <a:rPr sz="1200" b="0" i="0">
                          <a:solidFill>
                            <a:srgbClr val="222222"/>
                          </a:solidFill>
                          <a:latin typeface="Arial"/>
                        </a:rPr>
                        <a:t>4.2</a:t>
                      </a:r>
                    </a:p>
                  </a:txBody>
                  <a:tcPr marL="54864" marR="54864" marT="18288" marB="18288" anchor="ctr">
                    <a:solidFill>
                      <a:srgbClr val="DDE3EA"/>
                    </a:solidFill>
                  </a:tcPr>
                </a:tc>
                <a:tc>
                  <a:txBody>
                    <a:bodyPr wrap="square"/>
                    <a:lstStyle/>
                    <a:p>
                      <a:pPr algn="ctr"/>
                      <a:r>
                        <a:rPr sz="1200" b="0" i="0">
                          <a:solidFill>
                            <a:srgbClr val="222222"/>
                          </a:solidFill>
                          <a:latin typeface="Arial"/>
                        </a:rPr>
                        <a:t>0.00344</a:t>
                      </a:r>
                    </a:p>
                  </a:txBody>
                  <a:tcPr marL="54864" marR="54864" marT="18288" marB="18288" anchor="ctr">
                    <a:solidFill>
                      <a:srgbClr val="DDE3EA"/>
                    </a:solidFill>
                  </a:tcPr>
                </a:tc>
                <a:tc>
                  <a:txBody>
                    <a:bodyPr wrap="square"/>
                    <a:lstStyle/>
                    <a:p>
                      <a:pPr algn="ctr"/>
                      <a:r>
                        <a:rPr sz="1200" b="0" i="0">
                          <a:solidFill>
                            <a:srgbClr val="222222"/>
                          </a:solidFill>
                          <a:latin typeface="Arial"/>
                        </a:rPr>
                        <a:t>3.15</a:t>
                      </a:r>
                    </a:p>
                  </a:txBody>
                  <a:tcPr marL="54864" marR="54864" marT="18288" marB="18288" anchor="ctr">
                    <a:solidFill>
                      <a:srgbClr val="DDE3EA"/>
                    </a:solidFill>
                  </a:tcPr>
                </a:tc>
              </a:tr>
              <a:tr h="329184">
                <a:tc>
                  <a:txBody>
                    <a:bodyPr wrap="square"/>
                    <a:lstStyle/>
                    <a:p>
                      <a:pPr algn="l"/>
                      <a:r>
                        <a:rPr sz="1200" b="0" i="0">
                          <a:solidFill>
                            <a:srgbClr val="222222"/>
                          </a:solidFill>
                          <a:latin typeface="Arial"/>
                        </a:rPr>
                        <a:t>150 nm</a:t>
                      </a:r>
                    </a:p>
                  </a:txBody>
                  <a:tcPr marL="54864" marR="54864" marT="18288" marB="18288" anchor="ctr">
                    <a:solidFill>
                      <a:srgbClr val="F4F6F9"/>
                    </a:solidFill>
                  </a:tcPr>
                </a:tc>
                <a:tc>
                  <a:txBody>
                    <a:bodyPr wrap="square"/>
                    <a:lstStyle/>
                    <a:p>
                      <a:pPr algn="ctr"/>
                      <a:r>
                        <a:rPr sz="1200" b="0" i="0">
                          <a:solidFill>
                            <a:srgbClr val="222222"/>
                          </a:solidFill>
                          <a:latin typeface="Arial"/>
                        </a:rPr>
                        <a:t>3.6</a:t>
                      </a:r>
                    </a:p>
                  </a:txBody>
                  <a:tcPr marL="54864" marR="54864" marT="18288" marB="18288" anchor="ctr">
                    <a:solidFill>
                      <a:srgbClr val="F4F6F9"/>
                    </a:solidFill>
                  </a:tcPr>
                </a:tc>
                <a:tc>
                  <a:txBody>
                    <a:bodyPr wrap="square"/>
                    <a:lstStyle/>
                    <a:p>
                      <a:pPr algn="ctr"/>
                      <a:r>
                        <a:rPr sz="1200" b="0" i="0">
                          <a:solidFill>
                            <a:srgbClr val="222222"/>
                          </a:solidFill>
                          <a:latin typeface="Arial"/>
                        </a:rPr>
                        <a:t>0.0548</a:t>
                      </a:r>
                    </a:p>
                  </a:txBody>
                  <a:tcPr marL="54864" marR="54864" marT="18288" marB="18288" anchor="ctr">
                    <a:solidFill>
                      <a:srgbClr val="F4F6F9"/>
                    </a:solidFill>
                  </a:tcPr>
                </a:tc>
                <a:tc>
                  <a:txBody>
                    <a:bodyPr wrap="square"/>
                    <a:lstStyle/>
                    <a:p>
                      <a:pPr algn="ctr"/>
                      <a:r>
                        <a:rPr sz="1200" b="0" i="0">
                          <a:solidFill>
                            <a:srgbClr val="222222"/>
                          </a:solidFill>
                          <a:latin typeface="Arial"/>
                        </a:rPr>
                        <a:t>2.59</a:t>
                      </a:r>
                    </a:p>
                  </a:txBody>
                  <a:tcPr marL="54864" marR="54864" marT="18288" marB="18288" anchor="ctr">
                    <a:solidFill>
                      <a:srgbClr val="F4F6F9"/>
                    </a:solidFill>
                  </a:tcPr>
                </a:tc>
              </a:tr>
              <a:tr h="329184">
                <a:tc>
                  <a:txBody>
                    <a:bodyPr wrap="square"/>
                    <a:lstStyle/>
                    <a:p>
                      <a:pPr algn="l"/>
                      <a:r>
                        <a:rPr sz="1200" b="0" i="0">
                          <a:solidFill>
                            <a:srgbClr val="222222"/>
                          </a:solidFill>
                          <a:latin typeface="Arial"/>
                        </a:rPr>
                        <a:t>150 nm</a:t>
                      </a:r>
                    </a:p>
                  </a:txBody>
                  <a:tcPr marL="54864" marR="54864" marT="18288" marB="18288" anchor="ctr">
                    <a:solidFill>
                      <a:srgbClr val="DDE3EA"/>
                    </a:solidFill>
                  </a:tcPr>
                </a:tc>
                <a:tc>
                  <a:txBody>
                    <a:bodyPr wrap="square"/>
                    <a:lstStyle/>
                    <a:p>
                      <a:pPr algn="ctr"/>
                      <a:r>
                        <a:rPr sz="1200" b="0" i="0">
                          <a:solidFill>
                            <a:srgbClr val="222222"/>
                          </a:solidFill>
                          <a:latin typeface="Arial"/>
                        </a:rPr>
                        <a:t>3.2</a:t>
                      </a:r>
                    </a:p>
                  </a:txBody>
                  <a:tcPr marL="54864" marR="54864" marT="18288" marB="18288" anchor="ctr">
                    <a:solidFill>
                      <a:srgbClr val="DDE3EA"/>
                    </a:solidFill>
                  </a:tcPr>
                </a:tc>
                <a:tc>
                  <a:txBody>
                    <a:bodyPr wrap="square"/>
                    <a:lstStyle/>
                    <a:p>
                      <a:pPr algn="ctr"/>
                      <a:r>
                        <a:rPr sz="1200" b="0" i="0">
                          <a:solidFill>
                            <a:srgbClr val="222222"/>
                          </a:solidFill>
                          <a:latin typeface="Arial"/>
                        </a:rPr>
                        <a:t>0.357</a:t>
                      </a:r>
                    </a:p>
                  </a:txBody>
                  <a:tcPr marL="54864" marR="54864" marT="18288" marB="18288" anchor="ctr">
                    <a:solidFill>
                      <a:srgbClr val="DDE3EA"/>
                    </a:solidFill>
                  </a:tcPr>
                </a:tc>
                <a:tc>
                  <a:txBody>
                    <a:bodyPr wrap="square"/>
                    <a:lstStyle/>
                    <a:p>
                      <a:pPr algn="ctr"/>
                      <a:r>
                        <a:rPr sz="1200" b="0" i="0">
                          <a:solidFill>
                            <a:srgbClr val="222222"/>
                          </a:solidFill>
                          <a:latin typeface="Arial"/>
                        </a:rPr>
                        <a:t>2.22</a:t>
                      </a:r>
                    </a:p>
                  </a:txBody>
                  <a:tcPr marL="54864" marR="54864" marT="18288" marB="18288" anchor="ctr">
                    <a:solidFill>
                      <a:srgbClr val="DDE3EA"/>
                    </a:solidFill>
                  </a:tcPr>
                </a:tc>
              </a:tr>
              <a:tr h="329184">
                <a:tc>
                  <a:txBody>
                    <a:bodyPr wrap="square"/>
                    <a:lstStyle/>
                    <a:p>
                      <a:pPr algn="l"/>
                      <a:r>
                        <a:rPr sz="1200" b="0" i="0">
                          <a:solidFill>
                            <a:srgbClr val="222222"/>
                          </a:solidFill>
                          <a:latin typeface="Arial"/>
                        </a:rPr>
                        <a:t>125 nm</a:t>
                      </a:r>
                    </a:p>
                  </a:txBody>
                  <a:tcPr marL="54864" marR="54864" marT="18288" marB="18288" anchor="ctr">
                    <a:solidFill>
                      <a:srgbClr val="F4F6F9"/>
                    </a:solidFill>
                  </a:tcPr>
                </a:tc>
                <a:tc>
                  <a:txBody>
                    <a:bodyPr wrap="square"/>
                    <a:lstStyle/>
                    <a:p>
                      <a:pPr algn="ctr"/>
                      <a:r>
                        <a:rPr sz="1200" b="0" i="0">
                          <a:solidFill>
                            <a:srgbClr val="222222"/>
                          </a:solidFill>
                          <a:latin typeface="Arial"/>
                        </a:rPr>
                        <a:t>4.2</a:t>
                      </a:r>
                    </a:p>
                  </a:txBody>
                  <a:tcPr marL="54864" marR="54864" marT="18288" marB="18288" anchor="ctr">
                    <a:solidFill>
                      <a:srgbClr val="F4F6F9"/>
                    </a:solidFill>
                  </a:tcPr>
                </a:tc>
                <a:tc>
                  <a:txBody>
                    <a:bodyPr wrap="square"/>
                    <a:lstStyle/>
                    <a:p>
                      <a:pPr algn="ctr"/>
                      <a:r>
                        <a:rPr sz="1200" b="0" i="0">
                          <a:solidFill>
                            <a:srgbClr val="222222"/>
                          </a:solidFill>
                          <a:latin typeface="Arial"/>
                        </a:rPr>
                        <a:t>0.000585</a:t>
                      </a:r>
                    </a:p>
                  </a:txBody>
                  <a:tcPr marL="54864" marR="54864" marT="18288" marB="18288" anchor="ctr">
                    <a:solidFill>
                      <a:srgbClr val="F4F6F9"/>
                    </a:solidFill>
                  </a:tcPr>
                </a:tc>
                <a:tc>
                  <a:txBody>
                    <a:bodyPr wrap="square"/>
                    <a:lstStyle/>
                    <a:p>
                      <a:pPr algn="ctr"/>
                      <a:r>
                        <a:rPr sz="1200" b="0" i="0">
                          <a:solidFill>
                            <a:srgbClr val="222222"/>
                          </a:solidFill>
                          <a:latin typeface="Arial"/>
                        </a:rPr>
                        <a:t>3.43</a:t>
                      </a:r>
                    </a:p>
                  </a:txBody>
                  <a:tcPr marL="54864" marR="54864" marT="18288" marB="18288" anchor="ctr">
                    <a:solidFill>
                      <a:srgbClr val="F4F6F9"/>
                    </a:solidFill>
                  </a:tcPr>
                </a:tc>
              </a:tr>
              <a:tr h="329184">
                <a:tc>
                  <a:txBody>
                    <a:bodyPr wrap="square"/>
                    <a:lstStyle/>
                    <a:p>
                      <a:pPr algn="l"/>
                      <a:r>
                        <a:rPr sz="1200" b="0" i="0">
                          <a:solidFill>
                            <a:srgbClr val="222222"/>
                          </a:solidFill>
                          <a:latin typeface="Arial"/>
                        </a:rPr>
                        <a:t>125 nm</a:t>
                      </a:r>
                    </a:p>
                  </a:txBody>
                  <a:tcPr marL="54864" marR="54864" marT="18288" marB="18288" anchor="ctr">
                    <a:solidFill>
                      <a:srgbClr val="DDE3EA"/>
                    </a:solidFill>
                  </a:tcPr>
                </a:tc>
                <a:tc>
                  <a:txBody>
                    <a:bodyPr wrap="square"/>
                    <a:lstStyle/>
                    <a:p>
                      <a:pPr algn="ctr"/>
                      <a:r>
                        <a:rPr sz="1200" b="0" i="0">
                          <a:solidFill>
                            <a:srgbClr val="222222"/>
                          </a:solidFill>
                          <a:latin typeface="Arial"/>
                        </a:rPr>
                        <a:t>3.6</a:t>
                      </a:r>
                    </a:p>
                  </a:txBody>
                  <a:tcPr marL="54864" marR="54864" marT="18288" marB="18288" anchor="ctr">
                    <a:solidFill>
                      <a:srgbClr val="DDE3EA"/>
                    </a:solidFill>
                  </a:tcPr>
                </a:tc>
                <a:tc>
                  <a:txBody>
                    <a:bodyPr wrap="square"/>
                    <a:lstStyle/>
                    <a:p>
                      <a:pPr algn="ctr"/>
                      <a:r>
                        <a:rPr sz="1200" b="0" i="0">
                          <a:solidFill>
                            <a:srgbClr val="222222"/>
                          </a:solidFill>
                          <a:latin typeface="Arial"/>
                        </a:rPr>
                        <a:t>0.011</a:t>
                      </a:r>
                    </a:p>
                  </a:txBody>
                  <a:tcPr marL="54864" marR="54864" marT="18288" marB="18288" anchor="ctr">
                    <a:solidFill>
                      <a:srgbClr val="DDE3EA"/>
                    </a:solidFill>
                  </a:tcPr>
                </a:tc>
                <a:tc>
                  <a:txBody>
                    <a:bodyPr wrap="square"/>
                    <a:lstStyle/>
                    <a:p>
                      <a:pPr algn="ctr"/>
                      <a:r>
                        <a:rPr sz="1200" b="0" i="0">
                          <a:solidFill>
                            <a:srgbClr val="222222"/>
                          </a:solidFill>
                          <a:latin typeface="Arial"/>
                        </a:rPr>
                        <a:t>2.81</a:t>
                      </a:r>
                    </a:p>
                  </a:txBody>
                  <a:tcPr marL="54864" marR="54864" marT="18288" marB="18288" anchor="ctr">
                    <a:solidFill>
                      <a:srgbClr val="DDE3EA"/>
                    </a:solidFill>
                  </a:tcPr>
                </a:tc>
              </a:tr>
              <a:tr h="329184">
                <a:tc>
                  <a:txBody>
                    <a:bodyPr wrap="square"/>
                    <a:lstStyle/>
                    <a:p>
                      <a:pPr algn="l"/>
                      <a:r>
                        <a:rPr sz="1200" b="0" i="0">
                          <a:solidFill>
                            <a:srgbClr val="222222"/>
                          </a:solidFill>
                          <a:latin typeface="Arial"/>
                        </a:rPr>
                        <a:t>125 nm</a:t>
                      </a:r>
                    </a:p>
                  </a:txBody>
                  <a:tcPr marL="54864" marR="54864" marT="18288" marB="18288" anchor="ctr">
                    <a:solidFill>
                      <a:srgbClr val="F4F6F9"/>
                    </a:solidFill>
                  </a:tcPr>
                </a:tc>
                <a:tc>
                  <a:txBody>
                    <a:bodyPr wrap="square"/>
                    <a:lstStyle/>
                    <a:p>
                      <a:pPr algn="ctr"/>
                      <a:r>
                        <a:rPr sz="1200" b="0" i="0">
                          <a:solidFill>
                            <a:srgbClr val="222222"/>
                          </a:solidFill>
                          <a:latin typeface="Arial"/>
                        </a:rPr>
                        <a:t>3.2</a:t>
                      </a:r>
                    </a:p>
                  </a:txBody>
                  <a:tcPr marL="54864" marR="54864" marT="18288" marB="18288" anchor="ctr">
                    <a:solidFill>
                      <a:srgbClr val="F4F6F9"/>
                    </a:solidFill>
                  </a:tcPr>
                </a:tc>
                <a:tc>
                  <a:txBody>
                    <a:bodyPr wrap="square"/>
                    <a:lstStyle/>
                    <a:p>
                      <a:pPr algn="ctr"/>
                      <a:r>
                        <a:rPr sz="1200" b="0" i="0">
                          <a:solidFill>
                            <a:srgbClr val="222222"/>
                          </a:solidFill>
                          <a:latin typeface="Arial"/>
                        </a:rPr>
                        <a:t>0.0801</a:t>
                      </a:r>
                    </a:p>
                  </a:txBody>
                  <a:tcPr marL="54864" marR="54864" marT="18288" marB="18288" anchor="ctr">
                    <a:solidFill>
                      <a:srgbClr val="F4F6F9"/>
                    </a:solidFill>
                  </a:tcPr>
                </a:tc>
                <a:tc>
                  <a:txBody>
                    <a:bodyPr wrap="square"/>
                    <a:lstStyle/>
                    <a:p>
                      <a:pPr algn="ctr"/>
                      <a:r>
                        <a:rPr sz="1200" b="0" i="0">
                          <a:solidFill>
                            <a:srgbClr val="222222"/>
                          </a:solidFill>
                          <a:latin typeface="Arial"/>
                        </a:rPr>
                        <a:t>2.40</a:t>
                      </a:r>
                    </a:p>
                  </a:txBody>
                  <a:tcPr marL="54864" marR="54864" marT="18288" marB="18288" anchor="ctr">
                    <a:solidFill>
                      <a:srgbClr val="F4F6F9"/>
                    </a:solidFill>
                  </a:tcPr>
                </a:tc>
              </a:tr>
              <a:tr h="329184">
                <a:tc>
                  <a:txBody>
                    <a:bodyPr wrap="square"/>
                    <a:lstStyle/>
                    <a:p>
                      <a:pPr algn="l"/>
                      <a:r>
                        <a:rPr sz="1200" b="0" i="0">
                          <a:solidFill>
                            <a:srgbClr val="222222"/>
                          </a:solidFill>
                          <a:latin typeface="Arial"/>
                        </a:rPr>
                        <a:t>buffered 200 nm</a:t>
                      </a:r>
                    </a:p>
                  </a:txBody>
                  <a:tcPr marL="54864" marR="54864" marT="18288" marB="18288" anchor="ctr">
                    <a:solidFill>
                      <a:srgbClr val="FDE9D9"/>
                    </a:solidFill>
                  </a:tcPr>
                </a:tc>
                <a:tc>
                  <a:txBody>
                    <a:bodyPr wrap="square"/>
                    <a:lstStyle/>
                    <a:p>
                      <a:pPr algn="ctr"/>
                      <a:r>
                        <a:rPr sz="1200" b="0" i="0">
                          <a:solidFill>
                            <a:srgbClr val="222222"/>
                          </a:solidFill>
                          <a:latin typeface="Arial"/>
                        </a:rPr>
                        <a:t>3.2</a:t>
                      </a:r>
                    </a:p>
                  </a:txBody>
                  <a:tcPr marL="54864" marR="54864" marT="18288" marB="18288" anchor="ctr">
                    <a:solidFill>
                      <a:srgbClr val="FDE9D9"/>
                    </a:solidFill>
                  </a:tcPr>
                </a:tc>
                <a:tc>
                  <a:txBody>
                    <a:bodyPr wrap="square"/>
                    <a:lstStyle/>
                    <a:p>
                      <a:pPr algn="ctr"/>
                      <a:r>
                        <a:rPr sz="1200" b="0" i="0">
                          <a:solidFill>
                            <a:srgbClr val="222222"/>
                          </a:solidFill>
                          <a:latin typeface="Arial"/>
                        </a:rPr>
                        <a:t>0.049</a:t>
                      </a:r>
                    </a:p>
                  </a:txBody>
                  <a:tcPr marL="54864" marR="54864" marT="18288" marB="18288" anchor="ctr">
                    <a:solidFill>
                      <a:srgbClr val="FDE9D9"/>
                    </a:solidFill>
                  </a:tcPr>
                </a:tc>
                <a:tc>
                  <a:txBody>
                    <a:bodyPr wrap="square"/>
                    <a:lstStyle/>
                    <a:p>
                      <a:pPr algn="ctr"/>
                      <a:r>
                        <a:rPr sz="1200" b="0" i="0">
                          <a:solidFill>
                            <a:srgbClr val="222222"/>
                          </a:solidFill>
                          <a:latin typeface="Arial"/>
                        </a:rPr>
                        <a:t>2.15</a:t>
                      </a:r>
                    </a:p>
                  </a:txBody>
                  <a:tcPr marL="54864" marR="54864" marT="18288" marB="18288" anchor="ctr">
                    <a:solidFill>
                      <a:srgbClr val="FDE9D9"/>
                    </a:solidFill>
                  </a:tcPr>
                </a:tc>
              </a:tr>
            </a:tbl>
          </a:graphicData>
        </a:graphic>
      </p:graphicFrame>
      <p:sp>
        <p:nvSpPr>
          <p:cNvPr id="6" name="TextBox 5"/>
          <p:cNvSpPr txBox="1"/>
          <p:nvPr/>
        </p:nvSpPr>
        <p:spPr>
          <a:xfrm>
            <a:off x="6537960" y="5495544"/>
            <a:ext cx="5257800" cy="1097280"/>
          </a:xfrm>
          <a:prstGeom prst="rect">
            <a:avLst/>
          </a:prstGeom>
          <a:noFill/>
        </p:spPr>
        <p:txBody>
          <a:bodyPr wrap="square" lIns="45720" rIns="45720" tIns="27432" bIns="27432" anchor="t">
            <a:spAutoFit/>
          </a:bodyPr>
          <a:lstStyle/>
          <a:p>
            <a:pPr algn="l">
              <a:spcAft>
                <a:spcPts val="600"/>
              </a:spcAft>
            </a:pPr>
            <a:r>
              <a:rPr sz="1300" b="0" i="0">
                <a:solidFill>
                  <a:srgbClr val="222222"/>
                </a:solidFill>
                <a:latin typeface="Arial"/>
              </a:rPr>
              <a:t>Ripple gone at ≤ 150 nm, but the thin slab weakens the EO overlap: Vπ·L +30 … +50 %</a:t>
            </a:r>
          </a:p>
          <a:p>
            <a:pPr algn="l">
              <a:spcAft>
                <a:spcPts val="600"/>
              </a:spcAft>
            </a:pPr>
            <a:r>
              <a:rPr sz="1300" b="0" i="0">
                <a:solidFill>
                  <a:srgbClr val="222222"/>
                </a:solidFill>
                <a:latin typeface="Arial"/>
              </a:rPr>
              <a:t>Narrowing the gap brings the gold onto the rib mode: IL rises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Option B: partial second etch outside slab_w</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Rib and 275 nm slab untouched; 125 nm LN left from slab_w outward; gap 4.2 µm</a:t>
            </a:r>
          </a:p>
        </p:txBody>
      </p:sp>
      <p:pic>
        <p:nvPicPr>
          <p:cNvPr id="4" name="Picture 3" descr="geom_partial.png"/>
          <p:cNvPicPr>
            <a:picLocks noChangeAspect="1"/>
          </p:cNvPicPr>
          <p:nvPr/>
        </p:nvPicPr>
        <p:blipFill>
          <a:blip r:embed="rId2"/>
          <a:stretch>
            <a:fillRect/>
          </a:stretch>
        </p:blipFill>
        <p:spPr>
          <a:xfrm>
            <a:off x="502920" y="1691640"/>
            <a:ext cx="5120640" cy="1333631"/>
          </a:xfrm>
          <a:prstGeom prst="rect">
            <a:avLst/>
          </a:prstGeom>
        </p:spPr>
      </p:pic>
      <p:graphicFrame>
        <p:nvGraphicFramePr>
          <p:cNvPr id="5" name="Chart 4"/>
          <p:cNvGraphicFramePr>
            <a:graphicFrameLocks noGrp="1"/>
          </p:cNvGraphicFramePr>
          <p:nvPr/>
        </p:nvGraphicFramePr>
        <p:xfrm>
          <a:off x="411480" y="3154680"/>
          <a:ext cx="5486400" cy="3429000"/>
        </p:xfrm>
        <a:graphic>
          <a:graphicData uri="http://schemas.openxmlformats.org/drawingml/2006/chart">
            <c:chart xmlns:c="http://schemas.openxmlformats.org/drawingml/2006/chart" r:id="rId3"/>
          </a:graphicData>
        </a:graphic>
      </p:graphicFrame>
      <p:sp>
        <p:nvSpPr>
          <p:cNvPr id="6" name="TextBox 5"/>
          <p:cNvSpPr txBox="1"/>
          <p:nvPr/>
        </p:nvSpPr>
        <p:spPr>
          <a:xfrm>
            <a:off x="1417320" y="3520440"/>
            <a:ext cx="2743200" cy="320040"/>
          </a:xfrm>
          <a:prstGeom prst="rect">
            <a:avLst/>
          </a:prstGeom>
          <a:noFill/>
        </p:spPr>
        <p:txBody>
          <a:bodyPr wrap="square" lIns="45720" rIns="45720" tIns="27432" bIns="27432" anchor="t">
            <a:spAutoFit/>
          </a:bodyPr>
          <a:lstStyle/>
          <a:p>
            <a:pPr algn="l">
              <a:spcAft>
                <a:spcPts val="600"/>
              </a:spcAft>
            </a:pPr>
            <a:r>
              <a:rPr sz="1150" b="0" i="0">
                <a:solidFill>
                  <a:srgbClr val="595959"/>
                </a:solidFill>
                <a:latin typeface="Arial"/>
              </a:rPr>
              <a:t>step in the gap</a:t>
            </a:r>
          </a:p>
        </p:txBody>
      </p:sp>
      <p:sp>
        <p:nvSpPr>
          <p:cNvPr id="7" name="TextBox 6"/>
          <p:cNvSpPr txBox="1"/>
          <p:nvPr/>
        </p:nvSpPr>
        <p:spPr>
          <a:xfrm>
            <a:off x="4023360" y="3520440"/>
            <a:ext cx="2011680" cy="320040"/>
          </a:xfrm>
          <a:prstGeom prst="rect">
            <a:avLst/>
          </a:prstGeom>
          <a:noFill/>
        </p:spPr>
        <p:txBody>
          <a:bodyPr wrap="square" lIns="45720" rIns="45720" tIns="27432" bIns="27432" anchor="t">
            <a:spAutoFit/>
          </a:bodyPr>
          <a:lstStyle/>
          <a:p>
            <a:pPr algn="l">
              <a:spcAft>
                <a:spcPts val="600"/>
              </a:spcAft>
            </a:pPr>
            <a:r>
              <a:rPr sz="1150" b="0" i="0">
                <a:solidFill>
                  <a:srgbClr val="EB6834"/>
                </a:solidFill>
                <a:latin typeface="Arial"/>
              </a:rPr>
              <a:t>step under the gold</a:t>
            </a:r>
          </a:p>
        </p:txBody>
      </p:sp>
      <p:graphicFrame>
        <p:nvGraphicFramePr>
          <p:cNvPr id="8" name="Table 7"/>
          <p:cNvGraphicFramePr>
            <a:graphicFrameLocks noGrp="1"/>
          </p:cNvGraphicFramePr>
          <p:nvPr/>
        </p:nvGraphicFramePr>
        <p:xfrm>
          <a:off x="6263640" y="1691640"/>
          <a:ext cx="5532120" cy="3730752"/>
        </p:xfrm>
        <a:graphic>
          <a:graphicData uri="http://schemas.openxmlformats.org/drawingml/2006/table">
            <a:tbl>
              <a:tblPr firstRow="1" bandRow="1"/>
              <a:tblGrid>
                <a:gridCol w="3246120"/>
                <a:gridCol w="1143000"/>
                <a:gridCol w="1143000"/>
              </a:tblGrid>
              <a:tr h="310896">
                <a:tc>
                  <a:txBody>
                    <a:bodyPr wrap="square"/>
                    <a:lstStyle/>
                    <a:p>
                      <a:pPr algn="l"/>
                      <a:r>
                        <a:rPr sz="1150" b="1" i="0">
                          <a:solidFill>
                            <a:srgbClr val="FFFFFF"/>
                          </a:solidFill>
                          <a:latin typeface="Arial"/>
                        </a:rPr>
                        <a:t>case</a:t>
                      </a:r>
                    </a:p>
                  </a:txBody>
                  <a:tcPr marL="54864" marR="54864" marT="18288" marB="18288" anchor="ctr">
                    <a:solidFill>
                      <a:srgbClr val="1F4E79"/>
                    </a:solidFill>
                  </a:tcPr>
                </a:tc>
                <a:tc>
                  <a:txBody>
                    <a:bodyPr wrap="square"/>
                    <a:lstStyle/>
                    <a:p>
                      <a:pPr algn="ctr"/>
                      <a:r>
                        <a:rPr sz="1150" b="1" i="0">
                          <a:solidFill>
                            <a:srgbClr val="FFFFFF"/>
                          </a:solidFill>
                          <a:latin typeface="Arial"/>
                        </a:rPr>
                        <a:t>IL (dB/cm)</a:t>
                      </a:r>
                    </a:p>
                  </a:txBody>
                  <a:tcPr marL="54864" marR="54864" marT="18288" marB="18288" anchor="ctr">
                    <a:solidFill>
                      <a:srgbClr val="1F4E79"/>
                    </a:solidFill>
                  </a:tcPr>
                </a:tc>
                <a:tc>
                  <a:txBody>
                    <a:bodyPr wrap="square"/>
                    <a:lstStyle/>
                    <a:p>
                      <a:pPr algn="ctr"/>
                      <a:r>
                        <a:rPr sz="1150" b="1" i="0">
                          <a:solidFill>
                            <a:srgbClr val="FFFFFF"/>
                          </a:solidFill>
                          <a:latin typeface="Arial"/>
                        </a:rPr>
                        <a:t>Vπ·L (V·cm)</a:t>
                      </a:r>
                    </a:p>
                  </a:txBody>
                  <a:tcPr marL="54864" marR="54864" marT="18288" marB="18288" anchor="ctr">
                    <a:solidFill>
                      <a:srgbClr val="1F4E79"/>
                    </a:solidFill>
                  </a:tcPr>
                </a:tc>
              </a:tr>
              <a:tr h="310896">
                <a:tc>
                  <a:txBody>
                    <a:bodyPr wrap="square"/>
                    <a:lstStyle/>
                    <a:p>
                      <a:pPr algn="l"/>
                      <a:r>
                        <a:rPr sz="1150" b="0" i="0">
                          <a:solidFill>
                            <a:srgbClr val="222222"/>
                          </a:solidFill>
                          <a:latin typeface="Arial"/>
                        </a:rPr>
                        <a:t>slab_w 3.2 (step 0.5 µm before gold)</a:t>
                      </a:r>
                    </a:p>
                  </a:txBody>
                  <a:tcPr marL="54864" marR="54864" marT="18288" marB="18288" anchor="ctr">
                    <a:solidFill>
                      <a:srgbClr val="F4F6F9"/>
                    </a:solidFill>
                  </a:tcPr>
                </a:tc>
                <a:tc>
                  <a:txBody>
                    <a:bodyPr wrap="square"/>
                    <a:lstStyle/>
                    <a:p>
                      <a:pPr algn="ctr"/>
                      <a:r>
                        <a:rPr sz="1150" b="0" i="0">
                          <a:solidFill>
                            <a:srgbClr val="222222"/>
                          </a:solidFill>
                          <a:latin typeface="Arial"/>
                        </a:rPr>
                        <a:t>0.00794</a:t>
                      </a:r>
                    </a:p>
                  </a:txBody>
                  <a:tcPr marL="54864" marR="54864" marT="18288" marB="18288" anchor="ctr">
                    <a:solidFill>
                      <a:srgbClr val="F4F6F9"/>
                    </a:solidFill>
                  </a:tcPr>
                </a:tc>
                <a:tc>
                  <a:txBody>
                    <a:bodyPr wrap="square"/>
                    <a:lstStyle/>
                    <a:p>
                      <a:pPr algn="ctr"/>
                      <a:r>
                        <a:rPr sz="1150" b="0" i="0">
                          <a:solidFill>
                            <a:srgbClr val="222222"/>
                          </a:solidFill>
                          <a:latin typeface="Arial"/>
                        </a:rPr>
                        <a:t>2.69</a:t>
                      </a:r>
                    </a:p>
                  </a:txBody>
                  <a:tcPr marL="54864" marR="54864" marT="18288" marB="18288" anchor="ctr">
                    <a:solidFill>
                      <a:srgbClr val="F4F6F9"/>
                    </a:solidFill>
                  </a:tcPr>
                </a:tc>
              </a:tr>
              <a:tr h="310896">
                <a:tc>
                  <a:txBody>
                    <a:bodyPr wrap="square"/>
                    <a:lstStyle/>
                    <a:p>
                      <a:pPr algn="l"/>
                      <a:r>
                        <a:rPr sz="1150" b="0" i="0">
                          <a:solidFill>
                            <a:srgbClr val="222222"/>
                          </a:solidFill>
                          <a:latin typeface="Arial"/>
                        </a:rPr>
                        <a:t>slab_w 3.6 (step 0.3 µm before gold)</a:t>
                      </a:r>
                    </a:p>
                  </a:txBody>
                  <a:tcPr marL="54864" marR="54864" marT="18288" marB="18288" anchor="ctr">
                    <a:solidFill>
                      <a:srgbClr val="DDE3EA"/>
                    </a:solidFill>
                  </a:tcPr>
                </a:tc>
                <a:tc>
                  <a:txBody>
                    <a:bodyPr wrap="square"/>
                    <a:lstStyle/>
                    <a:p>
                      <a:pPr algn="ctr"/>
                      <a:r>
                        <a:rPr sz="1150" b="0" i="0">
                          <a:solidFill>
                            <a:srgbClr val="222222"/>
                          </a:solidFill>
                          <a:latin typeface="Arial"/>
                        </a:rPr>
                        <a:t>0.0176</a:t>
                      </a:r>
                    </a:p>
                  </a:txBody>
                  <a:tcPr marL="54864" marR="54864" marT="18288" marB="18288" anchor="ctr">
                    <a:solidFill>
                      <a:srgbClr val="DDE3EA"/>
                    </a:solidFill>
                  </a:tcPr>
                </a:tc>
                <a:tc>
                  <a:txBody>
                    <a:bodyPr wrap="square"/>
                    <a:lstStyle/>
                    <a:p>
                      <a:pPr algn="ctr"/>
                      <a:r>
                        <a:rPr sz="1150" b="0" i="0">
                          <a:solidFill>
                            <a:srgbClr val="222222"/>
                          </a:solidFill>
                          <a:latin typeface="Arial"/>
                        </a:rPr>
                        <a:t>2.54</a:t>
                      </a:r>
                    </a:p>
                  </a:txBody>
                  <a:tcPr marL="54864" marR="54864" marT="18288" marB="18288" anchor="ctr">
                    <a:solidFill>
                      <a:srgbClr val="DDE3EA"/>
                    </a:solidFill>
                  </a:tcPr>
                </a:tc>
              </a:tr>
              <a:tr h="310896">
                <a:tc>
                  <a:txBody>
                    <a:bodyPr wrap="square"/>
                    <a:lstStyle/>
                    <a:p>
                      <a:pPr algn="l"/>
                      <a:r>
                        <a:rPr sz="1150" b="0" i="0">
                          <a:solidFill>
                            <a:srgbClr val="222222"/>
                          </a:solidFill>
                          <a:latin typeface="Arial"/>
                        </a:rPr>
                        <a:t>slab_w 4.0 (step 0.1 µm before gold)</a:t>
                      </a:r>
                    </a:p>
                  </a:txBody>
                  <a:tcPr marL="54864" marR="54864" marT="18288" marB="18288" anchor="ctr">
                    <a:solidFill>
                      <a:srgbClr val="F4F6F9"/>
                    </a:solidFill>
                  </a:tcPr>
                </a:tc>
                <a:tc>
                  <a:txBody>
                    <a:bodyPr wrap="square"/>
                    <a:lstStyle/>
                    <a:p>
                      <a:pPr algn="ctr"/>
                      <a:r>
                        <a:rPr sz="1150" b="0" i="0">
                          <a:solidFill>
                            <a:srgbClr val="222222"/>
                          </a:solidFill>
                          <a:latin typeface="Arial"/>
                        </a:rPr>
                        <a:t>0.0594</a:t>
                      </a:r>
                    </a:p>
                  </a:txBody>
                  <a:tcPr marL="54864" marR="54864" marT="18288" marB="18288" anchor="ctr">
                    <a:solidFill>
                      <a:srgbClr val="F4F6F9"/>
                    </a:solidFill>
                  </a:tcPr>
                </a:tc>
                <a:tc>
                  <a:txBody>
                    <a:bodyPr wrap="square"/>
                    <a:lstStyle/>
                    <a:p>
                      <a:pPr algn="ctr"/>
                      <a:r>
                        <a:rPr sz="1150" b="0" i="0">
                          <a:solidFill>
                            <a:srgbClr val="222222"/>
                          </a:solidFill>
                          <a:latin typeface="Arial"/>
                        </a:rPr>
                        <a:t>2.38</a:t>
                      </a:r>
                    </a:p>
                  </a:txBody>
                  <a:tcPr marL="54864" marR="54864" marT="18288" marB="18288" anchor="ctr">
                    <a:solidFill>
                      <a:srgbClr val="F4F6F9"/>
                    </a:solidFill>
                  </a:tcPr>
                </a:tc>
              </a:tr>
              <a:tr h="310896">
                <a:tc>
                  <a:txBody>
                    <a:bodyPr wrap="square"/>
                    <a:lstStyle/>
                    <a:p>
                      <a:pPr algn="l"/>
                      <a:r>
                        <a:rPr sz="1150" b="0" i="0">
                          <a:solidFill>
                            <a:srgbClr val="222222"/>
                          </a:solidFill>
                          <a:latin typeface="Arial"/>
                        </a:rPr>
                        <a:t>150 nm left, slab_w 3.6</a:t>
                      </a:r>
                    </a:p>
                  </a:txBody>
                  <a:tcPr marL="54864" marR="54864" marT="18288" marB="18288" anchor="ctr">
                    <a:solidFill>
                      <a:srgbClr val="DDE3EA"/>
                    </a:solidFill>
                  </a:tcPr>
                </a:tc>
                <a:tc>
                  <a:txBody>
                    <a:bodyPr wrap="square"/>
                    <a:lstStyle/>
                    <a:p>
                      <a:pPr algn="ctr"/>
                      <a:r>
                        <a:rPr sz="1150" b="0" i="0">
                          <a:solidFill>
                            <a:srgbClr val="222222"/>
                          </a:solidFill>
                          <a:latin typeface="Arial"/>
                        </a:rPr>
                        <a:t>0.0552</a:t>
                      </a:r>
                    </a:p>
                  </a:txBody>
                  <a:tcPr marL="54864" marR="54864" marT="18288" marB="18288" anchor="ctr">
                    <a:solidFill>
                      <a:srgbClr val="DDE3EA"/>
                    </a:solidFill>
                  </a:tcPr>
                </a:tc>
                <a:tc>
                  <a:txBody>
                    <a:bodyPr wrap="square"/>
                    <a:lstStyle/>
                    <a:p>
                      <a:pPr algn="ctr"/>
                      <a:r>
                        <a:rPr sz="1150" b="0" i="0">
                          <a:solidFill>
                            <a:srgbClr val="222222"/>
                          </a:solidFill>
                          <a:latin typeface="Arial"/>
                        </a:rPr>
                        <a:t>2.47</a:t>
                      </a:r>
                    </a:p>
                  </a:txBody>
                  <a:tcPr marL="54864" marR="54864" marT="18288" marB="18288" anchor="ctr">
                    <a:solidFill>
                      <a:srgbClr val="DDE3EA"/>
                    </a:solidFill>
                  </a:tcPr>
                </a:tc>
              </a:tr>
              <a:tr h="310896">
                <a:tc>
                  <a:txBody>
                    <a:bodyPr wrap="square"/>
                    <a:lstStyle/>
                    <a:p>
                      <a:pPr algn="l"/>
                      <a:r>
                        <a:rPr sz="1150" b="0" i="0">
                          <a:solidFill>
                            <a:srgbClr val="222222"/>
                          </a:solidFill>
                          <a:latin typeface="Arial"/>
                        </a:rPr>
                        <a:t>gap 3.2, slab_w 2.6, 100 nm left</a:t>
                      </a:r>
                    </a:p>
                  </a:txBody>
                  <a:tcPr marL="54864" marR="54864" marT="18288" marB="18288" anchor="ctr">
                    <a:solidFill>
                      <a:srgbClr val="F4F6F9"/>
                    </a:solidFill>
                  </a:tcPr>
                </a:tc>
                <a:tc>
                  <a:txBody>
                    <a:bodyPr wrap="square"/>
                    <a:lstStyle/>
                    <a:p>
                      <a:pPr algn="ctr"/>
                      <a:r>
                        <a:rPr sz="1150" b="0" i="0">
                          <a:solidFill>
                            <a:srgbClr val="222222"/>
                          </a:solidFill>
                          <a:latin typeface="Arial"/>
                        </a:rPr>
                        <a:t>0.208</a:t>
                      </a:r>
                    </a:p>
                  </a:txBody>
                  <a:tcPr marL="54864" marR="54864" marT="18288" marB="18288" anchor="ctr">
                    <a:solidFill>
                      <a:srgbClr val="F4F6F9"/>
                    </a:solidFill>
                  </a:tcPr>
                </a:tc>
                <a:tc>
                  <a:txBody>
                    <a:bodyPr wrap="square"/>
                    <a:lstStyle/>
                    <a:p>
                      <a:pPr algn="ctr"/>
                      <a:r>
                        <a:rPr sz="1150" b="0" i="0">
                          <a:solidFill>
                            <a:srgbClr val="222222"/>
                          </a:solidFill>
                          <a:latin typeface="Arial"/>
                        </a:rPr>
                        <a:t>2.03</a:t>
                      </a:r>
                    </a:p>
                  </a:txBody>
                  <a:tcPr marL="54864" marR="54864" marT="18288" marB="18288" anchor="ctr">
                    <a:solidFill>
                      <a:srgbClr val="F4F6F9"/>
                    </a:solidFill>
                  </a:tcPr>
                </a:tc>
              </a:tr>
              <a:tr h="310896">
                <a:tc>
                  <a:txBody>
                    <a:bodyPr wrap="square"/>
                    <a:lstStyle/>
                    <a:p>
                      <a:pPr algn="l"/>
                      <a:r>
                        <a:rPr sz="1150" b="0" i="0">
                          <a:solidFill>
                            <a:srgbClr val="222222"/>
                          </a:solidFill>
                          <a:latin typeface="Arial"/>
                        </a:rPr>
                        <a:t>gap 3.2, slab_w 2.6, 125 nm left</a:t>
                      </a:r>
                    </a:p>
                  </a:txBody>
                  <a:tcPr marL="54864" marR="54864" marT="18288" marB="18288" anchor="ctr">
                    <a:solidFill>
                      <a:srgbClr val="DDE3EA"/>
                    </a:solidFill>
                  </a:tcPr>
                </a:tc>
                <a:tc>
                  <a:txBody>
                    <a:bodyPr wrap="square"/>
                    <a:lstStyle/>
                    <a:p>
                      <a:pPr algn="ctr"/>
                      <a:r>
                        <a:rPr sz="1150" b="0" i="0">
                          <a:solidFill>
                            <a:srgbClr val="222222"/>
                          </a:solidFill>
                          <a:latin typeface="Arial"/>
                        </a:rPr>
                        <a:t>0.455</a:t>
                      </a:r>
                    </a:p>
                  </a:txBody>
                  <a:tcPr marL="54864" marR="54864" marT="18288" marB="18288" anchor="ctr">
                    <a:solidFill>
                      <a:srgbClr val="DDE3EA"/>
                    </a:solidFill>
                  </a:tcPr>
                </a:tc>
                <a:tc>
                  <a:txBody>
                    <a:bodyPr wrap="square"/>
                    <a:lstStyle/>
                    <a:p>
                      <a:pPr algn="ctr"/>
                      <a:r>
                        <a:rPr sz="1150" b="0" i="0">
                          <a:solidFill>
                            <a:srgbClr val="222222"/>
                          </a:solidFill>
                          <a:latin typeface="Arial"/>
                        </a:rPr>
                        <a:t>1.93</a:t>
                      </a:r>
                    </a:p>
                  </a:txBody>
                  <a:tcPr marL="54864" marR="54864" marT="18288" marB="18288" anchor="ctr">
                    <a:solidFill>
                      <a:srgbClr val="DDE3EA"/>
                    </a:solidFill>
                  </a:tcPr>
                </a:tc>
              </a:tr>
              <a:tr h="310896">
                <a:tc>
                  <a:txBody>
                    <a:bodyPr wrap="square"/>
                    <a:lstStyle/>
                    <a:p>
                      <a:pPr algn="l"/>
                      <a:r>
                        <a:rPr sz="1150" b="0" i="0">
                          <a:solidFill>
                            <a:srgbClr val="222222"/>
                          </a:solidFill>
                          <a:latin typeface="Arial"/>
                        </a:rPr>
                        <a:t>gap 3.2, slab_w 2.8, 125 nm left</a:t>
                      </a:r>
                    </a:p>
                  </a:txBody>
                  <a:tcPr marL="54864" marR="54864" marT="18288" marB="18288" anchor="ctr">
                    <a:solidFill>
                      <a:srgbClr val="F4F6F9"/>
                    </a:solidFill>
                  </a:tcPr>
                </a:tc>
                <a:tc>
                  <a:txBody>
                    <a:bodyPr wrap="square"/>
                    <a:lstStyle/>
                    <a:p>
                      <a:pPr algn="ctr"/>
                      <a:r>
                        <a:rPr sz="1150" b="0" i="0">
                          <a:solidFill>
                            <a:srgbClr val="222222"/>
                          </a:solidFill>
                          <a:latin typeface="Arial"/>
                        </a:rPr>
                        <a:t>0.75</a:t>
                      </a:r>
                    </a:p>
                  </a:txBody>
                  <a:tcPr marL="54864" marR="54864" marT="18288" marB="18288" anchor="ctr">
                    <a:solidFill>
                      <a:srgbClr val="F4F6F9"/>
                    </a:solidFill>
                  </a:tcPr>
                </a:tc>
                <a:tc>
                  <a:txBody>
                    <a:bodyPr wrap="square"/>
                    <a:lstStyle/>
                    <a:p>
                      <a:pPr algn="ctr"/>
                      <a:r>
                        <a:rPr sz="1150" b="0" i="0">
                          <a:solidFill>
                            <a:srgbClr val="222222"/>
                          </a:solidFill>
                          <a:latin typeface="Arial"/>
                        </a:rPr>
                        <a:t>1.85</a:t>
                      </a:r>
                    </a:p>
                  </a:txBody>
                  <a:tcPr marL="54864" marR="54864" marT="18288" marB="18288" anchor="ctr">
                    <a:solidFill>
                      <a:srgbClr val="F4F6F9"/>
                    </a:solidFill>
                  </a:tcPr>
                </a:tc>
              </a:tr>
              <a:tr h="310896">
                <a:tc>
                  <a:txBody>
                    <a:bodyPr wrap="square"/>
                    <a:lstStyle/>
                    <a:p>
                      <a:pPr algn="l"/>
                      <a:r>
                        <a:rPr sz="1150" b="0" i="0">
                          <a:solidFill>
                            <a:srgbClr val="222222"/>
                          </a:solidFill>
                          <a:latin typeface="Arial"/>
                        </a:rPr>
                        <a:t>gap 3.4, slab_w 2.8, 125 nm left</a:t>
                      </a:r>
                    </a:p>
                  </a:txBody>
                  <a:tcPr marL="54864" marR="54864" marT="18288" marB="18288" anchor="ctr">
                    <a:solidFill>
                      <a:srgbClr val="DDE3EA"/>
                    </a:solidFill>
                  </a:tcPr>
                </a:tc>
                <a:tc>
                  <a:txBody>
                    <a:bodyPr wrap="square"/>
                    <a:lstStyle/>
                    <a:p>
                      <a:pPr algn="ctr"/>
                      <a:r>
                        <a:rPr sz="1150" b="0" i="0">
                          <a:solidFill>
                            <a:srgbClr val="222222"/>
                          </a:solidFill>
                          <a:latin typeface="Arial"/>
                        </a:rPr>
                        <a:t>0.238</a:t>
                      </a:r>
                    </a:p>
                  </a:txBody>
                  <a:tcPr marL="54864" marR="54864" marT="18288" marB="18288" anchor="ctr">
                    <a:solidFill>
                      <a:srgbClr val="DDE3EA"/>
                    </a:solidFill>
                  </a:tcPr>
                </a:tc>
                <a:tc>
                  <a:txBody>
                    <a:bodyPr wrap="square"/>
                    <a:lstStyle/>
                    <a:p>
                      <a:pPr algn="ctr"/>
                      <a:r>
                        <a:rPr sz="1150" b="0" i="0">
                          <a:solidFill>
                            <a:srgbClr val="222222"/>
                          </a:solidFill>
                          <a:latin typeface="Arial"/>
                        </a:rPr>
                        <a:t>2.06</a:t>
                      </a:r>
                    </a:p>
                  </a:txBody>
                  <a:tcPr marL="54864" marR="54864" marT="18288" marB="18288" anchor="ctr">
                    <a:solidFill>
                      <a:srgbClr val="DDE3EA"/>
                    </a:solidFill>
                  </a:tcPr>
                </a:tc>
              </a:tr>
              <a:tr h="310896">
                <a:tc>
                  <a:txBody>
                    <a:bodyPr wrap="square"/>
                    <a:lstStyle/>
                    <a:p>
                      <a:pPr algn="l"/>
                      <a:r>
                        <a:rPr sz="1150" b="0" i="0">
                          <a:solidFill>
                            <a:srgbClr val="222222"/>
                          </a:solidFill>
                          <a:latin typeface="Arial"/>
                        </a:rPr>
                        <a:t>gap 3.6, slab_w 3.0, 100 nm left</a:t>
                      </a:r>
                    </a:p>
                  </a:txBody>
                  <a:tcPr marL="54864" marR="54864" marT="18288" marB="18288" anchor="ctr">
                    <a:solidFill>
                      <a:srgbClr val="F4F6F9"/>
                    </a:solidFill>
                  </a:tcPr>
                </a:tc>
                <a:tc>
                  <a:txBody>
                    <a:bodyPr wrap="square"/>
                    <a:lstStyle/>
                    <a:p>
                      <a:pPr algn="ctr"/>
                      <a:r>
                        <a:rPr sz="1150" b="0" i="0">
                          <a:solidFill>
                            <a:srgbClr val="222222"/>
                          </a:solidFill>
                          <a:latin typeface="Arial"/>
                        </a:rPr>
                        <a:t>0.0569</a:t>
                      </a:r>
                    </a:p>
                  </a:txBody>
                  <a:tcPr marL="54864" marR="54864" marT="18288" marB="18288" anchor="ctr">
                    <a:solidFill>
                      <a:srgbClr val="F4F6F9"/>
                    </a:solidFill>
                  </a:tcPr>
                </a:tc>
                <a:tc>
                  <a:txBody>
                    <a:bodyPr wrap="square"/>
                    <a:lstStyle/>
                    <a:p>
                      <a:pPr algn="ctr"/>
                      <a:r>
                        <a:rPr sz="1150" b="0" i="0">
                          <a:solidFill>
                            <a:srgbClr val="222222"/>
                          </a:solidFill>
                          <a:latin typeface="Arial"/>
                        </a:rPr>
                        <a:t>2.27</a:t>
                      </a:r>
                    </a:p>
                  </a:txBody>
                  <a:tcPr marL="54864" marR="54864" marT="18288" marB="18288" anchor="ctr">
                    <a:solidFill>
                      <a:srgbClr val="F4F6F9"/>
                    </a:solidFill>
                  </a:tcPr>
                </a:tc>
              </a:tr>
              <a:tr h="310896">
                <a:tc>
                  <a:txBody>
                    <a:bodyPr wrap="square"/>
                    <a:lstStyle/>
                    <a:p>
                      <a:pPr algn="l"/>
                      <a:r>
                        <a:rPr sz="1150" b="0" i="0">
                          <a:solidFill>
                            <a:srgbClr val="222222"/>
                          </a:solidFill>
                          <a:latin typeface="Arial"/>
                        </a:rPr>
                        <a:t>gap 3.6, slab_w 3.0, 125 nm left</a:t>
                      </a:r>
                    </a:p>
                  </a:txBody>
                  <a:tcPr marL="54864" marR="54864" marT="18288" marB="18288" anchor="ctr">
                    <a:solidFill>
                      <a:srgbClr val="DDE3EA"/>
                    </a:solidFill>
                  </a:tcPr>
                </a:tc>
                <a:tc>
                  <a:txBody>
                    <a:bodyPr wrap="square"/>
                    <a:lstStyle/>
                    <a:p>
                      <a:pPr algn="ctr"/>
                      <a:r>
                        <a:rPr sz="1150" b="0" i="0">
                          <a:solidFill>
                            <a:srgbClr val="222222"/>
                          </a:solidFill>
                          <a:latin typeface="Arial"/>
                        </a:rPr>
                        <a:t>0.124</a:t>
                      </a:r>
                    </a:p>
                  </a:txBody>
                  <a:tcPr marL="54864" marR="54864" marT="18288" marB="18288" anchor="ctr">
                    <a:solidFill>
                      <a:srgbClr val="DDE3EA"/>
                    </a:solidFill>
                  </a:tcPr>
                </a:tc>
                <a:tc>
                  <a:txBody>
                    <a:bodyPr wrap="square"/>
                    <a:lstStyle/>
                    <a:p>
                      <a:pPr algn="ctr"/>
                      <a:r>
                        <a:rPr sz="1150" b="0" i="0">
                          <a:solidFill>
                            <a:srgbClr val="222222"/>
                          </a:solidFill>
                          <a:latin typeface="Arial"/>
                        </a:rPr>
                        <a:t>2.18</a:t>
                      </a:r>
                    </a:p>
                  </a:txBody>
                  <a:tcPr marL="54864" marR="54864" marT="18288" marB="18288" anchor="ctr">
                    <a:solidFill>
                      <a:srgbClr val="DDE3EA"/>
                    </a:solidFill>
                  </a:tcPr>
                </a:tc>
              </a:tr>
              <a:tr h="310896">
                <a:tc>
                  <a:txBody>
                    <a:bodyPr wrap="square"/>
                    <a:lstStyle/>
                    <a:p>
                      <a:pPr algn="l"/>
                      <a:r>
                        <a:rPr sz="1150" b="0" i="0">
                          <a:solidFill>
                            <a:srgbClr val="222222"/>
                          </a:solidFill>
                          <a:latin typeface="Arial"/>
                        </a:rPr>
                        <a:t>buffered 200 nm, gap 3.2</a:t>
                      </a:r>
                    </a:p>
                  </a:txBody>
                  <a:tcPr marL="54864" marR="54864" marT="18288" marB="18288" anchor="ctr">
                    <a:solidFill>
                      <a:srgbClr val="FDE9D9"/>
                    </a:solidFill>
                  </a:tcPr>
                </a:tc>
                <a:tc>
                  <a:txBody>
                    <a:bodyPr wrap="square"/>
                    <a:lstStyle/>
                    <a:p>
                      <a:pPr algn="ctr"/>
                      <a:r>
                        <a:rPr sz="1150" b="0" i="0">
                          <a:solidFill>
                            <a:srgbClr val="222222"/>
                          </a:solidFill>
                          <a:latin typeface="Arial"/>
                        </a:rPr>
                        <a:t>0.049</a:t>
                      </a:r>
                    </a:p>
                  </a:txBody>
                  <a:tcPr marL="54864" marR="54864" marT="18288" marB="18288" anchor="ctr">
                    <a:solidFill>
                      <a:srgbClr val="FDE9D9"/>
                    </a:solidFill>
                  </a:tcPr>
                </a:tc>
                <a:tc>
                  <a:txBody>
                    <a:bodyPr wrap="square"/>
                    <a:lstStyle/>
                    <a:p>
                      <a:pPr algn="ctr"/>
                      <a:r>
                        <a:rPr sz="1150" b="0" i="0">
                          <a:solidFill>
                            <a:srgbClr val="222222"/>
                          </a:solidFill>
                          <a:latin typeface="Arial"/>
                        </a:rPr>
                        <a:t>2.15</a:t>
                      </a:r>
                    </a:p>
                  </a:txBody>
                  <a:tcPr marL="54864" marR="54864" marT="18288" marB="18288" anchor="ctr">
                    <a:solidFill>
                      <a:srgbClr val="FDE9D9"/>
                    </a:solidFill>
                  </a:tcPr>
                </a:tc>
              </a:tr>
            </a:tbl>
          </a:graphicData>
        </a:graphic>
      </p:graphicFrame>
      <p:sp>
        <p:nvSpPr>
          <p:cNvPr id="9" name="TextBox 8"/>
          <p:cNvSpPr txBox="1"/>
          <p:nvPr/>
        </p:nvSpPr>
        <p:spPr>
          <a:xfrm>
            <a:off x="6263640" y="5559552"/>
            <a:ext cx="5532120" cy="1097280"/>
          </a:xfrm>
          <a:prstGeom prst="rect">
            <a:avLst/>
          </a:prstGeom>
          <a:noFill/>
        </p:spPr>
        <p:txBody>
          <a:bodyPr wrap="square" lIns="45720" rIns="45720" tIns="27432" bIns="27432" anchor="t">
            <a:spAutoFit/>
          </a:bodyPr>
          <a:lstStyle/>
          <a:p>
            <a:pPr algn="l">
              <a:spcAft>
                <a:spcPts val="600"/>
              </a:spcAft>
            </a:pPr>
            <a:r>
              <a:rPr sz="1300" b="1" i="0">
                <a:solidFill>
                  <a:srgbClr val="1F4E79"/>
                </a:solidFill>
                <a:latin typeface="Arial"/>
              </a:rPr>
              <a:t>Flat vs x_lift 6.5 – 7.5 µm: IL 0.0176 – 0.0176 dB/cm</a:t>
            </a:r>
          </a:p>
          <a:p>
            <a:pPr algn="l">
              <a:spcAft>
                <a:spcPts val="600"/>
              </a:spcAft>
            </a:pPr>
            <a:r>
              <a:rPr sz="1300" b="0" i="0">
                <a:solidFill>
                  <a:srgbClr val="222222"/>
                </a:solidFill>
                <a:latin typeface="Arial"/>
              </a:rPr>
              <a:t>Step must stay in the gap: under the gold it forms a short cavity (2.4 dB/cm at slab_w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All solutions: insertion loss vs Vπ·L</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Each point is a ripple-free design (gap and thickness varied); lower-left is better</a:t>
            </a:r>
          </a:p>
        </p:txBody>
      </p:sp>
      <p:graphicFrame>
        <p:nvGraphicFramePr>
          <p:cNvPr id="4" name="Chart 3"/>
          <p:cNvGraphicFramePr>
            <a:graphicFrameLocks noGrp="1"/>
          </p:cNvGraphicFramePr>
          <p:nvPr/>
        </p:nvGraphicFramePr>
        <p:xfrm>
          <a:off x="411480" y="1600200"/>
          <a:ext cx="7680960" cy="498348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8321040" y="1737360"/>
          <a:ext cx="3474720" cy="1389888"/>
        </p:xfrm>
        <a:graphic>
          <a:graphicData uri="http://schemas.openxmlformats.org/drawingml/2006/table">
            <a:tbl>
              <a:tblPr firstRow="1" bandRow="1"/>
              <a:tblGrid>
                <a:gridCol w="1188720"/>
                <a:gridCol w="1143000"/>
                <a:gridCol w="1143000"/>
              </a:tblGrid>
              <a:tr h="347472">
                <a:tc>
                  <a:txBody>
                    <a:bodyPr wrap="square"/>
                    <a:lstStyle/>
                    <a:p>
                      <a:pPr algn="l"/>
                      <a:r>
                        <a:rPr sz="1200" b="1" i="0">
                          <a:solidFill>
                            <a:srgbClr val="FFFFFF"/>
                          </a:solidFill>
                          <a:latin typeface="Arial"/>
                        </a:rPr>
                        <a:t>at Vπ·L</a:t>
                      </a:r>
                    </a:p>
                  </a:txBody>
                  <a:tcPr marL="54864" marR="54864" marT="18288" marB="18288" anchor="ctr">
                    <a:solidFill>
                      <a:srgbClr val="1F4E79"/>
                    </a:solidFill>
                  </a:tcPr>
                </a:tc>
                <a:tc>
                  <a:txBody>
                    <a:bodyPr wrap="square"/>
                    <a:lstStyle/>
                    <a:p>
                      <a:pPr algn="ctr"/>
                      <a:r>
                        <a:rPr sz="1200" b="1" i="0">
                          <a:solidFill>
                            <a:srgbClr val="FFFFFF"/>
                          </a:solidFill>
                          <a:latin typeface="Arial"/>
                        </a:rPr>
                        <a:t>buffered</a:t>
                      </a:r>
                    </a:p>
                  </a:txBody>
                  <a:tcPr marL="54864" marR="54864" marT="18288" marB="18288" anchor="ctr">
                    <a:solidFill>
                      <a:srgbClr val="1F4E79"/>
                    </a:solidFill>
                  </a:tcPr>
                </a:tc>
                <a:tc>
                  <a:txBody>
                    <a:bodyPr wrap="square"/>
                    <a:lstStyle/>
                    <a:p>
                      <a:pPr algn="ctr"/>
                      <a:r>
                        <a:rPr sz="1200" b="1" i="0">
                          <a:solidFill>
                            <a:srgbClr val="FFFFFF"/>
                          </a:solidFill>
                          <a:latin typeface="Arial"/>
                        </a:rPr>
                        <a:t>best alternative</a:t>
                      </a:r>
                    </a:p>
                  </a:txBody>
                  <a:tcPr marL="54864" marR="54864" marT="18288" marB="18288" anchor="ctr">
                    <a:solidFill>
                      <a:srgbClr val="1F4E79"/>
                    </a:solidFill>
                  </a:tcPr>
                </a:tc>
              </a:tr>
              <a:tr h="347472">
                <a:tc>
                  <a:txBody>
                    <a:bodyPr wrap="square"/>
                    <a:lstStyle/>
                    <a:p>
                      <a:pPr algn="l"/>
                      <a:r>
                        <a:rPr sz="1200" b="0" i="0">
                          <a:solidFill>
                            <a:srgbClr val="222222"/>
                          </a:solidFill>
                          <a:latin typeface="Arial"/>
                        </a:rPr>
                        <a:t>≈ 1.95 V·cm</a:t>
                      </a:r>
                    </a:p>
                  </a:txBody>
                  <a:tcPr marL="54864" marR="54864" marT="18288" marB="18288" anchor="ctr">
                    <a:solidFill>
                      <a:srgbClr val="F4F6F9"/>
                    </a:solidFill>
                  </a:tcPr>
                </a:tc>
                <a:tc>
                  <a:txBody>
                    <a:bodyPr wrap="square"/>
                    <a:lstStyle/>
                    <a:p>
                      <a:pPr algn="ctr"/>
                      <a:r>
                        <a:rPr sz="1200" b="0" i="0">
                          <a:solidFill>
                            <a:srgbClr val="222222"/>
                          </a:solidFill>
                          <a:latin typeface="Arial"/>
                        </a:rPr>
                        <a:t>0.141 dB/cm</a:t>
                      </a:r>
                    </a:p>
                  </a:txBody>
                  <a:tcPr marL="54864" marR="54864" marT="18288" marB="18288" anchor="ctr">
                    <a:solidFill>
                      <a:srgbClr val="F4F6F9"/>
                    </a:solidFill>
                  </a:tcPr>
                </a:tc>
                <a:tc>
                  <a:txBody>
                    <a:bodyPr wrap="square"/>
                    <a:lstStyle/>
                    <a:p>
                      <a:pPr algn="ctr"/>
                      <a:r>
                        <a:rPr sz="1200" b="0" i="0">
                          <a:solidFill>
                            <a:srgbClr val="222222"/>
                          </a:solidFill>
                          <a:latin typeface="Arial"/>
                        </a:rPr>
                        <a:t>0.455 dB/cm</a:t>
                      </a:r>
                    </a:p>
                  </a:txBody>
                  <a:tcPr marL="54864" marR="54864" marT="18288" marB="18288" anchor="ctr">
                    <a:solidFill>
                      <a:srgbClr val="F4F6F9"/>
                    </a:solidFill>
                  </a:tcPr>
                </a:tc>
              </a:tr>
              <a:tr h="347472">
                <a:tc>
                  <a:txBody>
                    <a:bodyPr wrap="square"/>
                    <a:lstStyle/>
                    <a:p>
                      <a:pPr algn="l"/>
                      <a:r>
                        <a:rPr sz="1200" b="0" i="0">
                          <a:solidFill>
                            <a:srgbClr val="222222"/>
                          </a:solidFill>
                          <a:latin typeface="Arial"/>
                        </a:rPr>
                        <a:t>≈ 2.05 V·cm</a:t>
                      </a:r>
                    </a:p>
                  </a:txBody>
                  <a:tcPr marL="54864" marR="54864" marT="18288" marB="18288" anchor="ctr">
                    <a:solidFill>
                      <a:srgbClr val="DDE3EA"/>
                    </a:solidFill>
                  </a:tcPr>
                </a:tc>
                <a:tc>
                  <a:txBody>
                    <a:bodyPr wrap="square"/>
                    <a:lstStyle/>
                    <a:p>
                      <a:pPr algn="ctr"/>
                      <a:r>
                        <a:rPr sz="1200" b="0" i="0">
                          <a:solidFill>
                            <a:srgbClr val="222222"/>
                          </a:solidFill>
                          <a:latin typeface="Arial"/>
                        </a:rPr>
                        <a:t>0.086 dB/cm</a:t>
                      </a:r>
                    </a:p>
                  </a:txBody>
                  <a:tcPr marL="54864" marR="54864" marT="18288" marB="18288" anchor="ctr">
                    <a:solidFill>
                      <a:srgbClr val="DDE3EA"/>
                    </a:solidFill>
                  </a:tcPr>
                </a:tc>
                <a:tc>
                  <a:txBody>
                    <a:bodyPr wrap="square"/>
                    <a:lstStyle/>
                    <a:p>
                      <a:pPr algn="ctr"/>
                      <a:r>
                        <a:rPr sz="1200" b="0" i="0">
                          <a:solidFill>
                            <a:srgbClr val="222222"/>
                          </a:solidFill>
                          <a:latin typeface="Arial"/>
                        </a:rPr>
                        <a:t>0.208 dB/cm</a:t>
                      </a:r>
                    </a:p>
                  </a:txBody>
                  <a:tcPr marL="54864" marR="54864" marT="18288" marB="18288" anchor="ctr">
                    <a:solidFill>
                      <a:srgbClr val="DDE3EA"/>
                    </a:solidFill>
                  </a:tcPr>
                </a:tc>
              </a:tr>
              <a:tr h="347472">
                <a:tc>
                  <a:txBody>
                    <a:bodyPr wrap="square"/>
                    <a:lstStyle/>
                    <a:p>
                      <a:pPr algn="l"/>
                      <a:r>
                        <a:rPr sz="1200" b="0" i="0">
                          <a:solidFill>
                            <a:srgbClr val="222222"/>
                          </a:solidFill>
                          <a:latin typeface="Arial"/>
                        </a:rPr>
                        <a:t>≈ 2.27 V·cm</a:t>
                      </a:r>
                    </a:p>
                  </a:txBody>
                  <a:tcPr marL="54864" marR="54864" marT="18288" marB="18288" anchor="ctr">
                    <a:solidFill>
                      <a:srgbClr val="F4F6F9"/>
                    </a:solidFill>
                  </a:tcPr>
                </a:tc>
                <a:tc>
                  <a:txBody>
                    <a:bodyPr wrap="square"/>
                    <a:lstStyle/>
                    <a:p>
                      <a:pPr algn="ctr"/>
                      <a:r>
                        <a:rPr sz="1200" b="0" i="0">
                          <a:solidFill>
                            <a:srgbClr val="222222"/>
                          </a:solidFill>
                          <a:latin typeface="Arial"/>
                        </a:rPr>
                        <a:t>0.026 dB/cm</a:t>
                      </a:r>
                    </a:p>
                  </a:txBody>
                  <a:tcPr marL="54864" marR="54864" marT="18288" marB="18288" anchor="ctr">
                    <a:solidFill>
                      <a:srgbClr val="F4F6F9"/>
                    </a:solidFill>
                  </a:tcPr>
                </a:tc>
                <a:tc>
                  <a:txBody>
                    <a:bodyPr wrap="square"/>
                    <a:lstStyle/>
                    <a:p>
                      <a:pPr algn="ctr"/>
                      <a:r>
                        <a:rPr sz="1200" b="0" i="0">
                          <a:solidFill>
                            <a:srgbClr val="222222"/>
                          </a:solidFill>
                          <a:latin typeface="Arial"/>
                        </a:rPr>
                        <a:t>0.057 dB/cm</a:t>
                      </a:r>
                    </a:p>
                  </a:txBody>
                  <a:tcPr marL="54864" marR="54864" marT="18288" marB="18288" anchor="ctr">
                    <a:solidFill>
                      <a:srgbClr val="F4F6F9"/>
                    </a:solidFill>
                  </a:tcPr>
                </a:tc>
              </a:tr>
            </a:tbl>
          </a:graphicData>
        </a:graphic>
      </p:graphicFrame>
      <p:sp>
        <p:nvSpPr>
          <p:cNvPr id="6" name="Rounded Rectangle 5"/>
          <p:cNvSpPr/>
          <p:nvPr/>
        </p:nvSpPr>
        <p:spPr>
          <a:xfrm>
            <a:off x="8321040" y="3355848"/>
            <a:ext cx="3474720" cy="219456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800"/>
              </a:spcAft>
            </a:pPr>
            <a:r>
              <a:rPr sz="1500" b="1" i="0">
                <a:solidFill>
                  <a:srgbClr val="1F4E79"/>
                </a:solidFill>
                <a:latin typeface="Arial"/>
              </a:rPr>
              <a:t>The buffer wins</a:t>
            </a:r>
          </a:p>
          <a:p>
            <a:pPr algn="l">
              <a:spcAft>
                <a:spcPts val="800"/>
              </a:spcAft>
            </a:pPr>
            <a:r>
              <a:rPr sz="1300" b="0" i="0">
                <a:solidFill>
                  <a:srgbClr val="222222"/>
                </a:solidFill>
                <a:latin typeface="Arial"/>
              </a:rPr>
              <a:t>At the same Vπ·L it has 2 – 3× lower IL than any thin-LN or etched variant</a:t>
            </a:r>
          </a:p>
          <a:p>
            <a:pPr algn="l">
              <a:spcAft>
                <a:spcPts val="500"/>
              </a:spcAft>
            </a:pPr>
            <a:r>
              <a:rPr sz="1300" b="0" i="0">
                <a:solidFill>
                  <a:srgbClr val="222222"/>
                </a:solidFill>
                <a:latin typeface="Arial"/>
              </a:rPr>
              <a:t>It needs no alignment-critical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Countermeasures compared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λ = 1575 nm; IL range over the swept dimension (x_lift or slab_w)</a:t>
            </a:r>
          </a:p>
        </p:txBody>
      </p:sp>
      <p:graphicFrame>
        <p:nvGraphicFramePr>
          <p:cNvPr id="4" name="Table 3"/>
          <p:cNvGraphicFramePr>
            <a:graphicFrameLocks noGrp="1"/>
          </p:cNvGraphicFramePr>
          <p:nvPr/>
        </p:nvGraphicFramePr>
        <p:xfrm>
          <a:off x="411480" y="1600200"/>
          <a:ext cx="11384280" cy="4023360"/>
        </p:xfrm>
        <a:graphic>
          <a:graphicData uri="http://schemas.openxmlformats.org/drawingml/2006/table">
            <a:tbl>
              <a:tblPr firstRow="1" bandRow="1"/>
              <a:tblGrid>
                <a:gridCol w="3520440"/>
                <a:gridCol w="1600200"/>
                <a:gridCol w="2377440"/>
                <a:gridCol w="1463040"/>
                <a:gridCol w="2423160"/>
              </a:tblGrid>
              <a:tr h="365760">
                <a:tc>
                  <a:txBody>
                    <a:bodyPr wrap="square"/>
                    <a:lstStyle/>
                    <a:p>
                      <a:pPr algn="l"/>
                      <a:r>
                        <a:rPr sz="1200" b="1" i="0">
                          <a:solidFill>
                            <a:srgbClr val="FFFFFF"/>
                          </a:solidFill>
                          <a:latin typeface="Arial"/>
                        </a:rPr>
                        <a:t>Design</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c>
                  <a:txBody>
                    <a:bodyPr wrap="square"/>
                    <a:lstStyle/>
                    <a:p>
                      <a:pPr algn="ctr"/>
                      <a:r>
                        <a:rPr sz="1200" b="1" i="0">
                          <a:solidFill>
                            <a:srgbClr val="FFFFFF"/>
                          </a:solidFill>
                          <a:latin typeface="Arial"/>
                        </a:rPr>
                        <a:t>Ripple</a:t>
                      </a:r>
                    </a:p>
                  </a:txBody>
                  <a:tcPr marL="54864" marR="54864" marT="18288" marB="18288" anchor="ctr">
                    <a:solidFill>
                      <a:srgbClr val="1F4E79"/>
                    </a:solidFill>
                  </a:tcPr>
                </a:tc>
                <a:tc>
                  <a:txBody>
                    <a:bodyPr wrap="square"/>
                    <a:lstStyle/>
                    <a:p>
                      <a:pPr algn="ctr"/>
                      <a:r>
                        <a:rPr sz="1200" b="1" i="0">
                          <a:solidFill>
                            <a:srgbClr val="FFFFFF"/>
                          </a:solidFill>
                          <a:latin typeface="Arial"/>
                        </a:rPr>
                        <a:t>Vπ·L (V·cm)</a:t>
                      </a:r>
                    </a:p>
                  </a:txBody>
                  <a:tcPr marL="54864" marR="54864" marT="18288" marB="18288" anchor="ctr">
                    <a:solidFill>
                      <a:srgbClr val="1F4E79"/>
                    </a:solidFill>
                  </a:tcPr>
                </a:tc>
                <a:tc>
                  <a:txBody>
                    <a:bodyPr wrap="square"/>
                    <a:lstStyle/>
                    <a:p>
                      <a:pPr algn="ctr"/>
                      <a:r>
                        <a:rPr sz="1200" b="1" i="0">
                          <a:solidFill>
                            <a:srgbClr val="FFFFFF"/>
                          </a:solidFill>
                          <a:latin typeface="Arial"/>
                        </a:rPr>
                        <a:t>Extra process</a:t>
                      </a:r>
                    </a:p>
                  </a:txBody>
                  <a:tcPr marL="54864" marR="54864" marT="18288" marB="18288" anchor="ctr">
                    <a:solidFill>
                      <a:srgbClr val="1F4E79"/>
                    </a:solidFill>
                  </a:tcPr>
                </a:tc>
              </a:tr>
              <a:tr h="365760">
                <a:tc>
                  <a:txBody>
                    <a:bodyPr wrap="square"/>
                    <a:lstStyle/>
                    <a:p>
                      <a:pPr algn="l"/>
                      <a:r>
                        <a:rPr sz="1200" b="0" i="0">
                          <a:solidFill>
                            <a:srgbClr val="222222"/>
                          </a:solidFill>
                          <a:latin typeface="Arial"/>
                        </a:rPr>
                        <a:t>Standard lifted, gap 4.2 µm</a:t>
                      </a:r>
                    </a:p>
                  </a:txBody>
                  <a:tcPr marL="54864" marR="54864" marT="18288" marB="18288" anchor="ctr">
                    <a:solidFill>
                      <a:srgbClr val="F4F6F9"/>
                    </a:solidFill>
                  </a:tcPr>
                </a:tc>
                <a:tc>
                  <a:txBody>
                    <a:bodyPr wrap="square"/>
                    <a:lstStyle/>
                    <a:p>
                      <a:pPr algn="ctr"/>
                      <a:r>
                        <a:rPr sz="1200" b="0" i="0">
                          <a:solidFill>
                            <a:srgbClr val="222222"/>
                          </a:solidFill>
                          <a:latin typeface="Arial"/>
                        </a:rPr>
                        <a:t>0.18 – 0.89</a:t>
                      </a:r>
                    </a:p>
                  </a:txBody>
                  <a:tcPr marL="54864" marR="54864" marT="18288" marB="18288" anchor="ctr">
                    <a:solidFill>
                      <a:srgbClr val="F4F6F9"/>
                    </a:solidFill>
                  </a:tcPr>
                </a:tc>
                <a:tc>
                  <a:txBody>
                    <a:bodyPr wrap="square"/>
                    <a:lstStyle/>
                    <a:p>
                      <a:pPr algn="ctr"/>
                      <a:r>
                        <a:rPr sz="1200" b="0" i="0">
                          <a:solidFill>
                            <a:srgbClr val="222222"/>
                          </a:solidFill>
                          <a:latin typeface="Arial"/>
                        </a:rPr>
                        <a:t>vs x_lift, period 0.9 µm</a:t>
                      </a:r>
                    </a:p>
                  </a:txBody>
                  <a:tcPr marL="54864" marR="54864" marT="18288" marB="18288" anchor="ctr">
                    <a:solidFill>
                      <a:srgbClr val="F4F6F9"/>
                    </a:solidFill>
                  </a:tcPr>
                </a:tc>
                <a:tc>
                  <a:txBody>
                    <a:bodyPr wrap="square"/>
                    <a:lstStyle/>
                    <a:p>
                      <a:pPr algn="ctr"/>
                      <a:r>
                        <a:rPr sz="1200" b="0" i="0">
                          <a:solidFill>
                            <a:srgbClr val="222222"/>
                          </a:solidFill>
                          <a:latin typeface="Arial"/>
                        </a:rPr>
                        <a:t>2.27</a:t>
                      </a:r>
                    </a:p>
                  </a:txBody>
                  <a:tcPr marL="54864" marR="54864" marT="18288" marB="18288" anchor="ctr">
                    <a:solidFill>
                      <a:srgbClr val="F4F6F9"/>
                    </a:solidFill>
                  </a:tcPr>
                </a:tc>
                <a:tc>
                  <a:txBody>
                    <a:bodyPr wrap="square"/>
                    <a:lstStyle/>
                    <a:p>
                      <a:pPr algn="ctr"/>
                      <a:r>
                        <a:rPr sz="1200" b="0" i="0">
                          <a:solidFill>
                            <a:srgbClr val="222222"/>
                          </a:solidFill>
                          <a:latin typeface="Arial"/>
                        </a:rPr>
                        <a:t>—</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Etched, slab ends in gold</a:t>
                      </a:r>
                    </a:p>
                  </a:txBody>
                  <a:tcPr marL="54864" marR="54864" marT="18288" marB="18288" anchor="ctr">
                    <a:solidFill>
                      <a:srgbClr val="DDE3EA"/>
                    </a:solidFill>
                  </a:tcPr>
                </a:tc>
                <a:tc>
                  <a:txBody>
                    <a:bodyPr wrap="square"/>
                    <a:lstStyle/>
                    <a:p>
                      <a:pPr algn="ctr"/>
                      <a:r>
                        <a:rPr sz="1200" b="0" i="0">
                          <a:solidFill>
                            <a:srgbClr val="222222"/>
                          </a:solidFill>
                          <a:latin typeface="Arial"/>
                        </a:rPr>
                        <a:t>0.04 – 7.4</a:t>
                      </a:r>
                    </a:p>
                  </a:txBody>
                  <a:tcPr marL="54864" marR="54864" marT="18288" marB="18288" anchor="ctr">
                    <a:solidFill>
                      <a:srgbClr val="DDE3EA"/>
                    </a:solidFill>
                  </a:tcPr>
                </a:tc>
                <a:tc>
                  <a:txBody>
                    <a:bodyPr wrap="square"/>
                    <a:lstStyle/>
                    <a:p>
                      <a:pPr algn="ctr"/>
                      <a:r>
                        <a:rPr sz="1200" b="0" i="0">
                          <a:solidFill>
                            <a:srgbClr val="222222"/>
                          </a:solidFill>
                          <a:latin typeface="Arial"/>
                        </a:rPr>
                        <a:t>vs slab edge, period 0.9 µm</a:t>
                      </a:r>
                    </a:p>
                  </a:txBody>
                  <a:tcPr marL="54864" marR="54864" marT="18288" marB="18288" anchor="ctr">
                    <a:solidFill>
                      <a:srgbClr val="DDE3EA"/>
                    </a:solidFill>
                  </a:tcPr>
                </a:tc>
                <a:tc>
                  <a:txBody>
                    <a:bodyPr wrap="square"/>
                    <a:lstStyle/>
                    <a:p>
                      <a:pPr algn="ctr"/>
                      <a:r>
                        <a:rPr sz="1200" b="0" i="0">
                          <a:solidFill>
                            <a:srgbClr val="222222"/>
                          </a:solidFill>
                          <a:latin typeface="Arial"/>
                        </a:rPr>
                        <a:t>2.26</a:t>
                      </a:r>
                    </a:p>
                  </a:txBody>
                  <a:tcPr marL="54864" marR="54864" marT="18288" marB="18288" anchor="ctr">
                    <a:solidFill>
                      <a:srgbClr val="DDE3EA"/>
                    </a:solidFill>
                  </a:tcPr>
                </a:tc>
                <a:tc>
                  <a:txBody>
                    <a:bodyPr wrap="square"/>
                    <a:lstStyle/>
                    <a:p>
                      <a:pPr algn="ctr"/>
                      <a:r>
                        <a:rPr sz="1200" b="0" i="0">
                          <a:solidFill>
                            <a:srgbClr val="222222"/>
                          </a:solidFill>
                          <a:latin typeface="Arial"/>
                        </a:rPr>
                        <a:t>LN etch + alignment</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Etched, slab past the edge</a:t>
                      </a:r>
                    </a:p>
                  </a:txBody>
                  <a:tcPr marL="54864" marR="54864" marT="18288" marB="18288" anchor="ctr">
                    <a:solidFill>
                      <a:srgbClr val="F4F6F9"/>
                    </a:solidFill>
                  </a:tcPr>
                </a:tc>
                <a:tc>
                  <a:txBody>
                    <a:bodyPr wrap="square"/>
                    <a:lstStyle/>
                    <a:p>
                      <a:pPr algn="ctr"/>
                      <a:r>
                        <a:rPr sz="1200" b="0" i="0">
                          <a:solidFill>
                            <a:srgbClr val="222222"/>
                          </a:solidFill>
                          <a:latin typeface="Arial"/>
                        </a:rPr>
                        <a:t>0.18 – 0.89</a:t>
                      </a:r>
                    </a:p>
                  </a:txBody>
                  <a:tcPr marL="54864" marR="54864" marT="18288" marB="18288" anchor="ctr">
                    <a:solidFill>
                      <a:srgbClr val="F4F6F9"/>
                    </a:solidFill>
                  </a:tcPr>
                </a:tc>
                <a:tc>
                  <a:txBody>
                    <a:bodyPr wrap="square"/>
                    <a:lstStyle/>
                    <a:p>
                      <a:pPr algn="ctr"/>
                      <a:r>
                        <a:rPr sz="1200" b="0" i="0">
                          <a:solidFill>
                            <a:srgbClr val="222222"/>
                          </a:solidFill>
                          <a:latin typeface="Arial"/>
                        </a:rPr>
                        <a:t>= standard (vs x_lift)</a:t>
                      </a:r>
                    </a:p>
                  </a:txBody>
                  <a:tcPr marL="54864" marR="54864" marT="18288" marB="18288" anchor="ctr">
                    <a:solidFill>
                      <a:srgbClr val="F4F6F9"/>
                    </a:solidFill>
                  </a:tcPr>
                </a:tc>
                <a:tc>
                  <a:txBody>
                    <a:bodyPr wrap="square"/>
                    <a:lstStyle/>
                    <a:p>
                      <a:pPr algn="ctr"/>
                      <a:r>
                        <a:rPr sz="1200" b="0" i="0">
                          <a:solidFill>
                            <a:srgbClr val="222222"/>
                          </a:solidFill>
                          <a:latin typeface="Arial"/>
                        </a:rPr>
                        <a:t>2.27</a:t>
                      </a:r>
                    </a:p>
                  </a:txBody>
                  <a:tcPr marL="54864" marR="54864" marT="18288" marB="18288" anchor="ctr">
                    <a:solidFill>
                      <a:srgbClr val="F4F6F9"/>
                    </a:solidFill>
                  </a:tcPr>
                </a:tc>
                <a:tc>
                  <a:txBody>
                    <a:bodyPr wrap="square"/>
                    <a:lstStyle/>
                    <a:p>
                      <a:pPr algn="ctr"/>
                      <a:r>
                        <a:rPr sz="1200" b="0" i="0">
                          <a:solidFill>
                            <a:srgbClr val="222222"/>
                          </a:solidFill>
                          <a:latin typeface="Arial"/>
                        </a:rPr>
                        <a:t>LN etch</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Etched + SiO₂ spacer (100–600 nm)</a:t>
                      </a:r>
                    </a:p>
                  </a:txBody>
                  <a:tcPr marL="54864" marR="54864" marT="18288" marB="18288" anchor="ctr">
                    <a:solidFill>
                      <a:srgbClr val="DDE3EA"/>
                    </a:solidFill>
                  </a:tcPr>
                </a:tc>
                <a:tc>
                  <a:txBody>
                    <a:bodyPr wrap="square"/>
                    <a:lstStyle/>
                    <a:p>
                      <a:pPr algn="ctr"/>
                      <a:r>
                        <a:rPr sz="1200" b="0" i="0">
                          <a:solidFill>
                            <a:srgbClr val="222222"/>
                          </a:solidFill>
                          <a:latin typeface="Arial"/>
                        </a:rPr>
                        <a:t>0.05 – 3.0</a:t>
                      </a:r>
                    </a:p>
                  </a:txBody>
                  <a:tcPr marL="54864" marR="54864" marT="18288" marB="18288" anchor="ctr">
                    <a:solidFill>
                      <a:srgbClr val="DDE3EA"/>
                    </a:solidFill>
                  </a:tcPr>
                </a:tc>
                <a:tc>
                  <a:txBody>
                    <a:bodyPr wrap="square"/>
                    <a:lstStyle/>
                    <a:p>
                      <a:pPr algn="ctr"/>
                      <a:r>
                        <a:rPr sz="1200" b="0" i="0">
                          <a:solidFill>
                            <a:srgbClr val="222222"/>
                          </a:solidFill>
                          <a:latin typeface="Arial"/>
                        </a:rPr>
                        <a:t>shifted, not removed</a:t>
                      </a:r>
                    </a:p>
                  </a:txBody>
                  <a:tcPr marL="54864" marR="54864" marT="18288" marB="18288" anchor="ctr">
                    <a:solidFill>
                      <a:srgbClr val="DDE3EA"/>
                    </a:solidFill>
                  </a:tcPr>
                </a:tc>
                <a:tc>
                  <a:txBody>
                    <a:bodyPr wrap="square"/>
                    <a:lstStyle/>
                    <a:p>
                      <a:pPr algn="ctr"/>
                      <a:r>
                        <a:rPr sz="1200" b="0" i="0">
                          <a:solidFill>
                            <a:srgbClr val="222222"/>
                          </a:solidFill>
                          <a:latin typeface="Arial"/>
                        </a:rPr>
                        <a:t>2.27</a:t>
                      </a:r>
                    </a:p>
                  </a:txBody>
                  <a:tcPr marL="54864" marR="54864" marT="18288" marB="18288" anchor="ctr">
                    <a:solidFill>
                      <a:srgbClr val="DDE3EA"/>
                    </a:solidFill>
                  </a:tcPr>
                </a:tc>
                <a:tc>
                  <a:txBody>
                    <a:bodyPr wrap="square"/>
                    <a:lstStyle/>
                    <a:p>
                      <a:pPr algn="ctr"/>
                      <a:r>
                        <a:rPr sz="1200" b="0" i="0">
                          <a:solidFill>
                            <a:srgbClr val="222222"/>
                          </a:solidFill>
                          <a:latin typeface="Arial"/>
                        </a:rPr>
                        <a:t>not viable (fab)</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Etched, slab ends in gap, gap 4.2 / 3.2</a:t>
                      </a:r>
                    </a:p>
                  </a:txBody>
                  <a:tcPr marL="54864" marR="54864" marT="18288" marB="18288" anchor="ctr">
                    <a:solidFill>
                      <a:srgbClr val="F4F6F9"/>
                    </a:solidFill>
                  </a:tcPr>
                </a:tc>
                <a:tc>
                  <a:txBody>
                    <a:bodyPr wrap="square"/>
                    <a:lstStyle/>
                    <a:p>
                      <a:pPr algn="ctr"/>
                      <a:r>
                        <a:rPr sz="1200" b="0" i="0">
                          <a:solidFill>
                            <a:srgbClr val="222222"/>
                          </a:solidFill>
                          <a:latin typeface="Arial"/>
                        </a:rPr>
                        <a:t>≤ 0.003 / 0.083</a:t>
                      </a:r>
                    </a:p>
                  </a:txBody>
                  <a:tcPr marL="54864" marR="54864" marT="18288" marB="18288" anchor="ctr">
                    <a:solidFill>
                      <a:srgbClr val="F4F6F9"/>
                    </a:solidFill>
                  </a:tcPr>
                </a:tc>
                <a:tc>
                  <a:txBody>
                    <a:bodyPr wrap="square"/>
                    <a:lstStyle/>
                    <a:p>
                      <a:pPr algn="ctr"/>
                      <a:r>
                        <a:rPr sz="1200" b="0" i="0">
                          <a:solidFill>
                            <a:srgbClr val="222222"/>
                          </a:solidFill>
                          <a:latin typeface="Arial"/>
                        </a:rPr>
                        <a:t>none</a:t>
                      </a:r>
                    </a:p>
                  </a:txBody>
                  <a:tcPr marL="54864" marR="54864" marT="18288" marB="18288" anchor="ctr">
                    <a:solidFill>
                      <a:srgbClr val="F4F6F9"/>
                    </a:solidFill>
                  </a:tcPr>
                </a:tc>
                <a:tc>
                  <a:txBody>
                    <a:bodyPr wrap="square"/>
                    <a:lstStyle/>
                    <a:p>
                      <a:pPr algn="ctr"/>
                      <a:r>
                        <a:rPr sz="1200" b="0" i="0">
                          <a:solidFill>
                            <a:srgbClr val="222222"/>
                          </a:solidFill>
                          <a:latin typeface="Arial"/>
                        </a:rPr>
                        <a:t>3.1 – 5.4 / 2.47</a:t>
                      </a:r>
                    </a:p>
                  </a:txBody>
                  <a:tcPr marL="54864" marR="54864" marT="18288" marB="18288" anchor="ctr">
                    <a:solidFill>
                      <a:srgbClr val="F4F6F9"/>
                    </a:solidFill>
                  </a:tcPr>
                </a:tc>
                <a:tc>
                  <a:txBody>
                    <a:bodyPr wrap="square"/>
                    <a:lstStyle/>
                    <a:p>
                      <a:pPr algn="ctr"/>
                      <a:r>
                        <a:rPr sz="1200" b="0" i="0">
                          <a:solidFill>
                            <a:srgbClr val="222222"/>
                          </a:solidFill>
                          <a:latin typeface="Arial"/>
                        </a:rPr>
                        <a:t>LN etch + alignment</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Deeper rib etch, 150 nm slab, gap 4.2</a:t>
                      </a:r>
                    </a:p>
                  </a:txBody>
                  <a:tcPr marL="54864" marR="54864" marT="18288" marB="18288" anchor="ctr">
                    <a:solidFill>
                      <a:srgbClr val="DDE3EA"/>
                    </a:solidFill>
                  </a:tcPr>
                </a:tc>
                <a:tc>
                  <a:txBody>
                    <a:bodyPr wrap="square"/>
                    <a:lstStyle/>
                    <a:p>
                      <a:pPr algn="ctr"/>
                      <a:r>
                        <a:rPr sz="1200" b="0" i="0">
                          <a:solidFill>
                            <a:srgbClr val="222222"/>
                          </a:solidFill>
                          <a:latin typeface="Arial"/>
                        </a:rPr>
                        <a:t>0.00344</a:t>
                      </a:r>
                    </a:p>
                  </a:txBody>
                  <a:tcPr marL="54864" marR="54864" marT="18288" marB="18288" anchor="ctr">
                    <a:solidFill>
                      <a:srgbClr val="DDE3EA"/>
                    </a:solidFill>
                  </a:tcPr>
                </a:tc>
                <a:tc>
                  <a:txBody>
                    <a:bodyPr wrap="square"/>
                    <a:lstStyle/>
                    <a:p>
                      <a:pPr algn="ctr"/>
                      <a:r>
                        <a:rPr sz="1200" b="0" i="0">
                          <a:solidFill>
                            <a:srgbClr val="222222"/>
                          </a:solidFill>
                          <a:latin typeface="Arial"/>
                        </a:rPr>
                        <a:t>none</a:t>
                      </a:r>
                    </a:p>
                  </a:txBody>
                  <a:tcPr marL="54864" marR="54864" marT="18288" marB="18288" anchor="ctr">
                    <a:solidFill>
                      <a:srgbClr val="DDE3EA"/>
                    </a:solidFill>
                  </a:tcPr>
                </a:tc>
                <a:tc>
                  <a:txBody>
                    <a:bodyPr wrap="square"/>
                    <a:lstStyle/>
                    <a:p>
                      <a:pPr algn="ctr"/>
                      <a:r>
                        <a:rPr sz="1200" b="0" i="0">
                          <a:solidFill>
                            <a:srgbClr val="222222"/>
                          </a:solidFill>
                          <a:latin typeface="Arial"/>
                        </a:rPr>
                        <a:t>3.15</a:t>
                      </a:r>
                    </a:p>
                  </a:txBody>
                  <a:tcPr marL="54864" marR="54864" marT="18288" marB="18288" anchor="ctr">
                    <a:solidFill>
                      <a:srgbClr val="DDE3EA"/>
                    </a:solidFill>
                  </a:tcPr>
                </a:tc>
                <a:tc>
                  <a:txBody>
                    <a:bodyPr wrap="square"/>
                    <a:lstStyle/>
                    <a:p>
                      <a:pPr algn="ctr"/>
                      <a:r>
                        <a:rPr sz="1200" b="0" i="0">
                          <a:solidFill>
                            <a:srgbClr val="222222"/>
                          </a:solidFill>
                          <a:latin typeface="Arial"/>
                        </a:rPr>
                        <a:t>none (deeper etch)</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Deeper rib etch, 125 nm slab, gap 3.2</a:t>
                      </a:r>
                    </a:p>
                  </a:txBody>
                  <a:tcPr marL="54864" marR="54864" marT="18288" marB="18288" anchor="ctr">
                    <a:solidFill>
                      <a:srgbClr val="F4F6F9"/>
                    </a:solidFill>
                  </a:tcPr>
                </a:tc>
                <a:tc>
                  <a:txBody>
                    <a:bodyPr wrap="square"/>
                    <a:lstStyle/>
                    <a:p>
                      <a:pPr algn="ctr"/>
                      <a:r>
                        <a:rPr sz="1200" b="0" i="0">
                          <a:solidFill>
                            <a:srgbClr val="222222"/>
                          </a:solidFill>
                          <a:latin typeface="Arial"/>
                        </a:rPr>
                        <a:t>0.0801</a:t>
                      </a:r>
                    </a:p>
                  </a:txBody>
                  <a:tcPr marL="54864" marR="54864" marT="18288" marB="18288" anchor="ctr">
                    <a:solidFill>
                      <a:srgbClr val="F4F6F9"/>
                    </a:solidFill>
                  </a:tcPr>
                </a:tc>
                <a:tc>
                  <a:txBody>
                    <a:bodyPr wrap="square"/>
                    <a:lstStyle/>
                    <a:p>
                      <a:pPr algn="ctr"/>
                      <a:r>
                        <a:rPr sz="1200" b="0" i="0">
                          <a:solidFill>
                            <a:srgbClr val="222222"/>
                          </a:solidFill>
                          <a:latin typeface="Arial"/>
                        </a:rPr>
                        <a:t>none</a:t>
                      </a:r>
                    </a:p>
                  </a:txBody>
                  <a:tcPr marL="54864" marR="54864" marT="18288" marB="18288" anchor="ctr">
                    <a:solidFill>
                      <a:srgbClr val="F4F6F9"/>
                    </a:solidFill>
                  </a:tcPr>
                </a:tc>
                <a:tc>
                  <a:txBody>
                    <a:bodyPr wrap="square"/>
                    <a:lstStyle/>
                    <a:p>
                      <a:pPr algn="ctr"/>
                      <a:r>
                        <a:rPr sz="1200" b="0" i="0">
                          <a:solidFill>
                            <a:srgbClr val="222222"/>
                          </a:solidFill>
                          <a:latin typeface="Arial"/>
                        </a:rPr>
                        <a:t>2.40</a:t>
                      </a:r>
                    </a:p>
                  </a:txBody>
                  <a:tcPr marL="54864" marR="54864" marT="18288" marB="18288" anchor="ctr">
                    <a:solidFill>
                      <a:srgbClr val="F4F6F9"/>
                    </a:solidFill>
                  </a:tcPr>
                </a:tc>
                <a:tc>
                  <a:txBody>
                    <a:bodyPr wrap="square"/>
                    <a:lstStyle/>
                    <a:p>
                      <a:pPr algn="ctr"/>
                      <a:r>
                        <a:rPr sz="1200" b="0" i="0">
                          <a:solidFill>
                            <a:srgbClr val="222222"/>
                          </a:solidFill>
                          <a:latin typeface="Arial"/>
                        </a:rPr>
                        <a:t>none (deeper etch)</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Partial 2nd etch, 125 nm, gap 4.2</a:t>
                      </a:r>
                    </a:p>
                  </a:txBody>
                  <a:tcPr marL="54864" marR="54864" marT="18288" marB="18288" anchor="ctr">
                    <a:solidFill>
                      <a:srgbClr val="DDE3EA"/>
                    </a:solidFill>
                  </a:tcPr>
                </a:tc>
                <a:tc>
                  <a:txBody>
                    <a:bodyPr wrap="square"/>
                    <a:lstStyle/>
                    <a:p>
                      <a:pPr algn="ctr"/>
                      <a:r>
                        <a:rPr sz="1200" b="0" i="0">
                          <a:solidFill>
                            <a:srgbClr val="222222"/>
                          </a:solidFill>
                          <a:latin typeface="Arial"/>
                        </a:rPr>
                        <a:t>0.0176</a:t>
                      </a:r>
                    </a:p>
                  </a:txBody>
                  <a:tcPr marL="54864" marR="54864" marT="18288" marB="18288" anchor="ctr">
                    <a:solidFill>
                      <a:srgbClr val="DDE3EA"/>
                    </a:solidFill>
                  </a:tcPr>
                </a:tc>
                <a:tc>
                  <a:txBody>
                    <a:bodyPr wrap="square"/>
                    <a:lstStyle/>
                    <a:p>
                      <a:pPr algn="ctr"/>
                      <a:r>
                        <a:rPr sz="1200" b="0" i="0">
                          <a:solidFill>
                            <a:srgbClr val="222222"/>
                          </a:solidFill>
                          <a:latin typeface="Arial"/>
                        </a:rPr>
                        <a:t>none</a:t>
                      </a:r>
                    </a:p>
                  </a:txBody>
                  <a:tcPr marL="54864" marR="54864" marT="18288" marB="18288" anchor="ctr">
                    <a:solidFill>
                      <a:srgbClr val="DDE3EA"/>
                    </a:solidFill>
                  </a:tcPr>
                </a:tc>
                <a:tc>
                  <a:txBody>
                    <a:bodyPr wrap="square"/>
                    <a:lstStyle/>
                    <a:p>
                      <a:pPr algn="ctr"/>
                      <a:r>
                        <a:rPr sz="1200" b="0" i="0">
                          <a:solidFill>
                            <a:srgbClr val="222222"/>
                          </a:solidFill>
                          <a:latin typeface="Arial"/>
                        </a:rPr>
                        <a:t>2.54</a:t>
                      </a:r>
                    </a:p>
                  </a:txBody>
                  <a:tcPr marL="54864" marR="54864" marT="18288" marB="18288" anchor="ctr">
                    <a:solidFill>
                      <a:srgbClr val="DDE3EA"/>
                    </a:solidFill>
                  </a:tcPr>
                </a:tc>
                <a:tc>
                  <a:txBody>
                    <a:bodyPr wrap="square"/>
                    <a:lstStyle/>
                    <a:p>
                      <a:pPr algn="ctr"/>
                      <a:r>
                        <a:rPr sz="1200" b="0" i="0">
                          <a:solidFill>
                            <a:srgbClr val="222222"/>
                          </a:solidFill>
                          <a:latin typeface="Arial"/>
                        </a:rPr>
                        <a:t>2nd LN etch + alignment</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Partial 2nd etch, 100 nm, gap 3.6</a:t>
                      </a:r>
                    </a:p>
                  </a:txBody>
                  <a:tcPr marL="54864" marR="54864" marT="18288" marB="18288" anchor="ctr">
                    <a:solidFill>
                      <a:srgbClr val="F4F6F9"/>
                    </a:solidFill>
                  </a:tcPr>
                </a:tc>
                <a:tc>
                  <a:txBody>
                    <a:bodyPr wrap="square"/>
                    <a:lstStyle/>
                    <a:p>
                      <a:pPr algn="ctr"/>
                      <a:r>
                        <a:rPr sz="1200" b="0" i="0">
                          <a:solidFill>
                            <a:srgbClr val="222222"/>
                          </a:solidFill>
                          <a:latin typeface="Arial"/>
                        </a:rPr>
                        <a:t>0.0569</a:t>
                      </a:r>
                    </a:p>
                  </a:txBody>
                  <a:tcPr marL="54864" marR="54864" marT="18288" marB="18288" anchor="ctr">
                    <a:solidFill>
                      <a:srgbClr val="F4F6F9"/>
                    </a:solidFill>
                  </a:tcPr>
                </a:tc>
                <a:tc>
                  <a:txBody>
                    <a:bodyPr wrap="square"/>
                    <a:lstStyle/>
                    <a:p>
                      <a:pPr algn="ctr"/>
                      <a:r>
                        <a:rPr sz="1200" b="0" i="0">
                          <a:solidFill>
                            <a:srgbClr val="222222"/>
                          </a:solidFill>
                          <a:latin typeface="Arial"/>
                        </a:rPr>
                        <a:t>none</a:t>
                      </a:r>
                    </a:p>
                  </a:txBody>
                  <a:tcPr marL="54864" marR="54864" marT="18288" marB="18288" anchor="ctr">
                    <a:solidFill>
                      <a:srgbClr val="F4F6F9"/>
                    </a:solidFill>
                  </a:tcPr>
                </a:tc>
                <a:tc>
                  <a:txBody>
                    <a:bodyPr wrap="square"/>
                    <a:lstStyle/>
                    <a:p>
                      <a:pPr algn="ctr"/>
                      <a:r>
                        <a:rPr sz="1200" b="0" i="0">
                          <a:solidFill>
                            <a:srgbClr val="222222"/>
                          </a:solidFill>
                          <a:latin typeface="Arial"/>
                        </a:rPr>
                        <a:t>2.27</a:t>
                      </a:r>
                    </a:p>
                  </a:txBody>
                  <a:tcPr marL="54864" marR="54864" marT="18288" marB="18288" anchor="ctr">
                    <a:solidFill>
                      <a:srgbClr val="F4F6F9"/>
                    </a:solidFill>
                  </a:tcPr>
                </a:tc>
                <a:tc>
                  <a:txBody>
                    <a:bodyPr wrap="square"/>
                    <a:lstStyle/>
                    <a:p>
                      <a:pPr algn="ctr"/>
                      <a:r>
                        <a:rPr sz="1200" b="0" i="0">
                          <a:solidFill>
                            <a:srgbClr val="222222"/>
                          </a:solidFill>
                          <a:latin typeface="Arial"/>
                        </a:rPr>
                        <a:t>2nd LN etch + alignment</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Buffered 200 nm SiO₂, gap 3.2 µm</a:t>
                      </a:r>
                    </a:p>
                  </a:txBody>
                  <a:tcPr marL="54864" marR="54864" marT="18288" marB="18288" anchor="ctr">
                    <a:solidFill>
                      <a:srgbClr val="FDE9D9"/>
                    </a:solidFill>
                  </a:tcPr>
                </a:tc>
                <a:tc>
                  <a:txBody>
                    <a:bodyPr wrap="square"/>
                    <a:lstStyle/>
                    <a:p>
                      <a:pPr algn="ctr"/>
                      <a:r>
                        <a:rPr sz="1200" b="0" i="0">
                          <a:solidFill>
                            <a:srgbClr val="222222"/>
                          </a:solidFill>
                          <a:latin typeface="Arial"/>
                        </a:rPr>
                        <a:t>0.049</a:t>
                      </a:r>
                    </a:p>
                  </a:txBody>
                  <a:tcPr marL="54864" marR="54864" marT="18288" marB="18288" anchor="ctr">
                    <a:solidFill>
                      <a:srgbClr val="FDE9D9"/>
                    </a:solidFill>
                  </a:tcPr>
                </a:tc>
                <a:tc>
                  <a:txBody>
                    <a:bodyPr wrap="square"/>
                    <a:lstStyle/>
                    <a:p>
                      <a:pPr algn="ctr"/>
                      <a:r>
                        <a:rPr sz="1200" b="0" i="0">
                          <a:solidFill>
                            <a:srgbClr val="222222"/>
                          </a:solidFill>
                          <a:latin typeface="Arial"/>
                        </a:rPr>
                        <a:t>none (flat ±0.2 %)</a:t>
                      </a:r>
                    </a:p>
                  </a:txBody>
                  <a:tcPr marL="54864" marR="54864" marT="18288" marB="18288" anchor="ctr">
                    <a:solidFill>
                      <a:srgbClr val="FDE9D9"/>
                    </a:solidFill>
                  </a:tcPr>
                </a:tc>
                <a:tc>
                  <a:txBody>
                    <a:bodyPr wrap="square"/>
                    <a:lstStyle/>
                    <a:p>
                      <a:pPr algn="ctr"/>
                      <a:r>
                        <a:rPr sz="1200" b="0" i="0">
                          <a:solidFill>
                            <a:srgbClr val="222222"/>
                          </a:solidFill>
                          <a:latin typeface="Arial"/>
                        </a:rPr>
                        <a:t>2.15</a:t>
                      </a:r>
                    </a:p>
                  </a:txBody>
                  <a:tcPr marL="54864" marR="54864" marT="18288" marB="18288" anchor="ctr">
                    <a:solidFill>
                      <a:srgbClr val="FDE9D9"/>
                    </a:solidFill>
                  </a:tcPr>
                </a:tc>
                <a:tc>
                  <a:txBody>
                    <a:bodyPr wrap="square"/>
                    <a:lstStyle/>
                    <a:p>
                      <a:pPr algn="ctr"/>
                      <a:r>
                        <a:rPr sz="1200" b="0" i="0">
                          <a:solidFill>
                            <a:srgbClr val="222222"/>
                          </a:solidFill>
                          <a:latin typeface="Arial"/>
                        </a:rPr>
                        <a:t>blanket oxide, no litho</a:t>
                      </a:r>
                    </a:p>
                  </a:txBody>
                  <a:tcPr marL="54864" marR="54864" marT="18288" marB="18288" anchor="ctr">
                    <a:solidFill>
                      <a:srgbClr val="FDE9D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Recommendation: keep the 200 nm SiO₂ buffer</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Best IL – Vπ·L trade-off, flat IL, no alignment-critical step</a:t>
            </a:r>
          </a:p>
        </p:txBody>
      </p:sp>
      <p:sp>
        <p:nvSpPr>
          <p:cNvPr id="4" name="Rounded Rectangle 3"/>
          <p:cNvSpPr/>
          <p:nvPr/>
        </p:nvSpPr>
        <p:spPr>
          <a:xfrm>
            <a:off x="548640" y="1737360"/>
            <a:ext cx="3566160" cy="16002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47088"/>
            <a:ext cx="3566160" cy="880110"/>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0.049 dB/cm</a:t>
            </a:r>
          </a:p>
        </p:txBody>
      </p:sp>
      <p:sp>
        <p:nvSpPr>
          <p:cNvPr id="6" name="TextBox 5"/>
          <p:cNvSpPr txBox="1"/>
          <p:nvPr/>
        </p:nvSpPr>
        <p:spPr>
          <a:xfrm>
            <a:off x="640080" y="2697480"/>
            <a:ext cx="3383279" cy="608076"/>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IL, flat vs x_lift</a:t>
            </a:r>
          </a:p>
          <a:p>
            <a:pPr algn="ctr">
              <a:spcAft>
                <a:spcPts val="0"/>
              </a:spcAft>
            </a:pPr>
            <a:r>
              <a:rPr sz="1100" b="0" i="0">
                <a:solidFill>
                  <a:srgbClr val="595959"/>
                </a:solidFill>
                <a:latin typeface="Arial"/>
              </a:rPr>
              <a:t>(standard: 0.18 – 0.89)</a:t>
            </a:r>
          </a:p>
        </p:txBody>
      </p:sp>
      <p:sp>
        <p:nvSpPr>
          <p:cNvPr id="7" name="Rounded Rectangle 6"/>
          <p:cNvSpPr/>
          <p:nvPr/>
        </p:nvSpPr>
        <p:spPr>
          <a:xfrm>
            <a:off x="4343400" y="1737360"/>
            <a:ext cx="3566160" cy="16002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43400" y="1847088"/>
            <a:ext cx="3566160" cy="880110"/>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2.15 V·cm</a:t>
            </a:r>
          </a:p>
        </p:txBody>
      </p:sp>
      <p:sp>
        <p:nvSpPr>
          <p:cNvPr id="9" name="TextBox 8"/>
          <p:cNvSpPr txBox="1"/>
          <p:nvPr/>
        </p:nvSpPr>
        <p:spPr>
          <a:xfrm>
            <a:off x="4434840" y="2697480"/>
            <a:ext cx="3383279" cy="608076"/>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Vπ·L at gap 3.2 µm</a:t>
            </a:r>
          </a:p>
          <a:p>
            <a:pPr algn="ctr">
              <a:spcAft>
                <a:spcPts val="0"/>
              </a:spcAft>
            </a:pPr>
            <a:r>
              <a:rPr sz="1100" b="0" i="0">
                <a:solidFill>
                  <a:srgbClr val="595959"/>
                </a:solidFill>
                <a:latin typeface="Arial"/>
              </a:rPr>
              <a:t>(standard: 2.27 at 4.2 µm)</a:t>
            </a:r>
          </a:p>
        </p:txBody>
      </p:sp>
      <p:sp>
        <p:nvSpPr>
          <p:cNvPr id="10" name="Rounded Rectangle 9"/>
          <p:cNvSpPr/>
          <p:nvPr/>
        </p:nvSpPr>
        <p:spPr>
          <a:xfrm>
            <a:off x="8138160" y="1737360"/>
            <a:ext cx="3566160" cy="16002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847088"/>
            <a:ext cx="3566160" cy="880110"/>
          </a:xfrm>
          <a:prstGeom prst="rect">
            <a:avLst/>
          </a:prstGeom>
          <a:noFill/>
        </p:spPr>
        <p:txBody>
          <a:bodyPr wrap="square" lIns="45720" rIns="45720" tIns="27432" bIns="27432" anchor="ctr">
            <a:spAutoFit/>
          </a:bodyPr>
          <a:lstStyle/>
          <a:p>
            <a:pPr algn="ctr">
              <a:spcAft>
                <a:spcPts val="600"/>
              </a:spcAft>
            </a:pPr>
            <a:r>
              <a:rPr sz="3000" b="1" i="0">
                <a:solidFill>
                  <a:srgbClr val="2A78D6"/>
                </a:solidFill>
                <a:latin typeface="Arial"/>
              </a:rPr>
              <a:t>38 nm</a:t>
            </a:r>
          </a:p>
        </p:txBody>
      </p:sp>
      <p:sp>
        <p:nvSpPr>
          <p:cNvPr id="12" name="TextBox 11"/>
          <p:cNvSpPr txBox="1"/>
          <p:nvPr/>
        </p:nvSpPr>
        <p:spPr>
          <a:xfrm>
            <a:off x="8229600" y="2697480"/>
            <a:ext cx="3383279" cy="608076"/>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cutoff thickness</a:t>
            </a:r>
          </a:p>
          <a:p>
            <a:pPr algn="ctr">
              <a:spcAft>
                <a:spcPts val="0"/>
              </a:spcAft>
            </a:pPr>
            <a:r>
              <a:rPr sz="1100" b="0" i="0">
                <a:solidFill>
                  <a:srgbClr val="595959"/>
                </a:solidFill>
                <a:latin typeface="Arial"/>
              </a:rPr>
              <a:t>200 nm = 5× margin</a:t>
            </a:r>
          </a:p>
        </p:txBody>
      </p:sp>
      <p:sp>
        <p:nvSpPr>
          <p:cNvPr id="13" name="Rounded Rectangle 12"/>
          <p:cNvSpPr/>
          <p:nvPr/>
        </p:nvSpPr>
        <p:spPr>
          <a:xfrm>
            <a:off x="548640" y="3657600"/>
            <a:ext cx="11155680" cy="265176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800"/>
              </a:spcAft>
            </a:pPr>
            <a:r>
              <a:rPr sz="1600" b="1" i="0">
                <a:solidFill>
                  <a:srgbClr val="222222"/>
                </a:solidFill>
                <a:latin typeface="Arial"/>
              </a:rPr>
              <a:t>Why no geometric trick can replace it</a:t>
            </a:r>
          </a:p>
          <a:p>
            <a:pPr algn="l">
              <a:spcAft>
                <a:spcPts val="600"/>
              </a:spcAft>
            </a:pPr>
            <a:r>
              <a:rPr sz="1400" b="0" i="0">
                <a:solidFill>
                  <a:srgbClr val="222222"/>
                </a:solidFill>
                <a:latin typeface="Arial"/>
              </a:rPr>
              <a:t>Under the gold the wave cannot radiate (β &gt; k₀n of every cladding): any termination reflects it → a cavity</a:t>
            </a:r>
          </a:p>
          <a:p>
            <a:pPr algn="l">
              <a:spcAft>
                <a:spcPts val="600"/>
              </a:spcAft>
            </a:pPr>
            <a:r>
              <a:rPr sz="1400" b="0" i="0">
                <a:solidFill>
                  <a:srgbClr val="222222"/>
                </a:solidFill>
                <a:latin typeface="Arial"/>
              </a:rPr>
              <a:t>Ripples vanish only if the wave is never launched: no slab under the gold (Vπ·L +35 % … +140 %) or a buffer above cutoff</a:t>
            </a:r>
          </a:p>
          <a:p>
            <a:pPr algn="l">
              <a:spcAft>
                <a:spcPts val="600"/>
              </a:spcAft>
            </a:pPr>
            <a:r>
              <a:rPr sz="1400" b="0" i="0">
                <a:solidFill>
                  <a:srgbClr val="222222"/>
                </a:solidFill>
                <a:latin typeface="Arial"/>
              </a:rPr>
              <a:t>Thin LN under the gold (deeper or partial etch) also kills the wave, but at equal Vπ·L its IL is 2 – 3× higher</a:t>
            </a:r>
          </a:p>
          <a:p>
            <a:pPr algn="l">
              <a:spcAft>
                <a:spcPts val="600"/>
              </a:spcAft>
            </a:pPr>
            <a:r>
              <a:rPr sz="1400" b="0" i="0">
                <a:solidFill>
                  <a:srgbClr val="222222"/>
                </a:solidFill>
                <a:latin typeface="Arial"/>
              </a:rPr>
              <a:t>Buffer: same materials, keeps the lift, one blanket SiO₂ deposition before the gold, no extra lithography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762</TotalTime>
  <Words>794</Words>
  <Application>Microsoft Office PowerPoint</Application>
  <PresentationFormat>Widescreen</PresentationFormat>
  <Paragraphs>37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40</cp:revision>
  <dcterms:created xsi:type="dcterms:W3CDTF">2025-12-01T09:32:09Z</dcterms:created>
  <dcterms:modified xsi:type="dcterms:W3CDTF">2026-10-01T07:24:56Z</dcterms:modified>
</cp:coreProperties>
</file>