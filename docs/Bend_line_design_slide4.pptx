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5" d="100"/>
          <a:sy n="105" d="100"/>
        </p:scale>
        <p:origin x="8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4.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CC36F-2A63-4F1A-A353-45229F9441AB}"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462E5-9762-40A4-80E8-4F238B7ACA7A}" type="slidenum">
              <a:rPr lang="en-US" smtClean="0"/>
              <a:t>‹#›</a:t>
            </a:fld>
            <a:endParaRPr lang="en-US"/>
          </a:p>
        </p:txBody>
      </p:sp>
    </p:spTree>
    <p:extLst>
      <p:ext uri="{BB962C8B-B14F-4D97-AF65-F5344CB8AC3E}">
        <p14:creationId xmlns:p14="http://schemas.microsoft.com/office/powerpoint/2010/main" val="4150032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modulating section of the 5NK0050 device, C-band 550 nm TFLN etched by 275 nm (275 nm slab): S 35 um, gap 4.15 um, Wg 50 um, 2 um gold sitting on the LN slab, with the waveguide ribs in the gaps. The table gives the measured 5NK0050 line. Right: the bend. Where the electrode turns, the waveguides are routed elsewhere: no LN ribs under the bend, the gold is still 2 um thick (same metal layer, no new mask) but sits on 3.6 um of SiO2 above the 275 nm LN slab. The zooms show the right-hand gap at true scale. With almost no LN in the field, the microwave index drops from about 2.29 to 1.73: the RF is faster than the light (n_g 2.27). So the bend is a line of its own: its length decides how long the RF takes to reach the next section, and its impedance decides whether there are reflections at both ends. The inverse design later chooses S, W, Wg so that |Zc| equals the line's.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C48CF-5D94-277B-4917-A50E19718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4B7E60-9F66-1883-45F0-77BB1D07B4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877522-275D-1405-A7AE-667FFC51B6B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E72A4E0-3AF4-785D-B839-2214FB648F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0E961D-2F71-1EBE-9298-336DF08B1D2C}"/>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41396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F54A-A149-F283-E5EA-F7BD29065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8D45B2-B66D-0F60-49F8-3D01C75E53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CF4C4-C4E8-0F2B-8305-E63F462E2B6B}"/>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099418B-3B38-0745-961E-85AF718CBD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AF101-F462-8A72-F015-A1C841792A8B}"/>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4050679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71D38-BB99-CBCC-0265-E2D9A9201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F88D70-7C38-3390-A780-128242A11E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C99F3D-2223-1A96-DA2B-5AEFE7D9632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B93064CF-C831-874F-9928-A447F31F3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767603-82BC-FE5F-F825-84DDF4AF9559}"/>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045257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A8D5F-8F0B-ACC7-8337-2A1C152674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F74044-977A-C190-8DA2-822D701ED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76CE2E-3749-07D5-2197-401CA51D61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01F53E-4660-9532-88FE-7908FE6B8AF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2212D36A-9311-4E5A-6F39-8CB61AB4E2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6503B4-8197-133A-FA36-3344E3F3C415}"/>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503505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BA873-F4AC-8E49-8F7E-B9E8F1BAB4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E863D4-05B6-9AE8-5727-1D2C37CB6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BF5FAA-6EBE-7944-5EA3-802091A1FF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F4806D-1FB3-CD54-CF67-57B401CCF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6DF826-1F8C-A403-CAC9-B8A0F6769A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8C510B-763D-1C12-C7EB-7AD5B28EEAC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8" name="Footer Placeholder 7">
            <a:extLst>
              <a:ext uri="{FF2B5EF4-FFF2-40B4-BE49-F238E27FC236}">
                <a16:creationId xmlns:a16="http://schemas.microsoft.com/office/drawing/2014/main" id="{8ED9C543-285B-F707-8CB7-E0104F8CFB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687C71-DDA4-BFF2-0F51-DF26131BF4EF}"/>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990022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B840-EA07-22E2-A22C-6A61203802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E16E4A-72FE-5D84-0374-90AB455698E6}"/>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4" name="Footer Placeholder 3">
            <a:extLst>
              <a:ext uri="{FF2B5EF4-FFF2-40B4-BE49-F238E27FC236}">
                <a16:creationId xmlns:a16="http://schemas.microsoft.com/office/drawing/2014/main" id="{955E8357-F4B7-3331-2EE0-E193FBE83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018554-50D0-DA83-C4F4-02C41DD67251}"/>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935242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500F2-9716-A1A8-4434-8C4908507F8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3" name="Footer Placeholder 2">
            <a:extLst>
              <a:ext uri="{FF2B5EF4-FFF2-40B4-BE49-F238E27FC236}">
                <a16:creationId xmlns:a16="http://schemas.microsoft.com/office/drawing/2014/main" id="{E411DBF5-196B-8AAD-41E9-4D02118C9D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0AE642-89F5-CC7E-8990-F8091CB24516}"/>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1493189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C01E-83E8-B257-6ABD-B736ADD1C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E490AE-893A-0498-EDE1-77F95B83B9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2ED0CB-EBAB-00CF-187B-BF916FD7D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4D795-9810-7D10-4D49-E50A3699683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EE038A76-FED7-34A2-6983-5E894F7D34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850DD2-164F-F716-7519-5BE819D49B8C}"/>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1369377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63CD-C176-381B-119D-053C817415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6356E7-43B4-F3BF-C480-7ED1E14D6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8331D0-5652-5C57-C7DC-7C0F1CF48D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317AD-514C-271A-1750-29C99B934DAE}"/>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569AEC50-6A35-B567-A187-05BCDCAD55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E6574F-382B-1B34-4B85-64B0EA2A4EDE}"/>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107757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B51BB-BD45-B536-9FE9-BC1CF3D009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6C92E1-EA83-B021-BD95-9356FDF2C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FAF5F-2CC1-F4F3-6A42-740EA5EADC1A}"/>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50236618-FB36-8157-9D99-D5CD7C638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A9AAD-0F5F-B0D7-1934-85BC3F5E8556}"/>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4094814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127568-B49F-966C-DA93-622004AC1D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5C9395-59C8-F7B3-AC4C-46A4249A9C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A36246-5E71-7241-C520-CC3587A2A9CD}"/>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8B16AF4-AB52-5650-0ECF-DB34251DC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5F979-A3BC-61BF-5DAE-99FB5FFC9254}"/>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567053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71040" y="0"/>
            <a:ext cx="2467880" cy="2057147"/>
          </a:xfrm>
          <a:prstGeom prst="rect">
            <a:avLst/>
          </a:prstGeom>
          <a:noFill/>
        </p:spPr>
      </p:pic>
      <p:grpSp>
        <p:nvGrpSpPr>
          <p:cNvPr id="8" name="组合 7"/>
          <p:cNvGrpSpPr/>
          <p:nvPr userDrawn="1"/>
        </p:nvGrpSpPr>
        <p:grpSpPr>
          <a:xfrm>
            <a:off x="0" y="6485001"/>
            <a:ext cx="12192000" cy="383243"/>
            <a:chOff x="0" y="4833033"/>
            <a:chExt cx="9144000" cy="287432"/>
          </a:xfrm>
        </p:grpSpPr>
        <p:sp>
          <p:nvSpPr>
            <p:cNvPr id="9" name="Text Box 2"/>
            <p:cNvSpPr txBox="1">
              <a:spLocks noChangeArrowheads="1"/>
            </p:cNvSpPr>
            <p:nvPr/>
          </p:nvSpPr>
          <p:spPr bwMode="auto">
            <a:xfrm>
              <a:off x="0" y="4835723"/>
              <a:ext cx="1763688" cy="284742"/>
            </a:xfrm>
            <a:prstGeom prst="rect">
              <a:avLst/>
            </a:prstGeom>
            <a:solidFill>
              <a:srgbClr val="DC0000"/>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0" name="Text Box 2"/>
            <p:cNvSpPr txBox="1">
              <a:spLocks noChangeArrowheads="1"/>
            </p:cNvSpPr>
            <p:nvPr/>
          </p:nvSpPr>
          <p:spPr bwMode="auto">
            <a:xfrm>
              <a:off x="1763688" y="4835723"/>
              <a:ext cx="7380312" cy="284742"/>
            </a:xfrm>
            <a:prstGeom prst="rect">
              <a:avLst/>
            </a:prstGeom>
            <a:solidFill>
              <a:srgbClr val="00288C"/>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1" name="矩形 10"/>
            <p:cNvSpPr/>
            <p:nvPr/>
          </p:nvSpPr>
          <p:spPr>
            <a:xfrm>
              <a:off x="0" y="4833033"/>
              <a:ext cx="9143999" cy="276999"/>
            </a:xfrm>
            <a:prstGeom prst="rect">
              <a:avLst/>
            </a:prstGeom>
          </p:spPr>
          <p:txBody>
            <a:bodyPr wrap="square">
              <a:spAutoFit/>
            </a:bodyPr>
            <a:lstStyle/>
            <a:p>
              <a:pPr algn="ctr"/>
              <a:r>
                <a:rPr kumimoji="1" lang="en-US" altLang="zh-TW" sz="1800" dirty="0">
                  <a:solidFill>
                    <a:schemeClr val="bg1"/>
                  </a:solidFill>
                  <a:latin typeface="Arial" panose="020B0604020202020204" pitchFamily="34" charset="0"/>
                  <a:ea typeface="PMingLiU" pitchFamily="18" charset="-120"/>
                  <a:cs typeface="Arial" panose="020B0604020202020204" pitchFamily="34" charset="0"/>
                </a:rPr>
                <a:t>www.afrmilan.com</a:t>
              </a:r>
            </a:p>
          </p:txBody>
        </p:sp>
      </p:grpSp>
    </p:spTree>
    <p:extLst>
      <p:ext uri="{BB962C8B-B14F-4D97-AF65-F5344CB8AC3E}">
        <p14:creationId xmlns:p14="http://schemas.microsoft.com/office/powerpoint/2010/main" val="1489749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grpSp>
        <p:nvGrpSpPr>
          <p:cNvPr id="9" name="组合 61"/>
          <p:cNvGrpSpPr/>
          <p:nvPr userDrawn="1"/>
        </p:nvGrpSpPr>
        <p:grpSpPr>
          <a:xfrm>
            <a:off x="631357" y="453550"/>
            <a:ext cx="996088" cy="0"/>
            <a:chOff x="707557" y="548800"/>
            <a:chExt cx="996088" cy="0"/>
          </a:xfrm>
        </p:grpSpPr>
        <p:cxnSp>
          <p:nvCxnSpPr>
            <p:cNvPr id="10" name="直接连接符 9"/>
            <p:cNvCxnSpPr/>
            <p:nvPr/>
          </p:nvCxnSpPr>
          <p:spPr bwMode="auto">
            <a:xfrm>
              <a:off x="707557" y="548800"/>
              <a:ext cx="299539" cy="0"/>
            </a:xfrm>
            <a:prstGeom prst="line">
              <a:avLst/>
            </a:prstGeom>
            <a:solidFill>
              <a:schemeClr val="accent1"/>
            </a:solidFill>
            <a:ln w="25400" cap="flat" cmpd="sng" algn="ctr">
              <a:solidFill>
                <a:srgbClr val="F20013"/>
              </a:solidFill>
              <a:prstDash val="solid"/>
              <a:round/>
              <a:headEnd type="none" w="med" len="med"/>
              <a:tailEnd type="none" w="med" len="med"/>
            </a:ln>
            <a:effectLst/>
          </p:spPr>
        </p:cxnSp>
        <p:cxnSp>
          <p:nvCxnSpPr>
            <p:cNvPr id="12" name="直接连接符 11"/>
            <p:cNvCxnSpPr/>
            <p:nvPr/>
          </p:nvCxnSpPr>
          <p:spPr bwMode="auto">
            <a:xfrm>
              <a:off x="983645" y="548800"/>
              <a:ext cx="720000" cy="0"/>
            </a:xfrm>
            <a:prstGeom prst="line">
              <a:avLst/>
            </a:prstGeom>
            <a:solidFill>
              <a:schemeClr val="accent1"/>
            </a:solidFill>
            <a:ln w="25400" cap="flat" cmpd="sng" algn="ctr">
              <a:solidFill>
                <a:srgbClr val="0E2268"/>
              </a:solidFill>
              <a:prstDash val="solid"/>
              <a:round/>
              <a:headEnd type="none" w="med" len="med"/>
              <a:tailEnd type="none" w="med" len="med"/>
            </a:ln>
            <a:effectLst/>
          </p:spPr>
        </p:cxnSp>
      </p:grpSp>
      <p:grpSp>
        <p:nvGrpSpPr>
          <p:cNvPr id="13" name="组合 12"/>
          <p:cNvGrpSpPr/>
          <p:nvPr userDrawn="1"/>
        </p:nvGrpSpPr>
        <p:grpSpPr>
          <a:xfrm>
            <a:off x="10607281" y="233681"/>
            <a:ext cx="1177119" cy="900000"/>
            <a:chOff x="7955458" y="175261"/>
            <a:chExt cx="882839" cy="67500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32060" t="23787" r="27970" b="32989"/>
            <a:stretch>
              <a:fillRect/>
            </a:stretch>
          </p:blipFill>
          <p:spPr>
            <a:xfrm>
              <a:off x="7955458" y="175261"/>
              <a:ext cx="882839" cy="675000"/>
            </a:xfrm>
            <a:prstGeom prst="rect">
              <a:avLst/>
            </a:prstGeom>
          </p:spPr>
        </p:pic>
        <p:sp>
          <p:nvSpPr>
            <p:cNvPr id="15" name="椭圆 14"/>
            <p:cNvSpPr/>
            <p:nvPr userDrawn="1"/>
          </p:nvSpPr>
          <p:spPr>
            <a:xfrm>
              <a:off x="8676456" y="195486"/>
              <a:ext cx="144016" cy="144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extLst>
      <p:ext uri="{BB962C8B-B14F-4D97-AF65-F5344CB8AC3E}">
        <p14:creationId xmlns:p14="http://schemas.microsoft.com/office/powerpoint/2010/main" val="33285602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FB5CBE-16B3-E38A-B202-DD6A9A610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2B50FB-DD96-88A4-B12A-5356FDB5D6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4A9B6-518F-CF03-4199-4F2D32183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4CE8336F-6941-638B-CC70-DD5FDD180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4247DF-32E2-7EEB-3071-DBCF205D4F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4B6DC9-896C-4421-936D-AC4B2502BB53}" type="slidenum">
              <a:rPr lang="en-US" smtClean="0"/>
              <a:t>‹#›</a:t>
            </a:fld>
            <a:endParaRPr lang="en-US"/>
          </a:p>
        </p:txBody>
      </p:sp>
    </p:spTree>
    <p:extLst>
      <p:ext uri="{BB962C8B-B14F-4D97-AF65-F5344CB8AC3E}">
        <p14:creationId xmlns:p14="http://schemas.microsoft.com/office/powerpoint/2010/main" val="986391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4.xml"/></Relationships>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0</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Modulating section vs bend</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Same 2 µm gold; no ribs, electrodes on 3.6 µm SiO₂ instead of the LN slab: a different line</a:t>
            </a:r>
          </a:p>
        </p:txBody>
      </p:sp>
      <p:pic>
        <p:nvPicPr>
          <p:cNvPr id="5" name="Picture 4" descr="xs_compare.png"/>
          <p:cNvPicPr>
            <a:picLocks noChangeAspect="1"/>
          </p:cNvPicPr>
          <p:nvPr/>
        </p:nvPicPr>
        <p:blipFill>
          <a:blip r:embed="rId2"/>
          <a:stretch>
            <a:fillRect/>
          </a:stretch>
        </p:blipFill>
        <p:spPr>
          <a:xfrm>
            <a:off x="1796096" y="1371600"/>
            <a:ext cx="8599502" cy="3154680"/>
          </a:xfrm>
          <a:prstGeom prst="rect">
            <a:avLst/>
          </a:prstGeom>
        </p:spPr>
      </p:pic>
      <p:graphicFrame>
        <p:nvGraphicFramePr>
          <p:cNvPr id="6" name="Table 5"/>
          <p:cNvGraphicFramePr>
            <a:graphicFrameLocks noGrp="1"/>
          </p:cNvGraphicFramePr>
          <p:nvPr/>
        </p:nvGraphicFramePr>
        <p:xfrm>
          <a:off x="685800" y="4709160"/>
          <a:ext cx="6035039" cy="1536192"/>
        </p:xfrm>
        <a:graphic>
          <a:graphicData uri="http://schemas.openxmlformats.org/drawingml/2006/table">
            <a:tbl>
              <a:tblPr firstRow="0" bandRow="0"/>
              <a:tblGrid>
                <a:gridCol w="1097280"/>
                <a:gridCol w="2743199"/>
                <a:gridCol w="2194560"/>
              </a:tblGrid>
              <a:tr h="384048">
                <a:tc>
                  <a:txBody>
                    <a:bodyPr wrap="square"/>
                    <a:lstStyle/>
                    <a:p>
                      <a:pPr algn="l"/>
                      <a:r>
                        <a:rPr sz="1200" b="1" i="0">
                          <a:solidFill>
                            <a:srgbClr val="FFFFFF"/>
                          </a:solidFill>
                          <a:latin typeface="Arial"/>
                        </a:rPr>
                        <a:t>at 60 GHz</a:t>
                      </a:r>
                    </a:p>
                  </a:txBody>
                  <a:tcPr marL="54864" marR="54864" marT="18288" marB="18288" anchor="ctr">
                    <a:solidFill>
                      <a:srgbClr val="0E2268"/>
                    </a:solidFill>
                  </a:tcPr>
                </a:tc>
                <a:tc>
                  <a:txBody>
                    <a:bodyPr wrap="square"/>
                    <a:lstStyle/>
                    <a:p>
                      <a:pPr algn="ctr"/>
                      <a:r>
                        <a:rPr sz="1200" b="1" i="0">
                          <a:solidFill>
                            <a:srgbClr val="FFFFFF"/>
                          </a:solidFill>
                          <a:latin typeface="Arial"/>
                        </a:rPr>
                        <a:t>modulating line (5NK0050, measured)</a:t>
                      </a:r>
                    </a:p>
                  </a:txBody>
                  <a:tcPr marL="54864" marR="54864" marT="18288" marB="18288" anchor="ctr">
                    <a:solidFill>
                      <a:srgbClr val="0E2268"/>
                    </a:solidFill>
                  </a:tcPr>
                </a:tc>
                <a:tc>
                  <a:txBody>
                    <a:bodyPr wrap="square"/>
                    <a:lstStyle/>
                    <a:p>
                      <a:pPr algn="ctr"/>
                      <a:r>
                        <a:rPr sz="1200" b="1" i="0">
                          <a:solidFill>
                            <a:srgbClr val="FFFFFF"/>
                          </a:solidFill>
                          <a:latin typeface="Arial"/>
                        </a:rPr>
                        <a:t>bend (designed, model)</a:t>
                      </a:r>
                    </a:p>
                  </a:txBody>
                  <a:tcPr marL="54864" marR="54864" marT="18288" marB="18288" anchor="ctr">
                    <a:solidFill>
                      <a:srgbClr val="0E2268"/>
                    </a:solidFill>
                  </a:tcPr>
                </a:tc>
              </a:tr>
              <a:tr h="384048">
                <a:tc>
                  <a:txBody>
                    <a:bodyPr wrap="square"/>
                    <a:lstStyle/>
                    <a:p>
                      <a:pPr algn="l"/>
                      <a:r>
                        <a:rPr sz="1200" b="1" i="0">
                          <a:solidFill>
                            <a:srgbClr val="1A1A1A"/>
                          </a:solidFill>
                          <a:latin typeface="Arial"/>
                        </a:rPr>
                        <a:t>|Zc|</a:t>
                      </a:r>
                    </a:p>
                  </a:txBody>
                  <a:tcPr marL="54864" marR="54864" marT="18288" marB="18288" anchor="ctr">
                    <a:solidFill>
                      <a:srgbClr val="F1F3F8"/>
                    </a:solidFill>
                  </a:tcPr>
                </a:tc>
                <a:tc>
                  <a:txBody>
                    <a:bodyPr wrap="square"/>
                    <a:lstStyle/>
                    <a:p>
                      <a:pPr algn="ctr"/>
                      <a:r>
                        <a:rPr sz="1200" b="0" i="0">
                          <a:solidFill>
                            <a:srgbClr val="1A1A1A"/>
                          </a:solidFill>
                          <a:latin typeface="Arial"/>
                        </a:rPr>
                        <a:t>42.31 Ω</a:t>
                      </a:r>
                    </a:p>
                  </a:txBody>
                  <a:tcPr marL="54864" marR="54864" marT="18288" marB="18288" anchor="ctr">
                    <a:solidFill>
                      <a:srgbClr val="F1F3F8"/>
                    </a:solidFill>
                  </a:tcPr>
                </a:tc>
                <a:tc>
                  <a:txBody>
                    <a:bodyPr wrap="square"/>
                    <a:lstStyle/>
                    <a:p>
                      <a:pPr algn="ctr"/>
                      <a:r>
                        <a:rPr sz="1200" b="0" i="0">
                          <a:solidFill>
                            <a:srgbClr val="1A1A1A"/>
                          </a:solidFill>
                          <a:latin typeface="Arial"/>
                        </a:rPr>
                        <a:t>42.31 Ω</a:t>
                      </a:r>
                    </a:p>
                  </a:txBody>
                  <a:tcPr marL="54864" marR="54864" marT="18288" marB="18288" anchor="ctr">
                    <a:solidFill>
                      <a:srgbClr val="F1F3F8"/>
                    </a:solidFill>
                  </a:tcPr>
                </a:tc>
              </a:tr>
              <a:tr h="384048">
                <a:tc>
                  <a:txBody>
                    <a:bodyPr wrap="square"/>
                    <a:lstStyle/>
                    <a:p>
                      <a:pPr algn="l"/>
                      <a:r>
                        <a:rPr sz="1200" b="1" i="0">
                          <a:solidFill>
                            <a:srgbClr val="1A1A1A"/>
                          </a:solidFill>
                          <a:latin typeface="Arial"/>
                        </a:rPr>
                        <a:t>n_m</a:t>
                      </a:r>
                    </a:p>
                  </a:txBody>
                  <a:tcPr marL="54864" marR="54864" marT="18288" marB="18288" anchor="ctr">
                    <a:solidFill>
                      <a:srgbClr val="FFFFFF"/>
                    </a:solidFill>
                  </a:tcPr>
                </a:tc>
                <a:tc>
                  <a:txBody>
                    <a:bodyPr wrap="square"/>
                    <a:lstStyle/>
                    <a:p>
                      <a:pPr algn="ctr"/>
                      <a:r>
                        <a:rPr sz="1200" b="0" i="0">
                          <a:solidFill>
                            <a:srgbClr val="1A1A1A"/>
                          </a:solidFill>
                          <a:latin typeface="Arial"/>
                        </a:rPr>
                        <a:t>2.288</a:t>
                      </a:r>
                    </a:p>
                  </a:txBody>
                  <a:tcPr marL="54864" marR="54864" marT="18288" marB="18288" anchor="ctr">
                    <a:solidFill>
                      <a:srgbClr val="FFFFFF"/>
                    </a:solidFill>
                  </a:tcPr>
                </a:tc>
                <a:tc>
                  <a:txBody>
                    <a:bodyPr wrap="square"/>
                    <a:lstStyle/>
                    <a:p>
                      <a:pPr algn="ctr"/>
                      <a:r>
                        <a:rPr sz="1200" b="0" i="0">
                          <a:solidFill>
                            <a:srgbClr val="1A1A1A"/>
                          </a:solidFill>
                          <a:latin typeface="Arial"/>
                        </a:rPr>
                        <a:t>1.728</a:t>
                      </a:r>
                    </a:p>
                  </a:txBody>
                  <a:tcPr marL="54864" marR="54864" marT="18288" marB="18288" anchor="ctr">
                    <a:solidFill>
                      <a:srgbClr val="FFFFFF"/>
                    </a:solidFill>
                  </a:tcPr>
                </a:tc>
              </a:tr>
              <a:tr h="384048">
                <a:tc>
                  <a:txBody>
                    <a:bodyPr wrap="square"/>
                    <a:lstStyle/>
                    <a:p>
                      <a:pPr algn="l"/>
                      <a:r>
                        <a:rPr sz="1200" b="1" i="0">
                          <a:solidFill>
                            <a:srgbClr val="1A1A1A"/>
                          </a:solidFill>
                          <a:latin typeface="Arial"/>
                        </a:rPr>
                        <a:t>α</a:t>
                      </a:r>
                    </a:p>
                  </a:txBody>
                  <a:tcPr marL="54864" marR="54864" marT="18288" marB="18288" anchor="ctr">
                    <a:solidFill>
                      <a:srgbClr val="F1F3F8"/>
                    </a:solidFill>
                  </a:tcPr>
                </a:tc>
                <a:tc>
                  <a:txBody>
                    <a:bodyPr wrap="square"/>
                    <a:lstStyle/>
                    <a:p>
                      <a:pPr algn="ctr"/>
                      <a:r>
                        <a:rPr sz="1200" b="0" i="0">
                          <a:solidFill>
                            <a:srgbClr val="1A1A1A"/>
                          </a:solidFill>
                          <a:latin typeface="Arial"/>
                        </a:rPr>
                        <a:t>5.31 dB/cm</a:t>
                      </a:r>
                    </a:p>
                  </a:txBody>
                  <a:tcPr marL="54864" marR="54864" marT="18288" marB="18288" anchor="ctr">
                    <a:solidFill>
                      <a:srgbClr val="F1F3F8"/>
                    </a:solidFill>
                  </a:tcPr>
                </a:tc>
                <a:tc>
                  <a:txBody>
                    <a:bodyPr wrap="square"/>
                    <a:lstStyle/>
                    <a:p>
                      <a:pPr algn="ctr"/>
                      <a:r>
                        <a:rPr sz="1200" b="0" i="0">
                          <a:solidFill>
                            <a:srgbClr val="1A1A1A"/>
                          </a:solidFill>
                          <a:latin typeface="Arial"/>
                        </a:rPr>
                        <a:t>4.02 dB/cm</a:t>
                      </a:r>
                    </a:p>
                  </a:txBody>
                  <a:tcPr marL="54864" marR="54864" marT="18288" marB="18288" anchor="ctr">
                    <a:solidFill>
                      <a:srgbClr val="F1F3F8"/>
                    </a:solidFill>
                  </a:tcPr>
                </a:tc>
              </a:tr>
            </a:tbl>
          </a:graphicData>
        </a:graphic>
      </p:graphicFrame>
      <p:sp>
        <p:nvSpPr>
          <p:cNvPr id="7" name="Rounded Rectangle 6"/>
          <p:cNvSpPr/>
          <p:nvPr/>
        </p:nvSpPr>
        <p:spPr>
          <a:xfrm>
            <a:off x="7086600" y="4709160"/>
            <a:ext cx="4434840" cy="1554480"/>
          </a:xfrm>
          <a:prstGeom prst="roundRect">
            <a:avLst>
              <a:gd name="adj" fmla="val 14000"/>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8" name="TextBox 7"/>
          <p:cNvSpPr txBox="1"/>
          <p:nvPr/>
        </p:nvSpPr>
        <p:spPr>
          <a:xfrm>
            <a:off x="7223760" y="4773168"/>
            <a:ext cx="4206240" cy="1463040"/>
          </a:xfrm>
          <a:prstGeom prst="rect">
            <a:avLst/>
          </a:prstGeom>
          <a:noFill/>
        </p:spPr>
        <p:txBody>
          <a:bodyPr wrap="square" lIns="27432" rIns="27432" tIns="18288" bIns="18288" anchor="t">
            <a:spAutoFit/>
          </a:bodyPr>
          <a:lstStyle/>
          <a:p>
            <a:pPr algn="l">
              <a:spcAft>
                <a:spcPts val="300"/>
              </a:spcAft>
            </a:pPr>
            <a:r>
              <a:rPr sz="1500" b="1" i="0">
                <a:solidFill>
                  <a:srgbClr val="F20013"/>
                </a:solidFill>
                <a:latin typeface="Arial"/>
              </a:rPr>
              <a:t>n_m drops from 2.29 to 1.73</a:t>
            </a:r>
          </a:p>
          <a:p>
            <a:pPr algn="l">
              <a:spcAft>
                <a:spcPts val="300"/>
              </a:spcAft>
            </a:pPr>
            <a:r>
              <a:rPr sz="1200" b="0" i="0">
                <a:solidFill>
                  <a:srgbClr val="1A1A1A"/>
                </a:solidFill>
                <a:latin typeface="Arial"/>
              </a:rPr>
              <a:t>the RF crosses the bend faster than the light → the bend length is set by the delay it must give</a:t>
            </a:r>
          </a:p>
          <a:p>
            <a:pPr algn="l">
              <a:spcAft>
                <a:spcPts val="300"/>
              </a:spcAft>
            </a:pPr>
            <a:r>
              <a:rPr sz="1200" b="0" i="0">
                <a:solidFill>
                  <a:srgbClr val="1A1A1A"/>
                </a:solidFill>
                <a:latin typeface="Arial"/>
              </a:rPr>
              <a:t>same |Zc| as the line → no reflection at the bend ends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1893</TotalTime>
  <Words>466</Words>
  <Application>Microsoft Office PowerPoint</Application>
  <PresentationFormat>Widescreen</PresentationFormat>
  <Paragraphs>120</Paragraphs>
  <Slides>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微软雅黑</vt:lpstr>
      <vt:lpstr>Aptos</vt:lpstr>
      <vt:lpstr>Aptos Display</vt:lpstr>
      <vt:lpstr>Aptos Narrow</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Andrei.Muresian</dc:creator>
  <cp:lastModifiedBy>Andrei.Muresian</cp:lastModifiedBy>
  <cp:revision>29</cp:revision>
  <dcterms:created xsi:type="dcterms:W3CDTF">2025-12-17T10:39:38Z</dcterms:created>
  <dcterms:modified xsi:type="dcterms:W3CDTF">2026-09-28T09:09:54Z</dcterms:modified>
</cp:coreProperties>
</file>