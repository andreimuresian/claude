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CC36F-2A63-4F1A-A353-45229F9441A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462E5-9762-40A4-80E8-4F238B7A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32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OMA: optical modulation amplitude. X: crossing percentage. Q: quality factor. mu/sigma: mean and standard deviation of the photocurrent of each level at the sampling instant. Dashed lines on the code plots: static maximum/minimum of the transfer curve (infinite bandwidth); dotted: all laser light reaching the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48CF-5D94-277B-4917-A50E19718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B7E60-9F66-1883-45F0-77BB1D07B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77522-275D-1405-A7AE-667FFC51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2A4E0-3AF4-785D-B839-2214FB64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E961D-2F71-1EBE-9298-336DF08B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6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F54A-A149-F283-E5EA-F7BD2906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D45B2-B66D-0F60-49F8-3D01C75E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CF4C4-C4E8-0F2B-8305-E63F462E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9418B-3B38-0745-961E-85AF718C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AF101-F462-8A72-F015-A1C84179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7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1D38-BB99-CBCC-0265-E2D9A920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88D70-7C38-3390-A780-128242A11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99F3D-2223-1A96-DA2B-5AEFE7D9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064CF-C831-874F-9928-A447F31F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67603-82BC-FE5F-F825-84DDF4AF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5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8D5F-8F0B-ACC7-8337-2A1C1526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74044-977A-C190-8DA2-822D701ED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6CE2E-3749-07D5-2197-401CA51D6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1F53E-4660-9532-88FE-7908FE6B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2D36A-9311-4E5A-6F39-8CB61AB4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503B4-8197-133A-FA36-3344E3F3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0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A873-F4AC-8E49-8F7E-B9E8F1BA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863D4-05B6-9AE8-5727-1D2C37CB6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F5FAA-6EBE-7944-5EA3-802091A1F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4806D-1FB3-CD54-CF67-57B401CCF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DF826-1F8C-A403-CAC9-B8A0F6769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C510B-763D-1C12-C7EB-7AD5B28E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9C543-285B-F707-8CB7-E0104F8CF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87C71-DDA4-BFF2-0F51-DF26131B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2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B840-EA07-22E2-A22C-6A612038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16E4A-72FE-5D84-0374-90AB4556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E8357-F4B7-3331-2EE0-E193FBE8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18554-50D0-DA83-C4F4-02C41DD6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42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500F2-9716-A1A8-4434-8C490850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1DBF5-196B-8AAD-41E9-4D02118C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AE642-89F5-CC7E-8990-F8091CB24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8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C01E-83E8-B257-6ABD-B736ADD1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490AE-893A-0498-EDE1-77F95B83B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ED0CB-EBAB-00CF-187B-BF916FD7D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4D795-9810-7D10-4D49-E50A36996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38A76-FED7-34A2-6983-5E894F7D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50DD2-164F-F716-7519-5BE819D4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7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63CD-C176-381B-119D-053C8174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356E7-43B4-F3BF-C480-7ED1E14D6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331D0-5652-5C57-C7DC-7C0F1CF48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317AD-514C-271A-1750-29C99B93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AEC50-6A35-B567-A187-05BCDCAD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6574F-382B-1B34-4B85-64B0EA2A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5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51BB-BD45-B536-9FE9-BC1CF3D0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C92E1-EA83-B021-BD95-9356FDF2C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FAF5F-2CC1-F4F3-6A42-740EA5EAD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36618-FB36-8157-9D99-D5CD7C63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A9AAD-0F5F-B0D7-1934-85BC3F5E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1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27568-B49F-966C-DA93-622004AC1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C9395-59C8-F7B3-AC4C-46A4249A9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36246-5E71-7241-C520-CC3587A2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16AF4-AB52-5650-0ECF-DB34251D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5F979-A3BC-61BF-5DAE-99FB5FFC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53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9749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3285602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B5CBE-16B3-E38A-B202-DD6A9A61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B50FB-DD96-88A4-B12A-5356FDB5D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4A9B6-518F-CF03-4199-4F2D32183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8336F-6941-638B-CC70-DD5FDD180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247DF-32E2-7EEB-3071-DBCF205D4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9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48840"/>
            <a:ext cx="12188952" cy="1371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A1A1A"/>
                </a:solidFill>
                <a:latin typeface="Arial"/>
              </a:rPr>
              <a:t>Arm imbalances in a push-pull TW-MZM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29000"/>
            <a:ext cx="12188952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5A606E"/>
                </a:solidFill>
                <a:latin typeface="Arial"/>
              </a:rPr>
              <a:t>Effect on EO bandwidth and eye diagram, and how each is represented in Lumerical INTERCONNECT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0E2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2926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E2268"/>
                </a:solidFill>
                <a:latin typeface="Arial"/>
              </a:rPr>
              <a:t>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35204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How the EO bandwidth and the eye are computed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eye features and how they are measured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INTERCONNECT schematic, block by block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two-arm model every imbalance enters</a:t>
            </a:r>
          </a:p>
        </p:txBody>
      </p:sp>
      <p:sp>
        <p:nvSpPr>
          <p:cNvPr id="6" name="Oval 5"/>
          <p:cNvSpPr/>
          <p:nvPr/>
        </p:nvSpPr>
        <p:spPr>
          <a:xfrm>
            <a:off x="4343400" y="1600200"/>
            <a:ext cx="566928" cy="566928"/>
          </a:xfrm>
          <a:prstGeom prst="ellipse">
            <a:avLst/>
          </a:prstGeom>
          <a:solidFill>
            <a:srgbClr val="F20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645920"/>
            <a:ext cx="2926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E2268"/>
                </a:solidFill>
                <a:latin typeface="Arial"/>
              </a:rPr>
              <a:t>The six imbalances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423160"/>
            <a:ext cx="35204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Eye diagrams computed by the code, per value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Equations linking the imbalance to the eye / EO BW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Range, typical value, physical and fabrication cause</a:t>
            </a:r>
          </a:p>
        </p:txBody>
      </p:sp>
      <p:sp>
        <p:nvSpPr>
          <p:cNvPr id="9" name="Oval 8"/>
          <p:cNvSpPr/>
          <p:nvPr/>
        </p:nvSpPr>
        <p:spPr>
          <a:xfrm>
            <a:off x="8138160" y="1600200"/>
            <a:ext cx="566928" cy="566928"/>
          </a:xfrm>
          <a:prstGeom prst="ellipse">
            <a:avLst/>
          </a:prstGeom>
          <a:solidFill>
            <a:srgbClr val="0E2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45920"/>
            <a:ext cx="2926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E2268"/>
                </a:solidFill>
                <a:latin typeface="Arial"/>
              </a:rPr>
              <a:t>INTERCONNECT 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423160"/>
            <a:ext cx="35204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Which block or property carries each imbalance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Summary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828032"/>
            <a:ext cx="10844784" cy="11795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Reference device for every number and plot in this deck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Measured line “Jerez” (Touchstone, L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meas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= 2.5 mm) scaled to L = 16.5 mm · R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S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= 50 Ω, R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T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= 53 Ω · n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g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= 2.27 · V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= 4 V per arm (2 V push-pull) · 1550 nm, 13 dBm laser (19.95 mW), responsivity 1 A/W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100 Gb/s NRZ, PRBS-9, 2.0 V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pp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drive, driver 70 GHz / receiver 75 GHz (4th-order Bessel), 32 samples per bit, receiver noise OFF (so every change seen is caused by the imbalance). Balanced EO BW = 84.47 GHz.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0.1  How the EO bandwidth is computed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9509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A606E"/>
                </a:solidFill>
                <a:latin typeface="Arial"/>
              </a:rPr>
              <a:t>Travelling-wave transfer function of one electrode, then the two-arm combination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Electrode transfer function (per arm, n</a:t>
            </a:r>
            <a:r>
              <a:rPr sz="1300" b="1" i="0" baseline="-25000">
                <a:solidFill>
                  <a:srgbClr val="0E2268"/>
                </a:solidFill>
                <a:latin typeface="Arial"/>
              </a:rPr>
              <a:t>g</a:t>
            </a:r>
            <a:r>
              <a:rPr sz="1300" b="1" i="0">
                <a:solidFill>
                  <a:srgbClr val="0E2268"/>
                </a:solidFill>
                <a:latin typeface="Arial"/>
              </a:rPr>
              <a:t> of that arm)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uation 5"/>
              <p:cNvSpPr txBox="1"/>
              <p:nvPr/>
            </p:nvSpPr>
            <p:spPr>
              <a:xfrm>
                <a:off x="640080" y="1783080"/>
                <a:ext cx="3115056" cy="43891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e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e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e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e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3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US" sz="1300"/>
              </a:p>
            </p:txBody>
          </p:sp>
        </mc:Choice>
        <mc:Fallback>
          <p:sp>
            <p:nvSpPr>
              <p:cNvPr id="5" name="Equation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783080"/>
                <a:ext cx="3115056" cy="4389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/>
              <p:cNvSpPr txBox="1"/>
              <p:nvPr/>
            </p:nvSpPr>
            <p:spPr>
              <a:xfrm>
                <a:off x="1188720" y="2331720"/>
                <a:ext cx="2676144" cy="43586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e>
                                      <m:r>
                                        <a:rPr lang="en-US" sz="13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3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sSub>
                                <m:e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3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e>
                                      <m:r>
                                        <a:rPr lang="en-US" sz="13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3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sSub>
                                <m:e>
                                  <m:r>
                                    <a:rPr lang="en-US" sz="13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3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300"/>
              </a:p>
            </p:txBody>
          </p:sp>
        </mc:Choice>
        <mc:Fallback>
          <p:sp>
            <p:nvSpPr>
              <p:cNvPr id="6" name="Equation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2331720"/>
                <a:ext cx="2676144" cy="435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uation 7"/>
              <p:cNvSpPr txBox="1"/>
              <p:nvPr/>
            </p:nvSpPr>
            <p:spPr>
              <a:xfrm>
                <a:off x="640080" y="2877312"/>
                <a:ext cx="3209544" cy="341375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12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2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sSub>
                            <m:e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</m:t>
                      </m:r>
                      <m:sSub>
                        <m:e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</m:t>
                      </m:r>
                      <m:sSub>
                        <m:e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sz="1200"/>
              </a:p>
            </p:txBody>
          </p:sp>
        </mc:Choice>
        <mc:Fallback>
          <p:sp>
            <p:nvSpPr>
              <p:cNvPr id="7" name="Equation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877312"/>
                <a:ext cx="3209544" cy="3413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48640" y="3374135"/>
            <a:ext cx="6035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Whole modulator, normalisation, 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quation 9"/>
              <p:cNvSpPr txBox="1"/>
              <p:nvPr/>
            </p:nvSpPr>
            <p:spPr>
              <a:xfrm>
                <a:off x="640080" y="3739896"/>
                <a:ext cx="2938272" cy="18897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e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e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2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2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e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2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>
          <p:sp>
            <p:nvSpPr>
              <p:cNvPr id="9" name="Equation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3739896"/>
                <a:ext cx="2938272" cy="1889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uation 10"/>
              <p:cNvSpPr txBox="1"/>
              <p:nvPr/>
            </p:nvSpPr>
            <p:spPr>
              <a:xfrm>
                <a:off x="640080" y="4020312"/>
                <a:ext cx="2886456" cy="19808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e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e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  <m:sub>
                          <m:sSub>
                            <m:e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e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US" sz="12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200"/>
              </a:p>
            </p:txBody>
          </p:sp>
        </mc:Choice>
        <mc:Fallback>
          <p:sp>
            <p:nvSpPr>
              <p:cNvPr id="10" name="Equation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020312"/>
                <a:ext cx="2886456" cy="1980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uation 11"/>
              <p:cNvSpPr txBox="1"/>
              <p:nvPr/>
            </p:nvSpPr>
            <p:spPr>
              <a:xfrm>
                <a:off x="640080" y="4309836"/>
                <a:ext cx="1499616" cy="18897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e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2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2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12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>
          <p:sp>
            <p:nvSpPr>
              <p:cNvPr id="11" name="Equation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309836"/>
                <a:ext cx="1499616" cy="1889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48640" y="4635972"/>
            <a:ext cx="60350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201168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α(f), n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m</a:t>
            </a:r>
            <a:r>
              <a:rPr sz="1100" b="0" i="0">
                <a:solidFill>
                  <a:srgbClr val="1A1A1A"/>
                </a:solidFill>
                <a:latin typeface="Arial"/>
              </a:rPr>
              <a:t>(f), Z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c</a:t>
            </a:r>
            <a:r>
              <a:rPr sz="1100" b="0" i="0">
                <a:solidFill>
                  <a:srgbClr val="1A1A1A"/>
                </a:solidFill>
                <a:latin typeface="Arial"/>
              </a:rPr>
              <a:t>(f): fitted to the de-embedded Touchstone, then scaled to L</a:t>
            </a:r>
          </a:p>
          <a:p>
            <a:pPr algn="l" marL="201168" indent="-201168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Plateau window f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lo</a:t>
            </a:r>
            <a:r>
              <a:rPr sz="1100" b="0" i="0">
                <a:solidFill>
                  <a:srgbClr val="1A1A1A"/>
                </a:solidFill>
                <a:latin typeface="Arial"/>
              </a:rPr>
              <a:t>..f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hi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averages the low-frequency ripple; INTERCONNECT’s read-back uses the same window</a:t>
            </a:r>
          </a:p>
          <a:p>
            <a:pPr algn="l" marL="201168" indent="-201168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prefactor before the bracket is frequency-flat: it cancels on normalisation</a:t>
            </a:r>
          </a:p>
        </p:txBody>
      </p:sp>
      <p:pic>
        <p:nvPicPr>
          <p:cNvPr id="13" name="Picture 12" descr="response_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1463040"/>
            <a:ext cx="5120640" cy="3169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20840" y="4754880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606E"/>
                </a:solidFill>
                <a:latin typeface="Arial"/>
              </a:rPr>
              <a:t>Right: normalised EO S</a:t>
            </a:r>
            <a:r>
              <a:rPr sz="1000" b="0" i="1" baseline="-25000">
                <a:solidFill>
                  <a:srgbClr val="5A606E"/>
                </a:solidFill>
                <a:latin typeface="Arial"/>
              </a:rPr>
              <a:t>21</a:t>
            </a:r>
            <a:r>
              <a:rPr sz="1000" b="0" i="1">
                <a:solidFill>
                  <a:srgbClr val="5A606E"/>
                </a:solidFill>
                <a:latin typeface="Arial"/>
              </a:rPr>
              <a:t> (top) and electrical S</a:t>
            </a:r>
            <a:r>
              <a:rPr sz="1000" b="0" i="1" baseline="-25000">
                <a:solidFill>
                  <a:srgbClr val="5A606E"/>
                </a:solidFill>
                <a:latin typeface="Arial"/>
              </a:rPr>
              <a:t>11</a:t>
            </a:r>
            <a:r>
              <a:rPr sz="1000" b="0" i="1">
                <a:solidFill>
                  <a:srgbClr val="5A606E"/>
                </a:solidFill>
                <a:latin typeface="Arial"/>
              </a:rPr>
              <a:t> (bottom) of the balanced reference device; BW = 84.47 GHz.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0.2  How the eye diagram is computed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9509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A606E"/>
                </a:solidFill>
                <a:latin typeface="Arial"/>
              </a:rPr>
              <a:t>Time-domain simulation of the same device, folded on two unit intervals (UI = 1 / bit rate = 10 ps)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481328" cy="566928"/>
          </a:xfrm>
          <a:prstGeom prst="roundRect">
            <a:avLst>
              <a:gd name="adj" fmla="val 15000"/>
            </a:avLst>
          </a:prstGeom>
          <a:solidFill>
            <a:srgbClr val="0E2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PRBS-9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" y="2240280"/>
            <a:ext cx="157276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511-bit pattern,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100 Gb/s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39112" y="1883664"/>
            <a:ext cx="100584" cy="0"/>
          </a:xfrm>
          <a:prstGeom prst="line">
            <a:avLst/>
          </a:prstGeom>
          <a:ln w="19050">
            <a:solidFill>
              <a:srgbClr val="5A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48840" y="1600200"/>
            <a:ext cx="1481328" cy="566928"/>
          </a:xfrm>
          <a:prstGeom prst="roundRect">
            <a:avLst>
              <a:gd name="adj" fmla="val 15000"/>
            </a:avLst>
          </a:prstGeom>
          <a:solidFill>
            <a:srgbClr val="0E2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NRZ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240280"/>
            <a:ext cx="157276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±V</a:t>
            </a:r>
            <a:r>
              <a:rPr sz="1050" b="0" i="0" baseline="-25000">
                <a:solidFill>
                  <a:srgbClr val="1A1A1A"/>
                </a:solidFill>
                <a:latin typeface="Arial"/>
              </a:rPr>
              <a:t>pp</a:t>
            </a:r>
            <a:r>
              <a:rPr sz="1050" b="0" i="0">
                <a:solidFill>
                  <a:srgbClr val="1A1A1A"/>
                </a:solidFill>
                <a:latin typeface="Arial"/>
              </a:rPr>
              <a:t>/2 = ±1 V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Bessel-4, 70 GHz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39312" y="1883664"/>
            <a:ext cx="100584" cy="0"/>
          </a:xfrm>
          <a:prstGeom prst="line">
            <a:avLst/>
          </a:prstGeom>
          <a:ln w="19050">
            <a:solidFill>
              <a:srgbClr val="5A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39" y="1600200"/>
            <a:ext cx="1481328" cy="566928"/>
          </a:xfrm>
          <a:prstGeom prst="roundRect">
            <a:avLst>
              <a:gd name="adj" fmla="val 15000"/>
            </a:avLst>
          </a:prstGeom>
          <a:solidFill>
            <a:srgbClr val="0E2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Electrode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240280"/>
            <a:ext cx="157276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H</a:t>
            </a:r>
            <a:r>
              <a:rPr sz="1050" b="0" i="0" baseline="-25000">
                <a:solidFill>
                  <a:srgbClr val="1A1A1A"/>
                </a:solidFill>
                <a:latin typeface="Arial"/>
              </a:rPr>
              <a:t>1</a:t>
            </a:r>
            <a:r>
              <a:rPr sz="1050" b="0" i="0">
                <a:solidFill>
                  <a:srgbClr val="1A1A1A"/>
                </a:solidFill>
                <a:latin typeface="Arial"/>
              </a:rPr>
              <a:t>(f), H</a:t>
            </a:r>
            <a:r>
              <a:rPr sz="1050" b="0" i="0" baseline="-25000">
                <a:solidFill>
                  <a:srgbClr val="1A1A1A"/>
                </a:solidFill>
                <a:latin typeface="Arial"/>
              </a:rPr>
              <a:t>2</a:t>
            </a:r>
            <a:r>
              <a:rPr sz="1050" b="0" i="0">
                <a:solidFill>
                  <a:srgbClr val="1A1A1A"/>
                </a:solidFill>
                <a:latin typeface="Arial"/>
              </a:rPr>
              <a:t>(f)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one per arm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39512" y="1883664"/>
            <a:ext cx="100584" cy="0"/>
          </a:xfrm>
          <a:prstGeom prst="line">
            <a:avLst/>
          </a:prstGeom>
          <a:ln w="19050">
            <a:solidFill>
              <a:srgbClr val="5A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49240" y="1600200"/>
            <a:ext cx="1481328" cy="566928"/>
          </a:xfrm>
          <a:prstGeom prst="roundRect">
            <a:avLst>
              <a:gd name="adj" fmla="val 15000"/>
            </a:avLst>
          </a:prstGeom>
          <a:solidFill>
            <a:srgbClr val="F20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Arm phases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240280"/>
            <a:ext cx="157276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m</a:t>
            </a:r>
            <a:r>
              <a:rPr sz="1050" b="0" i="0" baseline="-25000">
                <a:solidFill>
                  <a:srgbClr val="1A1A1A"/>
                </a:solidFill>
                <a:latin typeface="Arial"/>
              </a:rPr>
              <a:t>i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= g</a:t>
            </a:r>
            <a:r>
              <a:rPr sz="1050" b="0" i="0" baseline="-25000">
                <a:solidFill>
                  <a:srgbClr val="1A1A1A"/>
                </a:solidFill>
                <a:latin typeface="Arial"/>
              </a:rPr>
              <a:t>i</a:t>
            </a:r>
            <a:r>
              <a:rPr sz="1050" b="0" i="0">
                <a:solidFill>
                  <a:srgbClr val="1A1A1A"/>
                </a:solidFill>
                <a:latin typeface="Arial"/>
              </a:rPr>
              <a:t>(h</a:t>
            </a:r>
            <a:r>
              <a:rPr sz="1050" b="0" i="0" baseline="-25000">
                <a:solidFill>
                  <a:srgbClr val="1A1A1A"/>
                </a:solidFill>
                <a:latin typeface="Arial"/>
              </a:rPr>
              <a:t>i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∗ v)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g</a:t>
            </a:r>
            <a:r>
              <a:rPr sz="1050" b="0" i="0" baseline="-25000">
                <a:solidFill>
                  <a:srgbClr val="1A1A1A"/>
                </a:solidFill>
                <a:latin typeface="Arial"/>
              </a:rPr>
              <a:t>i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= ±π/V</a:t>
            </a:r>
            <a:r>
              <a:rPr sz="1050" b="0" i="0" baseline="-25000">
                <a:solidFill>
                  <a:srgbClr val="1A1A1A"/>
                </a:solidFill>
                <a:latin typeface="Arial"/>
              </a:rPr>
              <a:t>π,i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39712" y="1883664"/>
            <a:ext cx="100584" cy="0"/>
          </a:xfrm>
          <a:prstGeom prst="line">
            <a:avLst/>
          </a:prstGeom>
          <a:ln w="19050">
            <a:solidFill>
              <a:srgbClr val="5A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49440" y="1600200"/>
            <a:ext cx="1481328" cy="566928"/>
          </a:xfrm>
          <a:prstGeom prst="roundRect">
            <a:avLst>
              <a:gd name="adj" fmla="val 15000"/>
            </a:avLst>
          </a:prstGeom>
          <a:solidFill>
            <a:srgbClr val="F20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Interferometer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240280"/>
            <a:ext cx="157276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Y branch → arms →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Y branch, bias 90°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39911" y="1883664"/>
            <a:ext cx="100585" cy="0"/>
          </a:xfrm>
          <a:prstGeom prst="line">
            <a:avLst/>
          </a:prstGeom>
          <a:ln w="19050">
            <a:solidFill>
              <a:srgbClr val="5A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49640" y="1600200"/>
            <a:ext cx="1481328" cy="566928"/>
          </a:xfrm>
          <a:prstGeom prst="roundRect">
            <a:avLst>
              <a:gd name="adj" fmla="val 15000"/>
            </a:avLst>
          </a:prstGeom>
          <a:solidFill>
            <a:srgbClr val="0E2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Photodiode + Rx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240280"/>
            <a:ext cx="157276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1 A/W, Bessel-4,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75 GHz, noise off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40111" y="1883664"/>
            <a:ext cx="100585" cy="0"/>
          </a:xfrm>
          <a:prstGeom prst="line">
            <a:avLst/>
          </a:prstGeom>
          <a:ln w="19050">
            <a:solidFill>
              <a:srgbClr val="5A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49840" y="1600200"/>
            <a:ext cx="1481328" cy="566928"/>
          </a:xfrm>
          <a:prstGeom prst="roundRect">
            <a:avLst>
              <a:gd name="adj" fmla="val 15000"/>
            </a:avLst>
          </a:prstGeom>
          <a:solidFill>
            <a:srgbClr val="0E2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Fold + 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19" y="2240280"/>
            <a:ext cx="157276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2-UI traces, labelled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by transmitted 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Output power: two-beam interference of the arm fields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Equation 25"/>
              <p:cNvSpPr txBox="1"/>
              <p:nvPr/>
            </p:nvSpPr>
            <p:spPr>
              <a:xfrm>
                <a:off x="731520" y="3566160"/>
                <a:ext cx="4898136" cy="50596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US" sz="17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sty m:val="p"/>
                        </m:rPr>
                        <a:rPr lang="en-US" sz="17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7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e>
                          <m:r>
                            <a:rPr lang="en-US" sz="17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7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>
                          <m:r>
                            <a:rPr lang="en-US" sz="17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7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7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7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7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sz="17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Sup>
                            <m:e>
                              <m:r>
                                <a:rPr lang="en-US" sz="17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7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e>
                              <m:r>
                                <a:rPr lang="en-US" sz="17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7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7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e>
                              <m:r>
                                <a:rPr lang="en-US" sz="17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en-US" sz="17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7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e>
                                  <m:r>
                                    <a:rPr lang="en-US" sz="17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7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US" sz="17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7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7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US" sz="17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7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7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US" sz="17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700"/>
              </a:p>
            </p:txBody>
          </p:sp>
        </mc:Choice>
        <mc:Fallback>
          <p:sp>
            <p:nvSpPr>
              <p:cNvPr id="25" name="Equation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3566160"/>
                <a:ext cx="4898136" cy="5059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Equation 26"/>
              <p:cNvSpPr txBox="1"/>
              <p:nvPr/>
            </p:nvSpPr>
            <p:spPr>
              <a:xfrm>
                <a:off x="731520" y="4343400"/>
                <a:ext cx="4072128" cy="44196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*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26" name="Equation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4343400"/>
                <a:ext cx="4072128" cy="441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7" name="Rounded Rectangle 26"/>
          <p:cNvSpPr/>
          <p:nvPr/>
        </p:nvSpPr>
        <p:spPr>
          <a:xfrm>
            <a:off x="548640" y="507492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148072"/>
            <a:ext cx="5175504" cy="10424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Symbols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a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1</a:t>
            </a:r>
            <a:r>
              <a:rPr sz="1100" b="0" i="0">
                <a:solidFill>
                  <a:srgbClr val="1A1A1A"/>
                </a:solidFill>
                <a:latin typeface="Arial"/>
              </a:rPr>
              <a:t>, a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2</a:t>
            </a:r>
            <a:r>
              <a:rPr sz="1100" b="0" i="0">
                <a:solidFill>
                  <a:srgbClr val="1A1A1A"/>
                </a:solidFill>
                <a:latin typeface="Arial"/>
              </a:rPr>
              <a:t>: arm field amplitudes after the input Y branch · Δφ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0</a:t>
            </a:r>
            <a:r>
              <a:rPr sz="1100" b="0" i="0">
                <a:solidFill>
                  <a:srgbClr val="1A1A1A"/>
                </a:solidFill>
                <a:latin typeface="Arial"/>
              </a:rPr>
              <a:t>: static phase (bias + error) · T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Y</a:t>
            </a:r>
            <a:r>
              <a:rPr sz="1100" b="0" i="0">
                <a:solidFill>
                  <a:srgbClr val="1A1A1A"/>
                </a:solidFill>
                <a:latin typeface="Arial"/>
              </a:rPr>
              <a:t>: power transmission of one Y branch · h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i</a:t>
            </a:r>
            <a:r>
              <a:rPr sz="1100" b="0" i="0">
                <a:solidFill>
                  <a:srgbClr val="1A1A1A"/>
                </a:solidFill>
                <a:latin typeface="Arial"/>
              </a:rPr>
              <a:t>: impulse response of H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07492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5148072"/>
            <a:ext cx="5175504" cy="10424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Why it agrees with the EO BW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eye uses the same electrode function H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i</a:t>
            </a:r>
            <a:r>
              <a:rPr sz="1100" b="0" i="0">
                <a:solidFill>
                  <a:srgbClr val="1A1A1A"/>
                </a:solidFill>
                <a:latin typeface="Arial"/>
              </a:rPr>
              <a:t>(f) as the bandwidth, evaluated on the FFT grid. The whole PRBS period is one FFT period, so filtering is exact (no edge effects). Delay is removed by cross-correlation.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0.3  The eye features and how they are measured</a:t>
            </a:r>
          </a:p>
        </p:txBody>
      </p:sp>
      <p:pic>
        <p:nvPicPr>
          <p:cNvPr id="3" name="Picture 2" descr="eye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63640" y="1234440"/>
            <a:ext cx="5394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The four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645920"/>
            <a:ext cx="5394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Extinction ratio (aperture)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/>
              <p:cNvSpPr txBox="1"/>
              <p:nvPr/>
            </p:nvSpPr>
            <p:spPr>
              <a:xfrm>
                <a:off x="6446520" y="1947672"/>
                <a:ext cx="1213104" cy="42062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4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4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14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4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6" name="Equation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1947672"/>
                <a:ext cx="1213104" cy="4206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263640" y="2514600"/>
            <a:ext cx="5394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Height (vertical margin)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/>
              <p:cNvSpPr txBox="1"/>
              <p:nvPr/>
            </p:nvSpPr>
            <p:spPr>
              <a:xfrm>
                <a:off x="6446520" y="2816352"/>
                <a:ext cx="1996440" cy="21437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8" name="Equation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2816352"/>
                <a:ext cx="1996440" cy="2143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263640" y="3383280"/>
            <a:ext cx="5394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Width (timing margin): fraction of UI where worst 1 &gt; worst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uation 10"/>
              <p:cNvSpPr txBox="1"/>
              <p:nvPr/>
            </p:nvSpPr>
            <p:spPr>
              <a:xfrm>
                <a:off x="6446520" y="3685032"/>
                <a:ext cx="701040" cy="40843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4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sz="14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4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14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den>
                      </m:f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0" name="Equation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3685032"/>
                <a:ext cx="701040" cy="4084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263640" y="4251960"/>
            <a:ext cx="5394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Rail thickness (cleanness)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uation 12"/>
              <p:cNvSpPr txBox="1"/>
              <p:nvPr/>
            </p:nvSpPr>
            <p:spPr>
              <a:xfrm>
                <a:off x="6446520" y="4553712"/>
                <a:ext cx="1892807" cy="21437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2" name="Equation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4553712"/>
                <a:ext cx="1892807" cy="2143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263640" y="5166360"/>
            <a:ext cx="5394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Also reported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/>
              <p:cNvSpPr txBox="1"/>
              <p:nvPr/>
            </p:nvSpPr>
            <p:spPr>
              <a:xfrm>
                <a:off x="6446520" y="5504688"/>
                <a:ext cx="3157728" cy="42976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3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e>
                          <m:r>
                            <a:rPr lang="en-US" sz="13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</m:t>
                      </m:r>
                      <m:r>
                        <a:rPr lang="en-US" sz="13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</m:t>
                      </m:r>
                      <m:r>
                        <a:rPr lang="en-US" sz="13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lang="en-US" sz="13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3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3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300"/>
              </a:p>
            </p:txBody>
          </p:sp>
        </mc:Choice>
        <mc:Fallback>
          <p:sp>
            <p:nvSpPr>
              <p:cNvPr id="14" name="Equation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5504688"/>
                <a:ext cx="3157728" cy="4297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548640" y="5532120"/>
            <a:ext cx="5577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A1A1A"/>
                </a:solidFill>
                <a:latin typeface="Arial"/>
              </a:rPr>
              <a:t>How they are set: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μ and σ are taken at the sampling instant of maximum opening; every trace is labelled by the bit that was sent (no threshold).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Standard instruments (IEEE 802.3) average over the central ~20 % of the UI; identical for flat 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0.4  The MZM schematic in INTERCONNECT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9509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A606E"/>
                </a:solidFill>
                <a:latin typeface="Arial"/>
              </a:rPr>
              <a:t>Built by the API (eye mode). For the EO bandwidth, PRBS/NRZ/EYE are replaced by a network analyser (ENA)</a:t>
            </a:r>
          </a:p>
        </p:txBody>
      </p:sp>
      <p:pic>
        <p:nvPicPr>
          <p:cNvPr id="4" name="Picture 3" descr="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8412480" cy="467212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89720" y="1463040"/>
            <a:ext cx="2468880" cy="4663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99448" y="1536192"/>
            <a:ext cx="2249424" cy="4517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Reading the schematic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Green: optical path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CWL → SPLT_1 → OM_1 / OM_2 (+PHS_1) → SPLT_2 → PIN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Blue: electrical path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PRBS → NRZ → TW_1 / TW_2 → OM modulation ports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Dashed: timing reference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NRZ output → EYE reference (without it no eye is computed)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Why not the built-in MZM element?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It is lumped (π dc/rf voltage, ER, insertion loss): no travelling-wave electrode, so no measured α(f), n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m</a:t>
            </a:r>
            <a:r>
              <a:rPr sz="1100" b="0" i="0">
                <a:solidFill>
                  <a:srgbClr val="1A1A1A"/>
                </a:solidFill>
                <a:latin typeface="Arial"/>
              </a:rPr>
              <a:t>(f), Z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c</a:t>
            </a:r>
            <a:r>
              <a:rPr sz="1100" b="0" i="0">
                <a:solidFill>
                  <a:srgbClr val="1A1A1A"/>
                </a:solidFill>
                <a:latin typeface="Arial"/>
              </a:rPr>
              <a:t>(f).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0.5  Blocks and the parameters that matter here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109959" cy="4718304"/>
        </p:xfrm>
        <a:graphic>
          <a:graphicData uri="http://schemas.openxmlformats.org/drawingml/2006/table">
            <a:tbl>
              <a:tblPr firstRow="0" bandRow="0"/>
              <a:tblGrid>
                <a:gridCol w="1193632"/>
                <a:gridCol w="2111810"/>
                <a:gridCol w="2295446"/>
                <a:gridCol w="5509071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Block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INTERCONNECT element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Relevant parameters (reference value)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CWL_1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CW Laser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Optical carrier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power 13 dBm · frequency 193.414 THz (1550 nm) · linewidth 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SPLT_1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Waveguide Y Branch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Input splitter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coupling coefficient 0.5 (→ split error) · insertion loss (→ Y loss)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TW_1, TW_2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Traveling Wave Electrode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Microwave line, one per arm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length 16.5 mm · optical index n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g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 per arm · loss / Z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 / n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m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 tables · R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S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 50 Ω, R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T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 53 Ω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OM_1, OM_2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Optical Modulator Measured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Phase modulation of each arm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input parameter = coefficients · phase coefficient c = ∓π/(V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π,i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·L) · length L = 1 µm · lumped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PHS_1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Optical Phase Shift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Bias of the interferometer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phase shift = 90° + static phase error (1.5708 rad at quadrature)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ATT_1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Optical Attenuator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Extra loss in arm 2 (only if ≠ 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attenuation = arm loss imbalance (dB)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SPLT_2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Waveguide Y Branch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Output combiner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coupling coefficient 0.5 · insertion loss (→ Y loss)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PIN_1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PIN Photodetector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Optical → electrical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responsivity 1 A/W · noise sources off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PRBS_1 / NRZ_1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PRBS / NRZ Pulse Generator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Drive signal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bitrate 100 Gb/s · order 9 · amplitude 2 · bias −1 (→ ±1 V) · rise/fall period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EYE_1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Eye Diagram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Eye and its measurements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bitrate 100 Gb/s · input ← PIN · reference ← NRZ · calculate measurements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ENA_1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Network Analyzer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EO bandwidth mode only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sweep to f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max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 · output → TW inputs · input ← PIN → normalised S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The two-arm model: where each imbalance enters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9509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A606E"/>
                </a:solidFill>
                <a:latin typeface="Arial"/>
              </a:rPr>
              <a:t>One equation, six knobs. Only n</a:t>
            </a:r>
            <a:r>
              <a:rPr sz="1400" b="0" i="1" baseline="-25000">
                <a:solidFill>
                  <a:srgbClr val="5A606E"/>
                </a:solidFill>
                <a:latin typeface="Arial"/>
              </a:rPr>
              <a:t>g</a:t>
            </a:r>
            <a:r>
              <a:rPr sz="1400" b="0" i="1">
                <a:solidFill>
                  <a:srgbClr val="5A606E"/>
                </a:solidFill>
                <a:latin typeface="Arial"/>
              </a:rPr>
              <a:t> changes the frequency dependence, so only it can move the EO 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 4"/>
              <p:cNvSpPr txBox="1"/>
              <p:nvPr/>
            </p:nvSpPr>
            <p:spPr>
              <a:xfrm>
                <a:off x="822960" y="1600200"/>
                <a:ext cx="5989320" cy="53035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8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US" sz="18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sty m:val="p"/>
                        </m:rPr>
                        <a:rPr lang="en-US" sz="18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8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e>
                          <m:r>
                            <a:rPr lang="en-US" sz="18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>
                          <m:r>
                            <a:rPr lang="en-US" sz="18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8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8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sz="18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Sup>
                            <m:e>
                              <m:r>
                                <a:rPr lang="en-US" sz="18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e>
                              <m:r>
                                <a:rPr lang="en-US" sz="18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e>
                              <m:r>
                                <a:rPr lang="en-US" sz="18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en-US" sz="18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e>
                                  <m:r>
                                    <a:rPr lang="en-US" sz="18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8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US" sz="18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8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e>
                                  <m:r>
                                    <a:rPr lang="en-US" sz="18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18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  <m:r>
                                <a:rPr lang="en-US" sz="18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US" sz="18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8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e>
                                  <m:r>
                                    <a:rPr lang="en-US" sz="18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18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  <m:r>
                                <a:rPr lang="en-US" sz="18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4" name="Equation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600200"/>
                <a:ext cx="5989320" cy="5303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548640" y="26974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70632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E2268"/>
                </a:solidFill>
                <a:latin typeface="Arial"/>
              </a:rPr>
              <a:t>1  Arm loss imbalance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uation 7"/>
              <p:cNvSpPr txBox="1"/>
              <p:nvPr/>
            </p:nvSpPr>
            <p:spPr>
              <a:xfrm>
                <a:off x="731520" y="3200400"/>
                <a:ext cx="1612392" cy="27127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rad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e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</m:sSup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7" name="Equation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3200400"/>
                <a:ext cx="1612392" cy="271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58368" y="3886200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06E"/>
                </a:solidFill>
                <a:latin typeface="Arial"/>
              </a:rPr>
              <a:t>changes: amplitude of arm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26974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770632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E2268"/>
                </a:solidFill>
                <a:latin typeface="Arial"/>
              </a:rPr>
              <a:t>2  Splitter imbalance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uation 11"/>
              <p:cNvSpPr txBox="1"/>
              <p:nvPr/>
            </p:nvSpPr>
            <p:spPr>
              <a:xfrm>
                <a:off x="4462272" y="3200400"/>
                <a:ext cx="2676144" cy="27127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rad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rad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en-US" sz="14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1" name="Equation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272" y="3200400"/>
                <a:ext cx="2676144" cy="2712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389120" y="3886200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06E"/>
                </a:solidFill>
                <a:latin typeface="Arial"/>
              </a:rPr>
              <a:t>changes: both amplitudes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6974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2770632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E2268"/>
                </a:solidFill>
                <a:latin typeface="Arial"/>
              </a:rPr>
              <a:t>3  Static phase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quation 15"/>
              <p:cNvSpPr txBox="1"/>
              <p:nvPr/>
            </p:nvSpPr>
            <p:spPr>
              <a:xfrm>
                <a:off x="8193023" y="3200400"/>
                <a:ext cx="1124712" cy="21437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e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5" name="Equation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023" y="3200400"/>
                <a:ext cx="1124712" cy="2143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8119871" y="3886200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06E"/>
                </a:solidFill>
                <a:latin typeface="Arial"/>
              </a:rPr>
              <a:t>changes: operating 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553712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E2268"/>
                </a:solidFill>
                <a:latin typeface="Arial"/>
              </a:rPr>
              <a:t>4  V</a:t>
            </a:r>
            <a:r>
              <a:rPr sz="1350" b="1" i="0" baseline="-25000">
                <a:solidFill>
                  <a:srgbClr val="0E2268"/>
                </a:solidFill>
                <a:latin typeface="Arial"/>
              </a:rPr>
              <a:t>π</a:t>
            </a:r>
            <a:r>
              <a:rPr sz="1350" b="1" i="0">
                <a:solidFill>
                  <a:srgbClr val="0E2268"/>
                </a:solidFill>
                <a:latin typeface="Arial"/>
              </a:rPr>
              <a:t> imbalance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Equation 19"/>
              <p:cNvSpPr txBox="1"/>
              <p:nvPr/>
            </p:nvSpPr>
            <p:spPr>
              <a:xfrm>
                <a:off x="731520" y="4983480"/>
                <a:ext cx="1203960" cy="41452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e>
                              <m:r>
                                <a:rPr lang="en-US" sz="14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9" name="Equation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4983480"/>
                <a:ext cx="1203960" cy="4145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658368" y="5669280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06E"/>
                </a:solidFill>
                <a:latin typeface="Arial"/>
              </a:rPr>
              <a:t>changes: modulation efficiency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448056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553712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F20013"/>
                </a:solidFill>
                <a:latin typeface="Arial"/>
              </a:rPr>
              <a:t>5  n</a:t>
            </a:r>
            <a:r>
              <a:rPr sz="1350" b="1" i="0" baseline="-25000">
                <a:solidFill>
                  <a:srgbClr val="F20013"/>
                </a:solidFill>
                <a:latin typeface="Arial"/>
              </a:rPr>
              <a:t>g</a:t>
            </a:r>
            <a:r>
              <a:rPr sz="1350" b="1" i="0">
                <a:solidFill>
                  <a:srgbClr val="F20013"/>
                </a:solidFill>
                <a:latin typeface="Arial"/>
              </a:rPr>
              <a:t> imbalance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quation 23"/>
              <p:cNvSpPr txBox="1"/>
              <p:nvPr/>
            </p:nvSpPr>
            <p:spPr>
              <a:xfrm>
                <a:off x="4462272" y="4983480"/>
                <a:ext cx="1655064" cy="22652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14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23" name="Equation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272" y="4983480"/>
                <a:ext cx="1655064" cy="2265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389120" y="5669280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06E"/>
                </a:solidFill>
                <a:latin typeface="Arial"/>
              </a:rPr>
              <a:t>changes: frequency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448056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1" y="4553712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E2268"/>
                </a:solidFill>
                <a:latin typeface="Arial"/>
              </a:rPr>
              <a:t>6  Y-branch excess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quation 27"/>
              <p:cNvSpPr txBox="1"/>
              <p:nvPr/>
            </p:nvSpPr>
            <p:spPr>
              <a:xfrm>
                <a:off x="8193023" y="4983480"/>
                <a:ext cx="950976" cy="237785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e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4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4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27" name="Equation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023" y="4983480"/>
                <a:ext cx="950976" cy="2377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8119871" y="5669280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06E"/>
                </a:solidFill>
                <a:latin typeface="Arial"/>
              </a:rPr>
              <a:t>changes: common-mode 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1  Arm loss imbalance: effect on the 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9509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A606E"/>
                </a:solidFill>
                <a:latin typeface="Arial"/>
              </a:rPr>
              <a:t>The '0' rail lifts off zero and the top drops: extinction ratio falls; timing is untouched</a:t>
            </a:r>
          </a:p>
        </p:txBody>
      </p:sp>
      <p:pic>
        <p:nvPicPr>
          <p:cNvPr id="4" name="Picture 3" descr="eye_arm_loss_imbalance_d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743200" cy="2410691"/>
          </a:xfrm>
          <a:prstGeom prst="rect">
            <a:avLst/>
          </a:prstGeom>
        </p:spPr>
      </p:pic>
      <p:pic>
        <p:nvPicPr>
          <p:cNvPr id="5" name="Picture 4" descr="eye_arm_loss_imbalance_d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371600"/>
            <a:ext cx="2743200" cy="2410691"/>
          </a:xfrm>
          <a:prstGeom prst="rect">
            <a:avLst/>
          </a:prstGeom>
        </p:spPr>
      </p:pic>
      <p:pic>
        <p:nvPicPr>
          <p:cNvPr id="6" name="Picture 5" descr="eye_arm_loss_imbalance_dB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5" y="1371600"/>
            <a:ext cx="2743200" cy="2410691"/>
          </a:xfrm>
          <a:prstGeom prst="rect">
            <a:avLst/>
          </a:prstGeom>
        </p:spPr>
      </p:pic>
      <p:pic>
        <p:nvPicPr>
          <p:cNvPr id="7" name="Picture 6" descr="eye_arm_loss_imbalance_dB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3" y="1371600"/>
            <a:ext cx="2743200" cy="241069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931920"/>
          <a:ext cx="7589514" cy="1554480"/>
        </p:xfrm>
        <a:graphic>
          <a:graphicData uri="http://schemas.openxmlformats.org/drawingml/2006/table">
            <a:tbl>
              <a:tblPr firstRow="0" bandRow="0"/>
              <a:tblGrid>
                <a:gridCol w="798896"/>
                <a:gridCol w="798896"/>
                <a:gridCol w="798896"/>
                <a:gridCol w="878786"/>
                <a:gridCol w="798896"/>
                <a:gridCol w="798896"/>
                <a:gridCol w="878786"/>
                <a:gridCol w="918731"/>
                <a:gridCol w="918731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ΔL (dB)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ER static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ER eye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1/ER rule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μ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 (mA)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μ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0</a:t>
                      </a: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 (mA)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Height (mA)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Mean P (mW)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EO BW (GHz)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∞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19.63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0.321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10.00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35.26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18.97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0.316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9.66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24.81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17.06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17.06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17.55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0.345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15.79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8.97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15.34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13.41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13.41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14.32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0.653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12.54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7.50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66760" y="3931920"/>
            <a:ext cx="3291840" cy="2148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4005072"/>
            <a:ext cx="3072384" cy="20025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Reading it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ER falls: 17.86 → 13.41 dB at 3 dB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Width 0.969 UI and crossing 50 % unchanged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Rails get thinner: the swing is smaller, so is the ISI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“1/ER rule” column: predicted eye ER, matches the code to 0.01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606E"/>
                </a:solidFill>
                <a:latin typeface="Arial"/>
              </a:rPr>
              <a:t>Eyes computed by mzm_interconnect.eye on the reference device. Dashed: static max/min of the transfer curve (infinite bandwidth); dotted: all laser light; vertical dotted: sampling instant.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1  Arm loss imbalance: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852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2268"/>
                </a:solidFill>
                <a:latin typeface="Arial"/>
              </a:rPr>
              <a:t>How it enters the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 4"/>
              <p:cNvSpPr txBox="1"/>
              <p:nvPr/>
            </p:nvSpPr>
            <p:spPr>
              <a:xfrm>
                <a:off x="685800" y="1645920"/>
                <a:ext cx="2782824" cy="58521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sSub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e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4" name="Equation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45920"/>
                <a:ext cx="2782824" cy="5852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uation 5"/>
              <p:cNvSpPr txBox="1"/>
              <p:nvPr/>
            </p:nvSpPr>
            <p:spPr>
              <a:xfrm>
                <a:off x="685800" y="2432304"/>
                <a:ext cx="3444240" cy="59740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a:rPr lang="en-US" sz="16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5" name="Equation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432304"/>
                <a:ext cx="3444240" cy="5974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/>
              <p:cNvSpPr txBox="1"/>
              <p:nvPr/>
            </p:nvSpPr>
            <p:spPr>
              <a:xfrm>
                <a:off x="685800" y="3230880"/>
                <a:ext cx="3688080" cy="47853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e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Equation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230880"/>
                <a:ext cx="3688080" cy="478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48640" y="3910583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5A606E"/>
                </a:solidFill>
                <a:latin typeface="Arial"/>
              </a:rPr>
              <a:t>Eye ER = static ceiling combined with the balanced eye's ISI floor (ER_ISI = 17.86 dB):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/>
              <p:cNvSpPr txBox="1"/>
              <p:nvPr/>
            </p:nvSpPr>
            <p:spPr>
              <a:xfrm>
                <a:off x="685800" y="4294632"/>
                <a:ext cx="2837688" cy="5425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8" name="Equation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294632"/>
                <a:ext cx="2837688" cy="5425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6675120" y="12344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3075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Range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0 – 3 dB in the GUI. Typical 0 – 0.3 dB: 5 % loss-coefficient difference at 0.2 dB/cm over 16.5 mm is only 0.017 dB; above ~1 dB suspect a localised defect.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606040"/>
            <a:ext cx="4983480" cy="14630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679192"/>
            <a:ext cx="4764024" cy="1316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Physical / fabrication cause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Different propagation loss in the two arms: sidewall-roughness scattering after an asymmetric over-etch, a mode pushed closer to the metal (absorption), a particle or local defect, unequal bends.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2062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42793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In INTERCONNECT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Optical Attenuator ATT_1 in arm 2, property attenuation = ΔL (dB). Alternative: OM_2 absorption coefficient a. A negative value is modelled by swapping the arms.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5577840"/>
            <a:ext cx="4983480" cy="7772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5650992"/>
            <a:ext cx="4764024" cy="6309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20013"/>
                </a:solidFill>
                <a:latin typeface="Arial"/>
              </a:rPr>
              <a:t>EO bandwidth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Unchanged (84.47 GHz at every value): a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1</a:t>
            </a:r>
            <a:r>
              <a:rPr sz="1200" b="0" i="0">
                <a:solidFill>
                  <a:srgbClr val="1A1A1A"/>
                </a:solidFill>
                <a:latin typeface="Arial"/>
              </a:rPr>
              <a:t>a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2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is a flat factor.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2  Splitter imbalance: effect on the 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9509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A606E"/>
                </a:solidFill>
                <a:latin typeface="Arial"/>
              </a:rPr>
              <a:t>Same signature as arm loss, but the mean power stays constant: light is redistributed, not lost</a:t>
            </a:r>
          </a:p>
        </p:txBody>
      </p:sp>
      <p:pic>
        <p:nvPicPr>
          <p:cNvPr id="4" name="Picture 3" descr="eye_split_err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743200" cy="2410691"/>
          </a:xfrm>
          <a:prstGeom prst="rect">
            <a:avLst/>
          </a:prstGeom>
        </p:spPr>
      </p:pic>
      <p:pic>
        <p:nvPicPr>
          <p:cNvPr id="5" name="Picture 4" descr="eye_split_err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371600"/>
            <a:ext cx="2743200" cy="2410691"/>
          </a:xfrm>
          <a:prstGeom prst="rect">
            <a:avLst/>
          </a:prstGeom>
        </p:spPr>
      </p:pic>
      <p:pic>
        <p:nvPicPr>
          <p:cNvPr id="6" name="Picture 5" descr="eye_split_err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5" y="1371600"/>
            <a:ext cx="2743200" cy="2410691"/>
          </a:xfrm>
          <a:prstGeom prst="rect">
            <a:avLst/>
          </a:prstGeom>
        </p:spPr>
      </p:pic>
      <p:pic>
        <p:nvPicPr>
          <p:cNvPr id="7" name="Picture 6" descr="eye_split_err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3" y="1371600"/>
            <a:ext cx="2743200" cy="241069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931920"/>
          <a:ext cx="7589514" cy="1554480"/>
        </p:xfrm>
        <a:graphic>
          <a:graphicData uri="http://schemas.openxmlformats.org/drawingml/2006/table">
            <a:tbl>
              <a:tblPr firstRow="0" bandRow="0"/>
              <a:tblGrid>
                <a:gridCol w="798896"/>
                <a:gridCol w="798896"/>
                <a:gridCol w="798896"/>
                <a:gridCol w="878786"/>
                <a:gridCol w="798896"/>
                <a:gridCol w="798896"/>
                <a:gridCol w="878786"/>
                <a:gridCol w="918731"/>
                <a:gridCol w="918731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ε (split)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ER static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ER eye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1/ER rule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μ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 (mA)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μ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0</a:t>
                      </a: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 (mA)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Height (mA)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Mean P (mW)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EO BW (GHz)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∞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19.63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0.321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10.00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0.02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33.98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19.62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0.329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10.00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19.91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15.76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15.76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19.44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0.516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17.36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10.00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9.54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8.95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8.95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2.252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14.17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9.99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66760" y="3931920"/>
            <a:ext cx="3291840" cy="2148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4005072"/>
            <a:ext cx="3072384" cy="20025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Reading it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ER falls smoothly: 17.86 → 15.76 → 8.95 dB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Mean power fixed at 10.0 mW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Width and crossing unchanged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No threshold: at ε = 0.5 all light is in one arm and the interferometer is gone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606E"/>
                </a:solidFill>
                <a:latin typeface="Arial"/>
              </a:rPr>
              <a:t>Eyes computed by mzm_interconnect.eye on the reference device. Dashed: static max/min of the transfer curve (infinite bandwidth); dotted: all laser light; vertical dotted: sampling instant.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2  Splitter imbalance: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852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2268"/>
                </a:solidFill>
                <a:latin typeface="Arial"/>
              </a:rPr>
              <a:t>How it enters the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 4"/>
              <p:cNvSpPr txBox="1"/>
              <p:nvPr/>
            </p:nvSpPr>
            <p:spPr>
              <a:xfrm>
                <a:off x="685800" y="1645920"/>
                <a:ext cx="4334256" cy="30175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sSub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rad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sSub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ra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4" name="Equation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45920"/>
                <a:ext cx="4334256" cy="3017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uation 5"/>
              <p:cNvSpPr txBox="1"/>
              <p:nvPr/>
            </p:nvSpPr>
            <p:spPr>
              <a:xfrm>
                <a:off x="685800" y="2148840"/>
                <a:ext cx="2462784" cy="65836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US" sz="16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US" sz="16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5" name="Equation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148840"/>
                <a:ext cx="2462784" cy="6583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/>
              <p:cNvSpPr txBox="1"/>
              <p:nvPr/>
            </p:nvSpPr>
            <p:spPr>
              <a:xfrm>
                <a:off x="685800" y="3008376"/>
                <a:ext cx="3849624" cy="47853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e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Equation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008376"/>
                <a:ext cx="3849624" cy="478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uation 7"/>
              <p:cNvSpPr txBox="1"/>
              <p:nvPr/>
            </p:nvSpPr>
            <p:spPr>
              <a:xfrm>
                <a:off x="685800" y="3688080"/>
                <a:ext cx="2036064" cy="5425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7" name="Equation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688080"/>
                <a:ext cx="2036064" cy="5425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48640" y="4431792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5A606E"/>
                </a:solidFill>
                <a:latin typeface="Arial"/>
              </a:rPr>
              <a:t>ε = 0.02 → ER_static ≈ 34 dB;  ε = 0.1 → 19.9 dB;  ε = 0.3 → 9.5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2344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3075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Range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0 – 0.45 in the GUI (deviation of the power fraction from 0.5). Typical 0.005 – 0.02 (50.5:49.5 to 52:48) for a good Y branch or MMI.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606040"/>
            <a:ext cx="4983480" cy="14630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679192"/>
            <a:ext cx="4764024" cy="1316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Physical / fabrication cause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Geometric asymmetry at the junction: unequal branch widths (lithography / etch bias), unequal branch angles, tip rounding offset, asymmetric over-etch.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2062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42793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In INTERCONNECT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Waveguide Y Branch SPLT_1, coupling coefficient = 1 − ρ = 0.5 − ε (power to port 3 / arm 2). SPLT_2 stays 0.5. No extra block.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5577840"/>
            <a:ext cx="4983480" cy="7772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5650992"/>
            <a:ext cx="4764024" cy="6309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20013"/>
                </a:solidFill>
                <a:latin typeface="Arial"/>
              </a:rPr>
              <a:t>EO bandwidth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Unchanged (84.47 GHz): a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1</a:t>
            </a:r>
            <a:r>
              <a:rPr sz="1200" b="0" i="0">
                <a:solidFill>
                  <a:srgbClr val="1A1A1A"/>
                </a:solidFill>
                <a:latin typeface="Arial"/>
              </a:rPr>
              <a:t>a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2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is a flat factor.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3  Static phase error: effect on the 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9509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A606E"/>
                </a:solidFill>
                <a:latin typeface="Arial"/>
              </a:rPr>
              <a:t>The operating point leaves quadrature: rails become asymmetric, the crossing drops, the eye closes past ~60°</a:t>
            </a:r>
          </a:p>
        </p:txBody>
      </p:sp>
      <p:pic>
        <p:nvPicPr>
          <p:cNvPr id="4" name="Picture 3" descr="eye_arm_phase_imbalance_de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743200" cy="2410691"/>
          </a:xfrm>
          <a:prstGeom prst="rect">
            <a:avLst/>
          </a:prstGeom>
        </p:spPr>
      </p:pic>
      <p:pic>
        <p:nvPicPr>
          <p:cNvPr id="5" name="Picture 4" descr="eye_arm_phase_imbalance_de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371600"/>
            <a:ext cx="2743200" cy="2410691"/>
          </a:xfrm>
          <a:prstGeom prst="rect">
            <a:avLst/>
          </a:prstGeom>
        </p:spPr>
      </p:pic>
      <p:pic>
        <p:nvPicPr>
          <p:cNvPr id="6" name="Picture 5" descr="eye_arm_phase_imbalance_deg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5" y="1371600"/>
            <a:ext cx="2743200" cy="2410691"/>
          </a:xfrm>
          <a:prstGeom prst="rect">
            <a:avLst/>
          </a:prstGeom>
        </p:spPr>
      </p:pic>
      <p:pic>
        <p:nvPicPr>
          <p:cNvPr id="7" name="Picture 6" descr="eye_arm_phase_imbalance_deg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3" y="1371600"/>
            <a:ext cx="2743200" cy="241069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931920"/>
          <a:ext cx="7589517" cy="1554480"/>
        </p:xfrm>
        <a:graphic>
          <a:graphicData uri="http://schemas.openxmlformats.org/drawingml/2006/table">
            <a:tbl>
              <a:tblPr firstRow="0" bandRow="0"/>
              <a:tblGrid>
                <a:gridCol w="639117"/>
                <a:gridCol w="1078510"/>
                <a:gridCol w="1078510"/>
                <a:gridCol w="758952"/>
                <a:gridCol w="719007"/>
                <a:gridCol w="798896"/>
                <a:gridCol w="998621"/>
                <a:gridCol w="758952"/>
                <a:gridCol w="75895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φ (deg)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μ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 th / eye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μ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0</a:t>
                      </a: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 th / eye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ER static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ER eye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Height (mA)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Rails σ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 / σ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Crossing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Width (UI)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19.95 / 19.63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0.00 / 0.32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∞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0.27 / 0.27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50.0 %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0.969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19.80 / 19.23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0.15 / 0.21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21.16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19.55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0.51 / 0.07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41.6 %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0.969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18.62 / 17.60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1.34 / 0.88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11.44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13.00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12.37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0.94 / 0.50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19.1 %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0.969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14.96 / 13.53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4.99 / 3.88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4.77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5.42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2.15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1.38 / 1.12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20.8 %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0.719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66760" y="3931920"/>
            <a:ext cx="3291840" cy="2148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4005072"/>
            <a:ext cx="3072384" cy="20025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Reading it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Crossing 50 → 41.6 → 19 %: the eye leans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'1' rail thickens (0.27 → 1.38 mA), '0' rail thins then thickens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μ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0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below theory at 30°: the '0' swings past the null and ISI pulls it back toward it (curve folding)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606E"/>
                </a:solidFill>
                <a:latin typeface="Arial"/>
              </a:rPr>
              <a:t>Eyes computed by mzm_interconnect.eye on the reference device. Dashed: static max/min of the transfer curve (infinite bandwidth); dotted: all laser light; vertical dotted: sampling instant.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3  Static phase error: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852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2268"/>
                </a:solidFill>
                <a:latin typeface="Arial"/>
              </a:rPr>
              <a:t>How it enters the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 4"/>
              <p:cNvSpPr txBox="1"/>
              <p:nvPr/>
            </p:nvSpPr>
            <p:spPr>
              <a:xfrm>
                <a:off x="685800" y="1645920"/>
                <a:ext cx="3681983" cy="40843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∓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4" name="Equation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45920"/>
                <a:ext cx="3681983" cy="408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uation 5"/>
              <p:cNvSpPr txBox="1"/>
              <p:nvPr/>
            </p:nvSpPr>
            <p:spPr>
              <a:xfrm>
                <a:off x="685800" y="2255520"/>
                <a:ext cx="3398520" cy="45110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5" name="Equation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255520"/>
                <a:ext cx="3398520" cy="4511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/>
              <p:cNvSpPr txBox="1"/>
              <p:nvPr/>
            </p:nvSpPr>
            <p:spPr>
              <a:xfrm>
                <a:off x="685800" y="2907792"/>
                <a:ext cx="2209800" cy="49377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cot</m:t>
                          </m:r>
                        </m:e>
                        <m:sup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type m:val="bar"/>
                        </m:fPr>
                        <m:num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6" name="Equation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907792"/>
                <a:ext cx="2209800" cy="4937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48640" y="3602736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5A606E"/>
                </a:solidFill>
                <a:latin typeface="Arial"/>
              </a:rPr>
              <a:t>10° → 21.2 dB · 30° → 11.4 dB · 60° → 4.8 dB. The '0' sits past the null (π), so the curve folds:</a:t>
            </a:r>
          </a:p>
        </p:txBody>
      </p:sp>
      <p:pic>
        <p:nvPicPr>
          <p:cNvPr id="8" name="Picture 7" descr="pv_phase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32504"/>
            <a:ext cx="2826441" cy="22768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75120" y="12344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3075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Range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±180° in the GUI. Any value occurs; a bias controller nulls it continuously, so it is a demand on control range, not a performance limit. Uncontrolled beyond ~60° the eye closes.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606040"/>
            <a:ext cx="4983480" cy="14630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679192"/>
            <a:ext cx="4764024" cy="1316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Physical / fabrication cause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Optical path difference between the arms: width difference (Δn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eff</a:t>
            </a:r>
            <a:r>
              <a:rPr sz="1200" b="0" i="0">
                <a:solidFill>
                  <a:srgbClr val="1A1A1A"/>
                </a:solidFill>
                <a:latin typeface="Arial"/>
              </a:rPr>
              <a:t>), film-thickness gradient, stress, temperature gradient, DC / photorefractive drift in LiNbO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3</a:t>
            </a:r>
            <a:r>
              <a:rPr sz="12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2062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42793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In INTERCONNECT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Optical Phase Shift PHS_1 (already present), phase shift = 90° + φ in radians. Wavelength-independent: a real length difference would need two waveguide elements.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5577840"/>
            <a:ext cx="4983480" cy="7772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5650992"/>
            <a:ext cx="4764024" cy="6309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20013"/>
                </a:solidFill>
                <a:latin typeface="Arial"/>
              </a:rPr>
              <a:t>EO bandwidth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Unchanged (84.47 GHz): sin Δφ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0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is a flat factor (it only scales the slope).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4  V</a:t>
            </a:r>
            <a:r>
              <a:rPr sz="300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3000" b="0" i="0">
                <a:solidFill>
                  <a:srgbClr val="1A1A1A"/>
                </a:solidFill>
                <a:latin typeface="Arial"/>
              </a:rPr>
              <a:t> imbalance: effect on the 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9509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A606E"/>
                </a:solidFill>
                <a:latin typeface="Arial"/>
              </a:rPr>
              <a:t>At a fixed 2.0 V</a:t>
            </a:r>
            <a:r>
              <a:rPr sz="1400" b="0" i="1" baseline="-25000">
                <a:solidFill>
                  <a:srgbClr val="5A606E"/>
                </a:solidFill>
                <a:latin typeface="Arial"/>
              </a:rPr>
              <a:t>pp</a:t>
            </a:r>
            <a:r>
              <a:rPr sz="1400" b="0" i="1">
                <a:solidFill>
                  <a:srgbClr val="5A606E"/>
                </a:solidFill>
                <a:latin typeface="Arial"/>
              </a:rPr>
              <a:t> drive the swing falls short of a full V</a:t>
            </a:r>
            <a:r>
              <a:rPr sz="1400" b="0" i="1" baseline="-25000">
                <a:solidFill>
                  <a:srgbClr val="5A606E"/>
                </a:solidFill>
                <a:latin typeface="Arial"/>
              </a:rPr>
              <a:t>π,eff</a:t>
            </a:r>
            <a:r>
              <a:rPr sz="1400" b="0" i="1">
                <a:solidFill>
                  <a:srgbClr val="5A606E"/>
                </a:solidFill>
                <a:latin typeface="Arial"/>
              </a:rPr>
              <a:t>: eye shrinks. Re-set the drive and it is identical to balanced</a:t>
            </a:r>
          </a:p>
        </p:txBody>
      </p:sp>
      <p:pic>
        <p:nvPicPr>
          <p:cNvPr id="4" name="Picture 3" descr="eye_vpi_imbalance_frac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743200" cy="2410691"/>
          </a:xfrm>
          <a:prstGeom prst="rect">
            <a:avLst/>
          </a:prstGeom>
        </p:spPr>
      </p:pic>
      <p:pic>
        <p:nvPicPr>
          <p:cNvPr id="5" name="Picture 4" descr="eye_vpi_imbalance_frac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371600"/>
            <a:ext cx="2743200" cy="2410691"/>
          </a:xfrm>
          <a:prstGeom prst="rect">
            <a:avLst/>
          </a:prstGeom>
        </p:spPr>
      </p:pic>
      <p:pic>
        <p:nvPicPr>
          <p:cNvPr id="6" name="Picture 5" descr="eye_vpi_imbalance_frac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5" y="1371600"/>
            <a:ext cx="2743200" cy="2410691"/>
          </a:xfrm>
          <a:prstGeom prst="rect">
            <a:avLst/>
          </a:prstGeom>
        </p:spPr>
      </p:pic>
      <p:pic>
        <p:nvPicPr>
          <p:cNvPr id="7" name="Picture 6" descr="eye_vpi_match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3" y="1371600"/>
            <a:ext cx="2743200" cy="241069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931920"/>
          <a:ext cx="7589517" cy="1554480"/>
        </p:xfrm>
        <a:graphic>
          <a:graphicData uri="http://schemas.openxmlformats.org/drawingml/2006/table">
            <a:tbl>
              <a:tblPr firstRow="0" bandRow="0"/>
              <a:tblGrid>
                <a:gridCol w="517467"/>
                <a:gridCol w="862445"/>
                <a:gridCol w="948690"/>
                <a:gridCol w="862445"/>
                <a:gridCol w="862445"/>
                <a:gridCol w="862445"/>
                <a:gridCol w="991812"/>
                <a:gridCol w="991812"/>
                <a:gridCol w="68995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π,eff</a:t>
                      </a: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 (V)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ER static @2 V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ER eye @2 V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Height @2 V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Rails σ @2 V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ER eye @V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π,eff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Height @V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π,eff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Chirp α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2.000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∞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0.266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0.05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2.049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34.56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0.304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0.024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2.182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23.67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15.68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16.56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0.390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0.091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2.400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13.42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15.30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0.485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0.200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66760" y="3931920"/>
            <a:ext cx="3291840" cy="2148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4005072"/>
            <a:ext cx="3072384" cy="20025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Reading it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Fixed drive: ER 17.86 → 13.42 dB, rails 0.27 → 0.49 mA (levels leave the flat top/bottom of the cosine)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Drive = V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π,eff</a:t>
            </a:r>
            <a:r>
              <a:rPr sz="1100" b="0" i="0">
                <a:solidFill>
                  <a:srgbClr val="1A1A1A"/>
                </a:solidFill>
                <a:latin typeface="Arial"/>
              </a:rPr>
              <a:t>: every metric equals the balanced one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What remains is chirp α = d/(2+d): visible only after fibre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606E"/>
                </a:solidFill>
                <a:latin typeface="Arial"/>
              </a:rPr>
              <a:t>Eyes computed by mzm_interconnect.eye on the reference device. Dashed: static max/min of the transfer curve (infinite bandwidth); dotted: all laser light; vertical dotted: sampling instant.  Fourth eye: d = 0.5 with the drive re-set to V</a:t>
            </a:r>
            <a:r>
              <a:rPr sz="1000" b="0" i="1" baseline="-25000">
                <a:solidFill>
                  <a:srgbClr val="5A606E"/>
                </a:solidFill>
                <a:latin typeface="Arial"/>
              </a:rPr>
              <a:t>π,eff</a:t>
            </a:r>
            <a:r>
              <a:rPr sz="1000" b="0" i="1">
                <a:solidFill>
                  <a:srgbClr val="5A606E"/>
                </a:solidFill>
                <a:latin typeface="Arial"/>
              </a:rPr>
              <a:t> = 2.40 V.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4  V</a:t>
            </a:r>
            <a:r>
              <a:rPr sz="300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3000" b="0" i="0">
                <a:solidFill>
                  <a:srgbClr val="1A1A1A"/>
                </a:solidFill>
                <a:latin typeface="Arial"/>
              </a:rPr>
              <a:t> imbalance: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852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2268"/>
                </a:solidFill>
                <a:latin typeface="Arial"/>
              </a:rPr>
              <a:t>How it enters the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 4"/>
              <p:cNvSpPr txBox="1"/>
              <p:nvPr/>
            </p:nvSpPr>
            <p:spPr>
              <a:xfrm>
                <a:off x="685800" y="1645920"/>
                <a:ext cx="4053840" cy="44196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4" name="Equation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45920"/>
                <a:ext cx="4053840" cy="4419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uation 5"/>
              <p:cNvSpPr txBox="1"/>
              <p:nvPr/>
            </p:nvSpPr>
            <p:spPr>
              <a:xfrm>
                <a:off x="685800" y="2289048"/>
                <a:ext cx="4032504" cy="49682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5" name="Equation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289048"/>
                <a:ext cx="4032504" cy="4968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/>
              <p:cNvSpPr txBox="1"/>
              <p:nvPr/>
            </p:nvSpPr>
            <p:spPr>
              <a:xfrm>
                <a:off x="685800" y="2987040"/>
                <a:ext cx="2414016" cy="50901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a:rPr lang="en-US" sz="15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15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sSub>
                                    <m:e>
                                      <m:r>
                                        <a:rPr lang="en-US" sz="15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5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sz="15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a:rPr lang="en-US" sz="15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5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500" i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5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  <m:r>
                                        <a:rPr lang="en-US" sz="15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sz="1500" i="1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6" name="Equation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987040"/>
                <a:ext cx="2414016" cy="509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uation 7"/>
              <p:cNvSpPr txBox="1"/>
              <p:nvPr/>
            </p:nvSpPr>
            <p:spPr>
              <a:xfrm>
                <a:off x="685800" y="3697223"/>
                <a:ext cx="3236976" cy="53644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sSubSup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sub>
                          </m:sSub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den>
                      </m:f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7" name="Equation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697223"/>
                <a:ext cx="3236976" cy="5364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8" name="Picture 7" descr="pv_vpi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480559"/>
            <a:ext cx="2270234" cy="1828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75120" y="12344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3075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Range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±0.5 in the GUI. Typical 0.01 – 0.05. A 100 nm gap difference on a 5 µm gap is 0.02.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606040"/>
            <a:ext cx="4983480" cy="14630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679192"/>
            <a:ext cx="4764024" cy="1316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Physical / fabrication cause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Different overlap Γ or gap g per arm: overlay error between the waveguide and electrode masks (waveguides off-centre in the gaps), gap asymmetry, asymmetric rib over-etch changing confinement.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2062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42793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In INTERCONNECT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OM_1 / OM_2 (already present): phase coefficient c = −π/(V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1200" b="0" i="0">
                <a:solidFill>
                  <a:srgbClr val="1A1A1A"/>
                </a:solidFill>
                <a:latin typeface="Arial"/>
              </a:rPr>
              <a:t>L) and +π/(V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1200" b="0" i="0">
                <a:solidFill>
                  <a:srgbClr val="1A1A1A"/>
                </a:solidFill>
                <a:latin typeface="Arial"/>
              </a:rPr>
              <a:t>(1+d)L), L = 1 µm. Equivalently vary length.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5577840"/>
            <a:ext cx="4983480" cy="7772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5650992"/>
            <a:ext cx="4764024" cy="6309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20013"/>
                </a:solidFill>
                <a:latin typeface="Arial"/>
              </a:rPr>
              <a:t>EO bandwidth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Unchanged (84.47 GHz): g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1</a:t>
            </a:r>
            <a:r>
              <a:rPr sz="1200" b="0" i="0">
                <a:solidFill>
                  <a:srgbClr val="1A1A1A"/>
                </a:solidFill>
                <a:latin typeface="Arial"/>
              </a:rPr>
              <a:t>, g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2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are flat weights on the same H(f).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5  Group-index imbalance: EO bandwidth and 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9509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A606E"/>
                </a:solidFill>
                <a:latin typeface="Arial"/>
              </a:rPr>
              <a:t>The only imbalance that reshapes the frequency response. Effect grows with dn²: invisible at realistic values</a:t>
            </a:r>
          </a:p>
        </p:txBody>
      </p:sp>
      <p:pic>
        <p:nvPicPr>
          <p:cNvPr id="4" name="Picture 3" descr="eye_ng_imbalanc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743200" cy="2410691"/>
          </a:xfrm>
          <a:prstGeom prst="rect">
            <a:avLst/>
          </a:prstGeom>
        </p:spPr>
      </p:pic>
      <p:pic>
        <p:nvPicPr>
          <p:cNvPr id="5" name="Picture 4" descr="eye_ng_imbalanc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371600"/>
            <a:ext cx="2743200" cy="2410691"/>
          </a:xfrm>
          <a:prstGeom prst="rect">
            <a:avLst/>
          </a:prstGeom>
        </p:spPr>
      </p:pic>
      <p:pic>
        <p:nvPicPr>
          <p:cNvPr id="6" name="Picture 5" descr="eye_ng_imbalanc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5" y="1371600"/>
            <a:ext cx="2743200" cy="2410691"/>
          </a:xfrm>
          <a:prstGeom prst="rect">
            <a:avLst/>
          </a:prstGeom>
        </p:spPr>
      </p:pic>
      <p:pic>
        <p:nvPicPr>
          <p:cNvPr id="7" name="Picture 6" descr="eye_ng_imbalanc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3" y="1371600"/>
            <a:ext cx="2743200" cy="2410691"/>
          </a:xfrm>
          <a:prstGeom prst="rect">
            <a:avLst/>
          </a:prstGeom>
        </p:spPr>
      </p:pic>
      <p:pic>
        <p:nvPicPr>
          <p:cNvPr id="8" name="Picture 7" descr="response_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840480"/>
            <a:ext cx="4173220" cy="242316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92040" y="3931920"/>
          <a:ext cx="4114798" cy="1554480"/>
        </p:xfrm>
        <a:graphic>
          <a:graphicData uri="http://schemas.openxmlformats.org/drawingml/2006/table">
            <a:tbl>
              <a:tblPr firstRow="0" bandRow="0"/>
              <a:tblGrid>
                <a:gridCol w="587828"/>
                <a:gridCol w="881742"/>
                <a:gridCol w="661307"/>
                <a:gridCol w="661307"/>
                <a:gridCol w="661307"/>
                <a:gridCol w="661307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dn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EO BW (GHz)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Shift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ER eye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Height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Rails σ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+0.00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0.266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-0.03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0.266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0.01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80.08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-4.40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17.67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17.62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0.278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0.02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70.00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-14.48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0.313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189720" y="3931920"/>
            <a:ext cx="2468880" cy="2148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9448" y="4005072"/>
            <a:ext cx="2249424" cy="20025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Reading it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dn = 0.001: −0.03 GHz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dn = 0.01: −4.40 GHz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Eye: slightly thicker rails from the extra ISI; ER −0.7 dB at 0.02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606E"/>
                </a:solidFill>
                <a:latin typeface="Arial"/>
              </a:rPr>
              <a:t>Eyes computed by mzm_interconnect.eye on the reference device. Dashed: static max/min of the transfer curve (infinite bandwidth); dotted: all laser light; vertical dotted: sampling instant.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5  Group-index imbalance: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852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2268"/>
                </a:solidFill>
                <a:latin typeface="Arial"/>
              </a:rPr>
              <a:t>How it enters the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 4"/>
              <p:cNvSpPr txBox="1"/>
              <p:nvPr/>
            </p:nvSpPr>
            <p:spPr>
              <a:xfrm>
                <a:off x="685800" y="1645920"/>
                <a:ext cx="3392424" cy="45720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4" name="Equation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45920"/>
                <a:ext cx="3392424" cy="457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uation 5"/>
              <p:cNvSpPr txBox="1"/>
              <p:nvPr/>
            </p:nvSpPr>
            <p:spPr>
              <a:xfrm>
                <a:off x="685800" y="2304288"/>
                <a:ext cx="4050791" cy="49682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5" name="Equation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304288"/>
                <a:ext cx="4050791" cy="4968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/>
              <p:cNvSpPr txBox="1"/>
              <p:nvPr/>
            </p:nvSpPr>
            <p:spPr>
              <a:xfrm>
                <a:off x="685800" y="3002280"/>
                <a:ext cx="3352800" cy="49377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∋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e>
                                  <m:r>
                                    <a:rPr lang="en-US" sz="15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5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sSub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en-US" sz="15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5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US" sz="15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5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500" i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500" i="1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6" name="Equation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002280"/>
                <a:ext cx="3352800" cy="4937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48640" y="3697223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5A606E"/>
                </a:solidFill>
                <a:latin typeface="Arial"/>
              </a:rPr>
              <a:t>The ± split is symmetric, so the first-order change cancels between the arms: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/>
              <p:cNvSpPr txBox="1"/>
              <p:nvPr/>
            </p:nvSpPr>
            <p:spPr>
              <a:xfrm>
                <a:off x="685800" y="4081271"/>
                <a:ext cx="4300728" cy="49682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a:rPr lang="en-US" sz="15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US" sz="15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sz="15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e>
                          <m:r>
                            <a:rPr lang="en-US" sz="15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5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8" name="Equation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081271"/>
                <a:ext cx="4300728" cy="4968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6675120" y="12344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3075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Range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0 – 0.02 in the GUI (to show the mechanism). Typical below 0.001 between two arms on the same die.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606040"/>
            <a:ext cx="4983480" cy="14630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679192"/>
            <a:ext cx="4764024" cy="1316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Physical / fabrication cause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Different waveguide cross-section per arm: width or etch-depth difference (lithography, asymmetric over-etch), film-thickness gradient across the chip — all change the group index.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2062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42793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In INTERCONNECT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Two Traveling Wave Electrode elements, TW_1 → OM_1 and TW_2 → OM_2, same tables and drive; optical index = n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g</a:t>
            </a:r>
            <a:r>
              <a:rPr sz="1200" b="0" i="0">
                <a:solidFill>
                  <a:srgbClr val="1A1A1A"/>
                </a:solidFill>
                <a:latin typeface="Arial"/>
              </a:rPr>
              <a:t>(1 ± dn/2).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5577840"/>
            <a:ext cx="4983480" cy="7772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5650992"/>
            <a:ext cx="4764024" cy="6309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20013"/>
                </a:solidFill>
                <a:latin typeface="Arial"/>
              </a:rPr>
              <a:t>EO bandwidth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Moves: 84.47 → 84.44 → 80.08 → 70.00 GHz for dn = 0, 0.001, 0.01, 0.02.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6  Y-branch excess loss: effect on the 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9509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A606E"/>
                </a:solidFill>
                <a:latin typeface="Arial"/>
              </a:rPr>
              <a:t>Common-mode: the whole eye shrinks toward zero by one factor. Not an imbalance, but it sets the received power</a:t>
            </a:r>
          </a:p>
        </p:txBody>
      </p:sp>
      <p:pic>
        <p:nvPicPr>
          <p:cNvPr id="4" name="Picture 3" descr="eye_y_branch_loss_d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743200" cy="2410691"/>
          </a:xfrm>
          <a:prstGeom prst="rect">
            <a:avLst/>
          </a:prstGeom>
        </p:spPr>
      </p:pic>
      <p:pic>
        <p:nvPicPr>
          <p:cNvPr id="5" name="Picture 4" descr="eye_y_branch_loss_d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371600"/>
            <a:ext cx="2743200" cy="2410691"/>
          </a:xfrm>
          <a:prstGeom prst="rect">
            <a:avLst/>
          </a:prstGeom>
        </p:spPr>
      </p:pic>
      <p:pic>
        <p:nvPicPr>
          <p:cNvPr id="6" name="Picture 5" descr="eye_y_branch_loss_dB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5" y="1371600"/>
            <a:ext cx="2743200" cy="2410691"/>
          </a:xfrm>
          <a:prstGeom prst="rect">
            <a:avLst/>
          </a:prstGeom>
        </p:spPr>
      </p:pic>
      <p:pic>
        <p:nvPicPr>
          <p:cNvPr id="7" name="Picture 6" descr="eye_y_branch_loss_dB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3" y="1371600"/>
            <a:ext cx="2743200" cy="241069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931920"/>
          <a:ext cx="7589517" cy="1554480"/>
        </p:xfrm>
        <a:graphic>
          <a:graphicData uri="http://schemas.openxmlformats.org/drawingml/2006/table">
            <a:tbl>
              <a:tblPr firstRow="0" bandRow="0"/>
              <a:tblGrid>
                <a:gridCol w="1072432"/>
                <a:gridCol w="907442"/>
                <a:gridCol w="824947"/>
                <a:gridCol w="866195"/>
                <a:gridCol w="866195"/>
                <a:gridCol w="742453"/>
                <a:gridCol w="659958"/>
                <a:gridCol w="907442"/>
                <a:gridCol w="742453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IL / branch (dB)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Y</a:t>
                      </a:r>
                      <a:r>
                        <a:rPr sz="1050" b="1" i="0" baseline="30000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 (theory)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μ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 (mA)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μ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 / μ</a:t>
                      </a:r>
                      <a:r>
                        <a:rPr sz="105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Height (mA)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ER eye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Width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Mean P (mW)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EO BW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19.63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17.71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0.969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10.00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0.871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0.871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15.43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0.969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8.71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0.631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12.39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0.631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11.18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0.969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6.31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0.398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7.82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0.398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7.05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17.86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0.969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3.98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84.47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66760" y="3931920"/>
            <a:ext cx="3291840" cy="2148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4005072"/>
            <a:ext cx="3072384" cy="20025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Reading it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μ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1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ratio equals T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Y</a:t>
            </a:r>
            <a:r>
              <a:rPr sz="1100" b="0" i="0" baseline="30000">
                <a:solidFill>
                  <a:srgbClr val="1A1A1A"/>
                </a:solidFill>
                <a:latin typeface="Arial"/>
              </a:rPr>
              <a:t>2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to 3 digits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ER 17.86 dB, width, crossing: unchanged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Matters once noise is on: less signal, same noise floor → lower 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606E"/>
                </a:solidFill>
                <a:latin typeface="Arial"/>
              </a:rPr>
              <a:t>Eyes computed by mzm_interconnect.eye on the reference device. Dashed: static max/min of the transfer curve (infinite bandwidth); dotted: all laser light; vertical dotted: sampling instant.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6  Y-branch excess loss: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852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2268"/>
                </a:solidFill>
                <a:latin typeface="Arial"/>
              </a:rPr>
              <a:t>How it enters the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 4"/>
              <p:cNvSpPr txBox="1"/>
              <p:nvPr/>
            </p:nvSpPr>
            <p:spPr>
              <a:xfrm>
                <a:off x="685800" y="1645920"/>
                <a:ext cx="4660392" cy="26827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e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4" name="Equation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45920"/>
                <a:ext cx="4660392" cy="2682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uation 5"/>
              <p:cNvSpPr txBox="1"/>
              <p:nvPr/>
            </p:nvSpPr>
            <p:spPr>
              <a:xfrm>
                <a:off x="685800" y="2115359"/>
                <a:ext cx="4480560" cy="28346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sSubSup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16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5" name="Equation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115359"/>
                <a:ext cx="4480560" cy="2834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/>
              <p:cNvSpPr txBox="1"/>
              <p:nvPr/>
            </p:nvSpPr>
            <p:spPr>
              <a:xfrm>
                <a:off x="685800" y="2599991"/>
                <a:ext cx="3486912" cy="61264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Sup>
                            <m:e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e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Sup>
                            <m:e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e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1600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r>
                        <a:rPr lang="en-US" sz="16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en-US" sz="1600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sz="1600" i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sSubSup>
                        <m:e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>
                          <m:r>
                            <a:rPr lang="en-US" sz="1600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Equation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599991"/>
                <a:ext cx="3486912" cy="612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48640" y="3413807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5A606E"/>
                </a:solidFill>
                <a:latin typeface="Arial"/>
              </a:rPr>
              <a:t>“Counted twice”: 0.3 dB per branch = 0.6 dB in the link.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2344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4848" y="13075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Range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0 – 2 dB per branch in the GUI. Typical 0.1 – 0.3 dB per branch for thin-film LiNbO</a:t>
            </a:r>
            <a:r>
              <a:rPr sz="1200" b="0" i="0" baseline="-25000">
                <a:solidFill>
                  <a:srgbClr val="1A1A1A"/>
                </a:solidFill>
                <a:latin typeface="Arial"/>
              </a:rPr>
              <a:t>3</a:t>
            </a:r>
            <a:r>
              <a:rPr sz="1200" b="0" i="0">
                <a:solidFill>
                  <a:srgbClr val="1A1A1A"/>
                </a:solidFill>
                <a:latin typeface="Arial"/>
              </a:rPr>
              <a:t>, counted twice (input splitter and output combiner).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606040"/>
            <a:ext cx="4983480" cy="14630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2679192"/>
            <a:ext cx="4764024" cy="1316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Physical / fabrication cause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Light scattered out where the waveguide divides or merges: blunt junction tip (finite lithographic resolution), mode mismatch at the branching angle, radiation in the S-bends, sidewall roughness.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20624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4279392"/>
            <a:ext cx="4764024" cy="1088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In INTERCONNECT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The Y branch itself is enough: insertion loss = IL on both SPLT_1 and SPLT_2. No extra block. (The plain Optical Splitter has no such property.)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5577840"/>
            <a:ext cx="4983480" cy="7772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5650992"/>
            <a:ext cx="4764024" cy="6309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20013"/>
                </a:solidFill>
                <a:latin typeface="Arial"/>
              </a:rPr>
              <a:t>EO bandwidth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Unchanged (84.47 GHz): same fraction lost at every frequency, in both arms.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509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Arial"/>
              </a:rPr>
              <a:t>Summary: effects and INTERCONNECT representation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109955" cy="3657600"/>
        </p:xfrm>
        <a:graphic>
          <a:graphicData uri="http://schemas.openxmlformats.org/drawingml/2006/table">
            <a:tbl>
              <a:tblPr firstRow="0" bandRow="0"/>
              <a:tblGrid>
                <a:gridCol w="1791929"/>
                <a:gridCol w="851166"/>
                <a:gridCol w="895964"/>
                <a:gridCol w="895964"/>
                <a:gridCol w="716771"/>
                <a:gridCol w="940762"/>
                <a:gridCol w="895964"/>
                <a:gridCol w="985560"/>
                <a:gridCol w="806368"/>
                <a:gridCol w="2329507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Imbalance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Enters as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ER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Height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Width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Rails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Crossing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Mean power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EO BW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INTERCONNECT</a:t>
                      </a:r>
                    </a:p>
                  </a:txBody>
                  <a:tcPr marL="45720" marR="45720" marT="18288" marB="18288" anchor="ctr">
                    <a:solidFill>
                      <a:srgbClr val="0E226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1 Arm loss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a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 ceiling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thinner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ATT_1: attenuation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2 Splitter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a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, a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 ceiling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thinner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SPLT_1: coupling coefficient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3 Static phase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Δφ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 (folds)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↓↓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 &gt;60°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asymmetric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 (leans)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PHS_1: phase shift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4 V</a:t>
                      </a:r>
                      <a:r>
                        <a:rPr sz="1100" b="1" i="0" baseline="-25000">
                          <a:solidFill>
                            <a:srgbClr val="1A1A1A"/>
                          </a:solidFill>
                          <a:latin typeface="Arial"/>
                        </a:rPr>
                        <a:t>π</a:t>
                      </a: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 (fixed drive)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g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thicker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OM_2: phase coefficient 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4 V</a:t>
                      </a:r>
                      <a:r>
                        <a:rPr sz="1100" b="1" i="0" baseline="-25000">
                          <a:solidFill>
                            <a:srgbClr val="1A1A1A"/>
                          </a:solidFill>
                          <a:latin typeface="Arial"/>
                        </a:rPr>
                        <a:t>π</a:t>
                      </a: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 (drive = V</a:t>
                      </a:r>
                      <a:r>
                        <a:rPr sz="1100" b="1" i="0" baseline="-25000">
                          <a:solidFill>
                            <a:srgbClr val="1A1A1A"/>
                          </a:solidFill>
                          <a:latin typeface="Arial"/>
                        </a:rPr>
                        <a:t>π,eff</a:t>
                      </a: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g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+ chirp α = d/(2+d)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5 Group index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h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, h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 slightly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 slightly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thicker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 ∝ dn²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TW_1 / TW_2: optical index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6 Y-branch loss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T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Y</a:t>
                      </a:r>
                      <a:r>
                        <a:rPr sz="1100" b="0" i="0" baseline="3000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 ×T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Y</a:t>
                      </a:r>
                      <a:r>
                        <a:rPr sz="1100" b="0" i="0" baseline="3000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×T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Y</a:t>
                      </a:r>
                      <a:r>
                        <a:rPr sz="1100" b="0" i="0" baseline="3000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↓ ×T</a:t>
                      </a:r>
                      <a:r>
                        <a:rPr sz="1100" b="0" i="0" baseline="-25000">
                          <a:solidFill>
                            <a:srgbClr val="1A1A1A"/>
                          </a:solidFill>
                          <a:latin typeface="Arial"/>
                        </a:rPr>
                        <a:t>Y</a:t>
                      </a:r>
                      <a:r>
                        <a:rPr sz="1100" b="0" i="0" baseline="3000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SPLT_1, SPLT_2: insertion loss</a:t>
                      </a:r>
                    </a:p>
                  </a:txBody>
                  <a:tcPr marL="45720" marR="45720" marT="18288" marB="18288" anchor="ctr"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521208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285232"/>
            <a:ext cx="10890504" cy="90525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E2268"/>
                </a:solidFill>
                <a:latin typeface="Arial"/>
              </a:rPr>
              <a:t>Take-away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Five differential imbalances close or distort the eye; only the group-index one can move the EO bandwidth, and only quadratically. Y-branch loss is common-mode: it never touches ER or bandwidth, only the absolute power (and so the noise-limited Q).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</TotalTime>
  <Words>466</Words>
  <Application>Microsoft Office PowerPoint</Application>
  <PresentationFormat>Widescreen</PresentationFormat>
  <Paragraphs>120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微软雅黑</vt:lpstr>
      <vt:lpstr>Aptos</vt:lpstr>
      <vt:lpstr>Aptos Display</vt:lpstr>
      <vt:lpstr>Aptos Narrow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29</cp:revision>
  <dcterms:created xsi:type="dcterms:W3CDTF">2025-12-17T10:39:38Z</dcterms:created>
  <dcterms:modified xsi:type="dcterms:W3CDTF">2026-09-28T09:09:54Z</dcterms:modified>
</cp:coreProperties>
</file>