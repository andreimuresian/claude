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5"/>
    <p:sldId id="258" r:id="rId4"/>
    <p:sldId id="259" r:id="rId3"/>
    <p:sldId id="260" r:id="rId2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3CC36F-2A63-4F1A-A353-45229F9441A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7462E5-9762-40A4-80E8-4F238B7AC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032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C48CF-5D94-277B-4917-A50E19718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4B7E60-9F66-1883-45F0-77BB1D07B4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77522-275D-1405-A7AE-667FFC51B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2A4E0-3AF4-785D-B839-2214FB648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E961D-2F71-1EBE-9298-336DF08B1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969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2F54A-A149-F283-E5EA-F7BD29065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D45B2-B66D-0F60-49F8-3D01C75E5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CF4C4-C4E8-0F2B-8305-E63F462E2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9418B-3B38-0745-961E-85AF718CB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AF101-F462-8A72-F015-A1C841792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679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71D38-BB99-CBCC-0265-E2D9A9201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F88D70-7C38-3390-A780-128242A11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99F3D-2223-1A96-DA2B-5AEFE7D96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064CF-C831-874F-9928-A447F31F3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67603-82BC-FE5F-F825-84DDF4AF9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257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A8D5F-8F0B-ACC7-8337-2A1C15267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74044-977A-C190-8DA2-822D701ED2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76CE2E-3749-07D5-2197-401CA51D6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01F53E-4660-9532-88FE-7908FE6B8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12D36A-9311-4E5A-6F39-8CB61AB4E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6503B4-8197-133A-FA36-3344E3F3C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505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BA873-F4AC-8E49-8F7E-B9E8F1BAB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E863D4-05B6-9AE8-5727-1D2C37CB6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BF5FAA-6EBE-7944-5EA3-802091A1FF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F4806D-1FB3-CD54-CF67-57B401CCF0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6DF826-1F8C-A403-CAC9-B8A0F6769A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8C510B-763D-1C12-C7EB-7AD5B28EE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D9C543-285B-F707-8CB7-E0104F8CF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687C71-DDA4-BFF2-0F51-DF26131BF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022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DB840-EA07-22E2-A22C-6A6120380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E16E4A-72FE-5D84-0374-90AB45569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E8357-F4B7-3331-2EE0-E193FBE83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018554-50D0-DA83-C4F4-02C41DD6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242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4500F2-9716-A1A8-4434-8C4908507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11DBF5-196B-8AAD-41E9-4D02118C9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0AE642-89F5-CC7E-8990-F8091CB24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189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6C01E-83E8-B257-6ABD-B736ADD1C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490AE-893A-0498-EDE1-77F95B83B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2ED0CB-EBAB-00CF-187B-BF916FD7DC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D4D795-9810-7D10-4D49-E50A36996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038A76-FED7-34A2-6983-5E894F7D3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850DD2-164F-F716-7519-5BE819D49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377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663CD-C176-381B-119D-053C81741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6356E7-43B4-F3BF-C480-7ED1E14D65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8331D0-5652-5C57-C7DC-7C0F1CF48D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3317AD-514C-271A-1750-29C99B934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9AEC50-6A35-B567-A187-05BCDCAD5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6574F-382B-1B34-4B85-64B0EA2A4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757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B51BB-BD45-B536-9FE9-BC1CF3D00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6C92E1-EA83-B021-BD95-9356FDF2C1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FAF5F-2CC1-F4F3-6A42-740EA5EAD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36618-FB36-8157-9D99-D5CD7C638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A9AAD-0F5F-B0D7-1934-85BC3F5E8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814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127568-B49F-966C-DA93-622004AC1D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5C9395-59C8-F7B3-AC4C-46A4249A9C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36246-5E71-7241-C520-CC3587A2A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16AF4-AB52-5650-0ECF-DB34251DC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5F979-A3BC-61BF-5DAE-99FB5FFC9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0535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1040" y="0"/>
            <a:ext cx="2467880" cy="2057147"/>
          </a:xfrm>
          <a:prstGeom prst="rect">
            <a:avLst/>
          </a:prstGeom>
          <a:noFill/>
        </p:spPr>
      </p:pic>
      <p:grpSp>
        <p:nvGrpSpPr>
          <p:cNvPr id="8" name="组合 7"/>
          <p:cNvGrpSpPr/>
          <p:nvPr userDrawn="1"/>
        </p:nvGrpSpPr>
        <p:grpSpPr>
          <a:xfrm>
            <a:off x="0" y="6485001"/>
            <a:ext cx="12192000" cy="383243"/>
            <a:chOff x="0" y="4833033"/>
            <a:chExt cx="9144000" cy="287432"/>
          </a:xfrm>
        </p:grpSpPr>
        <p:sp>
          <p:nvSpPr>
            <p:cNvPr id="9" name="Text Box 2"/>
            <p:cNvSpPr txBox="1">
              <a:spLocks noChangeArrowheads="1"/>
            </p:cNvSpPr>
            <p:nvPr/>
          </p:nvSpPr>
          <p:spPr bwMode="auto">
            <a:xfrm>
              <a:off x="0" y="4835723"/>
              <a:ext cx="1763688" cy="284742"/>
            </a:xfrm>
            <a:prstGeom prst="rect">
              <a:avLst/>
            </a:prstGeom>
            <a:solidFill>
              <a:srgbClr val="DC0000"/>
            </a:solidFill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endParaRPr kumimoji="1" lang="en-US" altLang="zh-TW" sz="1865" dirty="0">
                <a:solidFill>
                  <a:schemeClr val="bg1"/>
                </a:solidFill>
                <a:latin typeface="Arial" panose="020B0604020202020204" pitchFamily="34" charset="0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10" name="Text Box 2"/>
            <p:cNvSpPr txBox="1">
              <a:spLocks noChangeArrowheads="1"/>
            </p:cNvSpPr>
            <p:nvPr/>
          </p:nvSpPr>
          <p:spPr bwMode="auto">
            <a:xfrm>
              <a:off x="1763688" y="4835723"/>
              <a:ext cx="7380312" cy="284742"/>
            </a:xfrm>
            <a:prstGeom prst="rect">
              <a:avLst/>
            </a:prstGeom>
            <a:solidFill>
              <a:srgbClr val="00288C"/>
            </a:solidFill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endParaRPr kumimoji="1" lang="en-US" altLang="zh-TW" sz="1865" dirty="0">
                <a:solidFill>
                  <a:schemeClr val="bg1"/>
                </a:solidFill>
                <a:latin typeface="Arial" panose="020B0604020202020204" pitchFamily="34" charset="0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0" y="4833033"/>
              <a:ext cx="914399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TW" sz="1800" dirty="0">
                  <a:solidFill>
                    <a:schemeClr val="bg1"/>
                  </a:solidFill>
                  <a:latin typeface="Arial" panose="020B0604020202020204" pitchFamily="34" charset="0"/>
                  <a:ea typeface="PMingLiU" pitchFamily="18" charset="-120"/>
                  <a:cs typeface="Arial" panose="020B0604020202020204" pitchFamily="34" charset="0"/>
                </a:rPr>
                <a:t>www.afrmilan.com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897498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61"/>
          <p:cNvGrpSpPr/>
          <p:nvPr userDrawn="1"/>
        </p:nvGrpSpPr>
        <p:grpSpPr>
          <a:xfrm>
            <a:off x="631357" y="453550"/>
            <a:ext cx="996088" cy="0"/>
            <a:chOff x="707557" y="548800"/>
            <a:chExt cx="996088" cy="0"/>
          </a:xfrm>
        </p:grpSpPr>
        <p:cxnSp>
          <p:nvCxnSpPr>
            <p:cNvPr id="10" name="直接连接符 9"/>
            <p:cNvCxnSpPr/>
            <p:nvPr/>
          </p:nvCxnSpPr>
          <p:spPr bwMode="auto">
            <a:xfrm>
              <a:off x="707557" y="548800"/>
              <a:ext cx="299539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F2001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" name="直接连接符 11"/>
            <p:cNvCxnSpPr/>
            <p:nvPr/>
          </p:nvCxnSpPr>
          <p:spPr bwMode="auto">
            <a:xfrm>
              <a:off x="983645" y="548800"/>
              <a:ext cx="7200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E226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3" name="组合 12"/>
          <p:cNvGrpSpPr/>
          <p:nvPr userDrawn="1"/>
        </p:nvGrpSpPr>
        <p:grpSpPr>
          <a:xfrm>
            <a:off x="10607281" y="233681"/>
            <a:ext cx="1177119" cy="900000"/>
            <a:chOff x="7955458" y="175261"/>
            <a:chExt cx="882839" cy="675000"/>
          </a:xfrm>
        </p:grpSpPr>
        <p:pic>
          <p:nvPicPr>
            <p:cNvPr id="14" name="图片 13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60" t="23787" r="27970" b="32989"/>
            <a:stretch>
              <a:fillRect/>
            </a:stretch>
          </p:blipFill>
          <p:spPr>
            <a:xfrm>
              <a:off x="7955458" y="175261"/>
              <a:ext cx="882839" cy="675000"/>
            </a:xfrm>
            <a:prstGeom prst="rect">
              <a:avLst/>
            </a:prstGeom>
          </p:spPr>
        </p:pic>
        <p:sp>
          <p:nvSpPr>
            <p:cNvPr id="15" name="椭圆 14"/>
            <p:cNvSpPr/>
            <p:nvPr userDrawn="1"/>
          </p:nvSpPr>
          <p:spPr>
            <a:xfrm>
              <a:off x="8676456" y="195486"/>
              <a:ext cx="144016" cy="1440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32856029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FB5CBE-16B3-E38A-B202-DD6A9A610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2B50FB-DD96-88A4-B12A-5356FDB5D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4A9B6-518F-CF03-4199-4F2D321837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8336F-6941-638B-CC70-DD5FDD1807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247DF-32E2-7EEB-3071-DBCF205D4F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391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1.png"/><Relationship Id="rId7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11.png"/><Relationship Id="rId7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11.png"/><Relationship Id="rId7" Type="http://schemas.openxmlformats.org/officeDocument/2006/relationships/image" Target="../media/image3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11.png"/><Relationship Id="rId7" Type="http://schemas.openxmlformats.org/officeDocument/2006/relationships/image" Target="../media/image3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148840"/>
            <a:ext cx="12188952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1A1A1A"/>
                </a:solidFill>
                <a:latin typeface="Arial"/>
              </a:rPr>
              <a:t>Arm imbalances in the TW-MZM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383280"/>
            <a:ext cx="12188952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0" i="0">
                <a:solidFill>
                  <a:srgbClr val="5A606E"/>
                </a:solidFill>
                <a:latin typeface="Arial"/>
              </a:rPr>
              <a:t>Origin, effect on EO bandwidth and eye, and INTERCONNECT representation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92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A1A1A"/>
                </a:solidFill>
                <a:latin typeface="Arial"/>
              </a:rPr>
              <a:t>The model: MZM, block by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E2268"/>
                </a:solidFill>
                <a:latin typeface="Arial"/>
              </a:rPr>
              <a:t>The simple picture (left) is what INTERCONNECT simulates (right)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361188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zm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507703"/>
            <a:ext cx="3520440" cy="18766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206240" y="1417320"/>
            <a:ext cx="7543800" cy="4251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hematic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513592"/>
            <a:ext cx="7452360" cy="405941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3611880"/>
            <a:ext cx="3611880" cy="114300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657600"/>
            <a:ext cx="342900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E2268"/>
                </a:solidFill>
                <a:latin typeface="Arial"/>
              </a:rPr>
              <a:t>One GSG line → two TW blocks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Each arm sits in one S–G gap. Same line, same drive, opposite field: TW_1/OM_1 = gap 1, TW_2/OM_2 = gap 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846320"/>
            <a:ext cx="35661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Arial"/>
              </a:rPr>
              <a:t>CWL_1</a:t>
            </a:r>
            <a:r>
              <a:rPr sz="950" b="0" i="0">
                <a:solidFill>
                  <a:srgbClr val="1A1A1A"/>
                </a:solidFill>
                <a:latin typeface="Arial"/>
              </a:rPr>
              <a:t>  laser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020056"/>
            <a:ext cx="35661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Arial"/>
              </a:rPr>
              <a:t>SPLT_1/2</a:t>
            </a:r>
            <a:r>
              <a:rPr sz="950" b="0" i="0">
                <a:solidFill>
                  <a:srgbClr val="1A1A1A"/>
                </a:solidFill>
                <a:latin typeface="Arial"/>
              </a:rPr>
              <a:t>  Y splitter / combiner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193792"/>
            <a:ext cx="35661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Arial"/>
              </a:rPr>
              <a:t>TW_1/2 + OM_1/2</a:t>
            </a:r>
            <a:r>
              <a:rPr sz="950" b="0" i="0">
                <a:solidFill>
                  <a:srgbClr val="1A1A1A"/>
                </a:solidFill>
                <a:latin typeface="Arial"/>
              </a:rPr>
              <a:t>  electrode gap + phase modulation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367528"/>
            <a:ext cx="35661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Arial"/>
              </a:rPr>
              <a:t>PHS_1</a:t>
            </a:r>
            <a:r>
              <a:rPr sz="950" b="0" i="0">
                <a:solidFill>
                  <a:srgbClr val="1A1A1A"/>
                </a:solidFill>
                <a:latin typeface="Arial"/>
              </a:rPr>
              <a:t>  bias (quadrature)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541264"/>
            <a:ext cx="35661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1A1A"/>
                </a:solidFill>
                <a:latin typeface="Arial"/>
              </a:rPr>
              <a:t>PIN_1</a:t>
            </a:r>
            <a:r>
              <a:rPr sz="950" b="0" i="0">
                <a:solidFill>
                  <a:srgbClr val="1A1A1A"/>
                </a:solidFill>
                <a:latin typeface="Arial"/>
              </a:rPr>
              <a:t>  photodetector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52160"/>
            <a:ext cx="112928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5A606E"/>
                </a:solidFill>
                <a:latin typeface="Arial"/>
              </a:rPr>
              <a:t>Reference device for every number: measured line 6NK0020 scaled to 16.5 mm · n</a:t>
            </a:r>
            <a:r>
              <a:rPr sz="1100" b="0" i="1" baseline="-25000">
                <a:solidFill>
                  <a:srgbClr val="5A606E"/>
                </a:solidFill>
                <a:latin typeface="Arial"/>
              </a:rPr>
              <a:t>g</a:t>
            </a:r>
            <a:r>
              <a:rPr sz="1100" b="0" i="1">
                <a:solidFill>
                  <a:srgbClr val="5A606E"/>
                </a:solidFill>
                <a:latin typeface="Arial"/>
              </a:rPr>
              <a:t> = 2.27 · V</a:t>
            </a:r>
            <a:r>
              <a:rPr sz="1100" b="0" i="1" baseline="-25000">
                <a:solidFill>
                  <a:srgbClr val="5A606E"/>
                </a:solidFill>
                <a:latin typeface="Arial"/>
              </a:rPr>
              <a:t>π</a:t>
            </a:r>
            <a:r>
              <a:rPr sz="1100" b="0" i="1">
                <a:solidFill>
                  <a:srgbClr val="5A606E"/>
                </a:solidFill>
                <a:latin typeface="Arial"/>
              </a:rPr>
              <a:t> = 4 V per arm → 2 V for the push-pull device · drive 2 Vpp · 100 Gb/s NRZ · EO BW without imbalance = 58.8 GHz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92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A1A1A"/>
                </a:solidFill>
                <a:latin typeface="Arial"/>
              </a:rPr>
              <a:t>All considered imbalances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E2268"/>
                </a:solidFill>
                <a:latin typeface="Arial"/>
              </a:rPr>
              <a:t>Six knobs, each one block in INTERCONNECT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394960" cy="457200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02920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0E2268"/>
                </a:solidFill>
                <a:latin typeface="Arial"/>
              </a:rPr>
              <a:t>1  Arm loss imbalance</a:t>
            </a:r>
          </a:p>
          <a:p>
            <a:pPr algn="l">
              <a:spcAft>
                <a:spcPts val="1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one arm loses more light than the other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59152"/>
            <a:ext cx="502920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0E2268"/>
                </a:solidFill>
                <a:latin typeface="Arial"/>
              </a:rPr>
              <a:t>2  Splitter imbalance</a:t>
            </a:r>
          </a:p>
          <a:p>
            <a:pPr algn="l">
              <a:spcAft>
                <a:spcPts val="1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the input Y-branch does not split 50 :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72384"/>
            <a:ext cx="502920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0E2268"/>
                </a:solidFill>
                <a:latin typeface="Arial"/>
              </a:rPr>
              <a:t>3  Static phase error</a:t>
            </a:r>
          </a:p>
          <a:p>
            <a:pPr algn="l">
              <a:spcAft>
                <a:spcPts val="1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the two optical paths differ: bias off quadrature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85615"/>
            <a:ext cx="502920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0E2268"/>
                </a:solidFill>
                <a:latin typeface="Arial"/>
              </a:rPr>
              <a:t>4  V</a:t>
            </a:r>
            <a:r>
              <a:rPr sz="1500" b="1" i="0" baseline="-25000">
                <a:solidFill>
                  <a:srgbClr val="0E2268"/>
                </a:solidFill>
                <a:latin typeface="Arial"/>
              </a:rPr>
              <a:t>π</a:t>
            </a:r>
            <a:r>
              <a:rPr sz="1500" b="1" i="0">
                <a:solidFill>
                  <a:srgbClr val="0E2268"/>
                </a:solidFill>
                <a:latin typeface="Arial"/>
              </a:rPr>
              <a:t> imbalance</a:t>
            </a:r>
          </a:p>
          <a:p>
            <a:pPr algn="l">
              <a:spcAft>
                <a:spcPts val="1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one arm gets less phase per volt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498848"/>
            <a:ext cx="502920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0E2268"/>
                </a:solidFill>
                <a:latin typeface="Arial"/>
              </a:rPr>
              <a:t>5  Group-index imbalance</a:t>
            </a:r>
          </a:p>
          <a:p>
            <a:pPr algn="l">
              <a:spcAft>
                <a:spcPts val="1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light travels at a different speed in each arm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212080"/>
            <a:ext cx="502920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0E2268"/>
                </a:solidFill>
                <a:latin typeface="Arial"/>
              </a:rPr>
              <a:t>6  Y-branch excess loss</a:t>
            </a:r>
          </a:p>
          <a:p>
            <a:pPr algn="l">
              <a:spcAft>
                <a:spcPts val="1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both Y-branches lose light (common to both arms)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63040"/>
            <a:ext cx="56235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572768"/>
            <a:ext cx="530352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E2268"/>
                </a:solidFill>
                <a:latin typeface="Arial"/>
              </a:rPr>
              <a:t>V</a:t>
            </a:r>
            <a:r>
              <a:rPr sz="1150" b="1" i="0" baseline="-25000">
                <a:solidFill>
                  <a:srgbClr val="0E2268"/>
                </a:solidFill>
                <a:latin typeface="Arial"/>
              </a:rPr>
              <a:t>π</a:t>
            </a:r>
            <a:r>
              <a:rPr sz="1150" b="1" i="0">
                <a:solidFill>
                  <a:srgbClr val="0E2268"/>
                </a:solidFill>
                <a:latin typeface="Arial"/>
              </a:rPr>
              <a:t> (per arm):</a:t>
            </a:r>
            <a:r>
              <a:rPr sz="1150" b="0" i="0">
                <a:solidFill>
                  <a:srgbClr val="1A1A1A"/>
                </a:solidFill>
                <a:latin typeface="Arial"/>
              </a:rPr>
              <a:t> voltage on one S–G gap that alone shifts that arm's optical phase by π. In push-pull both arms move, in opposite directions, so the device V</a:t>
            </a:r>
            <a:r>
              <a:rPr sz="1150" b="0" i="0" baseline="-25000">
                <a:solidFill>
                  <a:srgbClr val="1A1A1A"/>
                </a:solidFill>
                <a:latin typeface="Arial"/>
              </a:rPr>
              <a:t>π</a:t>
            </a:r>
            <a:r>
              <a:rPr sz="1150" b="0" i="0">
                <a:solidFill>
                  <a:srgbClr val="1A1A1A"/>
                </a:solidFill>
                <a:latin typeface="Arial"/>
              </a:rPr>
              <a:t> is half: 4 V per arm → 2 V for the device (16.5 mm).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459736"/>
            <a:ext cx="530352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E2268"/>
                </a:solidFill>
                <a:latin typeface="Arial"/>
              </a:rPr>
              <a:t>Vpp:</a:t>
            </a:r>
            <a:r>
              <a:rPr sz="1150" b="0" i="0">
                <a:solidFill>
                  <a:srgbClr val="1A1A1A"/>
                </a:solidFill>
                <a:latin typeface="Arial"/>
              </a:rPr>
              <a:t> peak-to-peak drive voltage: the step between a '0' (−1 V) and a '1' (+1 V) for 2 Vpp. With Vpp = device V</a:t>
            </a:r>
            <a:r>
              <a:rPr sz="1150" b="0" i="0" baseline="-25000">
                <a:solidFill>
                  <a:srgbClr val="1A1A1A"/>
                </a:solidFill>
                <a:latin typeface="Arial"/>
              </a:rPr>
              <a:t>π</a:t>
            </a:r>
            <a:r>
              <a:rPr sz="1150" b="0" i="0">
                <a:solidFill>
                  <a:srgbClr val="1A1A1A"/>
                </a:solidFill>
                <a:latin typeface="Arial"/>
              </a:rPr>
              <a:t>, the drive swings the MZM from minimum to maximum transmission.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346704"/>
            <a:ext cx="530352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E2268"/>
                </a:solidFill>
                <a:latin typeface="Arial"/>
              </a:rPr>
              <a:t>Extinction ratio (ER):</a:t>
            </a:r>
            <a:r>
              <a:rPr sz="1150" b="0" i="0">
                <a:solidFill>
                  <a:srgbClr val="1A1A1A"/>
                </a:solidFill>
                <a:latin typeface="Arial"/>
              </a:rPr>
              <a:t> power of the '1' level / power of the '0' level in the eye, in dB.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233672"/>
            <a:ext cx="530352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E2268"/>
                </a:solidFill>
                <a:latin typeface="Arial"/>
              </a:rPr>
              <a:t>EO bandwidth:</a:t>
            </a:r>
            <a:r>
              <a:rPr sz="1150" b="0" i="0">
                <a:solidFill>
                  <a:srgbClr val="1A1A1A"/>
                </a:solidFill>
                <a:latin typeface="Arial"/>
              </a:rPr>
              <a:t> modulation frequency where the EO response is 3 dB below its low-frequency value.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5120640"/>
            <a:ext cx="530352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E2268"/>
                </a:solidFill>
                <a:latin typeface="Arial"/>
              </a:rPr>
              <a:t>Balanced:</a:t>
            </a:r>
            <a:r>
              <a:rPr sz="1150" b="0" i="0">
                <a:solidFill>
                  <a:srgbClr val="1A1A1A"/>
                </a:solidFill>
                <a:latin typeface="Arial"/>
              </a:rPr>
              <a:t> the reference device, with no imbalance.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92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A1A1A"/>
                </a:solidFill>
                <a:latin typeface="Arial"/>
              </a:rPr>
              <a:t>Why only one imbalance can move the EO bandwidth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E2268"/>
                </a:solidFill>
                <a:latin typeface="Arial"/>
              </a:rPr>
              <a:t>Imbalances multiply each arm's electrode response H(f) by a constant, except n</a:t>
            </a:r>
            <a:r>
              <a:rPr sz="1500" b="1" i="0" baseline="-25000">
                <a:solidFill>
                  <a:srgbClr val="0E2268"/>
                </a:solidFill>
                <a:latin typeface="Arial"/>
              </a:rPr>
              <a:t>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93192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ncept_b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44796"/>
            <a:ext cx="3749039" cy="2528326"/>
          </a:xfrm>
          <a:prstGeom prst="rect">
            <a:avLst/>
          </a:prstGeom>
        </p:spPr>
      </p:pic>
      <p:pic>
        <p:nvPicPr>
          <p:cNvPr id="6" name="Picture 5" descr="concept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622972"/>
            <a:ext cx="7178040" cy="297197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4937760"/>
            <a:ext cx="5486400" cy="155448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001768"/>
            <a:ext cx="521208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0E2268"/>
                </a:solidFill>
                <a:latin typeface="Arial"/>
              </a:rPr>
              <a:t>Constant factors: loss, split, bias, V</a:t>
            </a:r>
            <a:r>
              <a:rPr sz="1350" b="1" i="0" baseline="-25000">
                <a:solidFill>
                  <a:srgbClr val="0E2268"/>
                </a:solidFill>
                <a:latin typeface="Arial"/>
              </a:rPr>
              <a:t>π</a:t>
            </a:r>
            <a:r>
              <a:rPr sz="1350" b="1" i="0">
                <a:solidFill>
                  <a:srgbClr val="0E2268"/>
                </a:solidFill>
                <a:latin typeface="Arial"/>
              </a:rPr>
              <a:t>, Y-loss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H(f) describes how the electrode passes each frequency of the drive: long runs of equal bits are low frequencies, isolated single bits are high frequencies. A constant factor scales all of them equally, so the normalised curve, and the bandwidth, do not change. Optical loss cannot depend on the modulation frequency: the carrier is at 193 THz, the modulation below 100 GHz.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4937760"/>
            <a:ext cx="5486400" cy="155448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5001768"/>
            <a:ext cx="521208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F20013"/>
                </a:solidFill>
                <a:latin typeface="Arial"/>
              </a:rPr>
              <a:t>Frequency-dependent: group index n</a:t>
            </a:r>
            <a:r>
              <a:rPr sz="1350" b="1" i="0" baseline="-25000">
                <a:solidFill>
                  <a:srgbClr val="F20013"/>
                </a:solidFill>
                <a:latin typeface="Arial"/>
              </a:rPr>
              <a:t>g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n</a:t>
            </a:r>
            <a:r>
              <a:rPr sz="1100" b="0" i="0" baseline="-25000">
                <a:solidFill>
                  <a:srgbClr val="1A1A1A"/>
                </a:solidFill>
                <a:latin typeface="Arial"/>
              </a:rPr>
              <a:t>g</a:t>
            </a:r>
            <a:r>
              <a:rPr sz="1100" b="0" i="0">
                <a:solidFill>
                  <a:srgbClr val="1A1A1A"/>
                </a:solidFill>
                <a:latin typeface="Arial"/>
              </a:rPr>
              <a:t> sets how long the light stays in step with the RF wave, i.e. the shape of H(f). Different n</a:t>
            </a:r>
            <a:r>
              <a:rPr sz="1100" b="0" i="0" baseline="-25000">
                <a:solidFill>
                  <a:srgbClr val="1A1A1A"/>
                </a:solidFill>
                <a:latin typeface="Arial"/>
              </a:rPr>
              <a:t>g</a:t>
            </a:r>
            <a:r>
              <a:rPr sz="1100" b="0" i="0">
                <a:solidFill>
                  <a:srgbClr val="1A1A1A"/>
                </a:solidFill>
                <a:latin typeface="Arial"/>
              </a:rPr>
              <a:t> per arm → H</a:t>
            </a:r>
            <a:r>
              <a:rPr sz="1100" b="0" i="0" baseline="-25000">
                <a:solidFill>
                  <a:srgbClr val="1A1A1A"/>
                </a:solidFill>
                <a:latin typeface="Arial"/>
              </a:rPr>
              <a:t>1</a:t>
            </a:r>
            <a:r>
              <a:rPr sz="1100" b="0" i="0">
                <a:solidFill>
                  <a:srgbClr val="1A1A1A"/>
                </a:solidFill>
                <a:latin typeface="Arial"/>
              </a:rPr>
              <a:t>(f) ≠ H</a:t>
            </a:r>
            <a:r>
              <a:rPr sz="1100" b="0" i="0" baseline="-25000">
                <a:solidFill>
                  <a:srgbClr val="1A1A1A"/>
                </a:solidFill>
                <a:latin typeface="Arial"/>
              </a:rPr>
              <a:t>2</a:t>
            </a:r>
            <a:r>
              <a:rPr sz="1100" b="0" i="0">
                <a:solidFill>
                  <a:srgbClr val="1A1A1A"/>
                </a:solidFill>
                <a:latin typeface="Arial"/>
              </a:rPr>
              <a:t>(f) → their sum has a different shape → the bandwidth moves. The electrode RF loss is frequency-dependent too, but it is the same line for both arms: it is part of H(f), not an imbalance.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92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A1A1A"/>
                </a:solidFill>
                <a:latin typeface="Arial"/>
              </a:rPr>
              <a:t>1   Arm loss imbalance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E2268"/>
                </a:solidFill>
                <a:latin typeface="Arial"/>
              </a:rPr>
              <a:t>One arm loses more light: the '1' gets dimmer, the '0' no longer goes fully dark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291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A606E"/>
                </a:solidFill>
                <a:latin typeface="Arial"/>
              </a:rPr>
              <a:t>Where it comes from</a:t>
            </a:r>
          </a:p>
        </p:txBody>
      </p:sp>
      <p:pic>
        <p:nvPicPr>
          <p:cNvPr id="5" name="Picture 4" descr="cause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99" y="1645920"/>
            <a:ext cx="3064840" cy="18745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502152"/>
            <a:ext cx="3291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1">
                <a:solidFill>
                  <a:srgbClr val="5A606E"/>
                </a:solidFill>
                <a:latin typeface="Arial"/>
              </a:rPr>
              <a:t>rough sidewall, particle or local defect in one arm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371600"/>
            <a:ext cx="4206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A606E"/>
                </a:solidFill>
                <a:latin typeface="Arial"/>
              </a:rPr>
              <a:t>Where it enters the model</a:t>
            </a:r>
          </a:p>
        </p:txBody>
      </p:sp>
      <p:pic>
        <p:nvPicPr>
          <p:cNvPr id="8" name="Picture 7" descr="mzm_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2382" y="1600200"/>
            <a:ext cx="3945314" cy="21031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366760" y="1371600"/>
            <a:ext cx="3383280" cy="224028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463040"/>
            <a:ext cx="3108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A606E"/>
                </a:solidFill>
                <a:latin typeface="Arial"/>
              </a:rPr>
              <a:t>In INTERCONNECT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783080"/>
            <a:ext cx="310896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F200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67928" y="1801368"/>
            <a:ext cx="2980944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20013"/>
                </a:solidFill>
                <a:latin typeface="Arial"/>
              </a:rPr>
              <a:t>ATT_1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06E"/>
                </a:solidFill>
                <a:latin typeface="Arial"/>
              </a:rPr>
              <a:t>Optical Attenuator, arm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450591"/>
            <a:ext cx="31089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attenuation = ΔL (dB)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788920"/>
            <a:ext cx="31089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A606E"/>
                </a:solidFill>
                <a:latin typeface="Arial"/>
              </a:rPr>
              <a:t>simulated: 1 and 3 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40480"/>
            <a:ext cx="3108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E2268"/>
                </a:solidFill>
                <a:latin typeface="Arial"/>
              </a:rPr>
              <a:t>Why the eye changes</a:t>
            </a:r>
          </a:p>
        </p:txBody>
      </p:sp>
      <p:pic>
        <p:nvPicPr>
          <p:cNvPr id="16" name="Picture 15" descr="why_lo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44" y="4069080"/>
            <a:ext cx="2581390" cy="1965960"/>
          </a:xfrm>
          <a:prstGeom prst="rect">
            <a:avLst/>
          </a:prstGeom>
        </p:spPr>
      </p:pic>
      <p:pic>
        <p:nvPicPr>
          <p:cNvPr id="17" name="Picture 16" descr="eo_lo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7285" y="3886200"/>
            <a:ext cx="2723829" cy="2148840"/>
          </a:xfrm>
          <a:prstGeom prst="rect">
            <a:avLst/>
          </a:prstGeom>
        </p:spPr>
      </p:pic>
      <p:pic>
        <p:nvPicPr>
          <p:cNvPr id="18" name="Picture 17" descr="eye_re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8013" y="3840480"/>
            <a:ext cx="2277373" cy="2194560"/>
          </a:xfrm>
          <a:prstGeom prst="rect">
            <a:avLst/>
          </a:prstGeom>
        </p:spPr>
      </p:pic>
      <p:pic>
        <p:nvPicPr>
          <p:cNvPr id="19" name="Picture 18" descr="eye_loss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4053" y="3840480"/>
            <a:ext cx="2277373" cy="21945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6053328"/>
            <a:ext cx="576072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1A1A"/>
                </a:solidFill>
                <a:latin typeface="Arial"/>
              </a:rPr>
              <a:t>EO BW:</a:t>
            </a:r>
            <a:r>
              <a:rPr sz="1100" b="0" i="0">
                <a:solidFill>
                  <a:srgbClr val="1A1A1A"/>
                </a:solidFill>
                <a:latin typeface="Arial"/>
              </a:rPr>
              <a:t> unchanged: the optical loss is the same at every modulation frequency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6053328"/>
            <a:ext cx="544068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1A1A"/>
                </a:solidFill>
                <a:latin typeface="Arial"/>
              </a:rPr>
              <a:t>Eye:</a:t>
            </a:r>
            <a:r>
              <a:rPr sz="1100" b="0" i="0">
                <a:solidFill>
                  <a:srgbClr val="1A1A1A"/>
                </a:solidFill>
                <a:latin typeface="Arial"/>
              </a:rPr>
              <a:t> the '1' needs the two fields to add, the '0' needs them to cancel. A weaker arm 2 lowers the sum a lot ('1': 1 → 0.73) but leaves a small difference ('0': 0 → 0.02). ER 14.6 → 12.0 dB at 3 dB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92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A1A1A"/>
                </a:solidFill>
                <a:latin typeface="Arial"/>
              </a:rPr>
              <a:t>2   Splitter imbalance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E2268"/>
                </a:solidFill>
                <a:latin typeface="Arial"/>
              </a:rPr>
              <a:t>Light shared unequally between the arms: the '0' rises, no light is lost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291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A606E"/>
                </a:solidFill>
                <a:latin typeface="Arial"/>
              </a:rPr>
              <a:t>Where it comes from</a:t>
            </a:r>
          </a:p>
        </p:txBody>
      </p:sp>
      <p:pic>
        <p:nvPicPr>
          <p:cNvPr id="5" name="Picture 4" descr="cause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99" y="1645920"/>
            <a:ext cx="3064840" cy="18745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502152"/>
            <a:ext cx="3291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1">
                <a:solidFill>
                  <a:srgbClr val="5A606E"/>
                </a:solidFill>
                <a:latin typeface="Arial"/>
              </a:rPr>
              <a:t>Y-junction asymmetry: tip offset, unequal branches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371600"/>
            <a:ext cx="4206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A606E"/>
                </a:solidFill>
                <a:latin typeface="Arial"/>
              </a:rPr>
              <a:t>Where it enters the model</a:t>
            </a:r>
          </a:p>
        </p:txBody>
      </p:sp>
      <p:pic>
        <p:nvPicPr>
          <p:cNvPr id="8" name="Picture 7" descr="mzm_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2382" y="1600200"/>
            <a:ext cx="3945314" cy="21031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366760" y="1371600"/>
            <a:ext cx="3383280" cy="224028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463040"/>
            <a:ext cx="3108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A606E"/>
                </a:solidFill>
                <a:latin typeface="Arial"/>
              </a:rPr>
              <a:t>In INTERCONNECT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783080"/>
            <a:ext cx="310896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F200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67928" y="1801368"/>
            <a:ext cx="2980944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20013"/>
                </a:solidFill>
                <a:latin typeface="Arial"/>
              </a:rPr>
              <a:t>SPLT_1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06E"/>
                </a:solidFill>
                <a:latin typeface="Arial"/>
              </a:rPr>
              <a:t>Waveguide Y Branch,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450591"/>
            <a:ext cx="31089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coupling coefficient = 0.5 − 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788920"/>
            <a:ext cx="31089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A606E"/>
                </a:solidFill>
                <a:latin typeface="Arial"/>
              </a:rPr>
              <a:t>simulated: 60:40 and 80:20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40480"/>
            <a:ext cx="3108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E2268"/>
                </a:solidFill>
                <a:latin typeface="Arial"/>
              </a:rPr>
              <a:t>Why the eye changes</a:t>
            </a:r>
          </a:p>
        </p:txBody>
      </p:sp>
      <p:pic>
        <p:nvPicPr>
          <p:cNvPr id="16" name="Picture 15" descr="why_spl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44" y="4069080"/>
            <a:ext cx="2581390" cy="1965960"/>
          </a:xfrm>
          <a:prstGeom prst="rect">
            <a:avLst/>
          </a:prstGeom>
        </p:spPr>
      </p:pic>
      <p:pic>
        <p:nvPicPr>
          <p:cNvPr id="17" name="Picture 16" descr="eo_spl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7285" y="3886200"/>
            <a:ext cx="2723829" cy="2148840"/>
          </a:xfrm>
          <a:prstGeom prst="rect">
            <a:avLst/>
          </a:prstGeom>
        </p:spPr>
      </p:pic>
      <p:pic>
        <p:nvPicPr>
          <p:cNvPr id="18" name="Picture 17" descr="eye_re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8013" y="3840480"/>
            <a:ext cx="2277373" cy="2194560"/>
          </a:xfrm>
          <a:prstGeom prst="rect">
            <a:avLst/>
          </a:prstGeom>
        </p:spPr>
      </p:pic>
      <p:pic>
        <p:nvPicPr>
          <p:cNvPr id="19" name="Picture 18" descr="eye_split3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2096" y="3840480"/>
            <a:ext cx="2281286" cy="21945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6053328"/>
            <a:ext cx="576072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1A1A"/>
                </a:solidFill>
                <a:latin typeface="Arial"/>
              </a:rPr>
              <a:t>EO BW:</a:t>
            </a:r>
            <a:r>
              <a:rPr sz="1100" b="0" i="0">
                <a:solidFill>
                  <a:srgbClr val="1A1A1A"/>
                </a:solidFill>
                <a:latin typeface="Arial"/>
              </a:rPr>
              <a:t> unchanged: a fixed power ratio, the same at every modulation frequency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6053328"/>
            <a:ext cx="544068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1A1A"/>
                </a:solidFill>
                <a:latin typeface="Arial"/>
              </a:rPr>
              <a:t>Eye:</a:t>
            </a:r>
            <a:r>
              <a:rPr sz="1100" b="0" i="0">
                <a:solidFill>
                  <a:srgbClr val="1A1A1A"/>
                </a:solidFill>
                <a:latin typeface="Arial"/>
              </a:rPr>
              <a:t> no light is lost, so P('1') + P('0') stays 1: light moves from the '1' (1 → 0.90) to the '0' (0 → 0.10). ER 14.6 → 8.4 dB at 80:20, mean power unchanged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92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A1A1A"/>
                </a:solidFill>
                <a:latin typeface="Arial"/>
              </a:rPr>
              <a:t>3   Static phase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E2268"/>
                </a:solidFill>
                <a:latin typeface="Arial"/>
              </a:rPr>
              <a:t>The two optical paths differ: the MZM sits off its mid-slope (quadrature)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291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A606E"/>
                </a:solidFill>
                <a:latin typeface="Arial"/>
              </a:rPr>
              <a:t>Where it comes from</a:t>
            </a:r>
          </a:p>
        </p:txBody>
      </p:sp>
      <p:pic>
        <p:nvPicPr>
          <p:cNvPr id="5" name="Picture 4" descr="cause_p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99" y="1645920"/>
            <a:ext cx="3064840" cy="18745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502152"/>
            <a:ext cx="3291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1">
                <a:solidFill>
                  <a:srgbClr val="5A606E"/>
                </a:solidFill>
                <a:latin typeface="Arial"/>
              </a:rPr>
              <a:t>different rib width → different n</a:t>
            </a:r>
            <a:r>
              <a:rPr sz="1050" b="0" i="1" baseline="-25000">
                <a:solidFill>
                  <a:srgbClr val="5A606E"/>
                </a:solidFill>
                <a:latin typeface="Arial"/>
              </a:rPr>
              <a:t>eff</a:t>
            </a:r>
            <a:r>
              <a:rPr sz="1050" b="0" i="1">
                <a:solidFill>
                  <a:srgbClr val="5A606E"/>
                </a:solidFill>
                <a:latin typeface="Arial"/>
              </a:rPr>
              <a:t> → phase offset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371600"/>
            <a:ext cx="4206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A606E"/>
                </a:solidFill>
                <a:latin typeface="Arial"/>
              </a:rPr>
              <a:t>Where it enters the model</a:t>
            </a:r>
          </a:p>
        </p:txBody>
      </p:sp>
      <p:pic>
        <p:nvPicPr>
          <p:cNvPr id="8" name="Picture 7" descr="mzm_ph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2382" y="1600200"/>
            <a:ext cx="3945314" cy="21031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366760" y="1371600"/>
            <a:ext cx="3383280" cy="224028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463040"/>
            <a:ext cx="3108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A606E"/>
                </a:solidFill>
                <a:latin typeface="Arial"/>
              </a:rPr>
              <a:t>In INTERCONNECT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783080"/>
            <a:ext cx="310896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F200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67928" y="1801368"/>
            <a:ext cx="2980944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20013"/>
                </a:solidFill>
                <a:latin typeface="Arial"/>
              </a:rPr>
              <a:t>PHS_1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06E"/>
                </a:solidFill>
                <a:latin typeface="Arial"/>
              </a:rPr>
              <a:t>Optical Phase Shift (bias)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450591"/>
            <a:ext cx="31089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phase shift = 90° + 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788920"/>
            <a:ext cx="31089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A606E"/>
                </a:solidFill>
                <a:latin typeface="Arial"/>
              </a:rPr>
              <a:t>simulated: 30°, 60°; in operation the bias loop sets φ →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40480"/>
            <a:ext cx="3108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E2268"/>
                </a:solidFill>
                <a:latin typeface="Arial"/>
              </a:rPr>
              <a:t>Why the eye changes</a:t>
            </a:r>
          </a:p>
        </p:txBody>
      </p:sp>
      <p:pic>
        <p:nvPicPr>
          <p:cNvPr id="16" name="Picture 15" descr="why_ph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44" y="4069080"/>
            <a:ext cx="2581390" cy="1965960"/>
          </a:xfrm>
          <a:prstGeom prst="rect">
            <a:avLst/>
          </a:prstGeom>
        </p:spPr>
      </p:pic>
      <p:pic>
        <p:nvPicPr>
          <p:cNvPr id="17" name="Picture 16" descr="eo_ph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7285" y="3886200"/>
            <a:ext cx="2723829" cy="2148840"/>
          </a:xfrm>
          <a:prstGeom prst="rect">
            <a:avLst/>
          </a:prstGeom>
        </p:spPr>
      </p:pic>
      <p:pic>
        <p:nvPicPr>
          <p:cNvPr id="18" name="Picture 17" descr="eye_re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8013" y="3840480"/>
            <a:ext cx="2277373" cy="2194560"/>
          </a:xfrm>
          <a:prstGeom prst="rect">
            <a:avLst/>
          </a:prstGeom>
        </p:spPr>
      </p:pic>
      <p:pic>
        <p:nvPicPr>
          <p:cNvPr id="19" name="Picture 18" descr="eye_ph3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2096" y="3840480"/>
            <a:ext cx="2281286" cy="21945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6053328"/>
            <a:ext cx="576072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1A1A"/>
                </a:solidFill>
                <a:latin typeface="Arial"/>
              </a:rPr>
              <a:t>EO BW:</a:t>
            </a:r>
            <a:r>
              <a:rPr sz="1100" b="0" i="0">
                <a:solidFill>
                  <a:srgbClr val="1A1A1A"/>
                </a:solidFill>
                <a:latin typeface="Arial"/>
              </a:rPr>
              <a:t> unchanged: a constant phase offset moves the operating point and scales the modulation equally at every frequency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6053328"/>
            <a:ext cx="544068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1A1A"/>
                </a:solidFill>
                <a:latin typeface="Arial"/>
              </a:rPr>
              <a:t>Eye:</a:t>
            </a:r>
            <a:r>
              <a:rPr sz="1100" b="0" i="0">
                <a:solidFill>
                  <a:srgbClr val="1A1A1A"/>
                </a:solidFill>
                <a:latin typeface="Arial"/>
              </a:rPr>
              <a:t> the swing is no longer centred on the mid-slope, so rising and falling edges cross at 24 % of the eye instead of 50 %. Eye height 15.4 → 11.3 mA at 30°, 1.1 mA (nearly closed) at 60°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92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A1A1A"/>
                </a:solidFill>
                <a:latin typeface="Arial"/>
              </a:rPr>
              <a:t>4   V</a:t>
            </a:r>
            <a:r>
              <a:rPr sz="2800" b="0" i="0" baseline="-25000">
                <a:solidFill>
                  <a:srgbClr val="1A1A1A"/>
                </a:solidFill>
                <a:latin typeface="Arial"/>
              </a:rPr>
              <a:t>π</a:t>
            </a:r>
            <a:r>
              <a:rPr sz="2800" b="0" i="0">
                <a:solidFill>
                  <a:srgbClr val="1A1A1A"/>
                </a:solidFill>
                <a:latin typeface="Arial"/>
              </a:rPr>
              <a:t> imbalance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E2268"/>
                </a:solidFill>
                <a:latin typeface="Arial"/>
              </a:rPr>
              <a:t>One arm gets less phase per volt: fixable by raising the drive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291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A606E"/>
                </a:solidFill>
                <a:latin typeface="Arial"/>
              </a:rPr>
              <a:t>Where it comes from</a:t>
            </a:r>
          </a:p>
        </p:txBody>
      </p:sp>
      <p:pic>
        <p:nvPicPr>
          <p:cNvPr id="5" name="Picture 4" descr="cause_v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99" y="1645920"/>
            <a:ext cx="3064840" cy="18745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502152"/>
            <a:ext cx="3291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1">
                <a:solidFill>
                  <a:srgbClr val="5A606E"/>
                </a:solidFill>
                <a:latin typeface="Arial"/>
              </a:rPr>
              <a:t>different gap or overlap per arm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371600"/>
            <a:ext cx="4206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A606E"/>
                </a:solidFill>
                <a:latin typeface="Arial"/>
              </a:rPr>
              <a:t>Where it enters the model</a:t>
            </a:r>
          </a:p>
        </p:txBody>
      </p:sp>
      <p:pic>
        <p:nvPicPr>
          <p:cNvPr id="8" name="Picture 7" descr="mzm_v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2382" y="1600200"/>
            <a:ext cx="3945314" cy="21031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366760" y="1371600"/>
            <a:ext cx="3383280" cy="224028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463040"/>
            <a:ext cx="3108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A606E"/>
                </a:solidFill>
                <a:latin typeface="Arial"/>
              </a:rPr>
              <a:t>In INTERCONNECT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783080"/>
            <a:ext cx="310896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F200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67928" y="1801368"/>
            <a:ext cx="2980944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20013"/>
                </a:solidFill>
                <a:latin typeface="Arial"/>
              </a:rPr>
              <a:t>OM_2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06E"/>
                </a:solidFill>
                <a:latin typeface="Arial"/>
              </a:rPr>
              <a:t>Optical Modulator, arm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450591"/>
            <a:ext cx="31089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phase coefficient × 1/(1+d)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788920"/>
            <a:ext cx="31089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A606E"/>
                </a:solidFill>
                <a:latin typeface="Arial"/>
              </a:rPr>
              <a:t>simulated: d = 50 % (exaggerated)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40480"/>
            <a:ext cx="3108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E2268"/>
                </a:solidFill>
                <a:latin typeface="Arial"/>
              </a:rPr>
              <a:t>Why the eye changes</a:t>
            </a:r>
          </a:p>
        </p:txBody>
      </p:sp>
      <p:pic>
        <p:nvPicPr>
          <p:cNvPr id="16" name="Picture 15" descr="why_v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785" y="4069080"/>
            <a:ext cx="2576909" cy="1965960"/>
          </a:xfrm>
          <a:prstGeom prst="rect">
            <a:avLst/>
          </a:prstGeom>
        </p:spPr>
      </p:pic>
      <p:pic>
        <p:nvPicPr>
          <p:cNvPr id="17" name="Picture 16" descr="eo_vp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7285" y="3886200"/>
            <a:ext cx="2723829" cy="2148840"/>
          </a:xfrm>
          <a:prstGeom prst="rect">
            <a:avLst/>
          </a:prstGeom>
        </p:spPr>
      </p:pic>
      <p:pic>
        <p:nvPicPr>
          <p:cNvPr id="18" name="Picture 17" descr="eye_vpi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8013" y="3840480"/>
            <a:ext cx="2277373" cy="2194560"/>
          </a:xfrm>
          <a:prstGeom prst="rect">
            <a:avLst/>
          </a:prstGeom>
        </p:spPr>
      </p:pic>
      <p:pic>
        <p:nvPicPr>
          <p:cNvPr id="19" name="Picture 18" descr="eye_vpi50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4053" y="3840480"/>
            <a:ext cx="2277373" cy="21945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6053328"/>
            <a:ext cx="576072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1A1A"/>
                </a:solidFill>
                <a:latin typeface="Arial"/>
              </a:rPr>
              <a:t>EO BW:</a:t>
            </a:r>
            <a:r>
              <a:rPr sz="1100" b="0" i="0">
                <a:solidFill>
                  <a:srgbClr val="1A1A1A"/>
                </a:solidFill>
                <a:latin typeface="Arial"/>
              </a:rPr>
              <a:t> unchanged: both arms keep the same electrode response; only arm 2's phase per volt is smaller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6053328"/>
            <a:ext cx="544068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1A1A"/>
                </a:solidFill>
                <a:latin typeface="Arial"/>
              </a:rPr>
              <a:t>Eye:</a:t>
            </a:r>
            <a:r>
              <a:rPr sz="1100" b="0" i="0">
                <a:solidFill>
                  <a:srgbClr val="1A1A1A"/>
                </a:solidFill>
                <a:latin typeface="Arial"/>
              </a:rPr>
              <a:t> device V</a:t>
            </a:r>
            <a:r>
              <a:rPr sz="1100" b="0" i="0" baseline="-25000">
                <a:solidFill>
                  <a:srgbClr val="1A1A1A"/>
                </a:solidFill>
                <a:latin typeface="Arial"/>
              </a:rPr>
              <a:t>π</a:t>
            </a:r>
            <a:r>
              <a:rPr sz="1100" b="0" i="0">
                <a:solidFill>
                  <a:srgbClr val="1A1A1A"/>
                </a:solidFill>
                <a:latin typeface="Arial"/>
              </a:rPr>
              <a:t> grows from 2.0 to 2.4 V, so 2 Vpp no longer reaches maximum and minimum: ER 14.6 → 11.1 dB. Drive raised to 2.4 Vpp → 14.6 dB again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92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A1A1A"/>
                </a:solidFill>
                <a:latin typeface="Arial"/>
              </a:rPr>
              <a:t>5   Group-index imbalance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E2268"/>
                </a:solidFill>
                <a:latin typeface="Arial"/>
              </a:rPr>
              <a:t>The only imbalance that reshapes the frequency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291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A606E"/>
                </a:solidFill>
                <a:latin typeface="Arial"/>
              </a:rPr>
              <a:t>Where it comes from</a:t>
            </a:r>
          </a:p>
        </p:txBody>
      </p:sp>
      <p:pic>
        <p:nvPicPr>
          <p:cNvPr id="5" name="Picture 4" descr="cause_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68" y="1645920"/>
            <a:ext cx="3111703" cy="18745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502152"/>
            <a:ext cx="3291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1">
                <a:solidFill>
                  <a:srgbClr val="5A606E"/>
                </a:solidFill>
                <a:latin typeface="Arial"/>
              </a:rPr>
              <a:t>over-etch on one arm → different n</a:t>
            </a:r>
            <a:r>
              <a:rPr sz="1050" b="0" i="1" baseline="-25000">
                <a:solidFill>
                  <a:srgbClr val="5A606E"/>
                </a:solidFill>
                <a:latin typeface="Arial"/>
              </a:rPr>
              <a:t>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371600"/>
            <a:ext cx="4206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A606E"/>
                </a:solidFill>
                <a:latin typeface="Arial"/>
              </a:rPr>
              <a:t>Where it enters the model</a:t>
            </a:r>
          </a:p>
        </p:txBody>
      </p:sp>
      <p:pic>
        <p:nvPicPr>
          <p:cNvPr id="8" name="Picture 7" descr="mzm_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2382" y="1600200"/>
            <a:ext cx="3945314" cy="21031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366760" y="1371600"/>
            <a:ext cx="3383280" cy="224028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463040"/>
            <a:ext cx="3108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A606E"/>
                </a:solidFill>
                <a:latin typeface="Arial"/>
              </a:rPr>
              <a:t>In INTERCONNECT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783080"/>
            <a:ext cx="310896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F200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67928" y="1801368"/>
            <a:ext cx="2980944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20013"/>
                </a:solidFill>
                <a:latin typeface="Arial"/>
              </a:rPr>
              <a:t>TW_1, TW_2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06E"/>
                </a:solidFill>
                <a:latin typeface="Arial"/>
              </a:rPr>
              <a:t>Traveling Wave Electrode ×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450591"/>
            <a:ext cx="31089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optical index = n</a:t>
            </a:r>
            <a:r>
              <a:rPr sz="1300" b="1" i="0" baseline="-25000">
                <a:solidFill>
                  <a:srgbClr val="1A1A1A"/>
                </a:solidFill>
                <a:latin typeface="Arial"/>
              </a:rPr>
              <a:t>g</a:t>
            </a:r>
            <a:r>
              <a:rPr sz="1300" b="1" i="0">
                <a:solidFill>
                  <a:srgbClr val="1A1A1A"/>
                </a:solidFill>
                <a:latin typeface="Arial"/>
              </a:rPr>
              <a:t>(1 ± dn/2)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788920"/>
            <a:ext cx="31089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A606E"/>
                </a:solidFill>
                <a:latin typeface="Arial"/>
              </a:rPr>
              <a:t>simulated: dn = 0.001, 0.01, 0.02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40480"/>
            <a:ext cx="3108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E2268"/>
                </a:solidFill>
                <a:latin typeface="Arial"/>
              </a:rPr>
              <a:t>Why the eye changes</a:t>
            </a:r>
          </a:p>
        </p:txBody>
      </p:sp>
      <p:pic>
        <p:nvPicPr>
          <p:cNvPr id="16" name="Picture 15" descr="why_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353" y="4069080"/>
            <a:ext cx="2841773" cy="1965960"/>
          </a:xfrm>
          <a:prstGeom prst="rect">
            <a:avLst/>
          </a:prstGeom>
        </p:spPr>
      </p:pic>
      <p:pic>
        <p:nvPicPr>
          <p:cNvPr id="17" name="Picture 16" descr="eo_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7285" y="3886200"/>
            <a:ext cx="2723829" cy="2148840"/>
          </a:xfrm>
          <a:prstGeom prst="rect">
            <a:avLst/>
          </a:prstGeom>
        </p:spPr>
      </p:pic>
      <p:pic>
        <p:nvPicPr>
          <p:cNvPr id="18" name="Picture 17" descr="eye_re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8013" y="3840480"/>
            <a:ext cx="2277373" cy="2194560"/>
          </a:xfrm>
          <a:prstGeom prst="rect">
            <a:avLst/>
          </a:prstGeom>
        </p:spPr>
      </p:pic>
      <p:pic>
        <p:nvPicPr>
          <p:cNvPr id="19" name="Picture 18" descr="eye_ng0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4053" y="3840480"/>
            <a:ext cx="2277373" cy="21945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6053328"/>
            <a:ext cx="576072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1A1A"/>
                </a:solidFill>
                <a:latin typeface="Arial"/>
              </a:rPr>
              <a:t>EO BW:</a:t>
            </a:r>
            <a:r>
              <a:rPr sz="1100" b="0" i="0">
                <a:solidFill>
                  <a:srgbClr val="1A1A1A"/>
                </a:solidFill>
                <a:latin typeface="Arial"/>
              </a:rPr>
              <a:t> −0.03 GHz at dn = 0.001, −2.4 GHz at 0.01, −7.6 GHz at 0.02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6053328"/>
            <a:ext cx="544068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1A1A"/>
                </a:solidFill>
                <a:latin typeface="Arial"/>
              </a:rPr>
              <a:t>Eye:</a:t>
            </a:r>
            <a:r>
              <a:rPr sz="1100" b="0" i="0">
                <a:solidFill>
                  <a:srgbClr val="1A1A1A"/>
                </a:solidFill>
                <a:latin typeface="Arial"/>
              </a:rPr>
              <a:t> the transfer curve is unchanged; arm 2's light is slightly out of step with the RF wave, which smears the transitions: ER 14.6 → 14.1 dB even at dn = 0.02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92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A1A1A"/>
                </a:solidFill>
                <a:latin typeface="Arial"/>
              </a:rPr>
              <a:t>6   Y-branch excess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E2268"/>
                </a:solidFill>
                <a:latin typeface="Arial"/>
              </a:rPr>
              <a:t>Common-mode: both arms lose the same fraction (not an imbalance)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291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A606E"/>
                </a:solidFill>
                <a:latin typeface="Arial"/>
              </a:rPr>
              <a:t>Where it comes from</a:t>
            </a:r>
          </a:p>
        </p:txBody>
      </p:sp>
      <p:pic>
        <p:nvPicPr>
          <p:cNvPr id="5" name="Picture 4" descr="cause_y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713" y="1645920"/>
            <a:ext cx="2982812" cy="18745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502152"/>
            <a:ext cx="3291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1">
                <a:solidFill>
                  <a:srgbClr val="5A606E"/>
                </a:solidFill>
                <a:latin typeface="Arial"/>
              </a:rPr>
              <a:t>blunt tip: finite-width branching point (litho limit)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371600"/>
            <a:ext cx="4206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A606E"/>
                </a:solidFill>
                <a:latin typeface="Arial"/>
              </a:rPr>
              <a:t>Where it enters the model</a:t>
            </a:r>
          </a:p>
        </p:txBody>
      </p:sp>
      <p:pic>
        <p:nvPicPr>
          <p:cNvPr id="8" name="Picture 7" descr="mzm_y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2382" y="1600200"/>
            <a:ext cx="3945314" cy="21031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366760" y="1371600"/>
            <a:ext cx="3383280" cy="224028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463040"/>
            <a:ext cx="3108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A606E"/>
                </a:solidFill>
                <a:latin typeface="Arial"/>
              </a:rPr>
              <a:t>In INTERCONNECT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783080"/>
            <a:ext cx="310896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F200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67928" y="1801368"/>
            <a:ext cx="2980944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20013"/>
                </a:solidFill>
                <a:latin typeface="Arial"/>
              </a:rPr>
              <a:t>SPLT_1, SPLT_2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06E"/>
                </a:solidFill>
                <a:latin typeface="Arial"/>
              </a:rPr>
              <a:t>Waveguide Y Branch ×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450591"/>
            <a:ext cx="31089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insertion loss = IL (dB)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788920"/>
            <a:ext cx="31089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A606E"/>
                </a:solidFill>
                <a:latin typeface="Arial"/>
              </a:rPr>
              <a:t>simulated: 1 and 2 dB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40480"/>
            <a:ext cx="3108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E2268"/>
                </a:solidFill>
                <a:latin typeface="Arial"/>
              </a:rPr>
              <a:t>Why the eye changes</a:t>
            </a:r>
          </a:p>
        </p:txBody>
      </p:sp>
      <p:pic>
        <p:nvPicPr>
          <p:cNvPr id="16" name="Picture 15" descr="why_ylo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44" y="4069080"/>
            <a:ext cx="2581390" cy="1965960"/>
          </a:xfrm>
          <a:prstGeom prst="rect">
            <a:avLst/>
          </a:prstGeom>
        </p:spPr>
      </p:pic>
      <p:pic>
        <p:nvPicPr>
          <p:cNvPr id="17" name="Picture 16" descr="eo_ylo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7285" y="3886200"/>
            <a:ext cx="2723829" cy="2148840"/>
          </a:xfrm>
          <a:prstGeom prst="rect">
            <a:avLst/>
          </a:prstGeom>
        </p:spPr>
      </p:pic>
      <p:pic>
        <p:nvPicPr>
          <p:cNvPr id="18" name="Picture 17" descr="eye_re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8013" y="3840480"/>
            <a:ext cx="2277373" cy="2194560"/>
          </a:xfrm>
          <a:prstGeom prst="rect">
            <a:avLst/>
          </a:prstGeom>
        </p:spPr>
      </p:pic>
      <p:pic>
        <p:nvPicPr>
          <p:cNvPr id="19" name="Picture 18" descr="eye_y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4053" y="3840480"/>
            <a:ext cx="2277373" cy="21945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6053328"/>
            <a:ext cx="576072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1A1A"/>
                </a:solidFill>
                <a:latin typeface="Arial"/>
              </a:rPr>
              <a:t>EO BW:</a:t>
            </a:r>
            <a:r>
              <a:rPr sz="1100" b="0" i="0">
                <a:solidFill>
                  <a:srgbClr val="1A1A1A"/>
                </a:solidFill>
                <a:latin typeface="Arial"/>
              </a:rPr>
              <a:t> unchanged: the same fraction is lost at every modulation frequency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6053328"/>
            <a:ext cx="544068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1A1A"/>
                </a:solidFill>
                <a:latin typeface="Arial"/>
              </a:rPr>
              <a:t>Eye:</a:t>
            </a:r>
            <a:r>
              <a:rPr sz="1100" b="0" i="0">
                <a:solidFill>
                  <a:srgbClr val="1A1A1A"/>
                </a:solidFill>
                <a:latin typeface="Arial"/>
              </a:rPr>
              <a:t> both levels × 0.40 (2 dB in each of the two Y-branches = 4 dB): ER stays 14.6 dB; only the received power drops (eye height 15.4 → 6.1 mA)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92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A1A1A"/>
                </a:solidFill>
                <a:latin typeface="Arial"/>
              </a:rPr>
              <a:t>From process errors to imbalances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E2268"/>
                </a:solidFill>
                <a:latin typeface="Arial"/>
              </a:rPr>
              <a:t>Each process error is one row: compute its components once, enter each in its own block → no double counting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7863837" cy="3657600"/>
        </p:xfrm>
        <a:graphic>
          <a:graphicData uri="http://schemas.openxmlformats.org/drawingml/2006/table">
            <a:tbl>
              <a:tblPr firstRow="0" bandRow="0"/>
              <a:tblGrid>
                <a:gridCol w="2836139"/>
                <a:gridCol w="816464"/>
                <a:gridCol w="730520"/>
                <a:gridCol w="988351"/>
                <a:gridCol w="1074295"/>
                <a:gridCol w="687548"/>
                <a:gridCol w="73052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Process error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Arm loss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Split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Static phase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V</a:t>
                      </a:r>
                      <a:r>
                        <a:rPr sz="1100" b="1" i="0" baseline="-25000">
                          <a:solidFill>
                            <a:srgbClr val="FFFFFF"/>
                          </a:solidFill>
                          <a:latin typeface="Arial"/>
                        </a:rPr>
                        <a:t>π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n</a:t>
                      </a:r>
                      <a:r>
                        <a:rPr sz="1100" b="1" i="0" baseline="-25000">
                          <a:solidFill>
                            <a:srgbClr val="FFFFFF"/>
                          </a:solidFill>
                          <a:latin typeface="Arial"/>
                        </a:rPr>
                        <a:t>g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Y-loss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</a:rPr>
                        <a:t>Waveguide ↔ electrode mask shift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≈ 0 (symmetric)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</a:rPr>
                        <a:t>Electrode gap error, one side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F20013"/>
                          </a:solidFill>
                          <a:latin typeface="Arial"/>
                        </a:rPr>
                        <a:t>● main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</a:rPr>
                        <a:t>Rib width / etch depth error, one arm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○ small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F20013"/>
                          </a:solidFill>
                          <a:latin typeface="Arial"/>
                        </a:rPr>
                        <a:t>● main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○ small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○ tiny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</a:rPr>
                        <a:t>Y-junction asymmetry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F20013"/>
                          </a:solidFill>
                          <a:latin typeface="Arial"/>
                        </a:rPr>
                        <a:t>● main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○ small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○ small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</a:rPr>
                        <a:t>Sidewall roughness / defect, one arm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F20013"/>
                          </a:solidFill>
                          <a:latin typeface="Arial"/>
                        </a:rPr>
                        <a:t>● main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○ small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</a:rPr>
                        <a:t>Temperature / stress gradient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F20013"/>
                          </a:solidFill>
                          <a:latin typeface="Arial"/>
                        </a:rPr>
                        <a:t>● main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</a:rPr>
                        <a:t>Blunt junction tips (both)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F20013"/>
                          </a:solidFill>
                          <a:latin typeface="Arial"/>
                        </a:rPr>
                        <a:t>● main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549640" y="1463040"/>
            <a:ext cx="320040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off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515512"/>
            <a:ext cx="3108959" cy="240965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49640" y="4114800"/>
            <a:ext cx="3200400" cy="19202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4187952"/>
            <a:ext cx="2971800" cy="1828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0E2268"/>
                </a:solidFill>
                <a:latin typeface="Arial"/>
              </a:rPr>
              <a:t>Why a mask shift gives no V</a:t>
            </a:r>
            <a:r>
              <a:rPr sz="1250" b="1" i="0" baseline="-25000">
                <a:solidFill>
                  <a:srgbClr val="0E2268"/>
                </a:solidFill>
                <a:latin typeface="Arial"/>
              </a:rPr>
              <a:t>π</a:t>
            </a:r>
            <a:r>
              <a:rPr sz="1250" b="1" i="0">
                <a:solidFill>
                  <a:srgbClr val="0E2268"/>
                </a:solidFill>
                <a:latin typeface="Arial"/>
              </a:rPr>
              <a:t> imbalance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The field in each gap is symmetric about its centre. Both waveguides move off-centre by the same distance, one toward S and one away from it, so both see the same field.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257800"/>
            <a:ext cx="786384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E2268"/>
                </a:solidFill>
                <a:latin typeface="Arial"/>
              </a:rPr>
              <a:t>No redundancy: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the six columns are six different physical quantities (amplitude, split, phase, efficiency, delay, common loss). One error can feed several columns, but each column receives each error only once.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92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A1A1A"/>
                </a:solidFill>
                <a:latin typeface="Arial"/>
              </a:rPr>
              <a:t>Real example: asymmetric over-etch + gap error + splitter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E2268"/>
                </a:solidFill>
                <a:latin typeface="Arial"/>
              </a:rPr>
              <a:t>Assumed process errors: a large static phase (handled by the bias loop), everything else is small</a:t>
            </a:r>
          </a:p>
        </p:txBody>
      </p:sp>
      <p:pic>
        <p:nvPicPr>
          <p:cNvPr id="4" name="Picture 3" descr="example_x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66153"/>
            <a:ext cx="3566160" cy="1896893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06240" y="1463040"/>
          <a:ext cx="7543798" cy="2103120"/>
        </p:xfrm>
        <a:graphic>
          <a:graphicData uri="http://schemas.openxmlformats.org/drawingml/2006/table">
            <a:tbl>
              <a:tblPr firstRow="0" bandRow="0"/>
              <a:tblGrid>
                <a:gridCol w="2710347"/>
                <a:gridCol w="1174483"/>
                <a:gridCol w="903449"/>
                <a:gridCol w="1038966"/>
                <a:gridCol w="903449"/>
                <a:gridCol w="813104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Process error (arm 2)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Static phase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V</a:t>
                      </a:r>
                      <a:r>
                        <a:rPr sz="1100" b="1" i="0" baseline="-25000">
                          <a:solidFill>
                            <a:srgbClr val="FFFFFF"/>
                          </a:solidFill>
                          <a:latin typeface="Arial"/>
                        </a:rPr>
                        <a:t>π</a:t>
                      </a: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  d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n</a:t>
                      </a:r>
                      <a:r>
                        <a:rPr sz="1100" b="1" i="0" baseline="-25000">
                          <a:solidFill>
                            <a:srgbClr val="FFFFFF"/>
                          </a:solidFill>
                          <a:latin typeface="Arial"/>
                        </a:rPr>
                        <a:t>g</a:t>
                      </a: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  dn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Arm loss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Split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</a:rPr>
                        <a:t>Rib 20 nm narrower, 10 nm deeper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270 rad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0.57 %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5.2·10</a:t>
                      </a:r>
                      <a:r>
                        <a:rPr sz="1100" b="0" i="0" baseline="30000">
                          <a:solidFill>
                            <a:srgbClr val="1A1A1A"/>
                          </a:solidFill>
                          <a:latin typeface="Arial"/>
                        </a:rPr>
                        <a:t>−4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0.036 dB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</a:rPr>
                        <a:t>Electrode gap +0.1 µm (of 4.15)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2.46 %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</a:rPr>
                        <a:t>Y-junction 52 : 48 (assumed)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ε = 0.02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</a:rPr>
                        <a:t>Total entered in the model</a:t>
                      </a:r>
                    </a:p>
                  </a:txBody>
                  <a:tcPr marL="54864" marR="54864" marT="18288" marB="18288" anchor="ctr">
                    <a:solidFill>
                      <a:srgbClr val="FDEC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bias loop → 0°</a:t>
                      </a:r>
                    </a:p>
                  </a:txBody>
                  <a:tcPr marL="54864" marR="54864" marT="18288" marB="18288" anchor="ctr">
                    <a:solidFill>
                      <a:srgbClr val="FDEC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3.03 %</a:t>
                      </a:r>
                    </a:p>
                  </a:txBody>
                  <a:tcPr marL="54864" marR="54864" marT="18288" marB="18288" anchor="ctr">
                    <a:solidFill>
                      <a:srgbClr val="FDEC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5.2·10</a:t>
                      </a:r>
                      <a:r>
                        <a:rPr sz="1100" b="0" i="0" baseline="30000">
                          <a:solidFill>
                            <a:srgbClr val="1A1A1A"/>
                          </a:solidFill>
                          <a:latin typeface="Arial"/>
                        </a:rPr>
                        <a:t>−4</a:t>
                      </a:r>
                    </a:p>
                  </a:txBody>
                  <a:tcPr marL="54864" marR="54864" marT="18288" marB="18288" anchor="ctr">
                    <a:solidFill>
                      <a:srgbClr val="FDEC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0.036 dB</a:t>
                      </a:r>
                    </a:p>
                  </a:txBody>
                  <a:tcPr marL="54864" marR="54864" marT="18288" marB="18288" anchor="ctr">
                    <a:solidFill>
                      <a:srgbClr val="FDEC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ε = 0.02</a:t>
                      </a:r>
                    </a:p>
                  </a:txBody>
                  <a:tcPr marL="54864" marR="54864" marT="18288" marB="18288" anchor="ctr">
                    <a:solidFill>
                      <a:srgbClr val="FDECE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206240" y="3657600"/>
            <a:ext cx="7543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20013"/>
                </a:solidFill>
                <a:latin typeface="Arial"/>
              </a:rPr>
              <a:t>270 rad = 43 × 2π: the arms' optical paths differ by tens of wavelengths, so the bias point is arbitrary from die to die → a bias loop is mandatory</a:t>
            </a:r>
          </a:p>
        </p:txBody>
      </p:sp>
      <p:pic>
        <p:nvPicPr>
          <p:cNvPr id="7" name="Picture 6" descr="eye_ex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228" y="3794760"/>
            <a:ext cx="2897303" cy="2468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800600" y="4343400"/>
            <a:ext cx="2194560" cy="132588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4407408"/>
            <a:ext cx="219456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0E2268"/>
                </a:solidFill>
                <a:latin typeface="Arial"/>
              </a:rPr>
              <a:t>-0.38 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5120640"/>
            <a:ext cx="21945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A606E"/>
                </a:solidFill>
                <a:latin typeface="Arial"/>
              </a:rPr>
              <a:t>eye 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040" y="4343400"/>
            <a:ext cx="2194560" cy="132588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4407408"/>
            <a:ext cx="219456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0E2268"/>
                </a:solidFill>
                <a:latin typeface="Arial"/>
              </a:rPr>
              <a:t>-0.01 GHz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5120640"/>
            <a:ext cx="21945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A606E"/>
                </a:solidFill>
                <a:latin typeface="Arial"/>
              </a:rPr>
              <a:t>EO bandwidth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55480" y="4343400"/>
            <a:ext cx="2194560" cy="132588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4407408"/>
            <a:ext cx="219456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0E2268"/>
                </a:solidFill>
                <a:latin typeface="Arial"/>
              </a:rPr>
              <a:t>-1.9 %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5120640"/>
            <a:ext cx="21945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A606E"/>
                </a:solidFill>
                <a:latin typeface="Arial"/>
              </a:rPr>
              <a:t>eye height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5760720"/>
            <a:ext cx="69494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1">
                <a:solidFill>
                  <a:srgbClr val="5A606E"/>
                </a:solidFill>
                <a:latin typeface="Arial"/>
              </a:rPr>
              <a:t>Mode solver: semi-vectorial FD, 550 nm film, 275 nm etch, 1 µm rib (n</a:t>
            </a:r>
            <a:r>
              <a:rPr sz="950" b="0" i="1" baseline="-25000">
                <a:solidFill>
                  <a:srgbClr val="5A606E"/>
                </a:solidFill>
                <a:latin typeface="Arial"/>
              </a:rPr>
              <a:t>g</a:t>
            </a:r>
            <a:r>
              <a:rPr sz="950" b="0" i="1">
                <a:solidFill>
                  <a:srgbClr val="5A606E"/>
                </a:solidFill>
                <a:latin typeface="Arial"/>
              </a:rPr>
              <a:t> = 2.26 vs 2.27 measured). RF field: thin-electrode conformal map. Arm loss assumes 0.3 dB/cm, all from sidewall scattering.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92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A1A1A"/>
                </a:solidFill>
                <a:latin typeface="Arial"/>
              </a:rPr>
              <a:t>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92838" cy="3328416"/>
        </p:xfrm>
        <a:graphic>
          <a:graphicData uri="http://schemas.openxmlformats.org/drawingml/2006/table">
            <a:tbl>
              <a:tblPr firstRow="0" bandRow="0"/>
              <a:tblGrid>
                <a:gridCol w="1865773"/>
                <a:gridCol w="1472979"/>
                <a:gridCol w="1963972"/>
                <a:gridCol w="3142355"/>
                <a:gridCol w="2847759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Imbalance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EO bandwidth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Eye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Physical reason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INTERCONNECT</a:t>
                      </a:r>
                    </a:p>
                  </a:txBody>
                  <a:tcPr marL="54864" marR="54864" marT="18288" marB="18288" anchor="ctr">
                    <a:solidFill>
                      <a:srgbClr val="0E226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A1A1A"/>
                          </a:solidFill>
                          <a:latin typeface="Arial"/>
                        </a:rPr>
                        <a:t>1  Arm loss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ER ↓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'0' not dark: unequal fields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ATT_1 attenuation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A1A1A"/>
                          </a:solidFill>
                          <a:latin typeface="Arial"/>
                        </a:rPr>
                        <a:t>2  Splitter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ER ↓, power kept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'0' not dark: unequal fields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SPLT_1 coupling coeff.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A1A1A"/>
                          </a:solidFill>
                          <a:latin typeface="Arial"/>
                        </a:rPr>
                        <a:t>3  Static phase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edges cross low, closes ~60°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off quadrature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PHS_1 phase shift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A1A1A"/>
                          </a:solidFill>
                          <a:latin typeface="Arial"/>
                        </a:rPr>
                        <a:t>4  V</a:t>
                      </a:r>
                      <a:r>
                        <a:rPr sz="1250" b="1" i="0" baseline="-25000">
                          <a:solidFill>
                            <a:srgbClr val="1A1A1A"/>
                          </a:solidFill>
                          <a:latin typeface="Arial"/>
                        </a:rPr>
                        <a:t>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ER ↓ at fixed drive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swing &lt; max→min; re-set drive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OM_2 phase coefficient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A1A1A"/>
                          </a:solidFill>
                          <a:latin typeface="Arial"/>
                        </a:rPr>
                        <a:t>5  Group index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F20013"/>
                          </a:solidFill>
                          <a:latin typeface="Arial"/>
                        </a:rPr>
                        <a:t>● ↓ ∝ dn²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slight ISI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arms filter differently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TW_1 / TW_2 optical index</a:t>
                      </a:r>
                    </a:p>
                  </a:txBody>
                  <a:tcPr marL="54864" marR="54864" marT="18288" marB="18288" anchor="ctr">
                    <a:solidFill>
                      <a:srgbClr val="F6F7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A1A1A"/>
                          </a:solidFill>
                          <a:latin typeface="Arial"/>
                        </a:rPr>
                        <a:t>6  Y-branch loss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scaled, ER kept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common-mode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SPLT_1, SPLT_2 insertion loss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4846320"/>
            <a:ext cx="11292840" cy="12344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937760"/>
            <a:ext cx="109728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E2268"/>
                </a:solidFill>
                <a:latin typeface="Arial"/>
              </a:rPr>
              <a:t>Take-away</a:t>
            </a:r>
          </a:p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Only the group index can move the EO bandwidth, and a 10 nm over-etch (dn ≈ 5·10</a:t>
            </a:r>
            <a:r>
              <a:rPr sz="1350" b="0" i="0" baseline="30000">
                <a:solidFill>
                  <a:srgbClr val="1A1A1A"/>
                </a:solidFill>
                <a:latin typeface="Arial"/>
              </a:rPr>
              <a:t>−4</a:t>
            </a:r>
            <a:r>
              <a:rPr sz="1350" b="0" i="0">
                <a:solidFill>
                  <a:srgbClr val="1A1A1A"/>
                </a:solidFill>
                <a:latin typeface="Arial"/>
              </a:rPr>
              <a:t>) moves it by only 0.01 GHz. Process asymmetries show up mainly as a static phase (bias loop) and as small ER penalties (splitter, V</a:t>
            </a:r>
            <a:r>
              <a:rPr sz="1350" b="0" i="0" baseline="-25000">
                <a:solidFill>
                  <a:srgbClr val="1A1A1A"/>
                </a:solidFill>
                <a:latin typeface="Arial"/>
              </a:rPr>
              <a:t>π</a:t>
            </a:r>
            <a:r>
              <a:rPr sz="1350" b="0" i="0">
                <a:solidFill>
                  <a:srgbClr val="1A1A1A"/>
                </a:solidFill>
                <a:latin typeface="Arial"/>
              </a:rPr>
              <a:t>). All six are single, independent knobs in the GUI and in INTERCONNECT.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1893</TotalTime>
  <Words>466</Words>
  <Application>Microsoft Office PowerPoint</Application>
  <PresentationFormat>Widescreen</PresentationFormat>
  <Paragraphs>120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微软雅黑</vt:lpstr>
      <vt:lpstr>Aptos</vt:lpstr>
      <vt:lpstr>Aptos Display</vt:lpstr>
      <vt:lpstr>Aptos Narrow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Andrei.Muresian</dc:creator>
  <cp:lastModifiedBy>Andrei.Muresian</cp:lastModifiedBy>
  <cp:revision>29</cp:revision>
  <dcterms:created xsi:type="dcterms:W3CDTF">2025-12-17T10:39:38Z</dcterms:created>
  <dcterms:modified xsi:type="dcterms:W3CDTF">2026-09-28T09:09:54Z</dcterms:modified>
</cp:coreProperties>
</file>