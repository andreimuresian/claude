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5" d="100"/>
          <a:sy n="105" d="100"/>
        </p:scale>
        <p:origin x="8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CC36F-2A63-4F1A-A353-45229F9441AB}"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462E5-9762-40A4-80E8-4F238B7ACA7A}" type="slidenum">
              <a:rPr lang="en-US" smtClean="0"/>
              <a:t>‹#›</a:t>
            </a:fld>
            <a:endParaRPr lang="en-US"/>
          </a:p>
        </p:txBody>
      </p:sp>
    </p:spTree>
    <p:extLst>
      <p:ext uri="{BB962C8B-B14F-4D97-AF65-F5344CB8AC3E}">
        <p14:creationId xmlns:p14="http://schemas.microsoft.com/office/powerpoint/2010/main" val="4150032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of the talk: show how electrode bends were brought into the INTERCONNECT model of the traveling-wave Mach-Zehnder modulator, why the first approach was replaced, how the new scripted electrode works, and how it compares with the Python model that the GUI uses. No INTERCONNECT background is assumed.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steps. 0: what the INTERCONNECT model looked like before bends. 1: why bends matter. 2-3: the first implementation and its limits. 4: the scripted electrode, the core of the work (red). 5: how it compares with the built-in block. 6-7: the final schematics for the EO bandwidth and the eye, validated against the Python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INTERCONNECT is a circuit simulator for photonic links. You place blocks (laser, modulator, detector, sources, analysers) and wire them: optical wires carry light, electrical wires carry voltages. Internally every block is turned into a digital filter acting on sampled signals: samples go in, filtered samples come out, a little later. Two kinds of analyser are used here: a network analyser, which sweeps frequency and gives the EO response and its -3 dB bandwidth, and an eye analyser, which runs a PRBS pattern in time and folds the detected signal into an eye.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model before bends. Light from a CW laser is split by a Y branch into two arms; each arm has an Optical Modulator (OM) that turns a voltage into an optical phase. Arm 2 also carries the bias phase. The arms recombine in a second Y branch and the photodiode converts the intensity back to a current. The network analyser drives the electrodes with a frequency sweep and reads the photodiode: that ratio is the EO response. The electrode itself is Ansys' built-in Traveling Wave Electrode block (orange): it takes the drive voltage and returns the voltage the light actually integrates while travelling under the electrode, using the loss, impedance and microwave index tables extracted from the measured Touchstone. One electrode per arm so each arm can have its own optical group index. On the right: Python and INTERCONNECT (TW block) agree on the straight 14 mm electrode, 94.1 vs 93.4 GHz.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optical core; only the source and the analyser change. A PRBS generator drives an NRZ pulse generator (the electrical bit stream), which feeds the two TW electrode blocks. The eye analyser folds the photodiode current on the bit period; it needs the drive as a timing reference. Building both schematics from the same code guarantees that the bandwidth and the eye describe the same device. Right: the 100 Gb/s NRZ eye of the straight electrode (Python).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reach a low V_pi the electrode has to be long (14 mm here). On a compact chip it is folded: straight modulating sections joined by U-shaped bends, where the electrode and the two waveguides turn around together. The bends do not modulate, but the microwave still travels through them. The GUI's Python model already includes them exactly (a transmission-line cascade). With the same 14 mm of modulating electrode, each extra bend costs bandwidth: 94 GHz straight, 73 GHz with four 0.8 mm, 60 ohm bends. The INTERCONNECT model has to reproduce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bend is a short piece of transmission line with its own properties: length, impedance, loss and microwave index. Three effects follow. (1) Extra RF path: the microwave arrives later at section 2 than the light (walk-off) and is attenuated on the way. (2) Impedance steps: a bend with a different impedance reflects part of the wave at both ends, which creates ripple and costs bandwidth (a matched bend near 50-60 ohm costs nothing extra). (3) Bend loss itself. The plots sweep each one around the nominal bend (0.8 mm, 60 ohm, nominal loss).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built-in TW block models ONE uniform line between ONE source and ONE load. To use it with bends, the electrode was cut into its straight sections: one TW block per section and per arm, each followed by its own Optical Modulator, with optical delays between the modulators for the light's travel time. What each section 'sees' of the rest of the electrode - the bends, the other sections, the real source and termination - was solved in Python and given to INTERCONNECT as files: a source impedance table, a load impedance table, and a drive transfer function applied by an S-parameter block (SPAR) in front of each 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Thevenin trick behind the first implementation. Seen from section 2, everything on the left (source, section 1, bend) collapses into a voltage source V_th(f) with an internal impedance Z_src(f); everything on the right collapses into a load Z_load(f). These are exact, but strongly frequency dependent (bottom: the ripple is the reflections inside the rest of the electrode). Python computed them for every section; INTERCONNECT only applied them. Validated against the Python cascade, but every piece of bend physics lived outside INTERCONNECT.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worked numerically, but INTERCONNECT was only replaying what Python had already solved. Consequences: (1) the bend physics - reflections between sections, the source and termination seen through the bends - never ran in INTERCONNECT; (2) any change of length, bend or termination needs new files and a new schematic, so no sweeps inside INTERCONNECT; (3) the TW block accepts a single constant source/load reactance, so pad parasitics are frozen at one frequency; (4) there is no output for the voltage at the far end of the line; (5) one electrode per arm just to carry two group indices; (6) and, as Step 0 later showed, the TW block itself is not an exact line. Goal: a block that is the line, so INTERCONNECT solves the whole bent electrode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INTERCONNECT lets you create an empty 'scripted element': you choose its ports and write a short setup script. When the simulation starts the script reads the line table (loss, impedance and microwave index versus frequency, the same table the TW block uses), evaluates exact formulas and writes the block's S-matrix: for every pair of ports, how much comes out of one when a wave goes into the other, at every frequency. From then on INTERCONNECT treats it like any built-in block. Our 'TL line' block has two two-way RF ports (the two ends of the line), so reflections can travel in both directions, and up to three one-way outputs: the voltage seen by the light of arm 1, the same for arm 2 (its own group index), and the voltage at the far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block, three things. Left: the line as a two-port - the exact transmission and reflection of a uniform line of the measured loss, impedance and index (reference 50 ohm). Middle: the voltage along the line V(z) is a forward plus a backward wave; the light travels alongside it at its group velocity, so the phase the light accumulates is the integral of V(z) weighted by the light's own phase, divided by L. That integral is computed in closed form, no slicing - it is the same quantity the TW block outputs, and the same formula as the Python model. Done once with arm 1's group index (output 'modulation') and once with arm 2's ('modulation 2'). Right: the modulation output and the far-end voltage V(L), both versus frequency.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and the termination are also small scripted blocks, with their full R + L + C frequency dependence (the TW block took one value at one frequency). Why the Compound: wired one by one, each block is a separate digital filter and each pass through it adds a processing delay; a reflection that bounces between source and termination crosses the line several times and comes back late. On a mismatched line that is a large error (red, measured in INTERCONNECT). Grouped into a Compound with 'scattering data analysis' on, INTERCONNECT first solves the whole network in frequency, reflections included, and builds a single filter from it: the error drops to 0.04 dB (blue). The source and the termination must also be scripted: the built-in electrical connector reflects with the wrong sign in this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bent electrode the same idea is extended to one block that contains the whole electrode. It reads a small layout file (the list of sections and bends with their lengths) and two line tables (electrode and bend). Inside, the pieces are cascaded exactly, so the reflections at every impedance step are included. For each modulating section it computes the voltage the light integrates there - exactly as the TL line does - and delays it by the time the light needs to travel from that section to the electrode exit. The delayed shares are summed into one modulation output per arm. Right: for N = 2, the three sections' shares and their sum. The bend itself contributes nothing to the sum but shifts and attenuates what follows. Result: a bent modulator has the same schematic as a straight one. The light's delays are inside the block rather than separate optical-delay blocks; those blocks produced a start-up artefact in the EO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0 put the two blocks side by side in INTERCONNECT on the same straight 14 mm electrode, driven by a network analyser, and compared both with the exact line model. Near matched (50/55 ohm) the TW block is off by 0.16 dB and 6 degrees, the TL line by 0.04 dB and 0.4 degrees. On a deliberately mismatched line (30/80 ohm), where reflections dominate, the TW block is off by 1.06 dB and 14 degrees and loses 7 GHz of bandwidth; the TL line stays within 0.10 dB. The cause of the TW block's error is internal to it (not identified). The feature table summarises what each block can represent. The 30/80 ohm TL numbers are from the final Step 0 report.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EO schematic. The electrical part is one Compound: scripted source (R+L+C), the TL electrode (all sections and bends), scripted termination (R+L+C). Its two modulation outputs drive the single modulator of each arm; its far-end output goes to the second input of the network analyser, so the voltage across the termination is read back too. The optical half is unchanged. Whatever the number of bends, the electrode path is five blocks; the first implementation needed 33 for four bends (TW + OM per section and arm, optical delays, drive S-parameter blocks), plus their files.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of the final EO schematic against the Python model for one to four bends (equal sections, 0.8 mm 60 ohm bends, 14 mm of modulating electrode, 50/55 ohm). Top: normalised EO responses; bottom left: the voltage across the termination, which the old TW block could not give. The INTERCONNECT traces are corrected for two read-back artefacts of INTERCONNECT's optical path (a start-up spike and a two-sample average), which are not part of the device. [INTERCONNECT curves to be filled from the 'Step 1: bends 0-4 check' run.]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eye schematic is the EO schematic with the PRBS / NRZ drive and the eye analyser. The same Compound drives the two modulators; a second eye analyser shows the voltage across the termination. For the validation an oscilloscope records the photodiode current, which is folded and measured by exactly the same code as the Python eye.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Eye validation for zero to four bends. Each column: the Python eye (navy) and, once run, the INTERCONNECT eye (orange) folded by the same code. The bends close the eye slightly (height and ER drop with N), consistent with the lower EO bandwidth. [INTERCONNECT eyes to be filled from the 'Step 1: eye bends 0-4 check' run.]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The bent electrode is now a block that INTERCONNECT solves itself, more accurate than the built-in TW block, with outputs the built-in block cannot give, and a schematic that does not grow with the number of bends. Limits to keep in mind: INTERCONNECT's own optical path adds two read-back artefacts to the EO trace (a start-up spike and a two-sample average); they are removed when the trace is read, and are negligible in the eye. The sample rate has to stay well above the highest frequency of interest.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48CF-5D94-277B-4917-A50E19718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4B7E60-9F66-1883-45F0-77BB1D07B4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877522-275D-1405-A7AE-667FFC51B6B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E72A4E0-3AF4-785D-B839-2214FB648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E961D-2F71-1EBE-9298-336DF08B1D2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41396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F54A-A149-F283-E5EA-F7BD29065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8D45B2-B66D-0F60-49F8-3D01C75E53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CF4C4-C4E8-0F2B-8305-E63F462E2B6B}"/>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099418B-3B38-0745-961E-85AF718CB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AF101-F462-8A72-F015-A1C841792A8B}"/>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5067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71D38-BB99-CBCC-0265-E2D9A9201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F88D70-7C38-3390-A780-128242A11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99F3D-2223-1A96-DA2B-5AEFE7D9632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B93064CF-C831-874F-9928-A447F31F3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67603-82BC-FE5F-F825-84DDF4AF9559}"/>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045257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8D5F-8F0B-ACC7-8337-2A1C15267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F74044-977A-C190-8DA2-822D701ED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76CE2E-3749-07D5-2197-401CA51D61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01F53E-4660-9532-88FE-7908FE6B8AF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2212D36A-9311-4E5A-6F39-8CB61AB4E2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6503B4-8197-133A-FA36-3344E3F3C415}"/>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503505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BA873-F4AC-8E49-8F7E-B9E8F1BAB4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E863D4-05B6-9AE8-5727-1D2C37CB6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F5FAA-6EBE-7944-5EA3-802091A1FF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F4806D-1FB3-CD54-CF67-57B401CCF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6DF826-1F8C-A403-CAC9-B8A0F6769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8C510B-763D-1C12-C7EB-7AD5B28EEAC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8" name="Footer Placeholder 7">
            <a:extLst>
              <a:ext uri="{FF2B5EF4-FFF2-40B4-BE49-F238E27FC236}">
                <a16:creationId xmlns:a16="http://schemas.microsoft.com/office/drawing/2014/main" id="{8ED9C543-285B-F707-8CB7-E0104F8CFB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687C71-DDA4-BFF2-0F51-DF26131BF4EF}"/>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990022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B840-EA07-22E2-A22C-6A61203802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E16E4A-72FE-5D84-0374-90AB455698E6}"/>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4" name="Footer Placeholder 3">
            <a:extLst>
              <a:ext uri="{FF2B5EF4-FFF2-40B4-BE49-F238E27FC236}">
                <a16:creationId xmlns:a16="http://schemas.microsoft.com/office/drawing/2014/main" id="{955E8357-F4B7-3331-2EE0-E193FBE83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018554-50D0-DA83-C4F4-02C41DD67251}"/>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3935242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500F2-9716-A1A8-4434-8C4908507F85}"/>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3" name="Footer Placeholder 2">
            <a:extLst>
              <a:ext uri="{FF2B5EF4-FFF2-40B4-BE49-F238E27FC236}">
                <a16:creationId xmlns:a16="http://schemas.microsoft.com/office/drawing/2014/main" id="{E411DBF5-196B-8AAD-41E9-4D02118C9D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0AE642-89F5-CC7E-8990-F8091CB2451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493189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C01E-83E8-B257-6ABD-B736ADD1CF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E490AE-893A-0498-EDE1-77F95B83B9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2ED0CB-EBAB-00CF-187B-BF916FD7D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4D795-9810-7D10-4D49-E50A36996834}"/>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EE038A76-FED7-34A2-6983-5E894F7D34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850DD2-164F-F716-7519-5BE819D49B8C}"/>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1369377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63CD-C176-381B-119D-053C817415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6356E7-43B4-F3BF-C480-7ED1E14D6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331D0-5652-5C57-C7DC-7C0F1CF48D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317AD-514C-271A-1750-29C99B934DAE}"/>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6" name="Footer Placeholder 5">
            <a:extLst>
              <a:ext uri="{FF2B5EF4-FFF2-40B4-BE49-F238E27FC236}">
                <a16:creationId xmlns:a16="http://schemas.microsoft.com/office/drawing/2014/main" id="{569AEC50-6A35-B567-A187-05BCDCAD55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6574F-382B-1B34-4B85-64B0EA2A4EDE}"/>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107757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B51BB-BD45-B536-9FE9-BC1CF3D009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6C92E1-EA83-B021-BD95-9356FDF2C1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FAF5F-2CC1-F4F3-6A42-740EA5EADC1A}"/>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50236618-FB36-8157-9D99-D5CD7C638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A9AAD-0F5F-B0D7-1934-85BC3F5E8556}"/>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4094814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127568-B49F-966C-DA93-622004AC1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5C9395-59C8-F7B3-AC4C-46A4249A9C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A36246-5E71-7241-C520-CC3587A2A9CD}"/>
              </a:ext>
            </a:extLst>
          </p:cNvPr>
          <p:cNvSpPr>
            <a:spLocks noGrp="1"/>
          </p:cNvSpPr>
          <p:nvPr>
            <p:ph type="dt" sz="half" idx="10"/>
          </p:nvPr>
        </p:nvSpPr>
        <p:spPr/>
        <p:txBody>
          <a:body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28B16AF4-AB52-5650-0ECF-DB34251DC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5F979-A3BC-61BF-5DAE-99FB5FFC9254}"/>
              </a:ext>
            </a:extLst>
          </p:cNvPr>
          <p:cNvSpPr>
            <a:spLocks noGrp="1"/>
          </p:cNvSpPr>
          <p:nvPr>
            <p:ph type="sldNum" sz="quarter" idx="12"/>
          </p:nvPr>
        </p:nvSpPr>
        <p:spPr/>
        <p:txBody>
          <a:bodyPr/>
          <a:lstStyle/>
          <a:p>
            <a:fld id="{AE4B6DC9-896C-4421-936D-AC4B2502BB53}" type="slidenum">
              <a:rPr lang="en-US" smtClean="0"/>
              <a:t>‹#›</a:t>
            </a:fld>
            <a:endParaRPr lang="en-US"/>
          </a:p>
        </p:txBody>
      </p:sp>
    </p:spTree>
    <p:extLst>
      <p:ext uri="{BB962C8B-B14F-4D97-AF65-F5344CB8AC3E}">
        <p14:creationId xmlns:p14="http://schemas.microsoft.com/office/powerpoint/2010/main" val="2567053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489749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3285602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B5CBE-16B3-E38A-B202-DD6A9A610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2B50FB-DD96-88A4-B12A-5356FDB5D6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4A9B6-518F-CF03-4199-4F2D32183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F8E3D9-04EA-440E-81A8-36F16D0D0735}" type="datetimeFigureOut">
              <a:rPr lang="en-US" smtClean="0"/>
              <a:t>9/28/2026</a:t>
            </a:fld>
            <a:endParaRPr lang="en-US"/>
          </a:p>
        </p:txBody>
      </p:sp>
      <p:sp>
        <p:nvSpPr>
          <p:cNvPr id="5" name="Footer Placeholder 4">
            <a:extLst>
              <a:ext uri="{FF2B5EF4-FFF2-40B4-BE49-F238E27FC236}">
                <a16:creationId xmlns:a16="http://schemas.microsoft.com/office/drawing/2014/main" id="{4CE8336F-6941-638B-CC70-DD5FDD180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4247DF-32E2-7EEB-3071-DBCF205D4F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4B6DC9-896C-4421-936D-AC4B2502BB53}" type="slidenum">
              <a:rPr lang="en-US" smtClean="0"/>
              <a:t>‹#›</a:t>
            </a:fld>
            <a:endParaRPr lang="en-US"/>
          </a:p>
        </p:txBody>
      </p:sp>
    </p:spTree>
    <p:extLst>
      <p:ext uri="{BB962C8B-B14F-4D97-AF65-F5344CB8AC3E}">
        <p14:creationId xmlns:p14="http://schemas.microsoft.com/office/powerpoint/2010/main" val="986391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28800"/>
            <a:ext cx="10515600" cy="1097280"/>
          </a:xfrm>
          <a:prstGeom prst="rect">
            <a:avLst/>
          </a:prstGeom>
          <a:noFill/>
        </p:spPr>
        <p:txBody>
          <a:bodyPr wrap="square" lIns="27432" rIns="27432" tIns="18288" bIns="18288" anchor="t">
            <a:spAutoFit/>
          </a:bodyPr>
          <a:lstStyle/>
          <a:p>
            <a:pPr algn="l">
              <a:spcAft>
                <a:spcPts val="400"/>
              </a:spcAft>
            </a:pPr>
            <a:r>
              <a:rPr sz="3600" b="1" i="0">
                <a:solidFill>
                  <a:srgbClr val="0E2268"/>
                </a:solidFill>
                <a:latin typeface="Arial"/>
              </a:rPr>
              <a:t>Electrode bends in Lumerical INTERCONNECT</a:t>
            </a:r>
          </a:p>
        </p:txBody>
      </p:sp>
      <p:sp>
        <p:nvSpPr>
          <p:cNvPr id="3" name="TextBox 2"/>
          <p:cNvSpPr txBox="1"/>
          <p:nvPr/>
        </p:nvSpPr>
        <p:spPr>
          <a:xfrm>
            <a:off x="822960" y="3246120"/>
            <a:ext cx="10515600" cy="731520"/>
          </a:xfrm>
          <a:prstGeom prst="rect">
            <a:avLst/>
          </a:prstGeom>
          <a:noFill/>
        </p:spPr>
        <p:txBody>
          <a:bodyPr wrap="square" lIns="27432" rIns="27432" tIns="18288" bIns="18288" anchor="t">
            <a:spAutoFit/>
          </a:bodyPr>
          <a:lstStyle/>
          <a:p>
            <a:pPr algn="l">
              <a:spcAft>
                <a:spcPts val="400"/>
              </a:spcAft>
            </a:pPr>
            <a:r>
              <a:rPr sz="2200" b="0" i="0">
                <a:solidFill>
                  <a:srgbClr val="1A1A1A"/>
                </a:solidFill>
                <a:latin typeface="Arial"/>
              </a:rPr>
              <a:t>From the built-in traveling-wave block to a scripted transmission-line electrode</a:t>
            </a:r>
          </a:p>
        </p:txBody>
      </p:sp>
      <p:sp>
        <p:nvSpPr>
          <p:cNvPr id="4" name="TextBox 3"/>
          <p:cNvSpPr txBox="1"/>
          <p:nvPr/>
        </p:nvSpPr>
        <p:spPr>
          <a:xfrm>
            <a:off x="822960" y="4114800"/>
            <a:ext cx="10515600" cy="45720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TW-MZM modelling toolkit  ·  Jerez line, 14 mm, push-pull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Roadmap</a:t>
            </a:r>
          </a:p>
        </p:txBody>
      </p:sp>
      <p:sp>
        <p:nvSpPr>
          <p:cNvPr id="3" name="Oval 2"/>
          <p:cNvSpPr/>
          <p:nvPr/>
        </p:nvSpPr>
        <p:spPr>
          <a:xfrm>
            <a:off x="68580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0</a:t>
            </a:r>
          </a:p>
        </p:txBody>
      </p:sp>
      <p:sp>
        <p:nvSpPr>
          <p:cNvPr id="4" name="TextBox 3"/>
          <p:cNvSpPr txBox="1"/>
          <p:nvPr/>
        </p:nvSpPr>
        <p:spPr>
          <a:xfrm>
            <a:off x="365760" y="265176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Starting point</a:t>
            </a:r>
          </a:p>
        </p:txBody>
      </p:sp>
      <p:cxnSp>
        <p:nvCxnSpPr>
          <p:cNvPr id="5" name="Connector 4"/>
          <p:cNvCxnSpPr/>
          <p:nvPr/>
        </p:nvCxnSpPr>
        <p:spPr>
          <a:xfrm>
            <a:off x="160020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52044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1</a:t>
            </a:r>
          </a:p>
        </p:txBody>
      </p:sp>
      <p:sp>
        <p:nvSpPr>
          <p:cNvPr id="7" name="TextBox 6"/>
          <p:cNvSpPr txBox="1"/>
          <p:nvPr/>
        </p:nvSpPr>
        <p:spPr>
          <a:xfrm>
            <a:off x="3200400" y="265176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Why bends</a:t>
            </a:r>
          </a:p>
        </p:txBody>
      </p:sp>
      <p:cxnSp>
        <p:nvCxnSpPr>
          <p:cNvPr id="8" name="Connector 7"/>
          <p:cNvCxnSpPr/>
          <p:nvPr/>
        </p:nvCxnSpPr>
        <p:spPr>
          <a:xfrm>
            <a:off x="443484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35508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2</a:t>
            </a:r>
          </a:p>
        </p:txBody>
      </p:sp>
      <p:sp>
        <p:nvSpPr>
          <p:cNvPr id="10" name="TextBox 9"/>
          <p:cNvSpPr txBox="1"/>
          <p:nvPr/>
        </p:nvSpPr>
        <p:spPr>
          <a:xfrm>
            <a:off x="6035040" y="265176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TW blocks + drive files</a:t>
            </a:r>
          </a:p>
        </p:txBody>
      </p:sp>
      <p:cxnSp>
        <p:nvCxnSpPr>
          <p:cNvPr id="11" name="Connector 10"/>
          <p:cNvCxnSpPr/>
          <p:nvPr/>
        </p:nvCxnSpPr>
        <p:spPr>
          <a:xfrm>
            <a:off x="7269480" y="214884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89720" y="173736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3</a:t>
            </a:r>
          </a:p>
        </p:txBody>
      </p:sp>
      <p:sp>
        <p:nvSpPr>
          <p:cNvPr id="13" name="TextBox 12"/>
          <p:cNvSpPr txBox="1"/>
          <p:nvPr/>
        </p:nvSpPr>
        <p:spPr>
          <a:xfrm>
            <a:off x="8869680" y="265176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Why that is not enough</a:t>
            </a:r>
          </a:p>
        </p:txBody>
      </p:sp>
      <p:sp>
        <p:nvSpPr>
          <p:cNvPr id="14" name="Oval 13"/>
          <p:cNvSpPr/>
          <p:nvPr/>
        </p:nvSpPr>
        <p:spPr>
          <a:xfrm>
            <a:off x="685800" y="3931920"/>
            <a:ext cx="822960" cy="822960"/>
          </a:xfrm>
          <a:prstGeom prst="ellipse">
            <a:avLst/>
          </a:prstGeom>
          <a:solidFill>
            <a:srgbClr val="F200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4</a:t>
            </a:r>
          </a:p>
        </p:txBody>
      </p:sp>
      <p:sp>
        <p:nvSpPr>
          <p:cNvPr id="15" name="TextBox 14"/>
          <p:cNvSpPr txBox="1"/>
          <p:nvPr/>
        </p:nvSpPr>
        <p:spPr>
          <a:xfrm>
            <a:off x="365760" y="484632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Scripted electrode</a:t>
            </a:r>
          </a:p>
        </p:txBody>
      </p:sp>
      <p:cxnSp>
        <p:nvCxnSpPr>
          <p:cNvPr id="16" name="Connector 15"/>
          <p:cNvCxnSpPr/>
          <p:nvPr/>
        </p:nvCxnSpPr>
        <p:spPr>
          <a:xfrm>
            <a:off x="1600200" y="434340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352044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5</a:t>
            </a:r>
          </a:p>
        </p:txBody>
      </p:sp>
      <p:sp>
        <p:nvSpPr>
          <p:cNvPr id="18" name="TextBox 17"/>
          <p:cNvSpPr txBox="1"/>
          <p:nvPr/>
        </p:nvSpPr>
        <p:spPr>
          <a:xfrm>
            <a:off x="3200400" y="484632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TW block vs scripted</a:t>
            </a:r>
          </a:p>
        </p:txBody>
      </p:sp>
      <p:cxnSp>
        <p:nvCxnSpPr>
          <p:cNvPr id="19" name="Connector 18"/>
          <p:cNvCxnSpPr/>
          <p:nvPr/>
        </p:nvCxnSpPr>
        <p:spPr>
          <a:xfrm>
            <a:off x="4434840" y="434340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35508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6</a:t>
            </a:r>
          </a:p>
        </p:txBody>
      </p:sp>
      <p:sp>
        <p:nvSpPr>
          <p:cNvPr id="21" name="TextBox 20"/>
          <p:cNvSpPr txBox="1"/>
          <p:nvPr/>
        </p:nvSpPr>
        <p:spPr>
          <a:xfrm>
            <a:off x="6035040" y="484632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EO bandwidth with bends</a:t>
            </a:r>
          </a:p>
        </p:txBody>
      </p:sp>
      <p:cxnSp>
        <p:nvCxnSpPr>
          <p:cNvPr id="22" name="Connector 21"/>
          <p:cNvCxnSpPr/>
          <p:nvPr/>
        </p:nvCxnSpPr>
        <p:spPr>
          <a:xfrm>
            <a:off x="7269480" y="4343400"/>
            <a:ext cx="1783080" cy="0"/>
          </a:xfrm>
          <a:prstGeom prst="line">
            <a:avLst/>
          </a:prstGeom>
          <a:ln w="1905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189720" y="3931920"/>
            <a:ext cx="822960" cy="82296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i="0">
                <a:solidFill>
                  <a:srgbClr val="FFFFFF"/>
                </a:solidFill>
                <a:latin typeface="Arial"/>
              </a:rPr>
              <a:t>7</a:t>
            </a:r>
          </a:p>
        </p:txBody>
      </p:sp>
      <p:sp>
        <p:nvSpPr>
          <p:cNvPr id="24" name="TextBox 23"/>
          <p:cNvSpPr txBox="1"/>
          <p:nvPr/>
        </p:nvSpPr>
        <p:spPr>
          <a:xfrm>
            <a:off x="8869680" y="4846320"/>
            <a:ext cx="2103120" cy="640080"/>
          </a:xfrm>
          <a:prstGeom prst="rect">
            <a:avLst/>
          </a:prstGeom>
          <a:noFill/>
        </p:spPr>
        <p:txBody>
          <a:bodyPr wrap="square" lIns="27432" rIns="27432" tIns="18288" bIns="18288" anchor="t">
            <a:spAutoFit/>
          </a:bodyPr>
          <a:lstStyle/>
          <a:p>
            <a:pPr algn="ctr">
              <a:spcAft>
                <a:spcPts val="400"/>
              </a:spcAft>
            </a:pPr>
            <a:r>
              <a:rPr sz="1600" b="0" i="0">
                <a:solidFill>
                  <a:srgbClr val="1A1A1A"/>
                </a:solidFill>
                <a:latin typeface="Arial"/>
              </a:rPr>
              <a:t>Eye with bends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INTERCONNECT in one slide</a:t>
            </a:r>
          </a:p>
        </p:txBody>
      </p:sp>
      <p:sp>
        <p:nvSpPr>
          <p:cNvPr id="3" name="TextBox 2"/>
          <p:cNvSpPr txBox="1"/>
          <p:nvPr/>
        </p:nvSpPr>
        <p:spPr>
          <a:xfrm>
            <a:off x="548640"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A circuit simulator for photonics: blocks, wires, analysers</a:t>
            </a:r>
          </a:p>
        </p:txBody>
      </p:sp>
      <p:sp>
        <p:nvSpPr>
          <p:cNvPr id="4" name="Rounded Rectangle 3"/>
          <p:cNvSpPr/>
          <p:nvPr/>
        </p:nvSpPr>
        <p:spPr>
          <a:xfrm>
            <a:off x="548640" y="1600200"/>
            <a:ext cx="5394960" cy="2834640"/>
          </a:xfrm>
          <a:prstGeom prst="roundRect">
            <a:avLst>
              <a:gd name="adj" fmla="val 5000"/>
            </a:avLst>
          </a:prstGeom>
          <a:solidFill>
            <a:srgbClr val="F1F3F8"/>
          </a:solidFill>
          <a:ln w="19050">
            <a:solidFill>
              <a:srgbClr val="8A8F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627632"/>
            <a:ext cx="5248656" cy="274320"/>
          </a:xfrm>
          <a:prstGeom prst="rect">
            <a:avLst/>
          </a:prstGeom>
          <a:noFill/>
        </p:spPr>
        <p:txBody>
          <a:bodyPr wrap="square" lIns="27432" rIns="27432" tIns="18288" bIns="18288" anchor="t">
            <a:spAutoFit/>
          </a:bodyPr>
          <a:lstStyle/>
          <a:p>
            <a:pPr algn="l">
              <a:spcAft>
                <a:spcPts val="400"/>
              </a:spcAft>
            </a:pPr>
            <a:r>
              <a:rPr sz="1100" b="1" i="0">
                <a:solidFill>
                  <a:srgbClr val="8A8F99"/>
                </a:solidFill>
                <a:latin typeface="Arial"/>
              </a:rPr>
              <a:t>1  Blocks and wires</a:t>
            </a:r>
          </a:p>
        </p:txBody>
      </p:sp>
      <p:sp>
        <p:nvSpPr>
          <p:cNvPr id="6" name="Rounded Rectangle 5"/>
          <p:cNvSpPr/>
          <p:nvPr/>
        </p:nvSpPr>
        <p:spPr>
          <a:xfrm>
            <a:off x="822960" y="2423160"/>
            <a:ext cx="1005840" cy="64008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Laser</a:t>
            </a:r>
          </a:p>
        </p:txBody>
      </p:sp>
      <p:sp>
        <p:nvSpPr>
          <p:cNvPr id="7" name="Rounded Rectangle 6"/>
          <p:cNvSpPr/>
          <p:nvPr/>
        </p:nvSpPr>
        <p:spPr>
          <a:xfrm>
            <a:off x="2331720" y="2423160"/>
            <a:ext cx="1097280" cy="64008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Modulator</a:t>
            </a:r>
          </a:p>
        </p:txBody>
      </p:sp>
      <p:sp>
        <p:nvSpPr>
          <p:cNvPr id="8" name="Rounded Rectangle 7"/>
          <p:cNvSpPr/>
          <p:nvPr/>
        </p:nvSpPr>
        <p:spPr>
          <a:xfrm>
            <a:off x="3931920" y="2423160"/>
            <a:ext cx="1005840" cy="64008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Detector</a:t>
            </a:r>
          </a:p>
        </p:txBody>
      </p:sp>
      <p:cxnSp>
        <p:nvCxnSpPr>
          <p:cNvPr id="9" name="Connector 8"/>
          <p:cNvCxnSpPr/>
          <p:nvPr/>
        </p:nvCxnSpPr>
        <p:spPr>
          <a:xfrm>
            <a:off x="1828800" y="2743200"/>
            <a:ext cx="50292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429000" y="2743200"/>
            <a:ext cx="50292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331720" y="3520440"/>
            <a:ext cx="1097280" cy="50292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Drive</a:t>
            </a:r>
          </a:p>
        </p:txBody>
      </p:sp>
      <p:cxnSp>
        <p:nvCxnSpPr>
          <p:cNvPr id="12" name="Connector 11"/>
          <p:cNvCxnSpPr/>
          <p:nvPr/>
        </p:nvCxnSpPr>
        <p:spPr>
          <a:xfrm flipV="1">
            <a:off x="2880360" y="3063240"/>
            <a:ext cx="0" cy="45720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937760" y="2743200"/>
            <a:ext cx="50292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40680" y="2377440"/>
            <a:ext cx="411480" cy="7315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5" name="TextBox 14"/>
          <p:cNvSpPr txBox="1"/>
          <p:nvPr/>
        </p:nvSpPr>
        <p:spPr>
          <a:xfrm>
            <a:off x="5184648" y="3154680"/>
            <a:ext cx="9144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analyser</a:t>
            </a:r>
          </a:p>
        </p:txBody>
      </p:sp>
      <p:cxnSp>
        <p:nvCxnSpPr>
          <p:cNvPr id="16" name="Connector 15"/>
          <p:cNvCxnSpPr/>
          <p:nvPr/>
        </p:nvCxnSpPr>
        <p:spPr>
          <a:xfrm>
            <a:off x="822960" y="4041648"/>
            <a:ext cx="411480" cy="0"/>
          </a:xfrm>
          <a:prstGeom prst="line">
            <a:avLst/>
          </a:prstGeom>
          <a:ln w="2794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8448" y="3931920"/>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optical</a:t>
            </a:r>
          </a:p>
        </p:txBody>
      </p:sp>
      <p:cxnSp>
        <p:nvCxnSpPr>
          <p:cNvPr id="18" name="Connector 17"/>
          <p:cNvCxnSpPr/>
          <p:nvPr/>
        </p:nvCxnSpPr>
        <p:spPr>
          <a:xfrm>
            <a:off x="822960" y="4297680"/>
            <a:ext cx="411480" cy="0"/>
          </a:xfrm>
          <a:prstGeom prst="line">
            <a:avLst/>
          </a:prstGeom>
          <a:ln w="2794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298448" y="4187952"/>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electrical</a:t>
            </a:r>
          </a:p>
        </p:txBody>
      </p:sp>
      <p:sp>
        <p:nvSpPr>
          <p:cNvPr id="20" name="Rounded Rectangle 19"/>
          <p:cNvSpPr/>
          <p:nvPr/>
        </p:nvSpPr>
        <p:spPr>
          <a:xfrm>
            <a:off x="6217920" y="1600200"/>
            <a:ext cx="5440680" cy="2834640"/>
          </a:xfrm>
          <a:prstGeom prst="roundRect">
            <a:avLst>
              <a:gd name="adj" fmla="val 5000"/>
            </a:avLst>
          </a:prstGeom>
          <a:solidFill>
            <a:srgbClr val="F1F3F8"/>
          </a:solidFill>
          <a:ln w="19050">
            <a:solidFill>
              <a:srgbClr val="8A8F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1627632"/>
            <a:ext cx="5294376" cy="274320"/>
          </a:xfrm>
          <a:prstGeom prst="rect">
            <a:avLst/>
          </a:prstGeom>
          <a:noFill/>
        </p:spPr>
        <p:txBody>
          <a:bodyPr wrap="square" lIns="27432" rIns="27432" tIns="18288" bIns="18288" anchor="t">
            <a:spAutoFit/>
          </a:bodyPr>
          <a:lstStyle/>
          <a:p>
            <a:pPr algn="l">
              <a:spcAft>
                <a:spcPts val="400"/>
              </a:spcAft>
            </a:pPr>
            <a:r>
              <a:rPr sz="1100" b="1" i="0">
                <a:solidFill>
                  <a:srgbClr val="8A8F99"/>
                </a:solidFill>
                <a:latin typeface="Arial"/>
              </a:rPr>
              <a:t>2  Every block is a digital filter</a:t>
            </a:r>
          </a:p>
        </p:txBody>
      </p:sp>
      <p:sp>
        <p:nvSpPr>
          <p:cNvPr id="22" name="Rectangle 21"/>
          <p:cNvSpPr/>
          <p:nvPr/>
        </p:nvSpPr>
        <p:spPr>
          <a:xfrm>
            <a:off x="6492240" y="2971800"/>
            <a:ext cx="54864" cy="457200"/>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11112" y="2791138"/>
            <a:ext cx="54864" cy="637861"/>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29983" y="2647164"/>
            <a:ext cx="54864" cy="781835"/>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48855" y="2569117"/>
            <a:ext cx="54864" cy="859882"/>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67727" y="2572847"/>
            <a:ext cx="54864" cy="856152"/>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86600" y="2657595"/>
            <a:ext cx="54864" cy="771404"/>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05472" y="2806151"/>
            <a:ext cx="54864" cy="622848"/>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4344" y="2988347"/>
            <a:ext cx="54864" cy="440652"/>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43216" y="3167183"/>
            <a:ext cx="54864" cy="261816"/>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62088" y="3306340"/>
            <a:ext cx="54864" cy="122659"/>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80960" y="3377559"/>
            <a:ext cx="54864" cy="51440"/>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99831" y="3366378"/>
            <a:ext cx="54864" cy="62621"/>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18704" y="3275066"/>
            <a:ext cx="54864" cy="153933"/>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37575" y="3122167"/>
            <a:ext cx="54864" cy="306832"/>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56448" y="2938731"/>
            <a:ext cx="54864" cy="490268"/>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75320" y="2762011"/>
            <a:ext cx="54864" cy="666988"/>
          </a:xfrm>
          <a:prstGeom prst="rect">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549640" y="2606040"/>
            <a:ext cx="1188720" cy="68580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filter</a:t>
            </a:r>
          </a:p>
          <a:p>
            <a:pPr algn="ctr"/>
            <a:r>
              <a:rPr sz="1200" b="0" i="0">
                <a:solidFill>
                  <a:srgbClr val="FFFFFF"/>
                </a:solidFill>
                <a:latin typeface="Arial"/>
              </a:rPr>
              <a:t>h(f)</a:t>
            </a:r>
          </a:p>
        </p:txBody>
      </p:sp>
      <p:cxnSp>
        <p:nvCxnSpPr>
          <p:cNvPr id="39" name="Connector 38"/>
          <p:cNvCxnSpPr/>
          <p:nvPr/>
        </p:nvCxnSpPr>
        <p:spPr>
          <a:xfrm>
            <a:off x="8412480" y="2926080"/>
            <a:ext cx="137160" cy="0"/>
          </a:xfrm>
          <a:prstGeom prst="line">
            <a:avLst/>
          </a:prstGeom>
          <a:ln w="2540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9921240" y="3410712"/>
            <a:ext cx="45720" cy="18288"/>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021824" y="3410712"/>
            <a:ext cx="45720" cy="18288"/>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22408" y="3410712"/>
            <a:ext cx="45720" cy="18288"/>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222992" y="2971800"/>
            <a:ext cx="45720" cy="457200"/>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23576" y="2811211"/>
            <a:ext cx="45720" cy="617788"/>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424160" y="2683235"/>
            <a:ext cx="45720" cy="745764"/>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524744" y="2613860"/>
            <a:ext cx="45720" cy="815139"/>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625328" y="2617175"/>
            <a:ext cx="45720" cy="811824"/>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725912" y="2692506"/>
            <a:ext cx="45720" cy="736493"/>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826496" y="2824556"/>
            <a:ext cx="45720" cy="604443"/>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927080" y="2986508"/>
            <a:ext cx="45720" cy="442491"/>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027663" y="3145473"/>
            <a:ext cx="45720" cy="283526"/>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1128248" y="3269169"/>
            <a:ext cx="45720" cy="159830"/>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228832" y="3332475"/>
            <a:ext cx="45720" cy="96524"/>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329416" y="3322536"/>
            <a:ext cx="45720" cy="106463"/>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430000" y="3241369"/>
            <a:ext cx="45720" cy="187630"/>
          </a:xfrm>
          <a:prstGeom prst="rect">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9738360" y="2926080"/>
            <a:ext cx="137160" cy="0"/>
          </a:xfrm>
          <a:prstGeom prst="line">
            <a:avLst/>
          </a:prstGeom>
          <a:ln w="2540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92240" y="3520440"/>
            <a:ext cx="18288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samples in</a:t>
            </a:r>
          </a:p>
        </p:txBody>
      </p:sp>
      <p:sp>
        <p:nvSpPr>
          <p:cNvPr id="58" name="TextBox 57"/>
          <p:cNvSpPr txBox="1"/>
          <p:nvPr/>
        </p:nvSpPr>
        <p:spPr>
          <a:xfrm>
            <a:off x="9738360" y="3520440"/>
            <a:ext cx="201168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samples out, delayed</a:t>
            </a:r>
          </a:p>
        </p:txBody>
      </p:sp>
      <p:sp>
        <p:nvSpPr>
          <p:cNvPr id="59" name="Rounded Rectangle 58"/>
          <p:cNvSpPr/>
          <p:nvPr/>
        </p:nvSpPr>
        <p:spPr>
          <a:xfrm>
            <a:off x="548640" y="4663440"/>
            <a:ext cx="11109960" cy="1737360"/>
          </a:xfrm>
          <a:prstGeom prst="roundRect">
            <a:avLst>
              <a:gd name="adj" fmla="val 5000"/>
            </a:avLst>
          </a:prstGeom>
          <a:solidFill>
            <a:srgbClr val="F1F3F8"/>
          </a:solidFill>
          <a:ln w="19050">
            <a:solidFill>
              <a:srgbClr val="8A8F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 y="4690872"/>
            <a:ext cx="10963656" cy="274320"/>
          </a:xfrm>
          <a:prstGeom prst="rect">
            <a:avLst/>
          </a:prstGeom>
          <a:noFill/>
        </p:spPr>
        <p:txBody>
          <a:bodyPr wrap="square" lIns="27432" rIns="27432" tIns="18288" bIns="18288" anchor="t">
            <a:spAutoFit/>
          </a:bodyPr>
          <a:lstStyle/>
          <a:p>
            <a:pPr algn="l">
              <a:spcAft>
                <a:spcPts val="400"/>
              </a:spcAft>
            </a:pPr>
            <a:r>
              <a:rPr sz="1100" b="1" i="0">
                <a:solidFill>
                  <a:srgbClr val="8A8F99"/>
                </a:solidFill>
                <a:latin typeface="Arial"/>
              </a:rPr>
              <a:t>3  Two ways to read the result</a:t>
            </a:r>
          </a:p>
        </p:txBody>
      </p:sp>
      <p:sp>
        <p:nvSpPr>
          <p:cNvPr id="61" name="Rounded Rectangle 60"/>
          <p:cNvSpPr/>
          <p:nvPr/>
        </p:nvSpPr>
        <p:spPr>
          <a:xfrm>
            <a:off x="914400" y="5166360"/>
            <a:ext cx="2011680" cy="86868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Network analyser</a:t>
            </a:r>
          </a:p>
          <a:p>
            <a:pPr algn="ctr"/>
            <a:r>
              <a:rPr sz="900" b="0" i="0">
                <a:solidFill>
                  <a:srgbClr val="FFFFFF"/>
                </a:solidFill>
                <a:latin typeface="Arial"/>
              </a:rPr>
              <a:t>sweeps frequency → EO bandwidth</a:t>
            </a:r>
          </a:p>
        </p:txBody>
      </p:sp>
      <p:sp>
        <p:nvSpPr>
          <p:cNvPr id="62" name="Rounded Rectangle 61"/>
          <p:cNvSpPr/>
          <p:nvPr/>
        </p:nvSpPr>
        <p:spPr>
          <a:xfrm>
            <a:off x="6400800" y="5166360"/>
            <a:ext cx="2011680" cy="86868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Eye analyser</a:t>
            </a:r>
          </a:p>
          <a:p>
            <a:pPr algn="ctr"/>
            <a:r>
              <a:rPr sz="900" b="0" i="0">
                <a:solidFill>
                  <a:srgbClr val="FFFFFF"/>
                </a:solidFill>
                <a:latin typeface="Arial"/>
              </a:rPr>
              <a:t>PRBS in time → eye diagram</a:t>
            </a:r>
          </a:p>
        </p:txBody>
      </p:sp>
      <p:pic>
        <p:nvPicPr>
          <p:cNvPr id="63" name="Picture 62" descr="baseline_eo.png"/>
          <p:cNvPicPr>
            <a:picLocks noChangeAspect="1"/>
          </p:cNvPicPr>
          <p:nvPr/>
        </p:nvPicPr>
        <p:blipFill>
          <a:blip r:embed="rId2"/>
          <a:stretch>
            <a:fillRect/>
          </a:stretch>
        </p:blipFill>
        <p:spPr>
          <a:xfrm>
            <a:off x="3108960" y="4956048"/>
            <a:ext cx="2087545" cy="1371600"/>
          </a:xfrm>
          <a:prstGeom prst="rect">
            <a:avLst/>
          </a:prstGeom>
        </p:spPr>
      </p:pic>
      <p:pic>
        <p:nvPicPr>
          <p:cNvPr id="64" name="Picture 63" descr="eye_straight.png"/>
          <p:cNvPicPr>
            <a:picLocks noChangeAspect="1"/>
          </p:cNvPicPr>
          <p:nvPr/>
        </p:nvPicPr>
        <p:blipFill>
          <a:blip r:embed="rId3"/>
          <a:stretch>
            <a:fillRect/>
          </a:stretch>
        </p:blipFill>
        <p:spPr>
          <a:xfrm>
            <a:off x="8641080" y="4956048"/>
            <a:ext cx="1558212" cy="1371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0</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Starting point: EO bandwidth schematic</a:t>
            </a:r>
          </a:p>
        </p:txBody>
      </p:sp>
      <p:sp>
        <p:nvSpPr>
          <p:cNvPr id="4" name="Rounded Rectangle 3"/>
          <p:cNvSpPr/>
          <p:nvPr/>
        </p:nvSpPr>
        <p:spPr>
          <a:xfrm>
            <a:off x="868680" y="3630168"/>
            <a:ext cx="86868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CW laser</a:t>
            </a:r>
          </a:p>
        </p:txBody>
      </p:sp>
      <p:sp>
        <p:nvSpPr>
          <p:cNvPr id="5" name="Rounded Rectangle 4"/>
          <p:cNvSpPr/>
          <p:nvPr/>
        </p:nvSpPr>
        <p:spPr>
          <a:xfrm>
            <a:off x="1965960" y="3630168"/>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cxnSp>
        <p:nvCxnSpPr>
          <p:cNvPr id="6" name="Connector 5"/>
          <p:cNvCxnSpPr/>
          <p:nvPr/>
        </p:nvCxnSpPr>
        <p:spPr>
          <a:xfrm>
            <a:off x="1737360" y="388620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468880" y="388620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651760" y="29718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51760" y="297180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39" y="274320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cxnSp>
        <p:nvCxnSpPr>
          <p:cNvPr id="11" name="Connector 10"/>
          <p:cNvCxnSpPr/>
          <p:nvPr/>
        </p:nvCxnSpPr>
        <p:spPr>
          <a:xfrm>
            <a:off x="2468880" y="388620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38862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1760" y="480060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34639" y="457200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5" name="Rounded Rectangle 14"/>
          <p:cNvSpPr/>
          <p:nvPr/>
        </p:nvSpPr>
        <p:spPr>
          <a:xfrm>
            <a:off x="3886200" y="4572000"/>
            <a:ext cx="68580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bias φ</a:t>
            </a:r>
          </a:p>
        </p:txBody>
      </p:sp>
      <p:cxnSp>
        <p:nvCxnSpPr>
          <p:cNvPr id="16" name="Connector 15"/>
          <p:cNvCxnSpPr/>
          <p:nvPr/>
        </p:nvCxnSpPr>
        <p:spPr>
          <a:xfrm>
            <a:off x="3657599" y="4800600"/>
            <a:ext cx="228601"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57599" y="2971800"/>
            <a:ext cx="1005841"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29718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63440" y="3886200"/>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4800600"/>
            <a:ext cx="914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663440" y="38862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46320" y="3630168"/>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sp>
        <p:nvSpPr>
          <p:cNvPr id="23" name="Rounded Rectangle 22"/>
          <p:cNvSpPr/>
          <p:nvPr/>
        </p:nvSpPr>
        <p:spPr>
          <a:xfrm>
            <a:off x="5577840" y="3630168"/>
            <a:ext cx="77724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detector</a:t>
            </a:r>
          </a:p>
        </p:txBody>
      </p:sp>
      <p:cxnSp>
        <p:nvCxnSpPr>
          <p:cNvPr id="24" name="Connector 23"/>
          <p:cNvCxnSpPr/>
          <p:nvPr/>
        </p:nvCxnSpPr>
        <p:spPr>
          <a:xfrm>
            <a:off x="5349240" y="388620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629400" y="3557016"/>
            <a:ext cx="960120" cy="658368"/>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Network analyser</a:t>
            </a:r>
          </a:p>
        </p:txBody>
      </p:sp>
      <p:cxnSp>
        <p:nvCxnSpPr>
          <p:cNvPr id="26" name="Connector 25"/>
          <p:cNvCxnSpPr/>
          <p:nvPr/>
        </p:nvCxnSpPr>
        <p:spPr>
          <a:xfrm>
            <a:off x="6355079" y="3886200"/>
            <a:ext cx="274321"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560320" y="1874519"/>
            <a:ext cx="1371600" cy="54864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TW electrode</a:t>
            </a:r>
          </a:p>
        </p:txBody>
      </p:sp>
      <p:sp>
        <p:nvSpPr>
          <p:cNvPr id="28" name="Rounded Rectangle 27"/>
          <p:cNvSpPr/>
          <p:nvPr/>
        </p:nvSpPr>
        <p:spPr>
          <a:xfrm>
            <a:off x="2560320" y="5349240"/>
            <a:ext cx="1371600" cy="54864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TW electrode</a:t>
            </a:r>
          </a:p>
        </p:txBody>
      </p:sp>
      <p:cxnSp>
        <p:nvCxnSpPr>
          <p:cNvPr id="29" name="Connector 28"/>
          <p:cNvCxnSpPr/>
          <p:nvPr/>
        </p:nvCxnSpPr>
        <p:spPr>
          <a:xfrm>
            <a:off x="3246120" y="242316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246120" y="502920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104888" y="1463040"/>
            <a:ext cx="0" cy="2093976"/>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02920" y="1463040"/>
            <a:ext cx="6601968"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2920" y="1463040"/>
            <a:ext cx="0" cy="68580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02920" y="2148840"/>
            <a:ext cx="20574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02920" y="2148840"/>
            <a:ext cx="0" cy="347472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02920" y="5623560"/>
            <a:ext cx="20574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480560" y="1188720"/>
            <a:ext cx="27432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drive (frequency sweep)</a:t>
            </a:r>
          </a:p>
        </p:txBody>
      </p:sp>
      <p:cxnSp>
        <p:nvCxnSpPr>
          <p:cNvPr id="38" name="Connector 37"/>
          <p:cNvCxnSpPr/>
          <p:nvPr/>
        </p:nvCxnSpPr>
        <p:spPr>
          <a:xfrm>
            <a:off x="548640" y="6236208"/>
            <a:ext cx="411480" cy="0"/>
          </a:xfrm>
          <a:prstGeom prst="line">
            <a:avLst/>
          </a:prstGeom>
          <a:ln w="2794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24128" y="6126480"/>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optical</a:t>
            </a:r>
          </a:p>
        </p:txBody>
      </p:sp>
      <p:cxnSp>
        <p:nvCxnSpPr>
          <p:cNvPr id="40" name="Connector 39"/>
          <p:cNvCxnSpPr/>
          <p:nvPr/>
        </p:nvCxnSpPr>
        <p:spPr>
          <a:xfrm>
            <a:off x="548640" y="6492240"/>
            <a:ext cx="411480" cy="0"/>
          </a:xfrm>
          <a:prstGeom prst="line">
            <a:avLst/>
          </a:prstGeom>
          <a:ln w="2794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24128" y="6382512"/>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electrical</a:t>
            </a:r>
          </a:p>
        </p:txBody>
      </p:sp>
      <p:pic>
        <p:nvPicPr>
          <p:cNvPr id="42" name="Picture 41" descr="baseline_eo.png"/>
          <p:cNvPicPr>
            <a:picLocks noChangeAspect="1"/>
          </p:cNvPicPr>
          <p:nvPr/>
        </p:nvPicPr>
        <p:blipFill>
          <a:blip r:embed="rId2"/>
          <a:stretch>
            <a:fillRect/>
          </a:stretch>
        </p:blipFill>
        <p:spPr>
          <a:xfrm>
            <a:off x="7909560" y="1828800"/>
            <a:ext cx="4023360" cy="2643507"/>
          </a:xfrm>
          <a:prstGeom prst="rect">
            <a:avLst/>
          </a:prstGeom>
        </p:spPr>
      </p:pic>
      <p:sp>
        <p:nvSpPr>
          <p:cNvPr id="43" name="Rounded Rectangle 42"/>
          <p:cNvSpPr/>
          <p:nvPr/>
        </p:nvSpPr>
        <p:spPr>
          <a:xfrm>
            <a:off x="8138160" y="4572000"/>
            <a:ext cx="3566160" cy="141732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44" name="TextBox 43"/>
          <p:cNvSpPr txBox="1"/>
          <p:nvPr/>
        </p:nvSpPr>
        <p:spPr>
          <a:xfrm>
            <a:off x="8229600" y="4617720"/>
            <a:ext cx="3383280" cy="274320"/>
          </a:xfrm>
          <a:prstGeom prst="rect">
            <a:avLst/>
          </a:prstGeom>
          <a:noFill/>
        </p:spPr>
        <p:txBody>
          <a:bodyPr wrap="square" lIns="27432" rIns="27432" tIns="18288" bIns="18288" anchor="t">
            <a:spAutoFit/>
          </a:bodyPr>
          <a:lstStyle/>
          <a:p>
            <a:pPr algn="l">
              <a:spcAft>
                <a:spcPts val="400"/>
              </a:spcAft>
            </a:pPr>
            <a:r>
              <a:rPr sz="1200" b="1" i="0">
                <a:solidFill>
                  <a:srgbClr val="B5532A"/>
                </a:solidFill>
                <a:latin typeface="Arial"/>
              </a:rPr>
              <a:t>Inside the TW electrode block</a:t>
            </a:r>
          </a:p>
        </p:txBody>
      </p:sp>
      <p:sp>
        <p:nvSpPr>
          <p:cNvPr id="45" name="TextBox 44"/>
          <p:cNvSpPr txBox="1"/>
          <p:nvPr/>
        </p:nvSpPr>
        <p:spPr>
          <a:xfrm>
            <a:off x="8229600" y="4937760"/>
            <a:ext cx="3383280" cy="1051560"/>
          </a:xfrm>
          <a:prstGeom prst="rect">
            <a:avLst/>
          </a:prstGeom>
          <a:noFill/>
        </p:spPr>
        <p:txBody>
          <a:bodyPr wrap="square" lIns="27432" rIns="27432" tIns="18288" bIns="18288" anchor="t">
            <a:spAutoFit/>
          </a:bodyPr>
          <a:lstStyle/>
          <a:p>
            <a:pPr algn="l">
              <a:spcAft>
                <a:spcPts val="200"/>
              </a:spcAft>
            </a:pPr>
            <a:r>
              <a:rPr sz="1100" b="0" i="0">
                <a:solidFill>
                  <a:srgbClr val="1A1A1A"/>
                </a:solidFill>
                <a:latin typeface="Arial"/>
              </a:rPr>
              <a:t>in: drive voltage  →  out: voltage seen by the light</a:t>
            </a:r>
          </a:p>
          <a:p>
            <a:pPr algn="l">
              <a:spcAft>
                <a:spcPts val="200"/>
              </a:spcAft>
            </a:pPr>
            <a:r>
              <a:rPr sz="1100" b="0" i="0">
                <a:solidFill>
                  <a:srgbClr val="1A1A1A"/>
                </a:solidFill>
                <a:latin typeface="Arial"/>
              </a:rPr>
              <a:t>loss, Z</a:t>
            </a:r>
            <a:r>
              <a:rPr sz="1100" b="0" i="0" baseline="-25000">
                <a:solidFill>
                  <a:srgbClr val="1A1A1A"/>
                </a:solidFill>
                <a:latin typeface="Arial"/>
              </a:rPr>
              <a:t>0</a:t>
            </a:r>
            <a:r>
              <a:rPr sz="1100" b="0" i="0">
                <a:solidFill>
                  <a:srgbClr val="1A1A1A"/>
                </a:solidFill>
                <a:latin typeface="Arial"/>
              </a:rPr>
              <a:t>, n</a:t>
            </a:r>
            <a:r>
              <a:rPr sz="1100" b="0" i="0" baseline="-25000">
                <a:solidFill>
                  <a:srgbClr val="1A1A1A"/>
                </a:solidFill>
                <a:latin typeface="Arial"/>
              </a:rPr>
              <a:t>m</a:t>
            </a:r>
            <a:r>
              <a:rPr sz="1100" b="0" i="0">
                <a:solidFill>
                  <a:srgbClr val="1A1A1A"/>
                </a:solidFill>
                <a:latin typeface="Arial"/>
              </a:rPr>
              <a:t> tables from the Touchstone</a:t>
            </a:r>
          </a:p>
          <a:p>
            <a:pPr algn="l">
              <a:spcAft>
                <a:spcPts val="200"/>
              </a:spcAft>
            </a:pPr>
            <a:r>
              <a:rPr sz="1100" b="0" i="0">
                <a:solidFill>
                  <a:srgbClr val="1A1A1A"/>
                </a:solidFill>
                <a:latin typeface="Arial"/>
              </a:rPr>
              <a:t>length, n</a:t>
            </a:r>
            <a:r>
              <a:rPr sz="1100" b="0" i="0" baseline="-25000">
                <a:solidFill>
                  <a:srgbClr val="1A1A1A"/>
                </a:solidFill>
                <a:latin typeface="Arial"/>
              </a:rPr>
              <a:t>g</a:t>
            </a:r>
            <a:r>
              <a:rPr sz="1100" b="0" i="0">
                <a:solidFill>
                  <a:srgbClr val="1A1A1A"/>
                </a:solidFill>
                <a:latin typeface="Arial"/>
              </a:rPr>
              <a:t>, source R, termination 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0</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Starting point: eye diagram schematic</a:t>
            </a:r>
          </a:p>
        </p:txBody>
      </p:sp>
      <p:sp>
        <p:nvSpPr>
          <p:cNvPr id="4" name="Rounded Rectangle 3"/>
          <p:cNvSpPr/>
          <p:nvPr/>
        </p:nvSpPr>
        <p:spPr>
          <a:xfrm>
            <a:off x="868680" y="3630168"/>
            <a:ext cx="86868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CW laser</a:t>
            </a:r>
          </a:p>
        </p:txBody>
      </p:sp>
      <p:sp>
        <p:nvSpPr>
          <p:cNvPr id="5" name="Rounded Rectangle 4"/>
          <p:cNvSpPr/>
          <p:nvPr/>
        </p:nvSpPr>
        <p:spPr>
          <a:xfrm>
            <a:off x="1965960" y="3630168"/>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cxnSp>
        <p:nvCxnSpPr>
          <p:cNvPr id="6" name="Connector 5"/>
          <p:cNvCxnSpPr/>
          <p:nvPr/>
        </p:nvCxnSpPr>
        <p:spPr>
          <a:xfrm>
            <a:off x="1737360" y="388620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468880" y="388620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651760" y="29718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651760" y="297180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39" y="274320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cxnSp>
        <p:nvCxnSpPr>
          <p:cNvPr id="11" name="Connector 10"/>
          <p:cNvCxnSpPr/>
          <p:nvPr/>
        </p:nvCxnSpPr>
        <p:spPr>
          <a:xfrm>
            <a:off x="2468880" y="388620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38862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51760" y="480060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34639" y="457200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5" name="Rounded Rectangle 14"/>
          <p:cNvSpPr/>
          <p:nvPr/>
        </p:nvSpPr>
        <p:spPr>
          <a:xfrm>
            <a:off x="3886200" y="4572000"/>
            <a:ext cx="68580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bias φ</a:t>
            </a:r>
          </a:p>
        </p:txBody>
      </p:sp>
      <p:cxnSp>
        <p:nvCxnSpPr>
          <p:cNvPr id="16" name="Connector 15"/>
          <p:cNvCxnSpPr/>
          <p:nvPr/>
        </p:nvCxnSpPr>
        <p:spPr>
          <a:xfrm>
            <a:off x="3657599" y="4800600"/>
            <a:ext cx="228601"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57599" y="2971800"/>
            <a:ext cx="1005841"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29718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63440" y="3886200"/>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72000" y="4800600"/>
            <a:ext cx="914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663440" y="388620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846320" y="3630168"/>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sp>
        <p:nvSpPr>
          <p:cNvPr id="23" name="Rounded Rectangle 22"/>
          <p:cNvSpPr/>
          <p:nvPr/>
        </p:nvSpPr>
        <p:spPr>
          <a:xfrm>
            <a:off x="5577840" y="3630168"/>
            <a:ext cx="77724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detector</a:t>
            </a:r>
          </a:p>
        </p:txBody>
      </p:sp>
      <p:cxnSp>
        <p:nvCxnSpPr>
          <p:cNvPr id="24" name="Connector 23"/>
          <p:cNvCxnSpPr/>
          <p:nvPr/>
        </p:nvCxnSpPr>
        <p:spPr>
          <a:xfrm>
            <a:off x="5349240" y="388620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629400" y="3557016"/>
            <a:ext cx="960120" cy="658368"/>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Eye analyser</a:t>
            </a:r>
          </a:p>
        </p:txBody>
      </p:sp>
      <p:cxnSp>
        <p:nvCxnSpPr>
          <p:cNvPr id="26" name="Connector 25"/>
          <p:cNvCxnSpPr/>
          <p:nvPr/>
        </p:nvCxnSpPr>
        <p:spPr>
          <a:xfrm>
            <a:off x="6355079" y="3886200"/>
            <a:ext cx="274321"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65760" y="1325880"/>
            <a:ext cx="822960" cy="45720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PRBS</a:t>
            </a:r>
          </a:p>
        </p:txBody>
      </p:sp>
      <p:sp>
        <p:nvSpPr>
          <p:cNvPr id="28" name="Rounded Rectangle 27"/>
          <p:cNvSpPr/>
          <p:nvPr/>
        </p:nvSpPr>
        <p:spPr>
          <a:xfrm>
            <a:off x="1371600" y="1325880"/>
            <a:ext cx="822960" cy="45720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NRZ</a:t>
            </a:r>
          </a:p>
        </p:txBody>
      </p:sp>
      <p:cxnSp>
        <p:nvCxnSpPr>
          <p:cNvPr id="29" name="Connector 28"/>
          <p:cNvCxnSpPr/>
          <p:nvPr/>
        </p:nvCxnSpPr>
        <p:spPr>
          <a:xfrm>
            <a:off x="1188720" y="1554480"/>
            <a:ext cx="182880" cy="0"/>
          </a:xfrm>
          <a:prstGeom prst="line">
            <a:avLst/>
          </a:prstGeom>
          <a:ln w="2540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560320" y="1874519"/>
            <a:ext cx="1371600" cy="54864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TW electrode</a:t>
            </a:r>
          </a:p>
        </p:txBody>
      </p:sp>
      <p:sp>
        <p:nvSpPr>
          <p:cNvPr id="31" name="Rounded Rectangle 30"/>
          <p:cNvSpPr/>
          <p:nvPr/>
        </p:nvSpPr>
        <p:spPr>
          <a:xfrm>
            <a:off x="2560320" y="5349240"/>
            <a:ext cx="1371600" cy="54864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TW electrode</a:t>
            </a:r>
          </a:p>
        </p:txBody>
      </p:sp>
      <p:cxnSp>
        <p:nvCxnSpPr>
          <p:cNvPr id="32" name="Connector 31"/>
          <p:cNvCxnSpPr/>
          <p:nvPr/>
        </p:nvCxnSpPr>
        <p:spPr>
          <a:xfrm>
            <a:off x="3246120" y="242316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46120" y="502920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783080" y="1783080"/>
            <a:ext cx="0" cy="1828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502920" y="1965960"/>
            <a:ext cx="128016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02920" y="1965960"/>
            <a:ext cx="0" cy="1828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02920" y="2148840"/>
            <a:ext cx="20574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02920" y="2148840"/>
            <a:ext cx="0" cy="347472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02920" y="5623560"/>
            <a:ext cx="20574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194560" y="1554480"/>
            <a:ext cx="4910328" cy="0"/>
          </a:xfrm>
          <a:prstGeom prst="line">
            <a:avLst/>
          </a:prstGeom>
          <a:ln w="25400">
            <a:solidFill>
              <a:srgbClr val="8A8F99"/>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104888" y="1554480"/>
            <a:ext cx="0" cy="2002536"/>
          </a:xfrm>
          <a:prstGeom prst="line">
            <a:avLst/>
          </a:prstGeom>
          <a:ln w="25400">
            <a:solidFill>
              <a:srgbClr val="8A8F9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480560" y="1280160"/>
            <a:ext cx="27432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timing reference</a:t>
            </a:r>
          </a:p>
        </p:txBody>
      </p:sp>
      <p:cxnSp>
        <p:nvCxnSpPr>
          <p:cNvPr id="43" name="Connector 42"/>
          <p:cNvCxnSpPr/>
          <p:nvPr/>
        </p:nvCxnSpPr>
        <p:spPr>
          <a:xfrm>
            <a:off x="548640" y="6236208"/>
            <a:ext cx="411480" cy="0"/>
          </a:xfrm>
          <a:prstGeom prst="line">
            <a:avLst/>
          </a:prstGeom>
          <a:ln w="2794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24128" y="6126480"/>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optical</a:t>
            </a:r>
          </a:p>
        </p:txBody>
      </p:sp>
      <p:cxnSp>
        <p:nvCxnSpPr>
          <p:cNvPr id="45" name="Connector 44"/>
          <p:cNvCxnSpPr/>
          <p:nvPr/>
        </p:nvCxnSpPr>
        <p:spPr>
          <a:xfrm>
            <a:off x="548640" y="6492240"/>
            <a:ext cx="411480" cy="0"/>
          </a:xfrm>
          <a:prstGeom prst="line">
            <a:avLst/>
          </a:prstGeom>
          <a:ln w="2794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24128" y="6382512"/>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electrical</a:t>
            </a:r>
          </a:p>
        </p:txBody>
      </p:sp>
      <p:pic>
        <p:nvPicPr>
          <p:cNvPr id="47" name="Picture 46" descr="eye_straight.png"/>
          <p:cNvPicPr>
            <a:picLocks noChangeAspect="1"/>
          </p:cNvPicPr>
          <p:nvPr/>
        </p:nvPicPr>
        <p:blipFill>
          <a:blip r:embed="rId2"/>
          <a:stretch>
            <a:fillRect/>
          </a:stretch>
        </p:blipFill>
        <p:spPr>
          <a:xfrm>
            <a:off x="8138160" y="1737360"/>
            <a:ext cx="3566160" cy="313907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Why bends</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A long electrode does not fit the chip: it is folded</a:t>
            </a:r>
          </a:p>
        </p:txBody>
      </p:sp>
      <p:pic>
        <p:nvPicPr>
          <p:cNvPr id="5" name="Picture 4" descr="layouts.png"/>
          <p:cNvPicPr>
            <a:picLocks noChangeAspect="1"/>
          </p:cNvPicPr>
          <p:nvPr/>
        </p:nvPicPr>
        <p:blipFill>
          <a:blip r:embed="rId2"/>
          <a:stretch>
            <a:fillRect/>
          </a:stretch>
        </p:blipFill>
        <p:spPr>
          <a:xfrm>
            <a:off x="548640" y="1600200"/>
            <a:ext cx="11064240" cy="1633524"/>
          </a:xfrm>
          <a:prstGeom prst="rect">
            <a:avLst/>
          </a:prstGeom>
        </p:spPr>
      </p:pic>
      <p:pic>
        <p:nvPicPr>
          <p:cNvPr id="6" name="Picture 5" descr="eo_vs_bends.png"/>
          <p:cNvPicPr>
            <a:picLocks noChangeAspect="1"/>
          </p:cNvPicPr>
          <p:nvPr/>
        </p:nvPicPr>
        <p:blipFill>
          <a:blip r:embed="rId3"/>
          <a:stretch>
            <a:fillRect/>
          </a:stretch>
        </p:blipFill>
        <p:spPr>
          <a:xfrm>
            <a:off x="822960" y="3520440"/>
            <a:ext cx="8229600" cy="3449477"/>
          </a:xfrm>
          <a:prstGeom prst="rect">
            <a:avLst/>
          </a:prstGeom>
        </p:spPr>
      </p:pic>
      <p:sp>
        <p:nvSpPr>
          <p:cNvPr id="7" name="TextBox 6"/>
          <p:cNvSpPr txBox="1"/>
          <p:nvPr/>
        </p:nvSpPr>
        <p:spPr>
          <a:xfrm>
            <a:off x="9326880" y="3840480"/>
            <a:ext cx="2651760" cy="731520"/>
          </a:xfrm>
          <a:prstGeom prst="rect">
            <a:avLst/>
          </a:prstGeom>
          <a:noFill/>
        </p:spPr>
        <p:txBody>
          <a:bodyPr wrap="square" lIns="27432" rIns="27432" tIns="18288" bIns="18288" anchor="t">
            <a:spAutoFit/>
          </a:bodyPr>
          <a:lstStyle/>
          <a:p>
            <a:pPr algn="l">
              <a:spcAft>
                <a:spcPts val="0"/>
              </a:spcAft>
            </a:pPr>
            <a:r>
              <a:rPr sz="4000" b="1" i="0">
                <a:solidFill>
                  <a:srgbClr val="F20013"/>
                </a:solidFill>
                <a:latin typeface="Arial"/>
              </a:rPr>
              <a:t>−21 GHz</a:t>
            </a:r>
          </a:p>
        </p:txBody>
      </p:sp>
      <p:sp>
        <p:nvSpPr>
          <p:cNvPr id="8" name="TextBox 7"/>
          <p:cNvSpPr txBox="1"/>
          <p:nvPr/>
        </p:nvSpPr>
        <p:spPr>
          <a:xfrm>
            <a:off x="9326880" y="4553712"/>
            <a:ext cx="265176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EO bandwidth lost
with 4 bends (Python)</a:t>
            </a:r>
          </a:p>
        </p:txBody>
      </p:sp>
      <p:sp>
        <p:nvSpPr>
          <p:cNvPr id="9" name="TextBox 8"/>
          <p:cNvSpPr txBox="1"/>
          <p:nvPr/>
        </p:nvSpPr>
        <p:spPr>
          <a:xfrm>
            <a:off x="9326880" y="5120640"/>
            <a:ext cx="2651760" cy="731520"/>
          </a:xfrm>
          <a:prstGeom prst="rect">
            <a:avLst/>
          </a:prstGeom>
          <a:noFill/>
        </p:spPr>
        <p:txBody>
          <a:bodyPr wrap="square" lIns="27432" rIns="27432" tIns="18288" bIns="18288" anchor="t">
            <a:spAutoFit/>
          </a:bodyPr>
          <a:lstStyle/>
          <a:p>
            <a:pPr algn="l">
              <a:spcAft>
                <a:spcPts val="0"/>
              </a:spcAft>
            </a:pPr>
            <a:r>
              <a:rPr sz="4000" b="1" i="0">
                <a:solidFill>
                  <a:srgbClr val="0E2268"/>
                </a:solidFill>
                <a:latin typeface="Arial"/>
              </a:rPr>
              <a:t>14 mm</a:t>
            </a:r>
          </a:p>
        </p:txBody>
      </p:sp>
      <p:sp>
        <p:nvSpPr>
          <p:cNvPr id="10" name="TextBox 9"/>
          <p:cNvSpPr txBox="1"/>
          <p:nvPr/>
        </p:nvSpPr>
        <p:spPr>
          <a:xfrm>
            <a:off x="9326880" y="5833872"/>
            <a:ext cx="265176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same modulating length
in every case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1</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What a bend does to the microwave</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One bend (N = 1), Python model</a:t>
            </a:r>
          </a:p>
        </p:txBody>
      </p:sp>
      <p:sp>
        <p:nvSpPr>
          <p:cNvPr id="5" name="Rounded Rectangle 4"/>
          <p:cNvSpPr/>
          <p:nvPr/>
        </p:nvSpPr>
        <p:spPr>
          <a:xfrm>
            <a:off x="914400" y="169164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source</a:t>
            </a:r>
          </a:p>
        </p:txBody>
      </p:sp>
      <p:sp>
        <p:nvSpPr>
          <p:cNvPr id="6" name="Rounded Rectangle 5"/>
          <p:cNvSpPr/>
          <p:nvPr/>
        </p:nvSpPr>
        <p:spPr>
          <a:xfrm>
            <a:off x="1965960" y="1691640"/>
            <a:ext cx="2377440" cy="54864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section 1</a:t>
            </a:r>
          </a:p>
        </p:txBody>
      </p:sp>
      <p:sp>
        <p:nvSpPr>
          <p:cNvPr id="7" name="Rounded Rectangle 6"/>
          <p:cNvSpPr/>
          <p:nvPr/>
        </p:nvSpPr>
        <p:spPr>
          <a:xfrm>
            <a:off x="4480560" y="1691640"/>
            <a:ext cx="1097280" cy="548640"/>
          </a:xfrm>
          <a:prstGeom prst="roundRect">
            <a:avLst>
              <a:gd name="adj" fmla="val 14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bend</a:t>
            </a:r>
          </a:p>
        </p:txBody>
      </p:sp>
      <p:sp>
        <p:nvSpPr>
          <p:cNvPr id="8" name="Rounded Rectangle 7"/>
          <p:cNvSpPr/>
          <p:nvPr/>
        </p:nvSpPr>
        <p:spPr>
          <a:xfrm>
            <a:off x="5715000" y="1691640"/>
            <a:ext cx="2377440" cy="54864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section 2</a:t>
            </a:r>
          </a:p>
        </p:txBody>
      </p:sp>
      <p:sp>
        <p:nvSpPr>
          <p:cNvPr id="9" name="Rounded Rectangle 8"/>
          <p:cNvSpPr/>
          <p:nvPr/>
        </p:nvSpPr>
        <p:spPr>
          <a:xfrm>
            <a:off x="8229600" y="169164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load</a:t>
            </a:r>
          </a:p>
        </p:txBody>
      </p:sp>
      <p:sp>
        <p:nvSpPr>
          <p:cNvPr id="10" name="TextBox 9"/>
          <p:cNvSpPr txBox="1"/>
          <p:nvPr/>
        </p:nvSpPr>
        <p:spPr>
          <a:xfrm>
            <a:off x="1440179" y="2286000"/>
            <a:ext cx="914400" cy="274320"/>
          </a:xfrm>
          <a:prstGeom prst="rect">
            <a:avLst/>
          </a:prstGeom>
          <a:noFill/>
        </p:spPr>
        <p:txBody>
          <a:bodyPr wrap="square" lIns="27432" rIns="27432" tIns="18288" bIns="18288" anchor="t">
            <a:spAutoFit/>
          </a:bodyPr>
          <a:lstStyle/>
          <a:p>
            <a:pPr algn="ctr">
              <a:spcAft>
                <a:spcPts val="0"/>
              </a:spcAft>
            </a:pPr>
            <a:r>
              <a:rPr sz="1000" b="0" i="0">
                <a:solidFill>
                  <a:srgbClr val="F20013"/>
                </a:solidFill>
                <a:latin typeface="Arial"/>
              </a:rPr>
              <a:t>Z step</a:t>
            </a:r>
          </a:p>
        </p:txBody>
      </p:sp>
      <p:sp>
        <p:nvSpPr>
          <p:cNvPr id="11" name="TextBox 10"/>
          <p:cNvSpPr txBox="1"/>
          <p:nvPr/>
        </p:nvSpPr>
        <p:spPr>
          <a:xfrm>
            <a:off x="3954780" y="2286000"/>
            <a:ext cx="914400" cy="274320"/>
          </a:xfrm>
          <a:prstGeom prst="rect">
            <a:avLst/>
          </a:prstGeom>
          <a:noFill/>
        </p:spPr>
        <p:txBody>
          <a:bodyPr wrap="square" lIns="27432" rIns="27432" tIns="18288" bIns="18288" anchor="t">
            <a:spAutoFit/>
          </a:bodyPr>
          <a:lstStyle/>
          <a:p>
            <a:pPr algn="ctr">
              <a:spcAft>
                <a:spcPts val="0"/>
              </a:spcAft>
            </a:pPr>
            <a:r>
              <a:rPr sz="1000" b="0" i="0">
                <a:solidFill>
                  <a:srgbClr val="F20013"/>
                </a:solidFill>
                <a:latin typeface="Arial"/>
              </a:rPr>
              <a:t>Z step</a:t>
            </a:r>
          </a:p>
        </p:txBody>
      </p:sp>
      <p:sp>
        <p:nvSpPr>
          <p:cNvPr id="12" name="TextBox 11"/>
          <p:cNvSpPr txBox="1"/>
          <p:nvPr/>
        </p:nvSpPr>
        <p:spPr>
          <a:xfrm>
            <a:off x="5189220" y="2286000"/>
            <a:ext cx="914400" cy="274320"/>
          </a:xfrm>
          <a:prstGeom prst="rect">
            <a:avLst/>
          </a:prstGeom>
          <a:noFill/>
        </p:spPr>
        <p:txBody>
          <a:bodyPr wrap="square" lIns="27432" rIns="27432" tIns="18288" bIns="18288" anchor="t">
            <a:spAutoFit/>
          </a:bodyPr>
          <a:lstStyle/>
          <a:p>
            <a:pPr algn="ctr">
              <a:spcAft>
                <a:spcPts val="0"/>
              </a:spcAft>
            </a:pPr>
            <a:r>
              <a:rPr sz="1000" b="0" i="0">
                <a:solidFill>
                  <a:srgbClr val="F20013"/>
                </a:solidFill>
                <a:latin typeface="Arial"/>
              </a:rPr>
              <a:t>Z step</a:t>
            </a:r>
          </a:p>
        </p:txBody>
      </p:sp>
      <p:sp>
        <p:nvSpPr>
          <p:cNvPr id="13" name="TextBox 12"/>
          <p:cNvSpPr txBox="1"/>
          <p:nvPr/>
        </p:nvSpPr>
        <p:spPr>
          <a:xfrm>
            <a:off x="7703820" y="2286000"/>
            <a:ext cx="914400" cy="274320"/>
          </a:xfrm>
          <a:prstGeom prst="rect">
            <a:avLst/>
          </a:prstGeom>
          <a:noFill/>
        </p:spPr>
        <p:txBody>
          <a:bodyPr wrap="square" lIns="27432" rIns="27432" tIns="18288" bIns="18288" anchor="t">
            <a:spAutoFit/>
          </a:bodyPr>
          <a:lstStyle/>
          <a:p>
            <a:pPr algn="ctr">
              <a:spcAft>
                <a:spcPts val="0"/>
              </a:spcAft>
            </a:pPr>
            <a:r>
              <a:rPr sz="1000" b="0" i="0">
                <a:solidFill>
                  <a:srgbClr val="F20013"/>
                </a:solidFill>
                <a:latin typeface="Arial"/>
              </a:rPr>
              <a:t>Z step</a:t>
            </a:r>
          </a:p>
        </p:txBody>
      </p:sp>
      <p:pic>
        <p:nvPicPr>
          <p:cNvPr id="14" name="Picture 13" descr="bend_mechanisms.png"/>
          <p:cNvPicPr>
            <a:picLocks noChangeAspect="1"/>
          </p:cNvPicPr>
          <p:nvPr/>
        </p:nvPicPr>
        <p:blipFill>
          <a:blip r:embed="rId2"/>
          <a:stretch>
            <a:fillRect/>
          </a:stretch>
        </p:blipFill>
        <p:spPr>
          <a:xfrm>
            <a:off x="548640" y="2788920"/>
            <a:ext cx="11064240" cy="393382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First implementation: TW blocks + drive files</a:t>
            </a:r>
          </a:p>
        </p:txBody>
      </p:sp>
      <p:sp>
        <p:nvSpPr>
          <p:cNvPr id="4" name="Rounded Rectangle 3"/>
          <p:cNvSpPr/>
          <p:nvPr/>
        </p:nvSpPr>
        <p:spPr>
          <a:xfrm>
            <a:off x="685800" y="3721607"/>
            <a:ext cx="86868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CW laser</a:t>
            </a:r>
          </a:p>
        </p:txBody>
      </p:sp>
      <p:sp>
        <p:nvSpPr>
          <p:cNvPr id="5" name="Rounded Rectangle 4"/>
          <p:cNvSpPr/>
          <p:nvPr/>
        </p:nvSpPr>
        <p:spPr>
          <a:xfrm>
            <a:off x="1783080" y="372160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cxnSp>
        <p:nvCxnSpPr>
          <p:cNvPr id="6" name="Connector 5"/>
          <p:cNvCxnSpPr/>
          <p:nvPr/>
        </p:nvCxnSpPr>
        <p:spPr>
          <a:xfrm>
            <a:off x="1554480" y="3977639"/>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286000" y="3977639"/>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468880" y="3063239"/>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68880" y="3063239"/>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51760" y="2834639"/>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1" name="Rounded Rectangle 10"/>
          <p:cNvSpPr/>
          <p:nvPr/>
        </p:nvSpPr>
        <p:spPr>
          <a:xfrm>
            <a:off x="3529584" y="2907791"/>
            <a:ext cx="1170431" cy="310896"/>
          </a:xfrm>
          <a:prstGeom prst="roundRect">
            <a:avLst>
              <a:gd name="adj" fmla="val 14000"/>
            </a:avLst>
          </a:prstGeom>
          <a:solidFill>
            <a:srgbClr val="7FB8B1"/>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900" b="1" i="0">
                <a:solidFill>
                  <a:srgbClr val="FFFFFF"/>
                </a:solidFill>
                <a:latin typeface="Arial"/>
              </a:rPr>
              <a:t>delay</a:t>
            </a:r>
          </a:p>
        </p:txBody>
      </p:sp>
      <p:cxnSp>
        <p:nvCxnSpPr>
          <p:cNvPr id="12" name="Connector 11"/>
          <p:cNvCxnSpPr/>
          <p:nvPr/>
        </p:nvCxnSpPr>
        <p:spPr>
          <a:xfrm>
            <a:off x="4700016" y="3063239"/>
            <a:ext cx="54863"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54879" y="2834639"/>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cxnSp>
        <p:nvCxnSpPr>
          <p:cNvPr id="14" name="Connector 13"/>
          <p:cNvCxnSpPr/>
          <p:nvPr/>
        </p:nvCxnSpPr>
        <p:spPr>
          <a:xfrm>
            <a:off x="2286000" y="3977639"/>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468880" y="3977639"/>
            <a:ext cx="0" cy="914401"/>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68880" y="4892040"/>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651760" y="466344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8" name="Rounded Rectangle 17"/>
          <p:cNvSpPr/>
          <p:nvPr/>
        </p:nvSpPr>
        <p:spPr>
          <a:xfrm>
            <a:off x="3529584" y="4736592"/>
            <a:ext cx="1170431" cy="310896"/>
          </a:xfrm>
          <a:prstGeom prst="roundRect">
            <a:avLst>
              <a:gd name="adj" fmla="val 14000"/>
            </a:avLst>
          </a:prstGeom>
          <a:solidFill>
            <a:srgbClr val="7FB8B1"/>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900" b="1" i="0">
                <a:solidFill>
                  <a:srgbClr val="FFFFFF"/>
                </a:solidFill>
                <a:latin typeface="Arial"/>
              </a:rPr>
              <a:t>delay</a:t>
            </a:r>
          </a:p>
        </p:txBody>
      </p:sp>
      <p:cxnSp>
        <p:nvCxnSpPr>
          <p:cNvPr id="19" name="Connector 18"/>
          <p:cNvCxnSpPr/>
          <p:nvPr/>
        </p:nvCxnSpPr>
        <p:spPr>
          <a:xfrm>
            <a:off x="4700016" y="4892040"/>
            <a:ext cx="54863"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754879" y="466344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21" name="Rounded Rectangle 20"/>
          <p:cNvSpPr/>
          <p:nvPr/>
        </p:nvSpPr>
        <p:spPr>
          <a:xfrm>
            <a:off x="5806440" y="4663440"/>
            <a:ext cx="68580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bias φ</a:t>
            </a:r>
          </a:p>
        </p:txBody>
      </p:sp>
      <p:cxnSp>
        <p:nvCxnSpPr>
          <p:cNvPr id="22" name="Connector 21"/>
          <p:cNvCxnSpPr/>
          <p:nvPr/>
        </p:nvCxnSpPr>
        <p:spPr>
          <a:xfrm>
            <a:off x="5577840" y="489204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577840" y="3063239"/>
            <a:ext cx="1005839"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83679" y="3063239"/>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583679" y="3977639"/>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492240" y="4892040"/>
            <a:ext cx="91439"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583679" y="3977639"/>
            <a:ext cx="0" cy="914401"/>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766559" y="372160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sp>
        <p:nvSpPr>
          <p:cNvPr id="29" name="Rounded Rectangle 28"/>
          <p:cNvSpPr/>
          <p:nvPr/>
        </p:nvSpPr>
        <p:spPr>
          <a:xfrm>
            <a:off x="7498079" y="3721607"/>
            <a:ext cx="77724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detector</a:t>
            </a:r>
          </a:p>
        </p:txBody>
      </p:sp>
      <p:cxnSp>
        <p:nvCxnSpPr>
          <p:cNvPr id="30" name="Connector 29"/>
          <p:cNvCxnSpPr/>
          <p:nvPr/>
        </p:nvCxnSpPr>
        <p:spPr>
          <a:xfrm>
            <a:off x="7269479" y="3977639"/>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49640" y="3648456"/>
            <a:ext cx="960120" cy="658368"/>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Network analyser</a:t>
            </a:r>
          </a:p>
        </p:txBody>
      </p:sp>
      <p:cxnSp>
        <p:nvCxnSpPr>
          <p:cNvPr id="32" name="Connector 31"/>
          <p:cNvCxnSpPr/>
          <p:nvPr/>
        </p:nvCxnSpPr>
        <p:spPr>
          <a:xfrm>
            <a:off x="8275319" y="3977639"/>
            <a:ext cx="274321"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2377440" y="2011680"/>
            <a:ext cx="1371600" cy="50292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TW, section 1</a:t>
            </a:r>
          </a:p>
        </p:txBody>
      </p:sp>
      <p:cxnSp>
        <p:nvCxnSpPr>
          <p:cNvPr id="34" name="Connector 33"/>
          <p:cNvCxnSpPr/>
          <p:nvPr/>
        </p:nvCxnSpPr>
        <p:spPr>
          <a:xfrm>
            <a:off x="3063240" y="2514600"/>
            <a:ext cx="0" cy="320039"/>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480559" y="2011680"/>
            <a:ext cx="1371600" cy="50292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TW, section 2</a:t>
            </a:r>
          </a:p>
        </p:txBody>
      </p:sp>
      <p:cxnSp>
        <p:nvCxnSpPr>
          <p:cNvPr id="36" name="Connector 35"/>
          <p:cNvCxnSpPr/>
          <p:nvPr/>
        </p:nvCxnSpPr>
        <p:spPr>
          <a:xfrm>
            <a:off x="5166359" y="2514600"/>
            <a:ext cx="0" cy="320039"/>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2377440" y="5440680"/>
            <a:ext cx="1371600" cy="50292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TW, section 1</a:t>
            </a:r>
          </a:p>
        </p:txBody>
      </p:sp>
      <p:cxnSp>
        <p:nvCxnSpPr>
          <p:cNvPr id="38" name="Connector 37"/>
          <p:cNvCxnSpPr/>
          <p:nvPr/>
        </p:nvCxnSpPr>
        <p:spPr>
          <a:xfrm flipV="1">
            <a:off x="3063240" y="512064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480559" y="5440680"/>
            <a:ext cx="1371600" cy="502920"/>
          </a:xfrm>
          <a:prstGeom prst="roundRect">
            <a:avLst>
              <a:gd name="adj" fmla="val 14000"/>
            </a:avLst>
          </a:prstGeom>
          <a:solidFill>
            <a:srgbClr val="B5532A"/>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TW, section 2</a:t>
            </a:r>
          </a:p>
        </p:txBody>
      </p:sp>
      <p:cxnSp>
        <p:nvCxnSpPr>
          <p:cNvPr id="40" name="Connector 39"/>
          <p:cNvCxnSpPr/>
          <p:nvPr/>
        </p:nvCxnSpPr>
        <p:spPr>
          <a:xfrm flipV="1">
            <a:off x="5166359" y="5120640"/>
            <a:ext cx="0" cy="32004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463040" y="1417320"/>
            <a:ext cx="822960" cy="457200"/>
          </a:xfrm>
          <a:prstGeom prst="roundRect">
            <a:avLst>
              <a:gd name="adj" fmla="val 14000"/>
            </a:avLst>
          </a:prstGeom>
          <a:solidFill>
            <a:srgbClr val="C98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SPAR 1</a:t>
            </a:r>
          </a:p>
        </p:txBody>
      </p:sp>
      <p:cxnSp>
        <p:nvCxnSpPr>
          <p:cNvPr id="42" name="Connector 41"/>
          <p:cNvCxnSpPr/>
          <p:nvPr/>
        </p:nvCxnSpPr>
        <p:spPr>
          <a:xfrm>
            <a:off x="2286000" y="1645920"/>
            <a:ext cx="2743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60320" y="1645920"/>
            <a:ext cx="0" cy="36576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874519" y="1234440"/>
            <a:ext cx="0" cy="18288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566159" y="1417320"/>
            <a:ext cx="822960" cy="457200"/>
          </a:xfrm>
          <a:prstGeom prst="roundRect">
            <a:avLst>
              <a:gd name="adj" fmla="val 14000"/>
            </a:avLst>
          </a:prstGeom>
          <a:solidFill>
            <a:srgbClr val="C98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SPAR 2</a:t>
            </a:r>
          </a:p>
        </p:txBody>
      </p:sp>
      <p:cxnSp>
        <p:nvCxnSpPr>
          <p:cNvPr id="46" name="Connector 45"/>
          <p:cNvCxnSpPr/>
          <p:nvPr/>
        </p:nvCxnSpPr>
        <p:spPr>
          <a:xfrm>
            <a:off x="4389120" y="1645920"/>
            <a:ext cx="2743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663440" y="1645920"/>
            <a:ext cx="0" cy="36576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977639" y="1234440"/>
            <a:ext cx="0" cy="18288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025128" y="1234440"/>
            <a:ext cx="0" cy="2414016"/>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874519" y="1234440"/>
            <a:ext cx="7150609"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772400" y="987552"/>
            <a:ext cx="9144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drive</a:t>
            </a:r>
          </a:p>
        </p:txBody>
      </p:sp>
      <p:sp>
        <p:nvSpPr>
          <p:cNvPr id="52" name="TextBox 51"/>
          <p:cNvSpPr txBox="1"/>
          <p:nvPr/>
        </p:nvSpPr>
        <p:spPr>
          <a:xfrm>
            <a:off x="1920239" y="6053328"/>
            <a:ext cx="45720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SPAR k also drives the arm-2 TW block of section k</a:t>
            </a:r>
          </a:p>
        </p:txBody>
      </p:sp>
      <p:sp>
        <p:nvSpPr>
          <p:cNvPr id="53" name="Rounded Rectangle 52"/>
          <p:cNvSpPr/>
          <p:nvPr/>
        </p:nvSpPr>
        <p:spPr>
          <a:xfrm>
            <a:off x="8366760" y="4800600"/>
            <a:ext cx="3429000" cy="1600200"/>
          </a:xfrm>
          <a:prstGeom prst="roundRect">
            <a:avLst>
              <a:gd name="adj" fmla="val 5000"/>
            </a:avLst>
          </a:prstGeom>
          <a:solidFill>
            <a:srgbClr val="EFEAF6"/>
          </a:solidFill>
          <a:ln w="19050">
            <a:solidFill>
              <a:srgbClr val="6C4B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39912" y="4828032"/>
            <a:ext cx="3282696" cy="274320"/>
          </a:xfrm>
          <a:prstGeom prst="rect">
            <a:avLst/>
          </a:prstGeom>
          <a:noFill/>
        </p:spPr>
        <p:txBody>
          <a:bodyPr wrap="square" lIns="27432" rIns="27432" tIns="18288" bIns="18288" anchor="t">
            <a:spAutoFit/>
          </a:bodyPr>
          <a:lstStyle/>
          <a:p>
            <a:pPr algn="l">
              <a:spcAft>
                <a:spcPts val="400"/>
              </a:spcAft>
            </a:pPr>
            <a:r>
              <a:rPr sz="1100" b="1" i="0">
                <a:solidFill>
                  <a:srgbClr val="6C4BA0"/>
                </a:solidFill>
                <a:latin typeface="Arial"/>
              </a:rPr>
              <a:t>computed in Python, written to files</a:t>
            </a:r>
          </a:p>
        </p:txBody>
      </p:sp>
      <p:sp>
        <p:nvSpPr>
          <p:cNvPr id="55" name="TextBox 54"/>
          <p:cNvSpPr txBox="1"/>
          <p:nvPr/>
        </p:nvSpPr>
        <p:spPr>
          <a:xfrm>
            <a:off x="8503920" y="5138928"/>
            <a:ext cx="3200400" cy="274320"/>
          </a:xfrm>
          <a:prstGeom prst="rect">
            <a:avLst/>
          </a:prstGeom>
          <a:noFill/>
        </p:spPr>
        <p:txBody>
          <a:bodyPr wrap="square" lIns="27432" rIns="27432" tIns="18288" bIns="18288" anchor="t">
            <a:spAutoFit/>
          </a:bodyPr>
          <a:lstStyle/>
          <a:p>
            <a:pPr algn="l">
              <a:spcAft>
                <a:spcPts val="0"/>
              </a:spcAft>
            </a:pPr>
            <a:r>
              <a:rPr sz="1100" b="0" i="0">
                <a:solidFill>
                  <a:srgbClr val="6C4BA0"/>
                </a:solidFill>
                <a:latin typeface="Arial"/>
              </a:rPr>
              <a:t>source impedance table, per section</a:t>
            </a:r>
          </a:p>
        </p:txBody>
      </p:sp>
      <p:sp>
        <p:nvSpPr>
          <p:cNvPr id="56" name="TextBox 55"/>
          <p:cNvSpPr txBox="1"/>
          <p:nvPr/>
        </p:nvSpPr>
        <p:spPr>
          <a:xfrm>
            <a:off x="8503920" y="5468112"/>
            <a:ext cx="3200400" cy="274320"/>
          </a:xfrm>
          <a:prstGeom prst="rect">
            <a:avLst/>
          </a:prstGeom>
          <a:noFill/>
        </p:spPr>
        <p:txBody>
          <a:bodyPr wrap="square" lIns="27432" rIns="27432" tIns="18288" bIns="18288" anchor="t">
            <a:spAutoFit/>
          </a:bodyPr>
          <a:lstStyle/>
          <a:p>
            <a:pPr algn="l">
              <a:spcAft>
                <a:spcPts val="0"/>
              </a:spcAft>
            </a:pPr>
            <a:r>
              <a:rPr sz="1100" b="0" i="0">
                <a:solidFill>
                  <a:srgbClr val="6C4BA0"/>
                </a:solidFill>
                <a:latin typeface="Arial"/>
              </a:rPr>
              <a:t>load impedance table, per section</a:t>
            </a:r>
          </a:p>
        </p:txBody>
      </p:sp>
      <p:sp>
        <p:nvSpPr>
          <p:cNvPr id="57" name="TextBox 56"/>
          <p:cNvSpPr txBox="1"/>
          <p:nvPr/>
        </p:nvSpPr>
        <p:spPr>
          <a:xfrm>
            <a:off x="8503920" y="5797296"/>
            <a:ext cx="3200400" cy="274320"/>
          </a:xfrm>
          <a:prstGeom prst="rect">
            <a:avLst/>
          </a:prstGeom>
          <a:noFill/>
        </p:spPr>
        <p:txBody>
          <a:bodyPr wrap="square" lIns="27432" rIns="27432" tIns="18288" bIns="18288" anchor="t">
            <a:spAutoFit/>
          </a:bodyPr>
          <a:lstStyle/>
          <a:p>
            <a:pPr algn="l">
              <a:spcAft>
                <a:spcPts val="0"/>
              </a:spcAft>
            </a:pPr>
            <a:r>
              <a:rPr sz="1100" b="0" i="0">
                <a:solidFill>
                  <a:srgbClr val="6C4BA0"/>
                </a:solidFill>
                <a:latin typeface="Arial"/>
              </a:rPr>
              <a:t>drive transfer V</a:t>
            </a:r>
            <a:r>
              <a:rPr sz="1100" b="0" i="0" baseline="-25000">
                <a:solidFill>
                  <a:srgbClr val="6C4BA0"/>
                </a:solidFill>
                <a:latin typeface="Arial"/>
              </a:rPr>
              <a:t>th</a:t>
            </a:r>
            <a:r>
              <a:rPr sz="1100" b="0" i="0">
                <a:solidFill>
                  <a:srgbClr val="6C4BA0"/>
                </a:solidFill>
                <a:latin typeface="Arial"/>
              </a:rPr>
              <a:t>/V</a:t>
            </a:r>
            <a:r>
              <a:rPr sz="1100" b="0" i="0" baseline="-25000">
                <a:solidFill>
                  <a:srgbClr val="6C4BA0"/>
                </a:solidFill>
                <a:latin typeface="Arial"/>
              </a:rPr>
              <a:t>s</a:t>
            </a:r>
            <a:r>
              <a:rPr sz="1100" b="0" i="0">
                <a:solidFill>
                  <a:srgbClr val="6C4BA0"/>
                </a:solidFill>
                <a:latin typeface="Arial"/>
              </a:rPr>
              <a:t>, per section</a:t>
            </a:r>
          </a:p>
        </p:txBody>
      </p:sp>
      <p:cxnSp>
        <p:nvCxnSpPr>
          <p:cNvPr id="58" name="Connector 57"/>
          <p:cNvCxnSpPr/>
          <p:nvPr/>
        </p:nvCxnSpPr>
        <p:spPr>
          <a:xfrm flipH="1">
            <a:off x="7086600" y="5577840"/>
            <a:ext cx="1280160" cy="0"/>
          </a:xfrm>
          <a:prstGeom prst="line">
            <a:avLst/>
          </a:prstGeom>
          <a:ln w="25400">
            <a:solidFill>
              <a:srgbClr val="6C4BA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48640" y="6236208"/>
            <a:ext cx="411480" cy="0"/>
          </a:xfrm>
          <a:prstGeom prst="line">
            <a:avLst/>
          </a:prstGeom>
          <a:ln w="2794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024128" y="6126480"/>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optical</a:t>
            </a:r>
          </a:p>
        </p:txBody>
      </p:sp>
      <p:cxnSp>
        <p:nvCxnSpPr>
          <p:cNvPr id="61" name="Connector 60"/>
          <p:cNvCxnSpPr/>
          <p:nvPr/>
        </p:nvCxnSpPr>
        <p:spPr>
          <a:xfrm>
            <a:off x="548640" y="6492240"/>
            <a:ext cx="411480" cy="0"/>
          </a:xfrm>
          <a:prstGeom prst="line">
            <a:avLst/>
          </a:prstGeom>
          <a:ln w="2794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1024128" y="6382512"/>
            <a:ext cx="1463040" cy="237744"/>
          </a:xfrm>
          <a:prstGeom prst="rect">
            <a:avLst/>
          </a:prstGeom>
          <a:noFill/>
        </p:spPr>
        <p:txBody>
          <a:bodyPr wrap="square" lIns="27432" rIns="27432" tIns="18288" bIns="18288" anchor="t">
            <a:spAutoFit/>
          </a:bodyPr>
          <a:lstStyle/>
          <a:p>
            <a:pPr algn="l">
              <a:spcAft>
                <a:spcPts val="0"/>
              </a:spcAft>
            </a:pPr>
            <a:r>
              <a:rPr sz="1000" b="0" i="0">
                <a:solidFill>
                  <a:srgbClr val="5A606E"/>
                </a:solidFill>
                <a:latin typeface="Arial"/>
              </a:rPr>
              <a:t>electrical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2</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Each section sees the rest as a source and a load</a:t>
            </a:r>
          </a:p>
        </p:txBody>
      </p:sp>
      <p:sp>
        <p:nvSpPr>
          <p:cNvPr id="4" name="Rounded Rectangle 3"/>
          <p:cNvSpPr/>
          <p:nvPr/>
        </p:nvSpPr>
        <p:spPr>
          <a:xfrm>
            <a:off x="822960" y="1554480"/>
            <a:ext cx="914400" cy="5029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source</a:t>
            </a:r>
          </a:p>
        </p:txBody>
      </p:sp>
      <p:sp>
        <p:nvSpPr>
          <p:cNvPr id="5" name="Rounded Rectangle 4"/>
          <p:cNvSpPr/>
          <p:nvPr/>
        </p:nvSpPr>
        <p:spPr>
          <a:xfrm>
            <a:off x="1847088" y="1554480"/>
            <a:ext cx="1828800" cy="50292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section 1</a:t>
            </a:r>
          </a:p>
        </p:txBody>
      </p:sp>
      <p:sp>
        <p:nvSpPr>
          <p:cNvPr id="6" name="Rounded Rectangle 5"/>
          <p:cNvSpPr/>
          <p:nvPr/>
        </p:nvSpPr>
        <p:spPr>
          <a:xfrm>
            <a:off x="3785616" y="1554480"/>
            <a:ext cx="914400" cy="502920"/>
          </a:xfrm>
          <a:prstGeom prst="roundRect">
            <a:avLst>
              <a:gd name="adj" fmla="val 14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bend</a:t>
            </a:r>
          </a:p>
        </p:txBody>
      </p:sp>
      <p:sp>
        <p:nvSpPr>
          <p:cNvPr id="7" name="Rounded Rectangle 6"/>
          <p:cNvSpPr/>
          <p:nvPr/>
        </p:nvSpPr>
        <p:spPr>
          <a:xfrm>
            <a:off x="4809744" y="1554480"/>
            <a:ext cx="1828800" cy="50292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section 2</a:t>
            </a:r>
          </a:p>
        </p:txBody>
      </p:sp>
      <p:sp>
        <p:nvSpPr>
          <p:cNvPr id="8" name="Rounded Rectangle 7"/>
          <p:cNvSpPr/>
          <p:nvPr/>
        </p:nvSpPr>
        <p:spPr>
          <a:xfrm>
            <a:off x="6748272" y="1554480"/>
            <a:ext cx="914400" cy="5029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load</a:t>
            </a:r>
          </a:p>
        </p:txBody>
      </p:sp>
      <p:sp>
        <p:nvSpPr>
          <p:cNvPr id="9" name="Rounded Rectangle 8"/>
          <p:cNvSpPr/>
          <p:nvPr/>
        </p:nvSpPr>
        <p:spPr>
          <a:xfrm>
            <a:off x="731520" y="1463040"/>
            <a:ext cx="4069080" cy="685800"/>
          </a:xfrm>
          <a:prstGeom prst="roundRect">
            <a:avLst>
              <a:gd name="adj" fmla="val 5000"/>
            </a:avLst>
          </a:prstGeom>
          <a:solidFill>
            <a:srgbClr val="EFEAF6"/>
          </a:solidFill>
          <a:ln w="19050">
            <a:solidFill>
              <a:srgbClr val="6C4B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84848" y="1463040"/>
            <a:ext cx="1097280" cy="685800"/>
          </a:xfrm>
          <a:prstGeom prst="roundRect">
            <a:avLst>
              <a:gd name="adj" fmla="val 5000"/>
            </a:avLst>
          </a:prstGeom>
          <a:solidFill>
            <a:srgbClr val="EFEAF6"/>
          </a:solidFill>
          <a:ln w="19050">
            <a:solidFill>
              <a:srgbClr val="6C4B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76288" y="1554480"/>
            <a:ext cx="914400" cy="5029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load</a:t>
            </a:r>
          </a:p>
        </p:txBody>
      </p:sp>
      <p:sp>
        <p:nvSpPr>
          <p:cNvPr id="12" name="Rounded Rectangle 11"/>
          <p:cNvSpPr/>
          <p:nvPr/>
        </p:nvSpPr>
        <p:spPr>
          <a:xfrm>
            <a:off x="822960" y="1554480"/>
            <a:ext cx="914400" cy="5029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source</a:t>
            </a:r>
          </a:p>
        </p:txBody>
      </p:sp>
      <p:sp>
        <p:nvSpPr>
          <p:cNvPr id="13" name="Rounded Rectangle 12"/>
          <p:cNvSpPr/>
          <p:nvPr/>
        </p:nvSpPr>
        <p:spPr>
          <a:xfrm>
            <a:off x="1847088" y="1554480"/>
            <a:ext cx="1828800" cy="50292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section 1</a:t>
            </a:r>
          </a:p>
        </p:txBody>
      </p:sp>
      <p:sp>
        <p:nvSpPr>
          <p:cNvPr id="14" name="Rounded Rectangle 13"/>
          <p:cNvSpPr/>
          <p:nvPr/>
        </p:nvSpPr>
        <p:spPr>
          <a:xfrm>
            <a:off x="3785615" y="1554480"/>
            <a:ext cx="914400" cy="502920"/>
          </a:xfrm>
          <a:prstGeom prst="roundRect">
            <a:avLst>
              <a:gd name="adj" fmla="val 14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bend</a:t>
            </a:r>
          </a:p>
        </p:txBody>
      </p:sp>
      <p:cxnSp>
        <p:nvCxnSpPr>
          <p:cNvPr id="15" name="Connector 14"/>
          <p:cNvCxnSpPr/>
          <p:nvPr/>
        </p:nvCxnSpPr>
        <p:spPr>
          <a:xfrm>
            <a:off x="2743200" y="2240280"/>
            <a:ext cx="0" cy="502920"/>
          </a:xfrm>
          <a:prstGeom prst="line">
            <a:avLst/>
          </a:prstGeom>
          <a:ln w="25400">
            <a:solidFill>
              <a:srgbClr val="6C4B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33488" y="2148840"/>
            <a:ext cx="0" cy="320040"/>
          </a:xfrm>
          <a:prstGeom prst="line">
            <a:avLst/>
          </a:prstGeom>
          <a:ln w="25400">
            <a:solidFill>
              <a:srgbClr val="6C4B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33488" y="2468880"/>
            <a:ext cx="850391" cy="0"/>
          </a:xfrm>
          <a:prstGeom prst="line">
            <a:avLst/>
          </a:prstGeom>
          <a:ln w="25400">
            <a:solidFill>
              <a:srgbClr val="6C4BA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183879" y="2468880"/>
            <a:ext cx="0" cy="274320"/>
          </a:xfrm>
          <a:prstGeom prst="line">
            <a:avLst/>
          </a:prstGeom>
          <a:ln w="25400">
            <a:solidFill>
              <a:srgbClr val="6C4B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463040" y="2788920"/>
            <a:ext cx="2560320" cy="594360"/>
          </a:xfrm>
          <a:prstGeom prst="roundRect">
            <a:avLst>
              <a:gd name="adj" fmla="val 14000"/>
            </a:avLst>
          </a:prstGeom>
          <a:solidFill>
            <a:srgbClr val="6C4BA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V</a:t>
            </a:r>
            <a:r>
              <a:rPr sz="1300" b="1" i="0" baseline="-25000">
                <a:solidFill>
                  <a:srgbClr val="FFFFFF"/>
                </a:solidFill>
                <a:latin typeface="Arial"/>
              </a:rPr>
              <a:t>th</a:t>
            </a:r>
            <a:r>
              <a:rPr sz="1300" b="1" i="0">
                <a:solidFill>
                  <a:srgbClr val="FFFFFF"/>
                </a:solidFill>
                <a:latin typeface="Arial"/>
              </a:rPr>
              <a:t>(f) behind Z</a:t>
            </a:r>
            <a:r>
              <a:rPr sz="1300" b="1" i="0" baseline="-25000">
                <a:solidFill>
                  <a:srgbClr val="FFFFFF"/>
                </a:solidFill>
                <a:latin typeface="Arial"/>
              </a:rPr>
              <a:t>src</a:t>
            </a:r>
            <a:r>
              <a:rPr sz="1300" b="1" i="0">
                <a:solidFill>
                  <a:srgbClr val="FFFFFF"/>
                </a:solidFill>
                <a:latin typeface="Arial"/>
              </a:rPr>
              <a:t>(f)</a:t>
            </a:r>
          </a:p>
        </p:txBody>
      </p:sp>
      <p:sp>
        <p:nvSpPr>
          <p:cNvPr id="20" name="Rounded Rectangle 19"/>
          <p:cNvSpPr/>
          <p:nvPr/>
        </p:nvSpPr>
        <p:spPr>
          <a:xfrm>
            <a:off x="4809744" y="2788920"/>
            <a:ext cx="1828800" cy="59436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section 2</a:t>
            </a:r>
          </a:p>
        </p:txBody>
      </p:sp>
      <p:sp>
        <p:nvSpPr>
          <p:cNvPr id="21" name="Rounded Rectangle 20"/>
          <p:cNvSpPr/>
          <p:nvPr/>
        </p:nvSpPr>
        <p:spPr>
          <a:xfrm>
            <a:off x="7315200" y="2788920"/>
            <a:ext cx="1737360" cy="594360"/>
          </a:xfrm>
          <a:prstGeom prst="roundRect">
            <a:avLst>
              <a:gd name="adj" fmla="val 14000"/>
            </a:avLst>
          </a:prstGeom>
          <a:solidFill>
            <a:srgbClr val="6C4BA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Z</a:t>
            </a:r>
            <a:r>
              <a:rPr sz="1300" b="1" i="0" baseline="-25000">
                <a:solidFill>
                  <a:srgbClr val="FFFFFF"/>
                </a:solidFill>
                <a:latin typeface="Arial"/>
              </a:rPr>
              <a:t>load</a:t>
            </a:r>
            <a:r>
              <a:rPr sz="1300" b="1" i="0">
                <a:solidFill>
                  <a:srgbClr val="FFFFFF"/>
                </a:solidFill>
                <a:latin typeface="Arial"/>
              </a:rPr>
              <a:t>(f)</a:t>
            </a:r>
          </a:p>
        </p:txBody>
      </p:sp>
      <p:cxnSp>
        <p:nvCxnSpPr>
          <p:cNvPr id="22" name="Connector 21"/>
          <p:cNvCxnSpPr/>
          <p:nvPr/>
        </p:nvCxnSpPr>
        <p:spPr>
          <a:xfrm>
            <a:off x="4023360" y="3081528"/>
            <a:ext cx="786384"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638544" y="3081528"/>
            <a:ext cx="676656"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4" name="Picture 23" descr="thevenin_tables.png"/>
          <p:cNvPicPr>
            <a:picLocks noChangeAspect="1"/>
          </p:cNvPicPr>
          <p:nvPr/>
        </p:nvPicPr>
        <p:blipFill>
          <a:blip r:embed="rId2"/>
          <a:stretch>
            <a:fillRect/>
          </a:stretch>
        </p:blipFill>
        <p:spPr>
          <a:xfrm>
            <a:off x="1097280" y="3611880"/>
            <a:ext cx="8813862" cy="3063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3</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Why that is not enough</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Python solves, INTERCONNECT replays</a:t>
            </a:r>
          </a:p>
        </p:txBody>
      </p:sp>
      <p:sp>
        <p:nvSpPr>
          <p:cNvPr id="5" name="Rounded Rectangle 4"/>
          <p:cNvSpPr/>
          <p:nvPr/>
        </p:nvSpPr>
        <p:spPr>
          <a:xfrm>
            <a:off x="731520" y="1691640"/>
            <a:ext cx="2377440" cy="914400"/>
          </a:xfrm>
          <a:prstGeom prst="roundRect">
            <a:avLst>
              <a:gd name="adj" fmla="val 14000"/>
            </a:avLst>
          </a:prstGeom>
          <a:solidFill>
            <a:srgbClr val="6C4BA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600" b="1" i="0">
                <a:solidFill>
                  <a:srgbClr val="FFFFFF"/>
                </a:solidFill>
                <a:latin typeface="Arial"/>
              </a:rPr>
              <a:t>Python</a:t>
            </a:r>
          </a:p>
          <a:p>
            <a:pPr algn="ctr"/>
            <a:r>
              <a:rPr sz="900" b="0" i="0">
                <a:solidFill>
                  <a:srgbClr val="FFFFFF"/>
                </a:solidFill>
                <a:latin typeface="Arial"/>
              </a:rPr>
              <a:t>solves the bent electrode</a:t>
            </a:r>
          </a:p>
        </p:txBody>
      </p:sp>
      <p:sp>
        <p:nvSpPr>
          <p:cNvPr id="6" name="Rounded Rectangle 5"/>
          <p:cNvSpPr/>
          <p:nvPr/>
        </p:nvSpPr>
        <p:spPr>
          <a:xfrm>
            <a:off x="4572000" y="1691640"/>
            <a:ext cx="2377440" cy="914400"/>
          </a:xfrm>
          <a:prstGeom prst="roundRect">
            <a:avLst>
              <a:gd name="adj" fmla="val 14000"/>
            </a:avLst>
          </a:prstGeom>
          <a:solidFill>
            <a:srgbClr val="9C8CC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600" b="1" i="0">
                <a:solidFill>
                  <a:srgbClr val="FFFFFF"/>
                </a:solidFill>
                <a:latin typeface="Arial"/>
              </a:rPr>
              <a:t>Files</a:t>
            </a:r>
          </a:p>
          <a:p>
            <a:pPr algn="ctr"/>
            <a:r>
              <a:rPr sz="900" b="0" i="0">
                <a:solidFill>
                  <a:srgbClr val="FFFFFF"/>
                </a:solidFill>
                <a:latin typeface="Arial"/>
              </a:rPr>
              <a:t>3 tables per section</a:t>
            </a:r>
          </a:p>
        </p:txBody>
      </p:sp>
      <p:sp>
        <p:nvSpPr>
          <p:cNvPr id="7" name="Rounded Rectangle 6"/>
          <p:cNvSpPr/>
          <p:nvPr/>
        </p:nvSpPr>
        <p:spPr>
          <a:xfrm>
            <a:off x="8412480" y="1691640"/>
            <a:ext cx="2377440" cy="91440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600" b="1" i="0">
                <a:solidFill>
                  <a:srgbClr val="FFFFFF"/>
                </a:solidFill>
                <a:latin typeface="Arial"/>
              </a:rPr>
              <a:t>INTERCONNECT</a:t>
            </a:r>
          </a:p>
          <a:p>
            <a:pPr algn="ctr"/>
            <a:r>
              <a:rPr sz="900" b="0" i="0">
                <a:solidFill>
                  <a:srgbClr val="FFFFFF"/>
                </a:solidFill>
                <a:latin typeface="Arial"/>
              </a:rPr>
              <a:t>applies them</a:t>
            </a:r>
          </a:p>
        </p:txBody>
      </p:sp>
      <p:cxnSp>
        <p:nvCxnSpPr>
          <p:cNvPr id="8" name="Connector 7"/>
          <p:cNvCxnSpPr/>
          <p:nvPr/>
        </p:nvCxnSpPr>
        <p:spPr>
          <a:xfrm>
            <a:off x="3108960" y="2148840"/>
            <a:ext cx="1463040" cy="0"/>
          </a:xfrm>
          <a:prstGeom prst="line">
            <a:avLst/>
          </a:prstGeom>
          <a:ln w="38100">
            <a:solidFill>
              <a:srgbClr val="6C4B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49440" y="2148840"/>
            <a:ext cx="1463040" cy="0"/>
          </a:xfrm>
          <a:prstGeom prst="line">
            <a:avLst/>
          </a:prstGeom>
          <a:ln w="38100">
            <a:solidFill>
              <a:srgbClr val="6C4B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1520" y="3063240"/>
            <a:ext cx="3474720" cy="1371600"/>
          </a:xfrm>
          <a:prstGeom prst="roundRect">
            <a:avLst>
              <a:gd name="adj" fmla="val 14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1" name="TextBox 10"/>
          <p:cNvSpPr txBox="1"/>
          <p:nvPr/>
        </p:nvSpPr>
        <p:spPr>
          <a:xfrm>
            <a:off x="868680" y="32004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F20013"/>
                </a:solidFill>
                <a:latin typeface="Arial"/>
              </a:rPr>
              <a:t>Bend physics outside the simulator</a:t>
            </a:r>
          </a:p>
        </p:txBody>
      </p:sp>
      <p:sp>
        <p:nvSpPr>
          <p:cNvPr id="12" name="TextBox 11"/>
          <p:cNvSpPr txBox="1"/>
          <p:nvPr/>
        </p:nvSpPr>
        <p:spPr>
          <a:xfrm>
            <a:off x="868680" y="36301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reflections between sections are pre-computed</a:t>
            </a:r>
          </a:p>
        </p:txBody>
      </p:sp>
      <p:sp>
        <p:nvSpPr>
          <p:cNvPr id="13" name="Rounded Rectangle 12"/>
          <p:cNvSpPr/>
          <p:nvPr/>
        </p:nvSpPr>
        <p:spPr>
          <a:xfrm>
            <a:off x="4434840" y="3063240"/>
            <a:ext cx="3474720" cy="13716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4" name="TextBox 13"/>
          <p:cNvSpPr txBox="1"/>
          <p:nvPr/>
        </p:nvSpPr>
        <p:spPr>
          <a:xfrm>
            <a:off x="4572000" y="32004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Re-export at every change</a:t>
            </a:r>
          </a:p>
        </p:txBody>
      </p:sp>
      <p:sp>
        <p:nvSpPr>
          <p:cNvPr id="15" name="TextBox 14"/>
          <p:cNvSpPr txBox="1"/>
          <p:nvPr/>
        </p:nvSpPr>
        <p:spPr>
          <a:xfrm>
            <a:off x="4572000" y="36301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length, bend, Z</a:t>
            </a:r>
            <a:r>
              <a:rPr sz="1200" b="0" i="0" baseline="-25000">
                <a:solidFill>
                  <a:srgbClr val="1A1A1A"/>
                </a:solidFill>
                <a:latin typeface="Arial"/>
              </a:rPr>
              <a:t>s</a:t>
            </a:r>
            <a:r>
              <a:rPr sz="1200" b="0" i="0">
                <a:solidFill>
                  <a:srgbClr val="1A1A1A"/>
                </a:solidFill>
                <a:latin typeface="Arial"/>
              </a:rPr>
              <a:t>, R</a:t>
            </a:r>
            <a:r>
              <a:rPr sz="1200" b="0" i="0" baseline="-25000">
                <a:solidFill>
                  <a:srgbClr val="1A1A1A"/>
                </a:solidFill>
                <a:latin typeface="Arial"/>
              </a:rPr>
              <a:t>t</a:t>
            </a:r>
            <a:r>
              <a:rPr sz="1200" b="0" i="0">
                <a:solidFill>
                  <a:srgbClr val="1A1A1A"/>
                </a:solidFill>
                <a:latin typeface="Arial"/>
              </a:rPr>
              <a:t>: new files, new schematic</a:t>
            </a:r>
          </a:p>
        </p:txBody>
      </p:sp>
      <p:sp>
        <p:nvSpPr>
          <p:cNvPr id="16" name="Rounded Rectangle 15"/>
          <p:cNvSpPr/>
          <p:nvPr/>
        </p:nvSpPr>
        <p:spPr>
          <a:xfrm>
            <a:off x="8138160" y="3063240"/>
            <a:ext cx="3474720" cy="13716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7" name="TextBox 16"/>
          <p:cNvSpPr txBox="1"/>
          <p:nvPr/>
        </p:nvSpPr>
        <p:spPr>
          <a:xfrm>
            <a:off x="8275320" y="32004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Reactance frozen</a:t>
            </a:r>
          </a:p>
        </p:txBody>
      </p:sp>
      <p:sp>
        <p:nvSpPr>
          <p:cNvPr id="18" name="TextBox 17"/>
          <p:cNvSpPr txBox="1"/>
          <p:nvPr/>
        </p:nvSpPr>
        <p:spPr>
          <a:xfrm>
            <a:off x="8275320" y="36301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TW block: one source / load reactance, at one frequency</a:t>
            </a:r>
          </a:p>
        </p:txBody>
      </p:sp>
      <p:sp>
        <p:nvSpPr>
          <p:cNvPr id="19" name="Rounded Rectangle 18"/>
          <p:cNvSpPr/>
          <p:nvPr/>
        </p:nvSpPr>
        <p:spPr>
          <a:xfrm>
            <a:off x="731520" y="4663440"/>
            <a:ext cx="3474720" cy="13716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20" name="TextBox 19"/>
          <p:cNvSpPr txBox="1"/>
          <p:nvPr/>
        </p:nvSpPr>
        <p:spPr>
          <a:xfrm>
            <a:off x="868680" y="48006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No far-end voltage</a:t>
            </a:r>
          </a:p>
        </p:txBody>
      </p:sp>
      <p:sp>
        <p:nvSpPr>
          <p:cNvPr id="21" name="TextBox 20"/>
          <p:cNvSpPr txBox="1"/>
          <p:nvPr/>
        </p:nvSpPr>
        <p:spPr>
          <a:xfrm>
            <a:off x="868680" y="52303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the TW block has no output for it</a:t>
            </a:r>
          </a:p>
        </p:txBody>
      </p:sp>
      <p:sp>
        <p:nvSpPr>
          <p:cNvPr id="22" name="Rounded Rectangle 21"/>
          <p:cNvSpPr/>
          <p:nvPr/>
        </p:nvSpPr>
        <p:spPr>
          <a:xfrm>
            <a:off x="4434840" y="4663440"/>
            <a:ext cx="3474720" cy="13716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23" name="TextBox 22"/>
          <p:cNvSpPr txBox="1"/>
          <p:nvPr/>
        </p:nvSpPr>
        <p:spPr>
          <a:xfrm>
            <a:off x="4572000" y="48006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0E2268"/>
                </a:solidFill>
                <a:latin typeface="Arial"/>
              </a:rPr>
              <a:t>Two electrodes for two n</a:t>
            </a:r>
            <a:r>
              <a:rPr sz="1400" b="1" i="0" baseline="-25000">
                <a:solidFill>
                  <a:srgbClr val="0E2268"/>
                </a:solidFill>
                <a:latin typeface="Arial"/>
              </a:rPr>
              <a:t>g</a:t>
            </a:r>
          </a:p>
        </p:txBody>
      </p:sp>
      <p:sp>
        <p:nvSpPr>
          <p:cNvPr id="24" name="TextBox 23"/>
          <p:cNvSpPr txBox="1"/>
          <p:nvPr/>
        </p:nvSpPr>
        <p:spPr>
          <a:xfrm>
            <a:off x="4572000" y="52303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one TW block per arm, per section</a:t>
            </a:r>
          </a:p>
        </p:txBody>
      </p:sp>
      <p:sp>
        <p:nvSpPr>
          <p:cNvPr id="25" name="Rounded Rectangle 24"/>
          <p:cNvSpPr/>
          <p:nvPr/>
        </p:nvSpPr>
        <p:spPr>
          <a:xfrm>
            <a:off x="8138160" y="4663440"/>
            <a:ext cx="3474720" cy="1371600"/>
          </a:xfrm>
          <a:prstGeom prst="roundRect">
            <a:avLst>
              <a:gd name="adj" fmla="val 14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26" name="TextBox 25"/>
          <p:cNvSpPr txBox="1"/>
          <p:nvPr/>
        </p:nvSpPr>
        <p:spPr>
          <a:xfrm>
            <a:off x="8275320" y="4800600"/>
            <a:ext cx="3200400" cy="365760"/>
          </a:xfrm>
          <a:prstGeom prst="rect">
            <a:avLst/>
          </a:prstGeom>
          <a:noFill/>
        </p:spPr>
        <p:txBody>
          <a:bodyPr wrap="square" lIns="27432" rIns="27432" tIns="18288" bIns="18288" anchor="t">
            <a:spAutoFit/>
          </a:bodyPr>
          <a:lstStyle/>
          <a:p>
            <a:pPr algn="l">
              <a:spcAft>
                <a:spcPts val="400"/>
              </a:spcAft>
            </a:pPr>
            <a:r>
              <a:rPr sz="1400" b="1" i="0">
                <a:solidFill>
                  <a:srgbClr val="F20013"/>
                </a:solidFill>
                <a:latin typeface="Arial"/>
              </a:rPr>
              <a:t>TW block not exact</a:t>
            </a:r>
          </a:p>
        </p:txBody>
      </p:sp>
      <p:sp>
        <p:nvSpPr>
          <p:cNvPr id="27" name="TextBox 26"/>
          <p:cNvSpPr txBox="1"/>
          <p:nvPr/>
        </p:nvSpPr>
        <p:spPr>
          <a:xfrm>
            <a:off x="8275320" y="5230368"/>
            <a:ext cx="3200400" cy="73152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up to 1 dB / 14° off the exact line (section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A scripted element: an empty block we program</a:t>
            </a:r>
          </a:p>
        </p:txBody>
      </p:sp>
      <p:sp>
        <p:nvSpPr>
          <p:cNvPr id="4" name="Rounded Rectangle 3"/>
          <p:cNvSpPr/>
          <p:nvPr/>
        </p:nvSpPr>
        <p:spPr>
          <a:xfrm>
            <a:off x="731520" y="1417320"/>
            <a:ext cx="2377440" cy="914400"/>
          </a:xfrm>
          <a:prstGeom prst="roundRect">
            <a:avLst>
              <a:gd name="adj" fmla="val 14000"/>
            </a:avLst>
          </a:prstGeom>
          <a:solidFill>
            <a:srgbClr val="6C4BA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line table</a:t>
            </a:r>
          </a:p>
          <a:p>
            <a:pPr algn="ctr"/>
            <a:r>
              <a:rPr sz="900" b="0" i="0">
                <a:solidFill>
                  <a:srgbClr val="FFFFFF"/>
                </a:solidFill>
                <a:latin typeface="Arial"/>
              </a:rPr>
              <a:t>loss · Z</a:t>
            </a:r>
            <a:r>
              <a:rPr sz="900" b="0" i="0" baseline="-25000">
                <a:solidFill>
                  <a:srgbClr val="FFFFFF"/>
                </a:solidFill>
                <a:latin typeface="Arial"/>
              </a:rPr>
              <a:t>0</a:t>
            </a:r>
            <a:r>
              <a:rPr sz="900" b="0" i="0">
                <a:solidFill>
                  <a:srgbClr val="FFFFFF"/>
                </a:solidFill>
                <a:latin typeface="Arial"/>
              </a:rPr>
              <a:t> · n</a:t>
            </a:r>
            <a:r>
              <a:rPr sz="900" b="0" i="0" baseline="-25000">
                <a:solidFill>
                  <a:srgbClr val="FFFFFF"/>
                </a:solidFill>
                <a:latin typeface="Arial"/>
              </a:rPr>
              <a:t>m</a:t>
            </a:r>
            <a:r>
              <a:rPr sz="900" b="0" i="0">
                <a:solidFill>
                  <a:srgbClr val="FFFFFF"/>
                </a:solidFill>
                <a:latin typeface="Arial"/>
              </a:rPr>
              <a:t>  vs  f, from the Touchstone</a:t>
            </a:r>
          </a:p>
        </p:txBody>
      </p:sp>
      <p:sp>
        <p:nvSpPr>
          <p:cNvPr id="5" name="Rounded Rectangle 4"/>
          <p:cNvSpPr/>
          <p:nvPr/>
        </p:nvSpPr>
        <p:spPr>
          <a:xfrm>
            <a:off x="3931920" y="1325880"/>
            <a:ext cx="2926080" cy="109728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500" b="1" i="0">
                <a:solidFill>
                  <a:srgbClr val="FFFFFF"/>
                </a:solidFill>
                <a:latin typeface="Arial"/>
              </a:rPr>
              <a:t>setup script</a:t>
            </a:r>
          </a:p>
          <a:p>
            <a:pPr algn="ctr"/>
            <a:r>
              <a:rPr sz="900" b="0" i="0">
                <a:solidFill>
                  <a:srgbClr val="FFFFFF"/>
                </a:solidFill>
                <a:latin typeface="Arial"/>
              </a:rPr>
              <a:t>exact formulas, run once when the simulation starts</a:t>
            </a:r>
          </a:p>
        </p:txBody>
      </p:sp>
      <p:sp>
        <p:nvSpPr>
          <p:cNvPr id="6" name="Rounded Rectangle 5"/>
          <p:cNvSpPr/>
          <p:nvPr/>
        </p:nvSpPr>
        <p:spPr>
          <a:xfrm>
            <a:off x="7680960" y="1325880"/>
            <a:ext cx="3840480" cy="109728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500" b="1" i="0">
                <a:solidFill>
                  <a:srgbClr val="FFFFFF"/>
                </a:solidFill>
                <a:latin typeface="Arial"/>
              </a:rPr>
              <a:t>S-matrix of the block</a:t>
            </a:r>
          </a:p>
          <a:p>
            <a:pPr algn="ctr"/>
            <a:r>
              <a:rPr sz="900" b="0" i="0">
                <a:solidFill>
                  <a:srgbClr val="FFFFFF"/>
                </a:solidFill>
                <a:latin typeface="Arial"/>
              </a:rPr>
              <a:t>how each output responds to each input, vs frequency</a:t>
            </a:r>
          </a:p>
        </p:txBody>
      </p:sp>
      <p:cxnSp>
        <p:nvCxnSpPr>
          <p:cNvPr id="7" name="Connector 6"/>
          <p:cNvCxnSpPr/>
          <p:nvPr/>
        </p:nvCxnSpPr>
        <p:spPr>
          <a:xfrm>
            <a:off x="3108960" y="1874519"/>
            <a:ext cx="822960" cy="0"/>
          </a:xfrm>
          <a:prstGeom prst="line">
            <a:avLst/>
          </a:prstGeom>
          <a:ln w="38100">
            <a:solidFill>
              <a:srgbClr val="6C4B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858000" y="1874519"/>
            <a:ext cx="822960" cy="0"/>
          </a:xfrm>
          <a:prstGeom prst="line">
            <a:avLst/>
          </a:prstGeom>
          <a:ln w="38100">
            <a:solidFill>
              <a:srgbClr val="0E22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206240" y="3749039"/>
            <a:ext cx="3291840" cy="173736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2000" b="1" i="0">
                <a:solidFill>
                  <a:srgbClr val="FFFFFF"/>
                </a:solidFill>
                <a:latin typeface="Arial"/>
              </a:rPr>
              <a:t>TL line</a:t>
            </a:r>
          </a:p>
        </p:txBody>
      </p:sp>
      <p:sp>
        <p:nvSpPr>
          <p:cNvPr id="10" name="Oval 9"/>
          <p:cNvSpPr/>
          <p:nvPr/>
        </p:nvSpPr>
        <p:spPr>
          <a:xfrm>
            <a:off x="4114800" y="4526280"/>
            <a:ext cx="182880" cy="182880"/>
          </a:xfrm>
          <a:prstGeom prst="ellipse">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06640" y="4526280"/>
            <a:ext cx="182880" cy="182880"/>
          </a:xfrm>
          <a:prstGeom prst="ellipse">
            <a:avLst/>
          </a:prstGeom>
          <a:solidFill>
            <a:srgbClr val="E07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2468880" y="4617720"/>
            <a:ext cx="1645920" cy="0"/>
          </a:xfrm>
          <a:prstGeom prst="line">
            <a:avLst/>
          </a:prstGeom>
          <a:ln w="3175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89520" y="4617720"/>
            <a:ext cx="1645920" cy="0"/>
          </a:xfrm>
          <a:prstGeom prst="line">
            <a:avLst/>
          </a:prstGeom>
          <a:ln w="3175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7280" y="4297679"/>
            <a:ext cx="1371600" cy="274320"/>
          </a:xfrm>
          <a:prstGeom prst="rect">
            <a:avLst/>
          </a:prstGeom>
          <a:noFill/>
        </p:spPr>
        <p:txBody>
          <a:bodyPr wrap="square" lIns="27432" rIns="27432" tIns="18288" bIns="18288" anchor="t">
            <a:spAutoFit/>
          </a:bodyPr>
          <a:lstStyle/>
          <a:p>
            <a:pPr algn="ctr">
              <a:spcAft>
                <a:spcPts val="0"/>
              </a:spcAft>
            </a:pPr>
            <a:r>
              <a:rPr sz="1200" b="0" i="0">
                <a:solidFill>
                  <a:srgbClr val="1A1A1A"/>
                </a:solidFill>
                <a:latin typeface="Arial"/>
              </a:rPr>
              <a:t>RF in</a:t>
            </a:r>
          </a:p>
        </p:txBody>
      </p:sp>
      <p:sp>
        <p:nvSpPr>
          <p:cNvPr id="15" name="TextBox 14"/>
          <p:cNvSpPr txBox="1"/>
          <p:nvPr/>
        </p:nvSpPr>
        <p:spPr>
          <a:xfrm>
            <a:off x="9235440" y="4297679"/>
            <a:ext cx="1371600" cy="274320"/>
          </a:xfrm>
          <a:prstGeom prst="rect">
            <a:avLst/>
          </a:prstGeom>
          <a:noFill/>
        </p:spPr>
        <p:txBody>
          <a:bodyPr wrap="square" lIns="27432" rIns="27432" tIns="18288" bIns="18288" anchor="t">
            <a:spAutoFit/>
          </a:bodyPr>
          <a:lstStyle/>
          <a:p>
            <a:pPr algn="ctr">
              <a:spcAft>
                <a:spcPts val="0"/>
              </a:spcAft>
            </a:pPr>
            <a:r>
              <a:rPr sz="1200" b="0" i="0">
                <a:solidFill>
                  <a:srgbClr val="1A1A1A"/>
                </a:solidFill>
                <a:latin typeface="Arial"/>
              </a:rPr>
              <a:t>RF out</a:t>
            </a:r>
          </a:p>
        </p:txBody>
      </p:sp>
      <p:cxnSp>
        <p:nvCxnSpPr>
          <p:cNvPr id="16" name="Connector 15"/>
          <p:cNvCxnSpPr/>
          <p:nvPr/>
        </p:nvCxnSpPr>
        <p:spPr>
          <a:xfrm flipV="1">
            <a:off x="5212079" y="3246120"/>
            <a:ext cx="0" cy="502919"/>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492240" y="3246120"/>
            <a:ext cx="0" cy="502919"/>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2159" y="5486400"/>
            <a:ext cx="0" cy="50292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49039" y="2971799"/>
            <a:ext cx="2011680" cy="274320"/>
          </a:xfrm>
          <a:prstGeom prst="rect">
            <a:avLst/>
          </a:prstGeom>
          <a:noFill/>
        </p:spPr>
        <p:txBody>
          <a:bodyPr wrap="square" lIns="27432" rIns="27432" tIns="18288" bIns="18288" anchor="t">
            <a:spAutoFit/>
          </a:bodyPr>
          <a:lstStyle/>
          <a:p>
            <a:pPr algn="ctr">
              <a:spcAft>
                <a:spcPts val="0"/>
              </a:spcAft>
            </a:pPr>
            <a:r>
              <a:rPr sz="1100" b="0" i="0">
                <a:solidFill>
                  <a:srgbClr val="E07B39"/>
                </a:solidFill>
                <a:latin typeface="Arial"/>
              </a:rPr>
              <a:t>modulation (arm 1)</a:t>
            </a:r>
          </a:p>
        </p:txBody>
      </p:sp>
      <p:sp>
        <p:nvSpPr>
          <p:cNvPr id="20" name="TextBox 19"/>
          <p:cNvSpPr txBox="1"/>
          <p:nvPr/>
        </p:nvSpPr>
        <p:spPr>
          <a:xfrm>
            <a:off x="5943600" y="2971799"/>
            <a:ext cx="2011680" cy="274320"/>
          </a:xfrm>
          <a:prstGeom prst="rect">
            <a:avLst/>
          </a:prstGeom>
          <a:noFill/>
        </p:spPr>
        <p:txBody>
          <a:bodyPr wrap="square" lIns="27432" rIns="27432" tIns="18288" bIns="18288" anchor="t">
            <a:spAutoFit/>
          </a:bodyPr>
          <a:lstStyle/>
          <a:p>
            <a:pPr algn="ctr">
              <a:spcAft>
                <a:spcPts val="0"/>
              </a:spcAft>
            </a:pPr>
            <a:r>
              <a:rPr sz="1100" b="0" i="0">
                <a:solidFill>
                  <a:srgbClr val="E07B39"/>
                </a:solidFill>
                <a:latin typeface="Arial"/>
              </a:rPr>
              <a:t>modulation 2 (arm 2)</a:t>
            </a:r>
          </a:p>
        </p:txBody>
      </p:sp>
      <p:sp>
        <p:nvSpPr>
          <p:cNvPr id="21" name="TextBox 20"/>
          <p:cNvSpPr txBox="1"/>
          <p:nvPr/>
        </p:nvSpPr>
        <p:spPr>
          <a:xfrm>
            <a:off x="4846319" y="5989320"/>
            <a:ext cx="2011680" cy="274320"/>
          </a:xfrm>
          <a:prstGeom prst="rect">
            <a:avLst/>
          </a:prstGeom>
          <a:noFill/>
        </p:spPr>
        <p:txBody>
          <a:bodyPr wrap="square" lIns="27432" rIns="27432" tIns="18288" bIns="18288" anchor="t">
            <a:spAutoFit/>
          </a:bodyPr>
          <a:lstStyle/>
          <a:p>
            <a:pPr algn="ctr">
              <a:spcAft>
                <a:spcPts val="0"/>
              </a:spcAft>
            </a:pPr>
            <a:r>
              <a:rPr sz="1100" b="0" i="0">
                <a:solidFill>
                  <a:srgbClr val="E07B39"/>
                </a:solidFill>
                <a:latin typeface="Arial"/>
              </a:rPr>
              <a:t>far-end voltage</a:t>
            </a:r>
          </a:p>
        </p:txBody>
      </p:sp>
      <p:sp>
        <p:nvSpPr>
          <p:cNvPr id="22" name="TextBox 21"/>
          <p:cNvSpPr txBox="1"/>
          <p:nvPr/>
        </p:nvSpPr>
        <p:spPr>
          <a:xfrm>
            <a:off x="731520" y="5715000"/>
            <a:ext cx="3291840" cy="548640"/>
          </a:xfrm>
          <a:prstGeom prst="rect">
            <a:avLst/>
          </a:prstGeom>
          <a:noFill/>
        </p:spPr>
        <p:txBody>
          <a:bodyPr wrap="square" lIns="27432" rIns="27432" tIns="18288" bIns="18288" anchor="t">
            <a:spAutoFit/>
          </a:bodyPr>
          <a:lstStyle/>
          <a:p>
            <a:pPr algn="l">
              <a:spcAft>
                <a:spcPts val="400"/>
              </a:spcAft>
            </a:pPr>
            <a:r>
              <a:rPr sz="1100" b="0" i="0">
                <a:solidFill>
                  <a:srgbClr val="5A606E"/>
                </a:solidFill>
                <a:latin typeface="Arial"/>
              </a:rPr>
              <a:t>↔ two-way ports
↑ ↓ one-way outputs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Exploded view of the TL line block</a:t>
            </a:r>
          </a:p>
        </p:txBody>
      </p:sp>
      <p:pic>
        <p:nvPicPr>
          <p:cNvPr id="4" name="Picture 3" descr="tl_sparams.png"/>
          <p:cNvPicPr>
            <a:picLocks noChangeAspect="1"/>
          </p:cNvPicPr>
          <p:nvPr/>
        </p:nvPicPr>
        <p:blipFill>
          <a:blip r:embed="rId2"/>
          <a:stretch>
            <a:fillRect/>
          </a:stretch>
        </p:blipFill>
        <p:spPr>
          <a:xfrm>
            <a:off x="548640" y="1600200"/>
            <a:ext cx="3611880" cy="2909295"/>
          </a:xfrm>
          <a:prstGeom prst="rect">
            <a:avLst/>
          </a:prstGeom>
        </p:spPr>
      </p:pic>
      <p:pic>
        <p:nvPicPr>
          <p:cNvPr id="5" name="Picture 4" descr="tl_vz.png"/>
          <p:cNvPicPr>
            <a:picLocks noChangeAspect="1"/>
          </p:cNvPicPr>
          <p:nvPr/>
        </p:nvPicPr>
        <p:blipFill>
          <a:blip r:embed="rId3"/>
          <a:stretch>
            <a:fillRect/>
          </a:stretch>
        </p:blipFill>
        <p:spPr>
          <a:xfrm>
            <a:off x="4297680" y="1600200"/>
            <a:ext cx="3611880" cy="2854550"/>
          </a:xfrm>
          <a:prstGeom prst="rect">
            <a:avLst/>
          </a:prstGeom>
        </p:spPr>
      </p:pic>
      <p:pic>
        <p:nvPicPr>
          <p:cNvPr id="6" name="Picture 5" descr="tl_outputs.png"/>
          <p:cNvPicPr>
            <a:picLocks noChangeAspect="1"/>
          </p:cNvPicPr>
          <p:nvPr/>
        </p:nvPicPr>
        <p:blipFill>
          <a:blip r:embed="rId4"/>
          <a:stretch>
            <a:fillRect/>
          </a:stretch>
        </p:blipFill>
        <p:spPr>
          <a:xfrm>
            <a:off x="8046720" y="1600200"/>
            <a:ext cx="3611880" cy="2909295"/>
          </a:xfrm>
          <a:prstGeom prst="rect">
            <a:avLst/>
          </a:prstGeom>
        </p:spPr>
      </p:pic>
      <p:sp>
        <p:nvSpPr>
          <p:cNvPr id="7" name="Rounded Rectangle 6"/>
          <p:cNvSpPr/>
          <p:nvPr/>
        </p:nvSpPr>
        <p:spPr>
          <a:xfrm>
            <a:off x="914400" y="4572000"/>
            <a:ext cx="2926080" cy="411480"/>
          </a:xfrm>
          <a:prstGeom prst="roundRect">
            <a:avLst>
              <a:gd name="adj" fmla="val 50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E07B39"/>
                </a:solidFill>
                <a:latin typeface="Arial"/>
              </a:rPr>
              <a:t>ports 1 ↔ 2: exact line</a:t>
            </a:r>
          </a:p>
        </p:txBody>
      </p:sp>
      <p:sp>
        <p:nvSpPr>
          <p:cNvPr id="8" name="Rounded Rectangle 7"/>
          <p:cNvSpPr/>
          <p:nvPr/>
        </p:nvSpPr>
        <p:spPr>
          <a:xfrm>
            <a:off x="4663440" y="4572000"/>
            <a:ext cx="2926080" cy="411480"/>
          </a:xfrm>
          <a:prstGeom prst="roundRect">
            <a:avLst>
              <a:gd name="adj" fmla="val 50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0E2268"/>
                </a:solidFill>
                <a:latin typeface="Arial"/>
              </a:rPr>
              <a:t>V(z) integrated by the light</a:t>
            </a:r>
          </a:p>
        </p:txBody>
      </p:sp>
      <p:sp>
        <p:nvSpPr>
          <p:cNvPr id="9" name="Rounded Rectangle 8"/>
          <p:cNvSpPr/>
          <p:nvPr/>
        </p:nvSpPr>
        <p:spPr>
          <a:xfrm>
            <a:off x="8412480" y="4572000"/>
            <a:ext cx="2926080" cy="411480"/>
          </a:xfrm>
          <a:prstGeom prst="roundRect">
            <a:avLst>
              <a:gd name="adj" fmla="val 50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1C8C82"/>
                </a:solidFill>
                <a:latin typeface="Arial"/>
              </a:rPr>
              <a:t>the outputs</a:t>
            </a:r>
          </a:p>
        </p:txBody>
      </p:sp>
      <p:sp>
        <p:nvSpPr>
          <p:cNvPr id="10" name="Rounded Rectangle 9"/>
          <p:cNvSpPr/>
          <p:nvPr/>
        </p:nvSpPr>
        <p:spPr>
          <a:xfrm>
            <a:off x="822960" y="5257800"/>
            <a:ext cx="10515600" cy="86868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11" name="TextBox 10"/>
          <p:cNvSpPr txBox="1"/>
          <p:nvPr/>
        </p:nvSpPr>
        <p:spPr>
          <a:xfrm>
            <a:off x="1005840" y="5349240"/>
            <a:ext cx="10149840" cy="73152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modulation  =  (1/L) ∫ V(z) · e</a:t>
            </a:r>
            <a:r>
              <a:rPr sz="1400" b="0" i="0" baseline="30000">
                <a:solidFill>
                  <a:srgbClr val="1A1A1A"/>
                </a:solidFill>
                <a:latin typeface="Arial"/>
              </a:rPr>
              <a:t>jβz</a:t>
            </a:r>
            <a:r>
              <a:rPr sz="1400" b="0" i="0">
                <a:solidFill>
                  <a:srgbClr val="1A1A1A"/>
                </a:solidFill>
                <a:latin typeface="Arial"/>
              </a:rPr>
              <a:t> dz,    β = ω n</a:t>
            </a:r>
            <a:r>
              <a:rPr sz="1400" b="0" i="0" baseline="-25000">
                <a:solidFill>
                  <a:srgbClr val="1A1A1A"/>
                </a:solidFill>
                <a:latin typeface="Arial"/>
              </a:rPr>
              <a:t>g</a:t>
            </a:r>
            <a:r>
              <a:rPr sz="1400" b="0" i="0">
                <a:solidFill>
                  <a:srgbClr val="1A1A1A"/>
                </a:solidFill>
                <a:latin typeface="Arial"/>
              </a:rPr>
              <a:t> / c    (one integral per arm, with its own n</a:t>
            </a:r>
            <a:r>
              <a:rPr sz="1400" b="0" i="0" baseline="-25000">
                <a:solidFill>
                  <a:srgbClr val="1A1A1A"/>
                </a:solidFill>
                <a:latin typeface="Arial"/>
              </a:rPr>
              <a:t>g</a:t>
            </a:r>
            <a:r>
              <a:rPr sz="1400" b="0" i="0">
                <a:solidFill>
                  <a:srgbClr val="1A1A1A"/>
                </a:solidFill>
                <a:latin typeface="Arial"/>
              </a:rPr>
              <a:t>)</a:t>
            </a:r>
          </a:p>
          <a:p>
            <a:pPr algn="l">
              <a:spcAft>
                <a:spcPts val="400"/>
              </a:spcAft>
            </a:pPr>
            <a:r>
              <a:rPr sz="1400" b="0" i="0">
                <a:solidFill>
                  <a:srgbClr val="1A1A1A"/>
                </a:solidFill>
                <a:latin typeface="Arial"/>
              </a:rPr>
              <a:t>far end  =  V(L)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Source, termination and the Compound</a:t>
            </a:r>
          </a:p>
        </p:txBody>
      </p:sp>
      <p:sp>
        <p:nvSpPr>
          <p:cNvPr id="4" name="Rounded Rectangle 3"/>
          <p:cNvSpPr/>
          <p:nvPr/>
        </p:nvSpPr>
        <p:spPr>
          <a:xfrm>
            <a:off x="548640" y="1645920"/>
            <a:ext cx="6035040" cy="2377440"/>
          </a:xfrm>
          <a:prstGeom prst="roundRect">
            <a:avLst>
              <a:gd name="adj" fmla="val 5000"/>
            </a:avLst>
          </a:prstGeom>
          <a:solidFill>
            <a:srgbClr val="E8EBF5"/>
          </a:solidFill>
          <a:ln w="19050">
            <a:solidFill>
              <a:srgbClr val="0E22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673352"/>
            <a:ext cx="5888736" cy="274320"/>
          </a:xfrm>
          <a:prstGeom prst="rect">
            <a:avLst/>
          </a:prstGeom>
          <a:noFill/>
        </p:spPr>
        <p:txBody>
          <a:bodyPr wrap="square" lIns="27432" rIns="27432" tIns="18288" bIns="18288" anchor="t">
            <a:spAutoFit/>
          </a:bodyPr>
          <a:lstStyle/>
          <a:p>
            <a:pPr algn="l">
              <a:spcAft>
                <a:spcPts val="400"/>
              </a:spcAft>
            </a:pPr>
            <a:r>
              <a:rPr sz="1100" b="1" i="0">
                <a:solidFill>
                  <a:srgbClr val="0E2268"/>
                </a:solidFill>
                <a:latin typeface="Arial"/>
              </a:rPr>
              <a:t>Compound  (scattering data analysis ON)</a:t>
            </a:r>
          </a:p>
        </p:txBody>
      </p:sp>
      <p:sp>
        <p:nvSpPr>
          <p:cNvPr id="6" name="Rounded Rectangle 5"/>
          <p:cNvSpPr/>
          <p:nvPr/>
        </p:nvSpPr>
        <p:spPr>
          <a:xfrm>
            <a:off x="868680" y="2331720"/>
            <a:ext cx="1234440" cy="7315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300" b="1" i="0">
                <a:solidFill>
                  <a:srgbClr val="FFFFFF"/>
                </a:solidFill>
                <a:latin typeface="Arial"/>
              </a:rPr>
              <a:t>source</a:t>
            </a:r>
          </a:p>
          <a:p>
            <a:pPr algn="ctr"/>
            <a:r>
              <a:rPr sz="900" b="0" i="0">
                <a:solidFill>
                  <a:srgbClr val="FFFFFF"/>
                </a:solidFill>
                <a:latin typeface="Arial"/>
              </a:rPr>
              <a:t>Z</a:t>
            </a:r>
            <a:r>
              <a:rPr sz="900" b="0" i="0" baseline="-25000">
                <a:solidFill>
                  <a:srgbClr val="FFFFFF"/>
                </a:solidFill>
                <a:latin typeface="Arial"/>
              </a:rPr>
              <a:t>s</a:t>
            </a:r>
            <a:r>
              <a:rPr sz="900" b="0" i="0">
                <a:solidFill>
                  <a:srgbClr val="FFFFFF"/>
                </a:solidFill>
                <a:latin typeface="Arial"/>
              </a:rPr>
              <a:t>: R + L + C</a:t>
            </a:r>
          </a:p>
        </p:txBody>
      </p:sp>
      <p:sp>
        <p:nvSpPr>
          <p:cNvPr id="7" name="Rounded Rectangle 6"/>
          <p:cNvSpPr/>
          <p:nvPr/>
        </p:nvSpPr>
        <p:spPr>
          <a:xfrm>
            <a:off x="2606040" y="2240280"/>
            <a:ext cx="1737360" cy="91440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500" b="1" i="0">
                <a:solidFill>
                  <a:srgbClr val="FFFFFF"/>
                </a:solidFill>
                <a:latin typeface="Arial"/>
              </a:rPr>
              <a:t>TL line</a:t>
            </a:r>
          </a:p>
        </p:txBody>
      </p:sp>
      <p:sp>
        <p:nvSpPr>
          <p:cNvPr id="8" name="Rounded Rectangle 7"/>
          <p:cNvSpPr/>
          <p:nvPr/>
        </p:nvSpPr>
        <p:spPr>
          <a:xfrm>
            <a:off x="4846320" y="2331720"/>
            <a:ext cx="1325880" cy="73152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termination</a:t>
            </a:r>
          </a:p>
          <a:p>
            <a:pPr algn="ctr"/>
            <a:r>
              <a:rPr sz="900" b="0" i="0">
                <a:solidFill>
                  <a:srgbClr val="FFFFFF"/>
                </a:solidFill>
                <a:latin typeface="Arial"/>
              </a:rPr>
              <a:t>R</a:t>
            </a:r>
            <a:r>
              <a:rPr sz="900" b="0" i="0" baseline="-25000">
                <a:solidFill>
                  <a:srgbClr val="FFFFFF"/>
                </a:solidFill>
                <a:latin typeface="Arial"/>
              </a:rPr>
              <a:t>t</a:t>
            </a:r>
            <a:r>
              <a:rPr sz="900" b="0" i="0">
                <a:solidFill>
                  <a:srgbClr val="FFFFFF"/>
                </a:solidFill>
                <a:latin typeface="Arial"/>
              </a:rPr>
              <a:t>: R + L + C</a:t>
            </a:r>
          </a:p>
        </p:txBody>
      </p:sp>
      <p:cxnSp>
        <p:nvCxnSpPr>
          <p:cNvPr id="9" name="Connector 8"/>
          <p:cNvCxnSpPr/>
          <p:nvPr/>
        </p:nvCxnSpPr>
        <p:spPr>
          <a:xfrm>
            <a:off x="2103120" y="2697480"/>
            <a:ext cx="502920" cy="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343400" y="2697480"/>
            <a:ext cx="502920" cy="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2880" y="2697480"/>
            <a:ext cx="6858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 y="2788920"/>
            <a:ext cx="82296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drive</a:t>
            </a:r>
          </a:p>
        </p:txBody>
      </p:sp>
      <p:cxnSp>
        <p:nvCxnSpPr>
          <p:cNvPr id="13" name="Connector 12"/>
          <p:cNvCxnSpPr/>
          <p:nvPr/>
        </p:nvCxnSpPr>
        <p:spPr>
          <a:xfrm flipV="1">
            <a:off x="3200400" y="1325880"/>
            <a:ext cx="0" cy="91440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749039" y="1325880"/>
            <a:ext cx="0" cy="91440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74720" y="3154680"/>
            <a:ext cx="0" cy="118872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468879" y="1051560"/>
            <a:ext cx="201168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to the modulators</a:t>
            </a:r>
          </a:p>
        </p:txBody>
      </p:sp>
      <p:sp>
        <p:nvSpPr>
          <p:cNvPr id="17" name="TextBox 16"/>
          <p:cNvSpPr txBox="1"/>
          <p:nvPr/>
        </p:nvSpPr>
        <p:spPr>
          <a:xfrm>
            <a:off x="2788920" y="4343400"/>
            <a:ext cx="13716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far end</a:t>
            </a:r>
          </a:p>
        </p:txBody>
      </p:sp>
      <p:pic>
        <p:nvPicPr>
          <p:cNvPr id="18" name="Picture 17" descr="compound_need.png"/>
          <p:cNvPicPr>
            <a:picLocks noChangeAspect="1"/>
          </p:cNvPicPr>
          <p:nvPr/>
        </p:nvPicPr>
        <p:blipFill>
          <a:blip r:embed="rId2"/>
          <a:stretch>
            <a:fillRect/>
          </a:stretch>
        </p:blipFill>
        <p:spPr>
          <a:xfrm>
            <a:off x="6812280" y="1554480"/>
            <a:ext cx="4937760" cy="3113420"/>
          </a:xfrm>
          <a:prstGeom prst="rect">
            <a:avLst/>
          </a:prstGeom>
        </p:spPr>
      </p:pic>
      <p:sp>
        <p:nvSpPr>
          <p:cNvPr id="19" name="Rounded Rectangle 18"/>
          <p:cNvSpPr/>
          <p:nvPr/>
        </p:nvSpPr>
        <p:spPr>
          <a:xfrm>
            <a:off x="731520" y="4892040"/>
            <a:ext cx="2560320" cy="457200"/>
          </a:xfrm>
          <a:prstGeom prst="roundRect">
            <a:avLst>
              <a:gd name="adj" fmla="val 50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20013"/>
                </a:solidFill>
                <a:latin typeface="Arial"/>
              </a:rPr>
              <a:t>blocks one by one</a:t>
            </a:r>
          </a:p>
        </p:txBody>
      </p:sp>
      <p:sp>
        <p:nvSpPr>
          <p:cNvPr id="20" name="TextBox 19"/>
          <p:cNvSpPr txBox="1"/>
          <p:nvPr/>
        </p:nvSpPr>
        <p:spPr>
          <a:xfrm>
            <a:off x="3429000" y="4919472"/>
            <a:ext cx="3200400" cy="41148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each pass adds a filter delay → echoes late</a:t>
            </a:r>
          </a:p>
        </p:txBody>
      </p:sp>
      <p:sp>
        <p:nvSpPr>
          <p:cNvPr id="21" name="Rounded Rectangle 20"/>
          <p:cNvSpPr/>
          <p:nvPr/>
        </p:nvSpPr>
        <p:spPr>
          <a:xfrm>
            <a:off x="731520" y="5532120"/>
            <a:ext cx="2560320" cy="457200"/>
          </a:xfrm>
          <a:prstGeom prst="roundRect">
            <a:avLst>
              <a:gd name="adj" fmla="val 50000"/>
            </a:avLst>
          </a:prstGeom>
          <a:solidFill>
            <a:srgbClr val="E8EBF5"/>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0E2268"/>
                </a:solidFill>
                <a:latin typeface="Arial"/>
              </a:rPr>
              <a:t>inside a Compound</a:t>
            </a:r>
          </a:p>
        </p:txBody>
      </p:sp>
      <p:sp>
        <p:nvSpPr>
          <p:cNvPr id="22" name="TextBox 21"/>
          <p:cNvSpPr txBox="1"/>
          <p:nvPr/>
        </p:nvSpPr>
        <p:spPr>
          <a:xfrm>
            <a:off x="3429000" y="5559552"/>
            <a:ext cx="3200400" cy="411480"/>
          </a:xfrm>
          <a:prstGeom prst="rect">
            <a:avLst/>
          </a:prstGeom>
          <a:noFill/>
        </p:spPr>
        <p:txBody>
          <a:bodyPr wrap="square" lIns="27432" rIns="27432" tIns="18288" bIns="18288" anchor="t">
            <a:spAutoFit/>
          </a:bodyPr>
          <a:lstStyle/>
          <a:p>
            <a:pPr algn="l">
              <a:spcAft>
                <a:spcPts val="400"/>
              </a:spcAft>
            </a:pPr>
            <a:r>
              <a:rPr sz="1200" b="0" i="0">
                <a:solidFill>
                  <a:srgbClr val="1A1A1A"/>
                </a:solidFill>
                <a:latin typeface="Arial"/>
              </a:rPr>
              <a:t>solved as one network → exact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4</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With bends: one TL electrode block</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The whole bent electrode, solved inside one block</a:t>
            </a:r>
          </a:p>
        </p:txBody>
      </p:sp>
      <p:sp>
        <p:nvSpPr>
          <p:cNvPr id="5" name="Rounded Rectangle 4"/>
          <p:cNvSpPr/>
          <p:nvPr/>
        </p:nvSpPr>
        <p:spPr>
          <a:xfrm>
            <a:off x="548640" y="1600200"/>
            <a:ext cx="6949440" cy="2606040"/>
          </a:xfrm>
          <a:prstGeom prst="roundRect">
            <a:avLst>
              <a:gd name="adj" fmla="val 5000"/>
            </a:avLst>
          </a:prstGeom>
          <a:solidFill>
            <a:srgbClr val="E8EBF5"/>
          </a:solidFill>
          <a:ln w="19050">
            <a:solidFill>
              <a:srgbClr val="0E22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627632"/>
            <a:ext cx="6803136" cy="274320"/>
          </a:xfrm>
          <a:prstGeom prst="rect">
            <a:avLst/>
          </a:prstGeom>
          <a:noFill/>
        </p:spPr>
        <p:txBody>
          <a:bodyPr wrap="square" lIns="27432" rIns="27432" tIns="18288" bIns="18288" anchor="t">
            <a:spAutoFit/>
          </a:bodyPr>
          <a:lstStyle/>
          <a:p>
            <a:pPr algn="l">
              <a:spcAft>
                <a:spcPts val="400"/>
              </a:spcAft>
            </a:pPr>
            <a:r>
              <a:rPr sz="1100" b="1" i="0">
                <a:solidFill>
                  <a:srgbClr val="0E2268"/>
                </a:solidFill>
                <a:latin typeface="Arial"/>
              </a:rPr>
              <a:t>TL electrode</a:t>
            </a:r>
          </a:p>
        </p:txBody>
      </p:sp>
      <p:sp>
        <p:nvSpPr>
          <p:cNvPr id="7" name="Rounded Rectangle 6"/>
          <p:cNvSpPr/>
          <p:nvPr/>
        </p:nvSpPr>
        <p:spPr>
          <a:xfrm>
            <a:off x="822960" y="2148840"/>
            <a:ext cx="1554480" cy="54864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section 1</a:t>
            </a:r>
          </a:p>
        </p:txBody>
      </p:sp>
      <p:sp>
        <p:nvSpPr>
          <p:cNvPr id="8" name="Rounded Rectangle 7"/>
          <p:cNvSpPr/>
          <p:nvPr/>
        </p:nvSpPr>
        <p:spPr>
          <a:xfrm>
            <a:off x="2450592" y="2148840"/>
            <a:ext cx="685800" cy="548640"/>
          </a:xfrm>
          <a:prstGeom prst="roundRect">
            <a:avLst>
              <a:gd name="adj" fmla="val 14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bend</a:t>
            </a:r>
          </a:p>
        </p:txBody>
      </p:sp>
      <p:sp>
        <p:nvSpPr>
          <p:cNvPr id="9" name="Rounded Rectangle 8"/>
          <p:cNvSpPr/>
          <p:nvPr/>
        </p:nvSpPr>
        <p:spPr>
          <a:xfrm>
            <a:off x="3209544" y="2148840"/>
            <a:ext cx="1554480" cy="54864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section 2</a:t>
            </a:r>
          </a:p>
        </p:txBody>
      </p:sp>
      <p:sp>
        <p:nvSpPr>
          <p:cNvPr id="10" name="Rounded Rectangle 9"/>
          <p:cNvSpPr/>
          <p:nvPr/>
        </p:nvSpPr>
        <p:spPr>
          <a:xfrm>
            <a:off x="4837176" y="2148840"/>
            <a:ext cx="685800" cy="548640"/>
          </a:xfrm>
          <a:prstGeom prst="roundRect">
            <a:avLst>
              <a:gd name="adj" fmla="val 14000"/>
            </a:avLst>
          </a:prstGeom>
          <a:solidFill>
            <a:srgbClr val="8C6D3F"/>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bend</a:t>
            </a:r>
          </a:p>
        </p:txBody>
      </p:sp>
      <p:sp>
        <p:nvSpPr>
          <p:cNvPr id="11" name="Rounded Rectangle 10"/>
          <p:cNvSpPr/>
          <p:nvPr/>
        </p:nvSpPr>
        <p:spPr>
          <a:xfrm>
            <a:off x="5596128" y="2148840"/>
            <a:ext cx="1554480" cy="54864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section 3</a:t>
            </a:r>
          </a:p>
        </p:txBody>
      </p:sp>
      <p:cxnSp>
        <p:nvCxnSpPr>
          <p:cNvPr id="12" name="Connector 11"/>
          <p:cNvCxnSpPr/>
          <p:nvPr/>
        </p:nvCxnSpPr>
        <p:spPr>
          <a:xfrm>
            <a:off x="182880" y="2423160"/>
            <a:ext cx="640080" cy="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50608" y="2423160"/>
            <a:ext cx="713232" cy="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291840" y="3291840"/>
            <a:ext cx="685800" cy="685800"/>
          </a:xfrm>
          <a:prstGeom prst="ellipse">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2000" b="1" i="0">
                <a:solidFill>
                  <a:srgbClr val="FFFFFF"/>
                </a:solidFill>
                <a:latin typeface="Arial"/>
              </a:rPr>
              <a:t>Σ</a:t>
            </a:r>
          </a:p>
        </p:txBody>
      </p:sp>
      <p:cxnSp>
        <p:nvCxnSpPr>
          <p:cNvPr id="15" name="Connector 14"/>
          <p:cNvCxnSpPr/>
          <p:nvPr/>
        </p:nvCxnSpPr>
        <p:spPr>
          <a:xfrm>
            <a:off x="1600200" y="2697480"/>
            <a:ext cx="0" cy="32004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00200" y="3017520"/>
            <a:ext cx="2039112" cy="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9312" y="3017520"/>
            <a:ext cx="0" cy="27432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986784" y="2697480"/>
            <a:ext cx="0" cy="32004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639312" y="3017520"/>
            <a:ext cx="347472" cy="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39312" y="3017520"/>
            <a:ext cx="0" cy="274320"/>
          </a:xfrm>
          <a:prstGeom prst="line">
            <a:avLst/>
          </a:prstGeom>
          <a:ln w="2286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373368" y="2697480"/>
            <a:ext cx="0" cy="32004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639312" y="3017520"/>
            <a:ext cx="2734056" cy="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39312" y="3017520"/>
            <a:ext cx="0" cy="274320"/>
          </a:xfrm>
          <a:prstGeom prst="line">
            <a:avLst/>
          </a:prstGeom>
          <a:ln w="22860">
            <a:solidFill>
              <a:srgbClr val="1C8C8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23360" y="3063240"/>
            <a:ext cx="3291840" cy="274320"/>
          </a:xfrm>
          <a:prstGeom prst="rect">
            <a:avLst/>
          </a:prstGeom>
          <a:noFill/>
        </p:spPr>
        <p:txBody>
          <a:bodyPr wrap="square" lIns="27432" rIns="27432" tIns="18288" bIns="18288" anchor="t">
            <a:spAutoFit/>
          </a:bodyPr>
          <a:lstStyle/>
          <a:p>
            <a:pPr algn="ctr">
              <a:spcAft>
                <a:spcPts val="0"/>
              </a:spcAft>
            </a:pPr>
            <a:r>
              <a:rPr sz="1000" b="0" i="0">
                <a:solidFill>
                  <a:srgbClr val="1C8C82"/>
                </a:solidFill>
                <a:latin typeface="Arial"/>
              </a:rPr>
              <a:t>each share delayed by the light's transit to the exit</a:t>
            </a:r>
          </a:p>
        </p:txBody>
      </p:sp>
      <p:cxnSp>
        <p:nvCxnSpPr>
          <p:cNvPr id="25" name="Connector 24"/>
          <p:cNvCxnSpPr/>
          <p:nvPr/>
        </p:nvCxnSpPr>
        <p:spPr>
          <a:xfrm>
            <a:off x="3639312" y="3977639"/>
            <a:ext cx="0" cy="548641"/>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267712" y="4526280"/>
            <a:ext cx="2743200" cy="274320"/>
          </a:xfrm>
          <a:prstGeom prst="rect">
            <a:avLst/>
          </a:prstGeom>
          <a:noFill/>
        </p:spPr>
        <p:txBody>
          <a:bodyPr wrap="square" lIns="27432" rIns="27432" tIns="18288" bIns="18288" anchor="t">
            <a:spAutoFit/>
          </a:bodyPr>
          <a:lstStyle/>
          <a:p>
            <a:pPr algn="ctr">
              <a:spcAft>
                <a:spcPts val="0"/>
              </a:spcAft>
            </a:pPr>
            <a:r>
              <a:rPr sz="1100" b="0" i="0">
                <a:solidFill>
                  <a:srgbClr val="E07B39"/>
                </a:solidFill>
                <a:latin typeface="Arial"/>
              </a:rPr>
              <a:t>modulation (one per arm)</a:t>
            </a:r>
          </a:p>
        </p:txBody>
      </p:sp>
      <p:cxnSp>
        <p:nvCxnSpPr>
          <p:cNvPr id="27" name="Connector 26"/>
          <p:cNvCxnSpPr/>
          <p:nvPr/>
        </p:nvCxnSpPr>
        <p:spPr>
          <a:xfrm>
            <a:off x="7315200" y="2697480"/>
            <a:ext cx="0" cy="182880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629400" y="4526280"/>
            <a:ext cx="1371600" cy="274320"/>
          </a:xfrm>
          <a:prstGeom prst="rect">
            <a:avLst/>
          </a:prstGeom>
          <a:noFill/>
        </p:spPr>
        <p:txBody>
          <a:bodyPr wrap="square" lIns="27432" rIns="27432" tIns="18288" bIns="18288" anchor="t">
            <a:spAutoFit/>
          </a:bodyPr>
          <a:lstStyle/>
          <a:p>
            <a:pPr algn="ctr">
              <a:spcAft>
                <a:spcPts val="0"/>
              </a:spcAft>
            </a:pPr>
            <a:r>
              <a:rPr sz="1100" b="0" i="0">
                <a:solidFill>
                  <a:srgbClr val="E07B39"/>
                </a:solidFill>
                <a:latin typeface="Arial"/>
              </a:rPr>
              <a:t>far end</a:t>
            </a:r>
          </a:p>
        </p:txBody>
      </p:sp>
      <p:pic>
        <p:nvPicPr>
          <p:cNvPr id="29" name="Picture 28" descr="sections_sum.png"/>
          <p:cNvPicPr>
            <a:picLocks noChangeAspect="1"/>
          </p:cNvPicPr>
          <p:nvPr/>
        </p:nvPicPr>
        <p:blipFill>
          <a:blip r:embed="rId2"/>
          <a:stretch>
            <a:fillRect/>
          </a:stretch>
        </p:blipFill>
        <p:spPr>
          <a:xfrm>
            <a:off x="7909560" y="1463040"/>
            <a:ext cx="3931920" cy="2398542"/>
          </a:xfrm>
          <a:prstGeom prst="rect">
            <a:avLst/>
          </a:prstGeom>
        </p:spPr>
      </p:pic>
      <p:sp>
        <p:nvSpPr>
          <p:cNvPr id="30" name="Rounded Rectangle 29"/>
          <p:cNvSpPr/>
          <p:nvPr/>
        </p:nvSpPr>
        <p:spPr>
          <a:xfrm>
            <a:off x="731520" y="5120640"/>
            <a:ext cx="4937760" cy="1143000"/>
          </a:xfrm>
          <a:prstGeom prst="roundRect">
            <a:avLst>
              <a:gd name="adj" fmla="val 14000"/>
            </a:avLst>
          </a:prstGeom>
          <a:solidFill>
            <a:srgbClr val="F1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31" name="TextBox 30"/>
          <p:cNvSpPr txBox="1"/>
          <p:nvPr/>
        </p:nvSpPr>
        <p:spPr>
          <a:xfrm>
            <a:off x="868680" y="5166360"/>
            <a:ext cx="4754880" cy="1051560"/>
          </a:xfrm>
          <a:prstGeom prst="rect">
            <a:avLst/>
          </a:prstGeom>
          <a:noFill/>
        </p:spPr>
        <p:txBody>
          <a:bodyPr wrap="square" lIns="27432" rIns="27432" tIns="18288" bIns="18288" anchor="t">
            <a:spAutoFit/>
          </a:bodyPr>
          <a:lstStyle/>
          <a:p>
            <a:pPr algn="l">
              <a:spcAft>
                <a:spcPts val="200"/>
              </a:spcAft>
            </a:pPr>
            <a:r>
              <a:rPr sz="1200" b="1" i="0">
                <a:solidFill>
                  <a:srgbClr val="0E2268"/>
                </a:solidFill>
                <a:latin typeface="Arial"/>
              </a:rPr>
              <a:t>electrode_layout.txt</a:t>
            </a:r>
          </a:p>
          <a:p>
            <a:pPr algn="l">
              <a:spcAft>
                <a:spcPts val="200"/>
              </a:spcAft>
            </a:pPr>
            <a:r>
              <a:rPr sz="1200" b="0" i="0">
                <a:solidFill>
                  <a:srgbClr val="1A1A1A"/>
                </a:solidFill>
                <a:latin typeface="Arial"/>
              </a:rPr>
              <a:t>section 4.67 mm  ·  bend 0.8 mm  ·  section 4.67 mm …</a:t>
            </a:r>
          </a:p>
          <a:p>
            <a:pPr algn="l">
              <a:spcAft>
                <a:spcPts val="200"/>
              </a:spcAft>
            </a:pPr>
            <a:r>
              <a:rPr sz="1200" b="0" i="0">
                <a:solidFill>
                  <a:srgbClr val="1A1A1A"/>
                </a:solidFill>
                <a:latin typeface="Arial"/>
              </a:rPr>
              <a:t>two tables: electrode line, bend line</a:t>
            </a:r>
          </a:p>
        </p:txBody>
      </p:sp>
      <p:sp>
        <p:nvSpPr>
          <p:cNvPr id="32" name="Rounded Rectangle 31"/>
          <p:cNvSpPr/>
          <p:nvPr/>
        </p:nvSpPr>
        <p:spPr>
          <a:xfrm>
            <a:off x="6035040" y="5120640"/>
            <a:ext cx="5669280" cy="1143000"/>
          </a:xfrm>
          <a:prstGeom prst="roundRect">
            <a:avLst>
              <a:gd name="adj" fmla="val 14000"/>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p>
        </p:txBody>
      </p:sp>
      <p:sp>
        <p:nvSpPr>
          <p:cNvPr id="33" name="TextBox 32"/>
          <p:cNvSpPr txBox="1"/>
          <p:nvPr/>
        </p:nvSpPr>
        <p:spPr>
          <a:xfrm>
            <a:off x="6172200" y="5166360"/>
            <a:ext cx="5486400" cy="1051560"/>
          </a:xfrm>
          <a:prstGeom prst="rect">
            <a:avLst/>
          </a:prstGeom>
          <a:noFill/>
        </p:spPr>
        <p:txBody>
          <a:bodyPr wrap="square" lIns="27432" rIns="27432" tIns="18288" bIns="18288" anchor="t">
            <a:spAutoFit/>
          </a:bodyPr>
          <a:lstStyle/>
          <a:p>
            <a:pPr algn="l">
              <a:spcAft>
                <a:spcPts val="200"/>
              </a:spcAft>
            </a:pPr>
            <a:r>
              <a:rPr sz="1200" b="1" i="0">
                <a:solidFill>
                  <a:srgbClr val="1C8C82"/>
                </a:solidFill>
                <a:latin typeface="Arial"/>
              </a:rPr>
              <a:t>Same schematic as a straight electrode</a:t>
            </a:r>
          </a:p>
          <a:p>
            <a:pPr algn="l">
              <a:spcAft>
                <a:spcPts val="200"/>
              </a:spcAft>
            </a:pPr>
            <a:r>
              <a:rPr sz="1200" b="0" i="0">
                <a:solidFill>
                  <a:srgbClr val="1A1A1A"/>
                </a:solidFill>
                <a:latin typeface="Arial"/>
              </a:rPr>
              <a:t>source → TL electrode → termination, one modulator per arm</a:t>
            </a:r>
          </a:p>
          <a:p>
            <a:pPr algn="l">
              <a:spcAft>
                <a:spcPts val="200"/>
              </a:spcAft>
            </a:pPr>
            <a:r>
              <a:rPr sz="1200" b="0" i="0">
                <a:solidFill>
                  <a:srgbClr val="1A1A1A"/>
                </a:solidFill>
                <a:latin typeface="Arial"/>
              </a:rPr>
              <a:t>no optical-delay blocks, no drive files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5</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Built-in TW block vs scripted TL line</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Both against the exact line model, measured in INTERCONNECT (Step 0)</a:t>
            </a:r>
          </a:p>
        </p:txBody>
      </p:sp>
      <p:pic>
        <p:nvPicPr>
          <p:cNvPr id="5" name="Picture 4" descr="tw_vs_tl.png"/>
          <p:cNvPicPr>
            <a:picLocks noChangeAspect="1"/>
          </p:cNvPicPr>
          <p:nvPr/>
        </p:nvPicPr>
        <p:blipFill>
          <a:blip r:embed="rId2"/>
          <a:stretch>
            <a:fillRect/>
          </a:stretch>
        </p:blipFill>
        <p:spPr>
          <a:xfrm>
            <a:off x="502920" y="1508760"/>
            <a:ext cx="7315200" cy="2775267"/>
          </a:xfrm>
          <a:prstGeom prst="rect">
            <a:avLst/>
          </a:prstGeom>
        </p:spPr>
      </p:pic>
      <p:graphicFrame>
        <p:nvGraphicFramePr>
          <p:cNvPr id="6" name="Table 5"/>
          <p:cNvGraphicFramePr>
            <a:graphicFrameLocks noGrp="1"/>
          </p:cNvGraphicFramePr>
          <p:nvPr/>
        </p:nvGraphicFramePr>
        <p:xfrm>
          <a:off x="8092440" y="1600200"/>
          <a:ext cx="3657600" cy="2688336"/>
        </p:xfrm>
        <a:graphic>
          <a:graphicData uri="http://schemas.openxmlformats.org/drawingml/2006/table">
            <a:tbl>
              <a:tblPr firstRow="0" bandRow="0"/>
              <a:tblGrid>
                <a:gridCol w="2011680"/>
                <a:gridCol w="822960"/>
                <a:gridCol w="822960"/>
              </a:tblGrid>
              <a:tr h="384048">
                <a:tc>
                  <a:txBody>
                    <a:bodyPr wrap="square"/>
                    <a:lstStyle/>
                    <a:p>
                      <a:pPr algn="l"/>
                    </a:p>
                  </a:txBody>
                  <a:tcPr marL="54864" marR="54864" marT="18288" marB="18288" anchor="ctr">
                    <a:solidFill>
                      <a:srgbClr val="0E2268"/>
                    </a:solidFill>
                  </a:tcPr>
                </a:tc>
                <a:tc>
                  <a:txBody>
                    <a:bodyPr wrap="square"/>
                    <a:lstStyle/>
                    <a:p>
                      <a:pPr algn="ctr"/>
                      <a:r>
                        <a:rPr sz="1150" b="1" i="0">
                          <a:solidFill>
                            <a:srgbClr val="FFFFFF"/>
                          </a:solidFill>
                          <a:latin typeface="Arial"/>
                        </a:rPr>
                        <a:t>TW block</a:t>
                      </a:r>
                    </a:p>
                  </a:txBody>
                  <a:tcPr marL="54864" marR="54864" marT="18288" marB="18288" anchor="ctr">
                    <a:solidFill>
                      <a:srgbClr val="0E2268"/>
                    </a:solidFill>
                  </a:tcPr>
                </a:tc>
                <a:tc>
                  <a:txBody>
                    <a:bodyPr wrap="square"/>
                    <a:lstStyle/>
                    <a:p>
                      <a:pPr algn="ctr"/>
                      <a:r>
                        <a:rPr sz="1150" b="1" i="0">
                          <a:solidFill>
                            <a:srgbClr val="FFFFFF"/>
                          </a:solidFill>
                          <a:latin typeface="Arial"/>
                        </a:rPr>
                        <a:t>TL line</a:t>
                      </a:r>
                    </a:p>
                  </a:txBody>
                  <a:tcPr marL="54864" marR="54864" marT="18288" marB="18288" anchor="ctr">
                    <a:solidFill>
                      <a:srgbClr val="0E2268"/>
                    </a:solidFill>
                  </a:tcPr>
                </a:tc>
              </a:tr>
              <a:tr h="384048">
                <a:tc>
                  <a:txBody>
                    <a:bodyPr wrap="square"/>
                    <a:lstStyle/>
                    <a:p>
                      <a:pPr algn="l"/>
                      <a:r>
                        <a:rPr sz="1150" b="1" i="0">
                          <a:solidFill>
                            <a:srgbClr val="1A1A1A"/>
                          </a:solidFill>
                          <a:latin typeface="Arial"/>
                        </a:rPr>
                        <a:t>Exact line</a:t>
                      </a:r>
                    </a:p>
                  </a:txBody>
                  <a:tcPr marL="54864" marR="54864" marT="18288" marB="18288" anchor="ctr">
                    <a:solidFill>
                      <a:srgbClr val="F1F3F8"/>
                    </a:solidFill>
                  </a:tcPr>
                </a:tc>
                <a:tc>
                  <a:txBody>
                    <a:bodyPr wrap="square"/>
                    <a:lstStyle/>
                    <a:p>
                      <a:pPr algn="ctr"/>
                      <a:r>
                        <a:rPr sz="1550" b="0" i="0">
                          <a:solidFill>
                            <a:srgbClr val="F20013"/>
                          </a:solidFill>
                          <a:latin typeface="Arial"/>
                        </a:rPr>
                        <a:t>✘</a:t>
                      </a:r>
                    </a:p>
                  </a:txBody>
                  <a:tcPr marL="54864" marR="54864" marT="18288" marB="18288" anchor="ctr">
                    <a:solidFill>
                      <a:srgbClr val="F1F3F8"/>
                    </a:solidFill>
                  </a:tcPr>
                </a:tc>
                <a:tc>
                  <a:txBody>
                    <a:bodyPr wrap="square"/>
                    <a:lstStyle/>
                    <a:p>
                      <a:pPr algn="ctr"/>
                      <a:r>
                        <a:rPr sz="1550" b="0" i="0">
                          <a:solidFill>
                            <a:srgbClr val="1C8C82"/>
                          </a:solidFill>
                          <a:latin typeface="Arial"/>
                        </a:rPr>
                        <a:t>✔</a:t>
                      </a:r>
                    </a:p>
                  </a:txBody>
                  <a:tcPr marL="54864" marR="54864" marT="18288" marB="18288" anchor="ctr">
                    <a:solidFill>
                      <a:srgbClr val="F1F3F8"/>
                    </a:solidFill>
                  </a:tcPr>
                </a:tc>
              </a:tr>
              <a:tr h="384048">
                <a:tc>
                  <a:txBody>
                    <a:bodyPr wrap="square"/>
                    <a:lstStyle/>
                    <a:p>
                      <a:pPr algn="l"/>
                      <a:r>
                        <a:rPr sz="1150" b="1" i="0">
                          <a:solidFill>
                            <a:srgbClr val="1A1A1A"/>
                          </a:solidFill>
                          <a:latin typeface="Arial"/>
                        </a:rPr>
                        <a:t>Reflections solved</a:t>
                      </a:r>
                    </a:p>
                  </a:txBody>
                  <a:tcPr marL="54864" marR="54864" marT="18288" marB="18288" anchor="ctr">
                    <a:solidFill>
                      <a:srgbClr val="FFFFFF"/>
                    </a:solidFill>
                  </a:tcPr>
                </a:tc>
                <a:tc>
                  <a:txBody>
                    <a:bodyPr wrap="square"/>
                    <a:lstStyle/>
                    <a:p>
                      <a:pPr algn="ctr"/>
                      <a:r>
                        <a:rPr sz="1550" b="0" i="0">
                          <a:solidFill>
                            <a:srgbClr val="1C8C82"/>
                          </a:solidFill>
                          <a:latin typeface="Arial"/>
                        </a:rPr>
                        <a:t>✔</a:t>
                      </a:r>
                    </a:p>
                  </a:txBody>
                  <a:tcPr marL="54864" marR="54864" marT="18288" marB="18288" anchor="ctr">
                    <a:solidFill>
                      <a:srgbClr val="FFFFFF"/>
                    </a:solidFill>
                  </a:tcPr>
                </a:tc>
                <a:tc>
                  <a:txBody>
                    <a:bodyPr wrap="square"/>
                    <a:lstStyle/>
                    <a:p>
                      <a:pPr algn="ctr"/>
                      <a:r>
                        <a:rPr sz="1550" b="0" i="0">
                          <a:solidFill>
                            <a:srgbClr val="1C8C82"/>
                          </a:solidFill>
                          <a:latin typeface="Arial"/>
                        </a:rPr>
                        <a:t>✔</a:t>
                      </a:r>
                    </a:p>
                  </a:txBody>
                  <a:tcPr marL="54864" marR="54864" marT="18288" marB="18288" anchor="ctr">
                    <a:solidFill>
                      <a:srgbClr val="FFFFFF"/>
                    </a:solidFill>
                  </a:tcPr>
                </a:tc>
              </a:tr>
              <a:tr h="384048">
                <a:tc>
                  <a:txBody>
                    <a:bodyPr wrap="square"/>
                    <a:lstStyle/>
                    <a:p>
                      <a:pPr algn="l"/>
                      <a:r>
                        <a:rPr sz="1150" b="1" i="0">
                          <a:solidFill>
                            <a:srgbClr val="1A1A1A"/>
                          </a:solidFill>
                          <a:latin typeface="Arial"/>
                        </a:rPr>
                        <a:t>R + L + C vs frequency</a:t>
                      </a:r>
                    </a:p>
                  </a:txBody>
                  <a:tcPr marL="54864" marR="54864" marT="18288" marB="18288" anchor="ctr">
                    <a:solidFill>
                      <a:srgbClr val="F1F3F8"/>
                    </a:solidFill>
                  </a:tcPr>
                </a:tc>
                <a:tc>
                  <a:txBody>
                    <a:bodyPr wrap="square"/>
                    <a:lstStyle/>
                    <a:p>
                      <a:pPr algn="ctr"/>
                      <a:r>
                        <a:rPr sz="1550" b="0" i="0">
                          <a:solidFill>
                            <a:srgbClr val="F20013"/>
                          </a:solidFill>
                          <a:latin typeface="Arial"/>
                        </a:rPr>
                        <a:t>✘</a:t>
                      </a:r>
                    </a:p>
                  </a:txBody>
                  <a:tcPr marL="54864" marR="54864" marT="18288" marB="18288" anchor="ctr">
                    <a:solidFill>
                      <a:srgbClr val="F1F3F8"/>
                    </a:solidFill>
                  </a:tcPr>
                </a:tc>
                <a:tc>
                  <a:txBody>
                    <a:bodyPr wrap="square"/>
                    <a:lstStyle/>
                    <a:p>
                      <a:pPr algn="ctr"/>
                      <a:r>
                        <a:rPr sz="1550" b="0" i="0">
                          <a:solidFill>
                            <a:srgbClr val="1C8C82"/>
                          </a:solidFill>
                          <a:latin typeface="Arial"/>
                        </a:rPr>
                        <a:t>✔</a:t>
                      </a:r>
                    </a:p>
                  </a:txBody>
                  <a:tcPr marL="54864" marR="54864" marT="18288" marB="18288" anchor="ctr">
                    <a:solidFill>
                      <a:srgbClr val="F1F3F8"/>
                    </a:solidFill>
                  </a:tcPr>
                </a:tc>
              </a:tr>
              <a:tr h="384048">
                <a:tc>
                  <a:txBody>
                    <a:bodyPr wrap="square"/>
                    <a:lstStyle/>
                    <a:p>
                      <a:pPr algn="l"/>
                      <a:r>
                        <a:rPr sz="1150" b="1" i="0">
                          <a:solidFill>
                            <a:srgbClr val="1A1A1A"/>
                          </a:solidFill>
                          <a:latin typeface="Arial"/>
                        </a:rPr>
                        <a:t>Far-end voltage</a:t>
                      </a:r>
                    </a:p>
                  </a:txBody>
                  <a:tcPr marL="54864" marR="54864" marT="18288" marB="18288" anchor="ctr">
                    <a:solidFill>
                      <a:srgbClr val="FFFFFF"/>
                    </a:solidFill>
                  </a:tcPr>
                </a:tc>
                <a:tc>
                  <a:txBody>
                    <a:bodyPr wrap="square"/>
                    <a:lstStyle/>
                    <a:p>
                      <a:pPr algn="ctr"/>
                      <a:r>
                        <a:rPr sz="1550" b="0" i="0">
                          <a:solidFill>
                            <a:srgbClr val="F20013"/>
                          </a:solidFill>
                          <a:latin typeface="Arial"/>
                        </a:rPr>
                        <a:t>✘</a:t>
                      </a:r>
                    </a:p>
                  </a:txBody>
                  <a:tcPr marL="54864" marR="54864" marT="18288" marB="18288" anchor="ctr">
                    <a:solidFill>
                      <a:srgbClr val="FFFFFF"/>
                    </a:solidFill>
                  </a:tcPr>
                </a:tc>
                <a:tc>
                  <a:txBody>
                    <a:bodyPr wrap="square"/>
                    <a:lstStyle/>
                    <a:p>
                      <a:pPr algn="ctr"/>
                      <a:r>
                        <a:rPr sz="1550" b="0" i="0">
                          <a:solidFill>
                            <a:srgbClr val="1C8C82"/>
                          </a:solidFill>
                          <a:latin typeface="Arial"/>
                        </a:rPr>
                        <a:t>✔</a:t>
                      </a:r>
                    </a:p>
                  </a:txBody>
                  <a:tcPr marL="54864" marR="54864" marT="18288" marB="18288" anchor="ctr">
                    <a:solidFill>
                      <a:srgbClr val="FFFFFF"/>
                    </a:solidFill>
                  </a:tcPr>
                </a:tc>
              </a:tr>
              <a:tr h="384048">
                <a:tc>
                  <a:txBody>
                    <a:bodyPr wrap="square"/>
                    <a:lstStyle/>
                    <a:p>
                      <a:pPr algn="l"/>
                      <a:r>
                        <a:rPr sz="1150" b="1" i="0">
                          <a:solidFill>
                            <a:srgbClr val="1A1A1A"/>
                          </a:solidFill>
                          <a:latin typeface="Arial"/>
                        </a:rPr>
                        <a:t>Two n</a:t>
                      </a:r>
                      <a:r>
                        <a:rPr sz="1150" b="1" i="0" baseline="-25000">
                          <a:solidFill>
                            <a:srgbClr val="1A1A1A"/>
                          </a:solidFill>
                          <a:latin typeface="Arial"/>
                        </a:rPr>
                        <a:t>g</a:t>
                      </a:r>
                      <a:r>
                        <a:rPr sz="1150" b="1" i="0">
                          <a:solidFill>
                            <a:srgbClr val="1A1A1A"/>
                          </a:solidFill>
                          <a:latin typeface="Arial"/>
                        </a:rPr>
                        <a:t> on one line</a:t>
                      </a:r>
                    </a:p>
                  </a:txBody>
                  <a:tcPr marL="54864" marR="54864" marT="18288" marB="18288" anchor="ctr">
                    <a:solidFill>
                      <a:srgbClr val="F1F3F8"/>
                    </a:solidFill>
                  </a:tcPr>
                </a:tc>
                <a:tc>
                  <a:txBody>
                    <a:bodyPr wrap="square"/>
                    <a:lstStyle/>
                    <a:p>
                      <a:pPr algn="ctr"/>
                      <a:r>
                        <a:rPr sz="1550" b="0" i="0">
                          <a:solidFill>
                            <a:srgbClr val="F20013"/>
                          </a:solidFill>
                          <a:latin typeface="Arial"/>
                        </a:rPr>
                        <a:t>✘</a:t>
                      </a:r>
                    </a:p>
                  </a:txBody>
                  <a:tcPr marL="54864" marR="54864" marT="18288" marB="18288" anchor="ctr">
                    <a:solidFill>
                      <a:srgbClr val="F1F3F8"/>
                    </a:solidFill>
                  </a:tcPr>
                </a:tc>
                <a:tc>
                  <a:txBody>
                    <a:bodyPr wrap="square"/>
                    <a:lstStyle/>
                    <a:p>
                      <a:pPr algn="ctr"/>
                      <a:r>
                        <a:rPr sz="1550" b="0" i="0">
                          <a:solidFill>
                            <a:srgbClr val="1C8C82"/>
                          </a:solidFill>
                          <a:latin typeface="Arial"/>
                        </a:rPr>
                        <a:t>✔</a:t>
                      </a:r>
                    </a:p>
                  </a:txBody>
                  <a:tcPr marL="54864" marR="54864" marT="18288" marB="18288" anchor="ctr">
                    <a:solidFill>
                      <a:srgbClr val="F1F3F8"/>
                    </a:solidFill>
                  </a:tcPr>
                </a:tc>
              </a:tr>
              <a:tr h="384048">
                <a:tc>
                  <a:txBody>
                    <a:bodyPr wrap="square"/>
                    <a:lstStyle/>
                    <a:p>
                      <a:pPr algn="l"/>
                      <a:r>
                        <a:rPr sz="1150" b="1" i="0">
                          <a:solidFill>
                            <a:srgbClr val="1A1A1A"/>
                          </a:solidFill>
                          <a:latin typeface="Arial"/>
                        </a:rPr>
                        <a:t>Bends inside the block</a:t>
                      </a:r>
                    </a:p>
                  </a:txBody>
                  <a:tcPr marL="54864" marR="54864" marT="18288" marB="18288" anchor="ctr">
                    <a:solidFill>
                      <a:srgbClr val="FFFFFF"/>
                    </a:solidFill>
                  </a:tcPr>
                </a:tc>
                <a:tc>
                  <a:txBody>
                    <a:bodyPr wrap="square"/>
                    <a:lstStyle/>
                    <a:p>
                      <a:pPr algn="ctr"/>
                      <a:r>
                        <a:rPr sz="1550" b="0" i="0">
                          <a:solidFill>
                            <a:srgbClr val="F20013"/>
                          </a:solidFill>
                          <a:latin typeface="Arial"/>
                        </a:rPr>
                        <a:t>✘</a:t>
                      </a:r>
                    </a:p>
                  </a:txBody>
                  <a:tcPr marL="54864" marR="54864" marT="18288" marB="18288" anchor="ctr">
                    <a:solidFill>
                      <a:srgbClr val="FFFFFF"/>
                    </a:solidFill>
                  </a:tcPr>
                </a:tc>
                <a:tc>
                  <a:txBody>
                    <a:bodyPr wrap="square"/>
                    <a:lstStyle/>
                    <a:p>
                      <a:pPr algn="ctr"/>
                      <a:r>
                        <a:rPr sz="1550" b="0" i="0">
                          <a:solidFill>
                            <a:srgbClr val="1C8C82"/>
                          </a:solidFill>
                          <a:latin typeface="Arial"/>
                        </a:rPr>
                        <a:t>✔</a:t>
                      </a:r>
                    </a:p>
                  </a:txBody>
                  <a:tcPr marL="54864" marR="54864" marT="18288" marB="18288" anchor="ctr">
                    <a:solidFill>
                      <a:srgbClr val="FFFFFF"/>
                    </a:solidFill>
                  </a:tcPr>
                </a:tc>
              </a:tr>
            </a:tbl>
          </a:graphicData>
        </a:graphic>
      </p:graphicFrame>
      <p:graphicFrame>
        <p:nvGraphicFramePr>
          <p:cNvPr id="7" name="Table 6"/>
          <p:cNvGraphicFramePr>
            <a:graphicFrameLocks noGrp="1"/>
          </p:cNvGraphicFramePr>
          <p:nvPr/>
        </p:nvGraphicFramePr>
        <p:xfrm>
          <a:off x="731520" y="4617720"/>
          <a:ext cx="6949439" cy="1691640"/>
        </p:xfrm>
        <a:graphic>
          <a:graphicData uri="http://schemas.openxmlformats.org/drawingml/2006/table">
            <a:tbl>
              <a:tblPr firstRow="0" bandRow="0"/>
              <a:tblGrid>
                <a:gridCol w="2672861"/>
                <a:gridCol w="2138289"/>
                <a:gridCol w="2138289"/>
              </a:tblGrid>
              <a:tr h="338328">
                <a:tc>
                  <a:txBody>
                    <a:bodyPr wrap="square"/>
                    <a:lstStyle/>
                    <a:p>
                      <a:pPr algn="l"/>
                      <a:r>
                        <a:rPr sz="1150" b="1" i="0">
                          <a:solidFill>
                            <a:srgbClr val="FFFFFF"/>
                          </a:solidFill>
                          <a:latin typeface="Arial"/>
                        </a:rPr>
                        <a:t>max error vs exact</a:t>
                      </a:r>
                    </a:p>
                  </a:txBody>
                  <a:tcPr marL="54864" marR="54864" marT="18288" marB="18288" anchor="ctr">
                    <a:solidFill>
                      <a:srgbClr val="0E2268"/>
                    </a:solidFill>
                  </a:tcPr>
                </a:tc>
                <a:tc>
                  <a:txBody>
                    <a:bodyPr wrap="square"/>
                    <a:lstStyle/>
                    <a:p>
                      <a:pPr algn="ctr"/>
                      <a:r>
                        <a:rPr sz="1150" b="1" i="0">
                          <a:solidFill>
                            <a:srgbClr val="FFFFFF"/>
                          </a:solidFill>
                          <a:latin typeface="Arial"/>
                        </a:rPr>
                        <a:t>TW block</a:t>
                      </a:r>
                    </a:p>
                  </a:txBody>
                  <a:tcPr marL="54864" marR="54864" marT="18288" marB="18288" anchor="ctr">
                    <a:solidFill>
                      <a:srgbClr val="0E2268"/>
                    </a:solidFill>
                  </a:tcPr>
                </a:tc>
                <a:tc>
                  <a:txBody>
                    <a:bodyPr wrap="square"/>
                    <a:lstStyle/>
                    <a:p>
                      <a:pPr algn="ctr"/>
                      <a:r>
                        <a:rPr sz="1150" b="1" i="0">
                          <a:solidFill>
                            <a:srgbClr val="FFFFFF"/>
                          </a:solidFill>
                          <a:latin typeface="Arial"/>
                        </a:rPr>
                        <a:t>TL line</a:t>
                      </a:r>
                    </a:p>
                  </a:txBody>
                  <a:tcPr marL="54864" marR="54864" marT="18288" marB="18288" anchor="ctr">
                    <a:solidFill>
                      <a:srgbClr val="0E2268"/>
                    </a:solidFill>
                  </a:tcPr>
                </a:tc>
              </a:tr>
              <a:tr h="338328">
                <a:tc>
                  <a:txBody>
                    <a:bodyPr wrap="square"/>
                    <a:lstStyle/>
                    <a:p>
                      <a:pPr algn="l"/>
                      <a:r>
                        <a:rPr sz="1150" b="1" i="0">
                          <a:solidFill>
                            <a:srgbClr val="1A1A1A"/>
                          </a:solidFill>
                          <a:latin typeface="Arial"/>
                        </a:rPr>
                        <a:t>50 Ω / 55 Ω</a:t>
                      </a:r>
                    </a:p>
                  </a:txBody>
                  <a:tcPr marL="54864" marR="54864" marT="18288" marB="18288" anchor="ctr">
                    <a:solidFill>
                      <a:srgbClr val="F1F3F8"/>
                    </a:solidFill>
                  </a:tcPr>
                </a:tc>
                <a:tc>
                  <a:txBody>
                    <a:bodyPr wrap="square"/>
                    <a:lstStyle/>
                    <a:p>
                      <a:pPr algn="ctr"/>
                      <a:r>
                        <a:rPr sz="1150" b="0" i="0">
                          <a:solidFill>
                            <a:srgbClr val="1A1A1A"/>
                          </a:solidFill>
                          <a:latin typeface="Arial"/>
                        </a:rPr>
                        <a:t>0.16 dB · 6°</a:t>
                      </a:r>
                    </a:p>
                  </a:txBody>
                  <a:tcPr marL="54864" marR="54864" marT="18288" marB="18288" anchor="ctr">
                    <a:solidFill>
                      <a:srgbClr val="F1F3F8"/>
                    </a:solidFill>
                  </a:tcPr>
                </a:tc>
                <a:tc>
                  <a:txBody>
                    <a:bodyPr wrap="square"/>
                    <a:lstStyle/>
                    <a:p>
                      <a:pPr algn="ctr"/>
                      <a:r>
                        <a:rPr sz="1150" b="0" i="0">
                          <a:solidFill>
                            <a:srgbClr val="1A1A1A"/>
                          </a:solidFill>
                          <a:latin typeface="Arial"/>
                        </a:rPr>
                        <a:t>0.04 dB · 0.4°</a:t>
                      </a:r>
                    </a:p>
                  </a:txBody>
                  <a:tcPr marL="54864" marR="54864" marT="18288" marB="18288" anchor="ctr">
                    <a:solidFill>
                      <a:srgbClr val="F1F3F8"/>
                    </a:solidFill>
                  </a:tcPr>
                </a:tc>
              </a:tr>
              <a:tr h="338328">
                <a:tc>
                  <a:txBody>
                    <a:bodyPr wrap="square"/>
                    <a:lstStyle/>
                    <a:p>
                      <a:pPr algn="l"/>
                      <a:r>
                        <a:rPr sz="1150" b="1" i="0">
                          <a:solidFill>
                            <a:srgbClr val="1A1A1A"/>
                          </a:solidFill>
                          <a:latin typeface="Arial"/>
                        </a:rPr>
                        <a:t>30 Ω / 80 Ω</a:t>
                      </a:r>
                    </a:p>
                  </a:txBody>
                  <a:tcPr marL="54864" marR="54864" marT="18288" marB="18288" anchor="ctr">
                    <a:solidFill>
                      <a:srgbClr val="FFFFFF"/>
                    </a:solidFill>
                  </a:tcPr>
                </a:tc>
                <a:tc>
                  <a:txBody>
                    <a:bodyPr wrap="square"/>
                    <a:lstStyle/>
                    <a:p>
                      <a:pPr algn="ctr"/>
                      <a:r>
                        <a:rPr sz="1150" b="0" i="0">
                          <a:solidFill>
                            <a:srgbClr val="1A1A1A"/>
                          </a:solidFill>
                          <a:latin typeface="Arial"/>
                        </a:rPr>
                        <a:t>1.06 dB · 14°</a:t>
                      </a:r>
                    </a:p>
                  </a:txBody>
                  <a:tcPr marL="54864" marR="54864" marT="18288" marB="18288" anchor="ctr">
                    <a:solidFill>
                      <a:srgbClr val="FFFFFF"/>
                    </a:solidFill>
                  </a:tcPr>
                </a:tc>
                <a:tc>
                  <a:txBody>
                    <a:bodyPr wrap="square"/>
                    <a:lstStyle/>
                    <a:p>
                      <a:pPr algn="ctr"/>
                      <a:r>
                        <a:rPr sz="1150" b="0" i="0">
                          <a:solidFill>
                            <a:srgbClr val="1A1A1A"/>
                          </a:solidFill>
                          <a:latin typeface="Arial"/>
                        </a:rPr>
                        <a:t>0.10 dB · 0.4°</a:t>
                      </a:r>
                    </a:p>
                  </a:txBody>
                  <a:tcPr marL="54864" marR="54864" marT="18288" marB="18288" anchor="ctr">
                    <a:solidFill>
                      <a:srgbClr val="FFFFFF"/>
                    </a:solidFill>
                  </a:tcPr>
                </a:tc>
              </a:tr>
              <a:tr h="338328">
                <a:tc>
                  <a:txBody>
                    <a:bodyPr wrap="square"/>
                    <a:lstStyle/>
                    <a:p>
                      <a:pPr algn="l"/>
                      <a:r>
                        <a:rPr sz="1150" b="1" i="0">
                          <a:solidFill>
                            <a:srgbClr val="1A1A1A"/>
                          </a:solidFill>
                          <a:latin typeface="Arial"/>
                        </a:rPr>
                        <a:t>BW, 50 / 55 Ω</a:t>
                      </a:r>
                    </a:p>
                  </a:txBody>
                  <a:tcPr marL="54864" marR="54864" marT="18288" marB="18288" anchor="ctr">
                    <a:solidFill>
                      <a:srgbClr val="F1F3F8"/>
                    </a:solidFill>
                  </a:tcPr>
                </a:tc>
                <a:tc>
                  <a:txBody>
                    <a:bodyPr wrap="square"/>
                    <a:lstStyle/>
                    <a:p>
                      <a:pPr algn="ctr"/>
                      <a:r>
                        <a:rPr sz="1150" b="0" i="0">
                          <a:solidFill>
                            <a:srgbClr val="1A1A1A"/>
                          </a:solidFill>
                          <a:latin typeface="Arial"/>
                        </a:rPr>
                        <a:t>98.2 GHz</a:t>
                      </a:r>
                    </a:p>
                  </a:txBody>
                  <a:tcPr marL="54864" marR="54864" marT="18288" marB="18288" anchor="ctr">
                    <a:solidFill>
                      <a:srgbClr val="F1F3F8"/>
                    </a:solidFill>
                  </a:tcPr>
                </a:tc>
                <a:tc>
                  <a:txBody>
                    <a:bodyPr wrap="square"/>
                    <a:lstStyle/>
                    <a:p>
                      <a:pPr algn="ctr"/>
                      <a:r>
                        <a:rPr sz="1150" b="0" i="0">
                          <a:solidFill>
                            <a:srgbClr val="1A1A1A"/>
                          </a:solidFill>
                          <a:latin typeface="Arial"/>
                        </a:rPr>
                        <a:t>99.4 GHz</a:t>
                      </a:r>
                    </a:p>
                  </a:txBody>
                  <a:tcPr marL="54864" marR="54864" marT="18288" marB="18288" anchor="ctr">
                    <a:solidFill>
                      <a:srgbClr val="F1F3F8"/>
                    </a:solidFill>
                  </a:tcPr>
                </a:tc>
              </a:tr>
              <a:tr h="338328">
                <a:tc>
                  <a:txBody>
                    <a:bodyPr wrap="square"/>
                    <a:lstStyle/>
                    <a:p>
                      <a:pPr algn="l"/>
                      <a:r>
                        <a:rPr sz="1150" b="1" i="0">
                          <a:solidFill>
                            <a:srgbClr val="1A1A1A"/>
                          </a:solidFill>
                          <a:latin typeface="Arial"/>
                        </a:rPr>
                        <a:t>BW, 30 / 80 Ω</a:t>
                      </a:r>
                    </a:p>
                  </a:txBody>
                  <a:tcPr marL="54864" marR="54864" marT="18288" marB="18288" anchor="ctr">
                    <a:solidFill>
                      <a:srgbClr val="FFFFFF"/>
                    </a:solidFill>
                  </a:tcPr>
                </a:tc>
                <a:tc>
                  <a:txBody>
                    <a:bodyPr wrap="square"/>
                    <a:lstStyle/>
                    <a:p>
                      <a:pPr algn="ctr"/>
                      <a:r>
                        <a:rPr sz="1150" b="0" i="0">
                          <a:solidFill>
                            <a:srgbClr val="1A1A1A"/>
                          </a:solidFill>
                          <a:latin typeface="Arial"/>
                        </a:rPr>
                        <a:t>58.3 GHz</a:t>
                      </a:r>
                    </a:p>
                  </a:txBody>
                  <a:tcPr marL="54864" marR="54864" marT="18288" marB="18288" anchor="ctr">
                    <a:solidFill>
                      <a:srgbClr val="FFFFFF"/>
                    </a:solidFill>
                  </a:tcPr>
                </a:tc>
                <a:tc>
                  <a:txBody>
                    <a:bodyPr wrap="square"/>
                    <a:lstStyle/>
                    <a:p>
                      <a:pPr algn="ctr"/>
                      <a:r>
                        <a:rPr sz="1150" b="0" i="0">
                          <a:solidFill>
                            <a:srgbClr val="1A1A1A"/>
                          </a:solidFill>
                          <a:latin typeface="Arial"/>
                        </a:rPr>
                        <a:t>65.2 GHz</a:t>
                      </a:r>
                    </a:p>
                  </a:txBody>
                  <a:tcPr marL="54864" marR="54864" marT="18288" marB="18288" anchor="ctr">
                    <a:solidFill>
                      <a:srgbClr val="FFFFFF"/>
                    </a:solidFill>
                  </a:tcPr>
                </a:tc>
              </a:tr>
            </a:tbl>
          </a:graphicData>
        </a:graphic>
      </p:graphicFrame>
      <p:sp>
        <p:nvSpPr>
          <p:cNvPr id="8" name="TextBox 7"/>
          <p:cNvSpPr txBox="1"/>
          <p:nvPr/>
        </p:nvSpPr>
        <p:spPr>
          <a:xfrm>
            <a:off x="731520" y="6355080"/>
            <a:ext cx="6949440" cy="274320"/>
          </a:xfrm>
          <a:prstGeom prst="rect">
            <a:avLst/>
          </a:prstGeom>
          <a:noFill/>
        </p:spPr>
        <p:txBody>
          <a:bodyPr wrap="square" lIns="27432" rIns="27432" tIns="18288" bIns="18288" anchor="t">
            <a:spAutoFit/>
          </a:bodyPr>
          <a:lstStyle/>
          <a:p>
            <a:pPr algn="l">
              <a:spcAft>
                <a:spcPts val="400"/>
              </a:spcAft>
            </a:pPr>
            <a:r>
              <a:rPr sz="1000" b="0" i="1">
                <a:solidFill>
                  <a:srgbClr val="5A606E"/>
                </a:solidFill>
                <a:latin typeface="Arial"/>
              </a:rPr>
              <a:t>exact model: 99.6 GHz (50/55 Ω), 65.5 GHz (30/80 Ω); electrode alone, no optics</a:t>
            </a:r>
          </a:p>
        </p:txBody>
      </p:sp>
      <p:sp>
        <p:nvSpPr>
          <p:cNvPr id="9" name="TextBox 8"/>
          <p:cNvSpPr txBox="1"/>
          <p:nvPr/>
        </p:nvSpPr>
        <p:spPr>
          <a:xfrm>
            <a:off x="8412480" y="4617720"/>
            <a:ext cx="3200400" cy="731520"/>
          </a:xfrm>
          <a:prstGeom prst="rect">
            <a:avLst/>
          </a:prstGeom>
          <a:noFill/>
        </p:spPr>
        <p:txBody>
          <a:bodyPr wrap="square" lIns="27432" rIns="27432" tIns="18288" bIns="18288" anchor="t">
            <a:spAutoFit/>
          </a:bodyPr>
          <a:lstStyle/>
          <a:p>
            <a:pPr algn="l">
              <a:spcAft>
                <a:spcPts val="0"/>
              </a:spcAft>
            </a:pPr>
            <a:r>
              <a:rPr sz="4000" b="1" i="0">
                <a:solidFill>
                  <a:srgbClr val="0E2268"/>
                </a:solidFill>
                <a:latin typeface="Arial"/>
              </a:rPr>
              <a:t>4–11×</a:t>
            </a:r>
          </a:p>
        </p:txBody>
      </p:sp>
      <p:sp>
        <p:nvSpPr>
          <p:cNvPr id="10" name="TextBox 9"/>
          <p:cNvSpPr txBox="1"/>
          <p:nvPr/>
        </p:nvSpPr>
        <p:spPr>
          <a:xfrm>
            <a:off x="8412480" y="5330952"/>
            <a:ext cx="320040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smaller error
than the TW block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6</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Final EO bandwidth schematic</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Any number of bends: the same five blocks</a:t>
            </a:r>
          </a:p>
        </p:txBody>
      </p:sp>
      <p:sp>
        <p:nvSpPr>
          <p:cNvPr id="5" name="Rounded Rectangle 4"/>
          <p:cNvSpPr/>
          <p:nvPr/>
        </p:nvSpPr>
        <p:spPr>
          <a:xfrm>
            <a:off x="4160520" y="3675887"/>
            <a:ext cx="86868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CW laser</a:t>
            </a:r>
          </a:p>
        </p:txBody>
      </p:sp>
      <p:sp>
        <p:nvSpPr>
          <p:cNvPr id="6" name="Rounded Rectangle 5"/>
          <p:cNvSpPr/>
          <p:nvPr/>
        </p:nvSpPr>
        <p:spPr>
          <a:xfrm>
            <a:off x="5257800" y="367588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cxnSp>
        <p:nvCxnSpPr>
          <p:cNvPr id="7" name="Connector 6"/>
          <p:cNvCxnSpPr/>
          <p:nvPr/>
        </p:nvCxnSpPr>
        <p:spPr>
          <a:xfrm>
            <a:off x="5029200" y="39319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760720" y="393192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943600" y="30175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43600" y="301752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26479" y="278892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cxnSp>
        <p:nvCxnSpPr>
          <p:cNvPr id="12" name="Connector 11"/>
          <p:cNvCxnSpPr/>
          <p:nvPr/>
        </p:nvCxnSpPr>
        <p:spPr>
          <a:xfrm>
            <a:off x="5760720" y="393192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0" y="39319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484632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79" y="461772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6" name="Rounded Rectangle 15"/>
          <p:cNvSpPr/>
          <p:nvPr/>
        </p:nvSpPr>
        <p:spPr>
          <a:xfrm>
            <a:off x="7178040" y="4617720"/>
            <a:ext cx="68580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bias φ</a:t>
            </a:r>
          </a:p>
        </p:txBody>
      </p:sp>
      <p:cxnSp>
        <p:nvCxnSpPr>
          <p:cNvPr id="17" name="Connector 16"/>
          <p:cNvCxnSpPr/>
          <p:nvPr/>
        </p:nvCxnSpPr>
        <p:spPr>
          <a:xfrm>
            <a:off x="6949440" y="48463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49440" y="3017520"/>
            <a:ext cx="10058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55280" y="30175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55280" y="3931920"/>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63840" y="4846320"/>
            <a:ext cx="914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955280" y="39319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38160" y="367588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sp>
        <p:nvSpPr>
          <p:cNvPr id="24" name="Rounded Rectangle 23"/>
          <p:cNvSpPr/>
          <p:nvPr/>
        </p:nvSpPr>
        <p:spPr>
          <a:xfrm>
            <a:off x="8869680" y="3675887"/>
            <a:ext cx="77724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detector</a:t>
            </a:r>
          </a:p>
        </p:txBody>
      </p:sp>
      <p:cxnSp>
        <p:nvCxnSpPr>
          <p:cNvPr id="25" name="Connector 24"/>
          <p:cNvCxnSpPr/>
          <p:nvPr/>
        </p:nvCxnSpPr>
        <p:spPr>
          <a:xfrm>
            <a:off x="8641080" y="39319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921240" y="3602736"/>
            <a:ext cx="960120" cy="658368"/>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Network analyser</a:t>
            </a:r>
          </a:p>
        </p:txBody>
      </p:sp>
      <p:cxnSp>
        <p:nvCxnSpPr>
          <p:cNvPr id="27" name="Connector 26"/>
          <p:cNvCxnSpPr/>
          <p:nvPr/>
        </p:nvCxnSpPr>
        <p:spPr>
          <a:xfrm>
            <a:off x="9646920" y="3931920"/>
            <a:ext cx="27432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 y="2423160"/>
            <a:ext cx="3154680" cy="3017520"/>
          </a:xfrm>
          <a:prstGeom prst="roundRect">
            <a:avLst>
              <a:gd name="adj" fmla="val 5000"/>
            </a:avLst>
          </a:prstGeom>
          <a:solidFill>
            <a:srgbClr val="E8EBF5"/>
          </a:solidFill>
          <a:ln w="19050">
            <a:solidFill>
              <a:srgbClr val="0E22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2450591"/>
            <a:ext cx="3008376" cy="274320"/>
          </a:xfrm>
          <a:prstGeom prst="rect">
            <a:avLst/>
          </a:prstGeom>
          <a:noFill/>
        </p:spPr>
        <p:txBody>
          <a:bodyPr wrap="square" lIns="27432" rIns="27432" tIns="18288" bIns="18288" anchor="t">
            <a:spAutoFit/>
          </a:bodyPr>
          <a:lstStyle/>
          <a:p>
            <a:pPr algn="l">
              <a:spcAft>
                <a:spcPts val="400"/>
              </a:spcAft>
            </a:pPr>
            <a:r>
              <a:rPr sz="1100" b="1" i="0">
                <a:solidFill>
                  <a:srgbClr val="0E2268"/>
                </a:solidFill>
                <a:latin typeface="Arial"/>
              </a:rPr>
              <a:t>Compound</a:t>
            </a:r>
          </a:p>
        </p:txBody>
      </p:sp>
      <p:sp>
        <p:nvSpPr>
          <p:cNvPr id="30" name="Rounded Rectangle 29"/>
          <p:cNvSpPr/>
          <p:nvPr/>
        </p:nvSpPr>
        <p:spPr>
          <a:xfrm>
            <a:off x="685800" y="278892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source</a:t>
            </a:r>
          </a:p>
        </p:txBody>
      </p:sp>
      <p:sp>
        <p:nvSpPr>
          <p:cNvPr id="31" name="Rounded Rectangle 30"/>
          <p:cNvSpPr/>
          <p:nvPr/>
        </p:nvSpPr>
        <p:spPr>
          <a:xfrm>
            <a:off x="685800" y="3611880"/>
            <a:ext cx="2743200" cy="68580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TL electrode</a:t>
            </a:r>
          </a:p>
          <a:p>
            <a:pPr algn="ctr"/>
            <a:r>
              <a:rPr sz="900" b="0" i="0">
                <a:solidFill>
                  <a:srgbClr val="FFFFFF"/>
                </a:solidFill>
                <a:latin typeface="Arial"/>
              </a:rPr>
              <a:t>sections + bends</a:t>
            </a:r>
          </a:p>
        </p:txBody>
      </p:sp>
      <p:sp>
        <p:nvSpPr>
          <p:cNvPr id="32" name="Rounded Rectangle 31"/>
          <p:cNvSpPr/>
          <p:nvPr/>
        </p:nvSpPr>
        <p:spPr>
          <a:xfrm>
            <a:off x="2514600" y="278892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termin.</a:t>
            </a:r>
          </a:p>
        </p:txBody>
      </p:sp>
      <p:cxnSp>
        <p:nvCxnSpPr>
          <p:cNvPr id="33" name="Connector 32"/>
          <p:cNvCxnSpPr/>
          <p:nvPr/>
        </p:nvCxnSpPr>
        <p:spPr>
          <a:xfrm>
            <a:off x="1143000" y="3337560"/>
            <a:ext cx="0" cy="27432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71800" y="3337560"/>
            <a:ext cx="0" cy="27432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29000" y="3767328"/>
            <a:ext cx="5029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931920" y="2743200"/>
            <a:ext cx="0" cy="1024128"/>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931920" y="2743200"/>
            <a:ext cx="2606039"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37959" y="2743200"/>
            <a:ext cx="0" cy="4572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429000" y="4160520"/>
            <a:ext cx="5029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31920" y="4160520"/>
            <a:ext cx="0" cy="10972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931920" y="5257800"/>
            <a:ext cx="2606039"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537959" y="5074920"/>
            <a:ext cx="0" cy="18288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663440" y="2468880"/>
            <a:ext cx="914400" cy="274320"/>
          </a:xfrm>
          <a:prstGeom prst="rect">
            <a:avLst/>
          </a:prstGeom>
          <a:noFill/>
        </p:spPr>
        <p:txBody>
          <a:bodyPr wrap="square" lIns="27432" rIns="27432" tIns="18288" bIns="18288" anchor="t">
            <a:spAutoFit/>
          </a:bodyPr>
          <a:lstStyle/>
          <a:p>
            <a:pPr algn="ctr">
              <a:spcAft>
                <a:spcPts val="0"/>
              </a:spcAft>
            </a:pPr>
            <a:r>
              <a:rPr sz="1000" b="0" i="0">
                <a:solidFill>
                  <a:srgbClr val="E07B39"/>
                </a:solidFill>
                <a:latin typeface="Arial"/>
              </a:rPr>
              <a:t>arm 1</a:t>
            </a:r>
          </a:p>
        </p:txBody>
      </p:sp>
      <p:sp>
        <p:nvSpPr>
          <p:cNvPr id="44" name="TextBox 43"/>
          <p:cNvSpPr txBox="1"/>
          <p:nvPr/>
        </p:nvSpPr>
        <p:spPr>
          <a:xfrm>
            <a:off x="4663440" y="5303520"/>
            <a:ext cx="914400" cy="274320"/>
          </a:xfrm>
          <a:prstGeom prst="rect">
            <a:avLst/>
          </a:prstGeom>
          <a:noFill/>
        </p:spPr>
        <p:txBody>
          <a:bodyPr wrap="square" lIns="27432" rIns="27432" tIns="18288" bIns="18288" anchor="t">
            <a:spAutoFit/>
          </a:bodyPr>
          <a:lstStyle/>
          <a:p>
            <a:pPr algn="ctr">
              <a:spcAft>
                <a:spcPts val="0"/>
              </a:spcAft>
            </a:pPr>
            <a:r>
              <a:rPr sz="1000" b="0" i="0">
                <a:solidFill>
                  <a:srgbClr val="E07B39"/>
                </a:solidFill>
                <a:latin typeface="Arial"/>
              </a:rPr>
              <a:t>arm 2</a:t>
            </a:r>
          </a:p>
        </p:txBody>
      </p:sp>
      <p:cxnSp>
        <p:nvCxnSpPr>
          <p:cNvPr id="45" name="Connector 44"/>
          <p:cNvCxnSpPr/>
          <p:nvPr/>
        </p:nvCxnSpPr>
        <p:spPr>
          <a:xfrm flipV="1">
            <a:off x="10195560" y="1737360"/>
            <a:ext cx="0" cy="1865376"/>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74320" y="1737360"/>
            <a:ext cx="992124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4320" y="1737360"/>
            <a:ext cx="0" cy="13258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4320" y="3063240"/>
            <a:ext cx="41148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057400" y="4297680"/>
            <a:ext cx="0" cy="15544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57400" y="5852160"/>
            <a:ext cx="854964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607040" y="4261104"/>
            <a:ext cx="0" cy="1591056"/>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486400" y="1481328"/>
            <a:ext cx="9144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drive</a:t>
            </a:r>
          </a:p>
        </p:txBody>
      </p:sp>
      <p:sp>
        <p:nvSpPr>
          <p:cNvPr id="53" name="TextBox 52"/>
          <p:cNvSpPr txBox="1"/>
          <p:nvPr/>
        </p:nvSpPr>
        <p:spPr>
          <a:xfrm>
            <a:off x="5120640" y="5870448"/>
            <a:ext cx="3657600" cy="274320"/>
          </a:xfrm>
          <a:prstGeom prst="rect">
            <a:avLst/>
          </a:prstGeom>
          <a:noFill/>
        </p:spPr>
        <p:txBody>
          <a:bodyPr wrap="square" lIns="27432" rIns="27432" tIns="18288" bIns="18288" anchor="t">
            <a:spAutoFit/>
          </a:bodyPr>
          <a:lstStyle/>
          <a:p>
            <a:pPr algn="ctr">
              <a:spcAft>
                <a:spcPts val="0"/>
              </a:spcAft>
            </a:pPr>
            <a:r>
              <a:rPr sz="1000" b="0" i="0">
                <a:solidFill>
                  <a:srgbClr val="E07B39"/>
                </a:solidFill>
                <a:latin typeface="Arial"/>
              </a:rPr>
              <a:t>far-end voltage → analyser input 2</a:t>
            </a:r>
          </a:p>
        </p:txBody>
      </p:sp>
      <p:sp>
        <p:nvSpPr>
          <p:cNvPr id="54" name="TextBox 53"/>
          <p:cNvSpPr txBox="1"/>
          <p:nvPr/>
        </p:nvSpPr>
        <p:spPr>
          <a:xfrm>
            <a:off x="8503920" y="4526280"/>
            <a:ext cx="2743200" cy="731520"/>
          </a:xfrm>
          <a:prstGeom prst="rect">
            <a:avLst/>
          </a:prstGeom>
          <a:noFill/>
        </p:spPr>
        <p:txBody>
          <a:bodyPr wrap="square" lIns="27432" rIns="27432" tIns="18288" bIns="18288" anchor="t">
            <a:spAutoFit/>
          </a:bodyPr>
          <a:lstStyle/>
          <a:p>
            <a:pPr algn="l">
              <a:spcAft>
                <a:spcPts val="0"/>
              </a:spcAft>
            </a:pPr>
            <a:r>
              <a:rPr sz="4000" b="1" i="0">
                <a:solidFill>
                  <a:srgbClr val="0E2268"/>
                </a:solidFill>
                <a:latin typeface="Arial"/>
              </a:rPr>
              <a:t>5 blocks</a:t>
            </a:r>
          </a:p>
        </p:txBody>
      </p:sp>
      <p:sp>
        <p:nvSpPr>
          <p:cNvPr id="55" name="TextBox 54"/>
          <p:cNvSpPr txBox="1"/>
          <p:nvPr/>
        </p:nvSpPr>
        <p:spPr>
          <a:xfrm>
            <a:off x="8503920" y="5239512"/>
            <a:ext cx="2743200" cy="457200"/>
          </a:xfrm>
          <a:prstGeom prst="rect">
            <a:avLst/>
          </a:prstGeom>
          <a:noFill/>
        </p:spPr>
        <p:txBody>
          <a:bodyPr wrap="square" lIns="27432" rIns="27432" tIns="18288" bIns="18288" anchor="t">
            <a:spAutoFit/>
          </a:bodyPr>
          <a:lstStyle/>
          <a:p>
            <a:pPr algn="l">
              <a:spcAft>
                <a:spcPts val="0"/>
              </a:spcAft>
            </a:pPr>
            <a:r>
              <a:rPr sz="1100" b="0" i="0">
                <a:solidFill>
                  <a:srgbClr val="5A606E"/>
                </a:solidFill>
                <a:latin typeface="Arial"/>
              </a:rPr>
              <a:t>electrode path, any N
(TW + files, N = 4: 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6</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EO bandwidth with bends: validation</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INTERCONNECT (TL electrode) vs Python, 1 to 4 bends</a:t>
            </a:r>
          </a:p>
        </p:txBody>
      </p:sp>
      <p:pic>
        <p:nvPicPr>
          <p:cNvPr id="5" name="Picture 4" descr="final_eo.png"/>
          <p:cNvPicPr>
            <a:picLocks noChangeAspect="1"/>
          </p:cNvPicPr>
          <p:nvPr/>
        </p:nvPicPr>
        <p:blipFill>
          <a:blip r:embed="rId2"/>
          <a:stretch>
            <a:fillRect/>
          </a:stretch>
        </p:blipFill>
        <p:spPr>
          <a:xfrm>
            <a:off x="1188720" y="1371600"/>
            <a:ext cx="9692640" cy="3080034"/>
          </a:xfrm>
          <a:prstGeom prst="rect">
            <a:avLst/>
          </a:prstGeom>
        </p:spPr>
      </p:pic>
      <p:pic>
        <p:nvPicPr>
          <p:cNvPr id="6" name="Picture 5" descr="far_end_bends.png"/>
          <p:cNvPicPr>
            <a:picLocks noChangeAspect="1"/>
          </p:cNvPicPr>
          <p:nvPr/>
        </p:nvPicPr>
        <p:blipFill>
          <a:blip r:embed="rId3"/>
          <a:stretch>
            <a:fillRect/>
          </a:stretch>
        </p:blipFill>
        <p:spPr>
          <a:xfrm>
            <a:off x="548640" y="4543073"/>
            <a:ext cx="2891286" cy="2086326"/>
          </a:xfrm>
          <a:prstGeom prst="rect">
            <a:avLst/>
          </a:prstGeom>
        </p:spPr>
      </p:pic>
      <p:graphicFrame>
        <p:nvGraphicFramePr>
          <p:cNvPr id="7" name="Table 6"/>
          <p:cNvGraphicFramePr>
            <a:graphicFrameLocks noGrp="1"/>
          </p:cNvGraphicFramePr>
          <p:nvPr/>
        </p:nvGraphicFramePr>
        <p:xfrm>
          <a:off x="4572000" y="4588793"/>
          <a:ext cx="4023359" cy="2040606"/>
        </p:xfrm>
        <a:graphic>
          <a:graphicData uri="http://schemas.openxmlformats.org/drawingml/2006/table">
            <a:tbl>
              <a:tblPr firstRow="0" bandRow="0"/>
              <a:tblGrid>
                <a:gridCol w="635267"/>
                <a:gridCol w="1482290"/>
                <a:gridCol w="1905802"/>
              </a:tblGrid>
              <a:tr h="340101">
                <a:tc>
                  <a:txBody>
                    <a:bodyPr wrap="square"/>
                    <a:lstStyle/>
                    <a:p>
                      <a:pPr algn="l"/>
                      <a:r>
                        <a:rPr sz="1100" b="1" i="0">
                          <a:solidFill>
                            <a:srgbClr val="FFFFFF"/>
                          </a:solidFill>
                          <a:latin typeface="Arial"/>
                        </a:rPr>
                        <a:t>N</a:t>
                      </a:r>
                    </a:p>
                  </a:txBody>
                  <a:tcPr marL="54864" marR="54864" marT="18288" marB="18288" anchor="ctr">
                    <a:solidFill>
                      <a:srgbClr val="0E2268"/>
                    </a:solidFill>
                  </a:tcPr>
                </a:tc>
                <a:tc>
                  <a:txBody>
                    <a:bodyPr wrap="square"/>
                    <a:lstStyle/>
                    <a:p>
                      <a:pPr algn="ctr"/>
                      <a:r>
                        <a:rPr sz="1100" b="1" i="0">
                          <a:solidFill>
                            <a:srgbClr val="FFFFFF"/>
                          </a:solidFill>
                          <a:latin typeface="Arial"/>
                        </a:rPr>
                        <a:t>Python BW</a:t>
                      </a:r>
                    </a:p>
                  </a:txBody>
                  <a:tcPr marL="54864" marR="54864" marT="18288" marB="18288" anchor="ctr">
                    <a:solidFill>
                      <a:srgbClr val="0E2268"/>
                    </a:solidFill>
                  </a:tcPr>
                </a:tc>
                <a:tc>
                  <a:txBody>
                    <a:bodyPr wrap="square"/>
                    <a:lstStyle/>
                    <a:p>
                      <a:pPr algn="ctr"/>
                      <a:r>
                        <a:rPr sz="1100" b="1" i="0">
                          <a:solidFill>
                            <a:srgbClr val="FFFFFF"/>
                          </a:solidFill>
                          <a:latin typeface="Arial"/>
                        </a:rPr>
                        <a:t>INTERCONNECT BW</a:t>
                      </a:r>
                    </a:p>
                  </a:txBody>
                  <a:tcPr marL="54864" marR="54864" marT="18288" marB="18288" anchor="ctr">
                    <a:solidFill>
                      <a:srgbClr val="0E2268"/>
                    </a:solidFill>
                  </a:tcPr>
                </a:tc>
              </a:tr>
              <a:tr h="340101">
                <a:tc>
                  <a:txBody>
                    <a:bodyPr wrap="square"/>
                    <a:lstStyle/>
                    <a:p>
                      <a:pPr algn="l"/>
                      <a:r>
                        <a:rPr sz="1100" b="1" i="0">
                          <a:solidFill>
                            <a:srgbClr val="1A1A1A"/>
                          </a:solidFill>
                          <a:latin typeface="Arial"/>
                        </a:rPr>
                        <a:t>0</a:t>
                      </a:r>
                    </a:p>
                  </a:txBody>
                  <a:tcPr marL="54864" marR="54864" marT="18288" marB="18288" anchor="ctr">
                    <a:solidFill>
                      <a:srgbClr val="F1F3F8"/>
                    </a:solidFill>
                  </a:tcPr>
                </a:tc>
                <a:tc>
                  <a:txBody>
                    <a:bodyPr wrap="square"/>
                    <a:lstStyle/>
                    <a:p>
                      <a:pPr algn="ctr"/>
                      <a:r>
                        <a:rPr sz="1100" b="0" i="0">
                          <a:solidFill>
                            <a:srgbClr val="1A1A1A"/>
                          </a:solidFill>
                          <a:latin typeface="Arial"/>
                        </a:rPr>
                        <a:t>94.1 GHz</a:t>
                      </a:r>
                    </a:p>
                  </a:txBody>
                  <a:tcPr marL="54864" marR="54864" marT="18288" marB="18288" anchor="ctr">
                    <a:solidFill>
                      <a:srgbClr val="F1F3F8"/>
                    </a:solidFill>
                  </a:tcPr>
                </a:tc>
                <a:tc>
                  <a:txBody>
                    <a:bodyPr wrap="square"/>
                    <a:lstStyle/>
                    <a:p>
                      <a:pPr algn="ctr"/>
                      <a:r>
                        <a:rPr sz="1100" b="0" i="0">
                          <a:solidFill>
                            <a:srgbClr val="1A1A1A"/>
                          </a:solidFill>
                          <a:latin typeface="Arial"/>
                        </a:rPr>
                        <a:t>run pending</a:t>
                      </a:r>
                    </a:p>
                  </a:txBody>
                  <a:tcPr marL="54864" marR="54864" marT="18288" marB="18288" anchor="ctr">
                    <a:solidFill>
                      <a:srgbClr val="F1F3F8"/>
                    </a:solidFill>
                  </a:tcPr>
                </a:tc>
              </a:tr>
              <a:tr h="340101">
                <a:tc>
                  <a:txBody>
                    <a:bodyPr wrap="square"/>
                    <a:lstStyle/>
                    <a:p>
                      <a:pPr algn="l"/>
                      <a:r>
                        <a:rPr sz="1100" b="1" i="0">
                          <a:solidFill>
                            <a:srgbClr val="1A1A1A"/>
                          </a:solidFill>
                          <a:latin typeface="Arial"/>
                        </a:rPr>
                        <a:t>1</a:t>
                      </a:r>
                    </a:p>
                  </a:txBody>
                  <a:tcPr marL="54864" marR="54864" marT="18288" marB="18288" anchor="ctr">
                    <a:solidFill>
                      <a:srgbClr val="FFFFFF"/>
                    </a:solidFill>
                  </a:tcPr>
                </a:tc>
                <a:tc>
                  <a:txBody>
                    <a:bodyPr wrap="square"/>
                    <a:lstStyle/>
                    <a:p>
                      <a:pPr algn="ctr"/>
                      <a:r>
                        <a:rPr sz="1100" b="0" i="0">
                          <a:solidFill>
                            <a:srgbClr val="1A1A1A"/>
                          </a:solidFill>
                          <a:latin typeface="Arial"/>
                        </a:rPr>
                        <a:t>88.8 GHz</a:t>
                      </a:r>
                    </a:p>
                  </a:txBody>
                  <a:tcPr marL="54864" marR="54864" marT="18288" marB="18288" anchor="ctr">
                    <a:solidFill>
                      <a:srgbClr val="FFFFFF"/>
                    </a:solidFill>
                  </a:tcPr>
                </a:tc>
                <a:tc>
                  <a:txBody>
                    <a:bodyPr wrap="square"/>
                    <a:lstStyle/>
                    <a:p>
                      <a:pPr algn="ctr"/>
                      <a:r>
                        <a:rPr sz="1100" b="0" i="0">
                          <a:solidFill>
                            <a:srgbClr val="1A1A1A"/>
                          </a:solidFill>
                          <a:latin typeface="Arial"/>
                        </a:rPr>
                        <a:t>run pending</a:t>
                      </a:r>
                    </a:p>
                  </a:txBody>
                  <a:tcPr marL="54864" marR="54864" marT="18288" marB="18288" anchor="ctr">
                    <a:solidFill>
                      <a:srgbClr val="FFFFFF"/>
                    </a:solidFill>
                  </a:tcPr>
                </a:tc>
              </a:tr>
              <a:tr h="340101">
                <a:tc>
                  <a:txBody>
                    <a:bodyPr wrap="square"/>
                    <a:lstStyle/>
                    <a:p>
                      <a:pPr algn="l"/>
                      <a:r>
                        <a:rPr sz="1100" b="1" i="0">
                          <a:solidFill>
                            <a:srgbClr val="1A1A1A"/>
                          </a:solidFill>
                          <a:latin typeface="Arial"/>
                        </a:rPr>
                        <a:t>2</a:t>
                      </a:r>
                    </a:p>
                  </a:txBody>
                  <a:tcPr marL="54864" marR="54864" marT="18288" marB="18288" anchor="ctr">
                    <a:solidFill>
                      <a:srgbClr val="F1F3F8"/>
                    </a:solidFill>
                  </a:tcPr>
                </a:tc>
                <a:tc>
                  <a:txBody>
                    <a:bodyPr wrap="square"/>
                    <a:lstStyle/>
                    <a:p>
                      <a:pPr algn="ctr"/>
                      <a:r>
                        <a:rPr sz="1100" b="0" i="0">
                          <a:solidFill>
                            <a:srgbClr val="1A1A1A"/>
                          </a:solidFill>
                          <a:latin typeface="Arial"/>
                        </a:rPr>
                        <a:t>83.3 GHz</a:t>
                      </a:r>
                    </a:p>
                  </a:txBody>
                  <a:tcPr marL="54864" marR="54864" marT="18288" marB="18288" anchor="ctr">
                    <a:solidFill>
                      <a:srgbClr val="F1F3F8"/>
                    </a:solidFill>
                  </a:tcPr>
                </a:tc>
                <a:tc>
                  <a:txBody>
                    <a:bodyPr wrap="square"/>
                    <a:lstStyle/>
                    <a:p>
                      <a:pPr algn="ctr"/>
                      <a:r>
                        <a:rPr sz="1100" b="0" i="0">
                          <a:solidFill>
                            <a:srgbClr val="1A1A1A"/>
                          </a:solidFill>
                          <a:latin typeface="Arial"/>
                        </a:rPr>
                        <a:t>run pending</a:t>
                      </a:r>
                    </a:p>
                  </a:txBody>
                  <a:tcPr marL="54864" marR="54864" marT="18288" marB="18288" anchor="ctr">
                    <a:solidFill>
                      <a:srgbClr val="F1F3F8"/>
                    </a:solidFill>
                  </a:tcPr>
                </a:tc>
              </a:tr>
              <a:tr h="340101">
                <a:tc>
                  <a:txBody>
                    <a:bodyPr wrap="square"/>
                    <a:lstStyle/>
                    <a:p>
                      <a:pPr algn="l"/>
                      <a:r>
                        <a:rPr sz="1100" b="1" i="0">
                          <a:solidFill>
                            <a:srgbClr val="1A1A1A"/>
                          </a:solidFill>
                          <a:latin typeface="Arial"/>
                        </a:rPr>
                        <a:t>3</a:t>
                      </a:r>
                    </a:p>
                  </a:txBody>
                  <a:tcPr marL="54864" marR="54864" marT="18288" marB="18288" anchor="ctr">
                    <a:solidFill>
                      <a:srgbClr val="FFFFFF"/>
                    </a:solidFill>
                  </a:tcPr>
                </a:tc>
                <a:tc>
                  <a:txBody>
                    <a:bodyPr wrap="square"/>
                    <a:lstStyle/>
                    <a:p>
                      <a:pPr algn="ctr"/>
                      <a:r>
                        <a:rPr sz="1100" b="0" i="0">
                          <a:solidFill>
                            <a:srgbClr val="1A1A1A"/>
                          </a:solidFill>
                          <a:latin typeface="Arial"/>
                        </a:rPr>
                        <a:t>77.6 GHz</a:t>
                      </a:r>
                    </a:p>
                  </a:txBody>
                  <a:tcPr marL="54864" marR="54864" marT="18288" marB="18288" anchor="ctr">
                    <a:solidFill>
                      <a:srgbClr val="FFFFFF"/>
                    </a:solidFill>
                  </a:tcPr>
                </a:tc>
                <a:tc>
                  <a:txBody>
                    <a:bodyPr wrap="square"/>
                    <a:lstStyle/>
                    <a:p>
                      <a:pPr algn="ctr"/>
                      <a:r>
                        <a:rPr sz="1100" b="0" i="0">
                          <a:solidFill>
                            <a:srgbClr val="1A1A1A"/>
                          </a:solidFill>
                          <a:latin typeface="Arial"/>
                        </a:rPr>
                        <a:t>run pending</a:t>
                      </a:r>
                    </a:p>
                  </a:txBody>
                  <a:tcPr marL="54864" marR="54864" marT="18288" marB="18288" anchor="ctr">
                    <a:solidFill>
                      <a:srgbClr val="FFFFFF"/>
                    </a:solidFill>
                  </a:tcPr>
                </a:tc>
              </a:tr>
              <a:tr h="340101">
                <a:tc>
                  <a:txBody>
                    <a:bodyPr wrap="square"/>
                    <a:lstStyle/>
                    <a:p>
                      <a:pPr algn="l"/>
                      <a:r>
                        <a:rPr sz="1100" b="1" i="0">
                          <a:solidFill>
                            <a:srgbClr val="1A1A1A"/>
                          </a:solidFill>
                          <a:latin typeface="Arial"/>
                        </a:rPr>
                        <a:t>4</a:t>
                      </a:r>
                    </a:p>
                  </a:txBody>
                  <a:tcPr marL="54864" marR="54864" marT="18288" marB="18288" anchor="ctr">
                    <a:solidFill>
                      <a:srgbClr val="F1F3F8"/>
                    </a:solidFill>
                  </a:tcPr>
                </a:tc>
                <a:tc>
                  <a:txBody>
                    <a:bodyPr wrap="square"/>
                    <a:lstStyle/>
                    <a:p>
                      <a:pPr algn="ctr"/>
                      <a:r>
                        <a:rPr sz="1100" b="0" i="0">
                          <a:solidFill>
                            <a:srgbClr val="1A1A1A"/>
                          </a:solidFill>
                          <a:latin typeface="Arial"/>
                        </a:rPr>
                        <a:t>73.0 GHz</a:t>
                      </a:r>
                    </a:p>
                  </a:txBody>
                  <a:tcPr marL="54864" marR="54864" marT="18288" marB="18288" anchor="ctr">
                    <a:solidFill>
                      <a:srgbClr val="F1F3F8"/>
                    </a:solidFill>
                  </a:tcPr>
                </a:tc>
                <a:tc>
                  <a:txBody>
                    <a:bodyPr wrap="square"/>
                    <a:lstStyle/>
                    <a:p>
                      <a:pPr algn="ctr"/>
                      <a:r>
                        <a:rPr sz="1100" b="0" i="0">
                          <a:solidFill>
                            <a:srgbClr val="1A1A1A"/>
                          </a:solidFill>
                          <a:latin typeface="Arial"/>
                        </a:rPr>
                        <a:t>run pending</a:t>
                      </a:r>
                    </a:p>
                  </a:txBody>
                  <a:tcPr marL="54864" marR="54864" marT="18288" marB="18288" anchor="ctr">
                    <a:solidFill>
                      <a:srgbClr val="F1F3F8"/>
                    </a:solidFill>
                  </a:tcPr>
                </a:tc>
              </a:tr>
            </a:tbl>
          </a:graphicData>
        </a:graphic>
      </p:graphicFrame>
      <p:sp>
        <p:nvSpPr>
          <p:cNvPr id="8" name="Rounded Rectangle 7"/>
          <p:cNvSpPr/>
          <p:nvPr/>
        </p:nvSpPr>
        <p:spPr>
          <a:xfrm>
            <a:off x="8915400" y="4572000"/>
            <a:ext cx="2834640" cy="1097280"/>
          </a:xfrm>
          <a:prstGeom prst="roundRect">
            <a:avLst>
              <a:gd name="adj" fmla="val 50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20013"/>
                </a:solidFill>
                <a:latin typeface="Arial"/>
              </a:rPr>
              <a:t>INTERCONNECT curves: run 'Step 1: bends 0-4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7</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Final eye diagram schematic</a:t>
            </a:r>
          </a:p>
        </p:txBody>
      </p:sp>
      <p:sp>
        <p:nvSpPr>
          <p:cNvPr id="4" name="Rounded Rectangle 3"/>
          <p:cNvSpPr/>
          <p:nvPr/>
        </p:nvSpPr>
        <p:spPr>
          <a:xfrm>
            <a:off x="4160520" y="3675887"/>
            <a:ext cx="86868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CW laser</a:t>
            </a:r>
          </a:p>
        </p:txBody>
      </p:sp>
      <p:sp>
        <p:nvSpPr>
          <p:cNvPr id="5" name="Rounded Rectangle 4"/>
          <p:cNvSpPr/>
          <p:nvPr/>
        </p:nvSpPr>
        <p:spPr>
          <a:xfrm>
            <a:off x="5257800" y="367588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cxnSp>
        <p:nvCxnSpPr>
          <p:cNvPr id="6" name="Connector 5"/>
          <p:cNvCxnSpPr/>
          <p:nvPr/>
        </p:nvCxnSpPr>
        <p:spPr>
          <a:xfrm>
            <a:off x="5029200" y="39319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760720" y="393192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943600" y="30175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43600" y="301752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26479" y="278892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cxnSp>
        <p:nvCxnSpPr>
          <p:cNvPr id="11" name="Connector 10"/>
          <p:cNvCxnSpPr/>
          <p:nvPr/>
        </p:nvCxnSpPr>
        <p:spPr>
          <a:xfrm>
            <a:off x="5760720" y="3931920"/>
            <a:ext cx="18288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43600" y="39319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0" y="4846320"/>
            <a:ext cx="182879"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26479" y="4617720"/>
            <a:ext cx="82296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OM</a:t>
            </a:r>
          </a:p>
        </p:txBody>
      </p:sp>
      <p:sp>
        <p:nvSpPr>
          <p:cNvPr id="15" name="Rounded Rectangle 14"/>
          <p:cNvSpPr/>
          <p:nvPr/>
        </p:nvSpPr>
        <p:spPr>
          <a:xfrm>
            <a:off x="7178040" y="4617720"/>
            <a:ext cx="685800" cy="457200"/>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bias φ</a:t>
            </a:r>
          </a:p>
        </p:txBody>
      </p:sp>
      <p:cxnSp>
        <p:nvCxnSpPr>
          <p:cNvPr id="16" name="Connector 15"/>
          <p:cNvCxnSpPr/>
          <p:nvPr/>
        </p:nvCxnSpPr>
        <p:spPr>
          <a:xfrm>
            <a:off x="6949440" y="48463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49440" y="3017520"/>
            <a:ext cx="10058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55280" y="30175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55280" y="3931920"/>
            <a:ext cx="18288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863840" y="4846320"/>
            <a:ext cx="91440" cy="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955280" y="3931920"/>
            <a:ext cx="0" cy="914400"/>
          </a:xfrm>
          <a:prstGeom prst="line">
            <a:avLst/>
          </a:prstGeom>
          <a:ln w="25400">
            <a:solidFill>
              <a:srgbClr val="1C8C8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38160" y="3675887"/>
            <a:ext cx="50292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FFFFF"/>
                </a:solidFill>
                <a:latin typeface="Arial"/>
              </a:rPr>
              <a:t>Y</a:t>
            </a:r>
          </a:p>
        </p:txBody>
      </p:sp>
      <p:sp>
        <p:nvSpPr>
          <p:cNvPr id="23" name="Rounded Rectangle 22"/>
          <p:cNvSpPr/>
          <p:nvPr/>
        </p:nvSpPr>
        <p:spPr>
          <a:xfrm>
            <a:off x="8869680" y="3675887"/>
            <a:ext cx="777240" cy="512064"/>
          </a:xfrm>
          <a:prstGeom prst="roundRect">
            <a:avLst>
              <a:gd name="adj" fmla="val 14000"/>
            </a:avLst>
          </a:prstGeom>
          <a:solidFill>
            <a:srgbClr val="1C8C8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detector</a:t>
            </a:r>
          </a:p>
        </p:txBody>
      </p:sp>
      <p:cxnSp>
        <p:nvCxnSpPr>
          <p:cNvPr id="24" name="Connector 23"/>
          <p:cNvCxnSpPr/>
          <p:nvPr/>
        </p:nvCxnSpPr>
        <p:spPr>
          <a:xfrm>
            <a:off x="8641080" y="3931920"/>
            <a:ext cx="228600" cy="0"/>
          </a:xfrm>
          <a:prstGeom prst="line">
            <a:avLst/>
          </a:prstGeom>
          <a:ln w="25400">
            <a:solidFill>
              <a:srgbClr val="1C8C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921240" y="3602736"/>
            <a:ext cx="960120" cy="658368"/>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Eye analyser</a:t>
            </a:r>
          </a:p>
        </p:txBody>
      </p:sp>
      <p:cxnSp>
        <p:nvCxnSpPr>
          <p:cNvPr id="26" name="Connector 25"/>
          <p:cNvCxnSpPr/>
          <p:nvPr/>
        </p:nvCxnSpPr>
        <p:spPr>
          <a:xfrm>
            <a:off x="9646920" y="3931920"/>
            <a:ext cx="27432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2423160"/>
            <a:ext cx="3154680" cy="3017520"/>
          </a:xfrm>
          <a:prstGeom prst="roundRect">
            <a:avLst>
              <a:gd name="adj" fmla="val 5000"/>
            </a:avLst>
          </a:prstGeom>
          <a:solidFill>
            <a:srgbClr val="E8EBF5"/>
          </a:solidFill>
          <a:ln w="19050">
            <a:solidFill>
              <a:srgbClr val="0E22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 y="2450591"/>
            <a:ext cx="3008376" cy="274320"/>
          </a:xfrm>
          <a:prstGeom prst="rect">
            <a:avLst/>
          </a:prstGeom>
          <a:noFill/>
        </p:spPr>
        <p:txBody>
          <a:bodyPr wrap="square" lIns="27432" rIns="27432" tIns="18288" bIns="18288" anchor="t">
            <a:spAutoFit/>
          </a:bodyPr>
          <a:lstStyle/>
          <a:p>
            <a:pPr algn="l">
              <a:spcAft>
                <a:spcPts val="400"/>
              </a:spcAft>
            </a:pPr>
            <a:r>
              <a:rPr sz="1100" b="1" i="0">
                <a:solidFill>
                  <a:srgbClr val="0E2268"/>
                </a:solidFill>
                <a:latin typeface="Arial"/>
              </a:rPr>
              <a:t>Compound</a:t>
            </a:r>
          </a:p>
        </p:txBody>
      </p:sp>
      <p:sp>
        <p:nvSpPr>
          <p:cNvPr id="29" name="Rounded Rectangle 28"/>
          <p:cNvSpPr/>
          <p:nvPr/>
        </p:nvSpPr>
        <p:spPr>
          <a:xfrm>
            <a:off x="685800" y="278892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source</a:t>
            </a:r>
          </a:p>
        </p:txBody>
      </p:sp>
      <p:sp>
        <p:nvSpPr>
          <p:cNvPr id="30" name="Rounded Rectangle 29"/>
          <p:cNvSpPr/>
          <p:nvPr/>
        </p:nvSpPr>
        <p:spPr>
          <a:xfrm>
            <a:off x="685800" y="3611880"/>
            <a:ext cx="2743200" cy="685800"/>
          </a:xfrm>
          <a:prstGeom prst="roundRect">
            <a:avLst>
              <a:gd name="adj" fmla="val 14000"/>
            </a:avLst>
          </a:prstGeom>
          <a:solidFill>
            <a:srgbClr val="0E2268"/>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400" b="1" i="0">
                <a:solidFill>
                  <a:srgbClr val="FFFFFF"/>
                </a:solidFill>
                <a:latin typeface="Arial"/>
              </a:rPr>
              <a:t>TL electrode</a:t>
            </a:r>
          </a:p>
          <a:p>
            <a:pPr algn="ctr"/>
            <a:r>
              <a:rPr sz="900" b="0" i="0">
                <a:solidFill>
                  <a:srgbClr val="FFFFFF"/>
                </a:solidFill>
                <a:latin typeface="Arial"/>
              </a:rPr>
              <a:t>sections + bends</a:t>
            </a:r>
          </a:p>
        </p:txBody>
      </p:sp>
      <p:sp>
        <p:nvSpPr>
          <p:cNvPr id="31" name="Rounded Rectangle 30"/>
          <p:cNvSpPr/>
          <p:nvPr/>
        </p:nvSpPr>
        <p:spPr>
          <a:xfrm>
            <a:off x="2514600" y="2788920"/>
            <a:ext cx="914400" cy="54864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termin.</a:t>
            </a:r>
          </a:p>
        </p:txBody>
      </p:sp>
      <p:cxnSp>
        <p:nvCxnSpPr>
          <p:cNvPr id="32" name="Connector 31"/>
          <p:cNvCxnSpPr/>
          <p:nvPr/>
        </p:nvCxnSpPr>
        <p:spPr>
          <a:xfrm>
            <a:off x="1143000" y="3337560"/>
            <a:ext cx="0" cy="27432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1800" y="3337560"/>
            <a:ext cx="0" cy="274320"/>
          </a:xfrm>
          <a:prstGeom prst="line">
            <a:avLst/>
          </a:prstGeom>
          <a:ln w="25400">
            <a:solidFill>
              <a:srgbClr val="E07B3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29000" y="3767328"/>
            <a:ext cx="5029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31920" y="2743200"/>
            <a:ext cx="0" cy="1024128"/>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931920" y="2743200"/>
            <a:ext cx="2606039"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537959" y="2743200"/>
            <a:ext cx="0" cy="4572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429000" y="4160520"/>
            <a:ext cx="5029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931920" y="4160520"/>
            <a:ext cx="0" cy="10972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31920" y="5257800"/>
            <a:ext cx="2606039"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537959" y="5074920"/>
            <a:ext cx="0" cy="18288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02920" y="1417320"/>
            <a:ext cx="822960" cy="45720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PRBS</a:t>
            </a:r>
          </a:p>
        </p:txBody>
      </p:sp>
      <p:sp>
        <p:nvSpPr>
          <p:cNvPr id="43" name="Rounded Rectangle 42"/>
          <p:cNvSpPr/>
          <p:nvPr/>
        </p:nvSpPr>
        <p:spPr>
          <a:xfrm>
            <a:off x="1508760" y="1417320"/>
            <a:ext cx="822960" cy="457200"/>
          </a:xfrm>
          <a:prstGeom prst="roundRect">
            <a:avLst>
              <a:gd name="adj" fmla="val 14000"/>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000" b="1" i="0">
                <a:solidFill>
                  <a:srgbClr val="FFFFFF"/>
                </a:solidFill>
                <a:latin typeface="Arial"/>
              </a:rPr>
              <a:t>NRZ</a:t>
            </a:r>
          </a:p>
        </p:txBody>
      </p:sp>
      <p:cxnSp>
        <p:nvCxnSpPr>
          <p:cNvPr id="44" name="Connector 43"/>
          <p:cNvCxnSpPr/>
          <p:nvPr/>
        </p:nvCxnSpPr>
        <p:spPr>
          <a:xfrm>
            <a:off x="1325880" y="1645920"/>
            <a:ext cx="182880" cy="0"/>
          </a:xfrm>
          <a:prstGeom prst="line">
            <a:avLst/>
          </a:prstGeom>
          <a:ln w="25400">
            <a:solidFill>
              <a:srgbClr val="8A8F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920240" y="1874519"/>
            <a:ext cx="0" cy="320041"/>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74320" y="2194560"/>
            <a:ext cx="1645920" cy="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4320" y="2194560"/>
            <a:ext cx="0" cy="8686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4320" y="3063240"/>
            <a:ext cx="41148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331720" y="1645920"/>
            <a:ext cx="8065008" cy="0"/>
          </a:xfrm>
          <a:prstGeom prst="line">
            <a:avLst/>
          </a:prstGeom>
          <a:ln w="25400">
            <a:solidFill>
              <a:srgbClr val="8A8F9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396728" y="1645920"/>
            <a:ext cx="0" cy="1956816"/>
          </a:xfrm>
          <a:prstGeom prst="line">
            <a:avLst/>
          </a:prstGeom>
          <a:ln w="25400">
            <a:solidFill>
              <a:srgbClr val="8A8F9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715000" y="1371600"/>
            <a:ext cx="2286000" cy="274320"/>
          </a:xfrm>
          <a:prstGeom prst="rect">
            <a:avLst/>
          </a:prstGeom>
          <a:noFill/>
        </p:spPr>
        <p:txBody>
          <a:bodyPr wrap="square" lIns="27432" rIns="27432" tIns="18288" bIns="18288" anchor="t">
            <a:spAutoFit/>
          </a:bodyPr>
          <a:lstStyle/>
          <a:p>
            <a:pPr algn="ctr">
              <a:spcAft>
                <a:spcPts val="0"/>
              </a:spcAft>
            </a:pPr>
            <a:r>
              <a:rPr sz="1000" b="0" i="0">
                <a:solidFill>
                  <a:srgbClr val="5A606E"/>
                </a:solidFill>
                <a:latin typeface="Arial"/>
              </a:rPr>
              <a:t>timing reference</a:t>
            </a:r>
          </a:p>
        </p:txBody>
      </p:sp>
      <p:cxnSp>
        <p:nvCxnSpPr>
          <p:cNvPr id="52" name="Connector 51"/>
          <p:cNvCxnSpPr/>
          <p:nvPr/>
        </p:nvCxnSpPr>
        <p:spPr>
          <a:xfrm>
            <a:off x="2057400" y="4297680"/>
            <a:ext cx="0" cy="1554480"/>
          </a:xfrm>
          <a:prstGeom prst="line">
            <a:avLst/>
          </a:prstGeom>
          <a:ln w="25400">
            <a:solidFill>
              <a:srgbClr val="E07B3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057400" y="5852160"/>
            <a:ext cx="7772400" cy="0"/>
          </a:xfrm>
          <a:prstGeom prst="line">
            <a:avLst/>
          </a:prstGeom>
          <a:ln w="25400">
            <a:solidFill>
              <a:srgbClr val="E07B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9829800" y="5532120"/>
            <a:ext cx="1280160" cy="640080"/>
          </a:xfrm>
          <a:prstGeom prst="roundRect">
            <a:avLst>
              <a:gd name="adj" fmla="val 14000"/>
            </a:avLst>
          </a:prstGeom>
          <a:solidFill>
            <a:srgbClr val="8A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100" b="1" i="0">
                <a:solidFill>
                  <a:srgbClr val="FFFFFF"/>
                </a:solidFill>
                <a:latin typeface="Arial"/>
              </a:rPr>
              <a:t>Eye analyser 2</a:t>
            </a:r>
          </a:p>
        </p:txBody>
      </p:sp>
      <p:sp>
        <p:nvSpPr>
          <p:cNvPr id="55" name="TextBox 54"/>
          <p:cNvSpPr txBox="1"/>
          <p:nvPr/>
        </p:nvSpPr>
        <p:spPr>
          <a:xfrm>
            <a:off x="5120640" y="5870448"/>
            <a:ext cx="3657600" cy="274320"/>
          </a:xfrm>
          <a:prstGeom prst="rect">
            <a:avLst/>
          </a:prstGeom>
          <a:noFill/>
        </p:spPr>
        <p:txBody>
          <a:bodyPr wrap="square" lIns="27432" rIns="27432" tIns="18288" bIns="18288" anchor="t">
            <a:spAutoFit/>
          </a:bodyPr>
          <a:lstStyle/>
          <a:p>
            <a:pPr algn="ctr">
              <a:spcAft>
                <a:spcPts val="0"/>
              </a:spcAft>
            </a:pPr>
            <a:r>
              <a:rPr sz="1000" b="0" i="0">
                <a:solidFill>
                  <a:srgbClr val="E07B39"/>
                </a:solidFill>
                <a:latin typeface="Arial"/>
              </a:rPr>
              <a:t>voltage across the termination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566928" cy="566928"/>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i="0">
                <a:solidFill>
                  <a:srgbClr val="FFFFFF"/>
                </a:solidFill>
                <a:latin typeface="Arial"/>
              </a:rPr>
              <a:t>7</a:t>
            </a:r>
          </a:p>
        </p:txBody>
      </p:sp>
      <p:sp>
        <p:nvSpPr>
          <p:cNvPr id="3" name="TextBox 2"/>
          <p:cNvSpPr txBox="1"/>
          <p:nvPr/>
        </p:nvSpPr>
        <p:spPr>
          <a:xfrm>
            <a:off x="1188720" y="411480"/>
            <a:ext cx="896112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Eye with bends: INTERCONNECT vs Python</a:t>
            </a:r>
          </a:p>
        </p:txBody>
      </p:sp>
      <p:sp>
        <p:nvSpPr>
          <p:cNvPr id="4" name="TextBox 3"/>
          <p:cNvSpPr txBox="1"/>
          <p:nvPr/>
        </p:nvSpPr>
        <p:spPr>
          <a:xfrm>
            <a:off x="1216152" y="1005840"/>
            <a:ext cx="9418320" cy="365760"/>
          </a:xfrm>
          <a:prstGeom prst="rect">
            <a:avLst/>
          </a:prstGeom>
          <a:noFill/>
        </p:spPr>
        <p:txBody>
          <a:bodyPr wrap="square" lIns="27432" rIns="27432" tIns="18288" bIns="18288" anchor="t">
            <a:spAutoFit/>
          </a:bodyPr>
          <a:lstStyle/>
          <a:p>
            <a:pPr algn="l">
              <a:spcAft>
                <a:spcPts val="400"/>
              </a:spcAft>
            </a:pPr>
            <a:r>
              <a:rPr sz="1500" b="0" i="1">
                <a:solidFill>
                  <a:srgbClr val="5A606E"/>
                </a:solidFill>
                <a:latin typeface="Arial"/>
              </a:rPr>
              <a:t>100 Gb/s NRZ, 2 Vpp, noise off</a:t>
            </a:r>
          </a:p>
        </p:txBody>
      </p:sp>
      <p:pic>
        <p:nvPicPr>
          <p:cNvPr id="5" name="Picture 4" descr="final_eyes.png"/>
          <p:cNvPicPr>
            <a:picLocks noChangeAspect="1"/>
          </p:cNvPicPr>
          <p:nvPr/>
        </p:nvPicPr>
        <p:blipFill>
          <a:blip r:embed="rId2"/>
          <a:stretch>
            <a:fillRect/>
          </a:stretch>
        </p:blipFill>
        <p:spPr>
          <a:xfrm>
            <a:off x="822960" y="1463040"/>
            <a:ext cx="10515600" cy="2867891"/>
          </a:xfrm>
          <a:prstGeom prst="rect">
            <a:avLst/>
          </a:prstGeom>
        </p:spPr>
      </p:pic>
      <p:graphicFrame>
        <p:nvGraphicFramePr>
          <p:cNvPr id="6" name="Table 5"/>
          <p:cNvGraphicFramePr>
            <a:graphicFrameLocks noGrp="1"/>
          </p:cNvGraphicFramePr>
          <p:nvPr/>
        </p:nvGraphicFramePr>
        <p:xfrm>
          <a:off x="731520" y="4251960"/>
          <a:ext cx="7315196" cy="2194560"/>
        </p:xfrm>
        <a:graphic>
          <a:graphicData uri="http://schemas.openxmlformats.org/drawingml/2006/table">
            <a:tbl>
              <a:tblPr firstRow="0" bandRow="0"/>
              <a:tblGrid>
                <a:gridCol w="599606"/>
                <a:gridCol w="1918740"/>
                <a:gridCol w="1439055"/>
                <a:gridCol w="1918740"/>
                <a:gridCol w="1439055"/>
              </a:tblGrid>
              <a:tr h="365760">
                <a:tc>
                  <a:txBody>
                    <a:bodyPr wrap="square"/>
                    <a:lstStyle/>
                    <a:p>
                      <a:pPr algn="l"/>
                      <a:r>
                        <a:rPr sz="1150" b="1" i="0">
                          <a:solidFill>
                            <a:srgbClr val="FFFFFF"/>
                          </a:solidFill>
                          <a:latin typeface="Arial"/>
                        </a:rPr>
                        <a:t>N</a:t>
                      </a:r>
                    </a:p>
                  </a:txBody>
                  <a:tcPr marL="54864" marR="54864" marT="18288" marB="18288" anchor="ctr">
                    <a:solidFill>
                      <a:srgbClr val="0E2268"/>
                    </a:solidFill>
                  </a:tcPr>
                </a:tc>
                <a:tc>
                  <a:txBody>
                    <a:bodyPr wrap="square"/>
                    <a:lstStyle/>
                    <a:p>
                      <a:pPr algn="ctr"/>
                      <a:r>
                        <a:rPr sz="1150" b="1" i="0">
                          <a:solidFill>
                            <a:srgbClr val="FFFFFF"/>
                          </a:solidFill>
                          <a:latin typeface="Arial"/>
                        </a:rPr>
                        <a:t>eye height Python</a:t>
                      </a:r>
                    </a:p>
                  </a:txBody>
                  <a:tcPr marL="54864" marR="54864" marT="18288" marB="18288" anchor="ctr">
                    <a:solidFill>
                      <a:srgbClr val="0E2268"/>
                    </a:solidFill>
                  </a:tcPr>
                </a:tc>
                <a:tc>
                  <a:txBody>
                    <a:bodyPr wrap="square"/>
                    <a:lstStyle/>
                    <a:p>
                      <a:pPr algn="ctr"/>
                      <a:r>
                        <a:rPr sz="1150" b="1" i="0">
                          <a:solidFill>
                            <a:srgbClr val="FFFFFF"/>
                          </a:solidFill>
                          <a:latin typeface="Arial"/>
                        </a:rPr>
                        <a:t>ER Python</a:t>
                      </a:r>
                    </a:p>
                  </a:txBody>
                  <a:tcPr marL="54864" marR="54864" marT="18288" marB="18288" anchor="ctr">
                    <a:solidFill>
                      <a:srgbClr val="0E2268"/>
                    </a:solidFill>
                  </a:tcPr>
                </a:tc>
                <a:tc>
                  <a:txBody>
                    <a:bodyPr wrap="square"/>
                    <a:lstStyle/>
                    <a:p>
                      <a:pPr algn="ctr"/>
                      <a:r>
                        <a:rPr sz="1150" b="1" i="0">
                          <a:solidFill>
                            <a:srgbClr val="FFFFFF"/>
                          </a:solidFill>
                          <a:latin typeface="Arial"/>
                        </a:rPr>
                        <a:t>height IC / Python</a:t>
                      </a:r>
                    </a:p>
                  </a:txBody>
                  <a:tcPr marL="54864" marR="54864" marT="18288" marB="18288" anchor="ctr">
                    <a:solidFill>
                      <a:srgbClr val="0E2268"/>
                    </a:solidFill>
                  </a:tcPr>
                </a:tc>
                <a:tc>
                  <a:txBody>
                    <a:bodyPr wrap="square"/>
                    <a:lstStyle/>
                    <a:p>
                      <a:pPr algn="ctr"/>
                      <a:r>
                        <a:rPr sz="1150" b="1" i="0">
                          <a:solidFill>
                            <a:srgbClr val="FFFFFF"/>
                          </a:solidFill>
                          <a:latin typeface="Arial"/>
                        </a:rPr>
                        <a:t>ER IC</a:t>
                      </a:r>
                    </a:p>
                  </a:txBody>
                  <a:tcPr marL="54864" marR="54864" marT="18288" marB="18288" anchor="ctr">
                    <a:solidFill>
                      <a:srgbClr val="0E2268"/>
                    </a:solidFill>
                  </a:tcPr>
                </a:tc>
              </a:tr>
              <a:tr h="365760">
                <a:tc>
                  <a:txBody>
                    <a:bodyPr wrap="square"/>
                    <a:lstStyle/>
                    <a:p>
                      <a:pPr algn="l"/>
                      <a:r>
                        <a:rPr sz="1150" b="1" i="0">
                          <a:solidFill>
                            <a:srgbClr val="1A1A1A"/>
                          </a:solidFill>
                          <a:latin typeface="Arial"/>
                        </a:rPr>
                        <a:t>0</a:t>
                      </a:r>
                    </a:p>
                  </a:txBody>
                  <a:tcPr marL="54864" marR="54864" marT="18288" marB="18288" anchor="ctr">
                    <a:solidFill>
                      <a:srgbClr val="F1F3F8"/>
                    </a:solidFill>
                  </a:tcPr>
                </a:tc>
                <a:tc>
                  <a:txBody>
                    <a:bodyPr wrap="square"/>
                    <a:lstStyle/>
                    <a:p>
                      <a:pPr algn="ctr"/>
                      <a:r>
                        <a:rPr sz="1150" b="0" i="0">
                          <a:solidFill>
                            <a:srgbClr val="1A1A1A"/>
                          </a:solidFill>
                          <a:latin typeface="Arial"/>
                        </a:rPr>
                        <a:t>17.96 mA</a:t>
                      </a:r>
                    </a:p>
                  </a:txBody>
                  <a:tcPr marL="54864" marR="54864" marT="18288" marB="18288" anchor="ctr">
                    <a:solidFill>
                      <a:srgbClr val="F1F3F8"/>
                    </a:solidFill>
                  </a:tcPr>
                </a:tc>
                <a:tc>
                  <a:txBody>
                    <a:bodyPr wrap="square"/>
                    <a:lstStyle/>
                    <a:p>
                      <a:pPr algn="ctr"/>
                      <a:r>
                        <a:rPr sz="1150" b="0" i="0">
                          <a:solidFill>
                            <a:srgbClr val="1A1A1A"/>
                          </a:solidFill>
                          <a:latin typeface="Arial"/>
                        </a:rPr>
                        <a:t>18.3 dB</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r>
              <a:tr h="365760">
                <a:tc>
                  <a:txBody>
                    <a:bodyPr wrap="square"/>
                    <a:lstStyle/>
                    <a:p>
                      <a:pPr algn="l"/>
                      <a:r>
                        <a:rPr sz="1150" b="1" i="0">
                          <a:solidFill>
                            <a:srgbClr val="1A1A1A"/>
                          </a:solidFill>
                          <a:latin typeface="Arial"/>
                        </a:rPr>
                        <a:t>1</a:t>
                      </a:r>
                    </a:p>
                  </a:txBody>
                  <a:tcPr marL="54864" marR="54864" marT="18288" marB="18288" anchor="ctr">
                    <a:solidFill>
                      <a:srgbClr val="FFFFFF"/>
                    </a:solidFill>
                  </a:tcPr>
                </a:tc>
                <a:tc>
                  <a:txBody>
                    <a:bodyPr wrap="square"/>
                    <a:lstStyle/>
                    <a:p>
                      <a:pPr algn="ctr"/>
                      <a:r>
                        <a:rPr sz="1150" b="0" i="0">
                          <a:solidFill>
                            <a:srgbClr val="1A1A1A"/>
                          </a:solidFill>
                          <a:latin typeface="Arial"/>
                        </a:rPr>
                        <a:t>17.71 mA</a:t>
                      </a:r>
                    </a:p>
                  </a:txBody>
                  <a:tcPr marL="54864" marR="54864" marT="18288" marB="18288" anchor="ctr">
                    <a:solidFill>
                      <a:srgbClr val="FFFFFF"/>
                    </a:solidFill>
                  </a:tcPr>
                </a:tc>
                <a:tc>
                  <a:txBody>
                    <a:bodyPr wrap="square"/>
                    <a:lstStyle/>
                    <a:p>
                      <a:pPr algn="ctr"/>
                      <a:r>
                        <a:rPr sz="1150" b="0" i="0">
                          <a:solidFill>
                            <a:srgbClr val="1A1A1A"/>
                          </a:solidFill>
                          <a:latin typeface="Arial"/>
                        </a:rPr>
                        <a:t>17.9 dB</a:t>
                      </a:r>
                    </a:p>
                  </a:txBody>
                  <a:tcPr marL="54864" marR="54864" marT="18288" marB="18288" anchor="ctr">
                    <a:solidFill>
                      <a:srgbClr val="FFFFFF"/>
                    </a:solidFill>
                  </a:tcPr>
                </a:tc>
                <a:tc>
                  <a:txBody>
                    <a:bodyPr wrap="square"/>
                    <a:lstStyle/>
                    <a:p>
                      <a:pPr algn="ctr"/>
                      <a:r>
                        <a:rPr sz="1150" b="0" i="0">
                          <a:solidFill>
                            <a:srgbClr val="1A1A1A"/>
                          </a:solidFill>
                          <a:latin typeface="Arial"/>
                        </a:rPr>
                        <a:t>run pending</a:t>
                      </a:r>
                    </a:p>
                  </a:txBody>
                  <a:tcPr marL="54864" marR="54864" marT="18288" marB="18288" anchor="ctr">
                    <a:solidFill>
                      <a:srgbClr val="FFFFFF"/>
                    </a:solidFill>
                  </a:tcPr>
                </a:tc>
                <a:tc>
                  <a:txBody>
                    <a:bodyPr wrap="square"/>
                    <a:lstStyle/>
                    <a:p>
                      <a:pPr algn="ctr"/>
                      <a:r>
                        <a:rPr sz="1150" b="0" i="0">
                          <a:solidFill>
                            <a:srgbClr val="1A1A1A"/>
                          </a:solidFill>
                          <a:latin typeface="Arial"/>
                        </a:rPr>
                        <a:t>run pending</a:t>
                      </a:r>
                    </a:p>
                  </a:txBody>
                  <a:tcPr marL="54864" marR="54864" marT="18288" marB="18288" anchor="ctr">
                    <a:solidFill>
                      <a:srgbClr val="FFFFFF"/>
                    </a:solidFill>
                  </a:tcPr>
                </a:tc>
              </a:tr>
              <a:tr h="365760">
                <a:tc>
                  <a:txBody>
                    <a:bodyPr wrap="square"/>
                    <a:lstStyle/>
                    <a:p>
                      <a:pPr algn="l"/>
                      <a:r>
                        <a:rPr sz="1150" b="1" i="0">
                          <a:solidFill>
                            <a:srgbClr val="1A1A1A"/>
                          </a:solidFill>
                          <a:latin typeface="Arial"/>
                        </a:rPr>
                        <a:t>2</a:t>
                      </a:r>
                    </a:p>
                  </a:txBody>
                  <a:tcPr marL="54864" marR="54864" marT="18288" marB="18288" anchor="ctr">
                    <a:solidFill>
                      <a:srgbClr val="F1F3F8"/>
                    </a:solidFill>
                  </a:tcPr>
                </a:tc>
                <a:tc>
                  <a:txBody>
                    <a:bodyPr wrap="square"/>
                    <a:lstStyle/>
                    <a:p>
                      <a:pPr algn="ctr"/>
                      <a:r>
                        <a:rPr sz="1150" b="0" i="0">
                          <a:solidFill>
                            <a:srgbClr val="1A1A1A"/>
                          </a:solidFill>
                          <a:latin typeface="Arial"/>
                        </a:rPr>
                        <a:t>17.51 mA</a:t>
                      </a:r>
                    </a:p>
                  </a:txBody>
                  <a:tcPr marL="54864" marR="54864" marT="18288" marB="18288" anchor="ctr">
                    <a:solidFill>
                      <a:srgbClr val="F1F3F8"/>
                    </a:solidFill>
                  </a:tcPr>
                </a:tc>
                <a:tc>
                  <a:txBody>
                    <a:bodyPr wrap="square"/>
                    <a:lstStyle/>
                    <a:p>
                      <a:pPr algn="ctr"/>
                      <a:r>
                        <a:rPr sz="1150" b="0" i="0">
                          <a:solidFill>
                            <a:srgbClr val="1A1A1A"/>
                          </a:solidFill>
                          <a:latin typeface="Arial"/>
                        </a:rPr>
                        <a:t>17.5 dB</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r>
              <a:tr h="365760">
                <a:tc>
                  <a:txBody>
                    <a:bodyPr wrap="square"/>
                    <a:lstStyle/>
                    <a:p>
                      <a:pPr algn="l"/>
                      <a:r>
                        <a:rPr sz="1150" b="1" i="0">
                          <a:solidFill>
                            <a:srgbClr val="1A1A1A"/>
                          </a:solidFill>
                          <a:latin typeface="Arial"/>
                        </a:rPr>
                        <a:t>3</a:t>
                      </a:r>
                    </a:p>
                  </a:txBody>
                  <a:tcPr marL="54864" marR="54864" marT="18288" marB="18288" anchor="ctr">
                    <a:solidFill>
                      <a:srgbClr val="FFFFFF"/>
                    </a:solidFill>
                  </a:tcPr>
                </a:tc>
                <a:tc>
                  <a:txBody>
                    <a:bodyPr wrap="square"/>
                    <a:lstStyle/>
                    <a:p>
                      <a:pPr algn="ctr"/>
                      <a:r>
                        <a:rPr sz="1150" b="0" i="0">
                          <a:solidFill>
                            <a:srgbClr val="1A1A1A"/>
                          </a:solidFill>
                          <a:latin typeface="Arial"/>
                        </a:rPr>
                        <a:t>17.22 mA</a:t>
                      </a:r>
                    </a:p>
                  </a:txBody>
                  <a:tcPr marL="54864" marR="54864" marT="18288" marB="18288" anchor="ctr">
                    <a:solidFill>
                      <a:srgbClr val="FFFFFF"/>
                    </a:solidFill>
                  </a:tcPr>
                </a:tc>
                <a:tc>
                  <a:txBody>
                    <a:bodyPr wrap="square"/>
                    <a:lstStyle/>
                    <a:p>
                      <a:pPr algn="ctr"/>
                      <a:r>
                        <a:rPr sz="1150" b="0" i="0">
                          <a:solidFill>
                            <a:srgbClr val="1A1A1A"/>
                          </a:solidFill>
                          <a:latin typeface="Arial"/>
                        </a:rPr>
                        <a:t>17.0 dB</a:t>
                      </a:r>
                    </a:p>
                  </a:txBody>
                  <a:tcPr marL="54864" marR="54864" marT="18288" marB="18288" anchor="ctr">
                    <a:solidFill>
                      <a:srgbClr val="FFFFFF"/>
                    </a:solidFill>
                  </a:tcPr>
                </a:tc>
                <a:tc>
                  <a:txBody>
                    <a:bodyPr wrap="square"/>
                    <a:lstStyle/>
                    <a:p>
                      <a:pPr algn="ctr"/>
                      <a:r>
                        <a:rPr sz="1150" b="0" i="0">
                          <a:solidFill>
                            <a:srgbClr val="1A1A1A"/>
                          </a:solidFill>
                          <a:latin typeface="Arial"/>
                        </a:rPr>
                        <a:t>run pending</a:t>
                      </a:r>
                    </a:p>
                  </a:txBody>
                  <a:tcPr marL="54864" marR="54864" marT="18288" marB="18288" anchor="ctr">
                    <a:solidFill>
                      <a:srgbClr val="FFFFFF"/>
                    </a:solidFill>
                  </a:tcPr>
                </a:tc>
                <a:tc>
                  <a:txBody>
                    <a:bodyPr wrap="square"/>
                    <a:lstStyle/>
                    <a:p>
                      <a:pPr algn="ctr"/>
                      <a:r>
                        <a:rPr sz="1150" b="0" i="0">
                          <a:solidFill>
                            <a:srgbClr val="1A1A1A"/>
                          </a:solidFill>
                          <a:latin typeface="Arial"/>
                        </a:rPr>
                        <a:t>run pending</a:t>
                      </a:r>
                    </a:p>
                  </a:txBody>
                  <a:tcPr marL="54864" marR="54864" marT="18288" marB="18288" anchor="ctr">
                    <a:solidFill>
                      <a:srgbClr val="FFFFFF"/>
                    </a:solidFill>
                  </a:tcPr>
                </a:tc>
              </a:tr>
              <a:tr h="365760">
                <a:tc>
                  <a:txBody>
                    <a:bodyPr wrap="square"/>
                    <a:lstStyle/>
                    <a:p>
                      <a:pPr algn="l"/>
                      <a:r>
                        <a:rPr sz="1150" b="1" i="0">
                          <a:solidFill>
                            <a:srgbClr val="1A1A1A"/>
                          </a:solidFill>
                          <a:latin typeface="Arial"/>
                        </a:rPr>
                        <a:t>4</a:t>
                      </a:r>
                    </a:p>
                  </a:txBody>
                  <a:tcPr marL="54864" marR="54864" marT="18288" marB="18288" anchor="ctr">
                    <a:solidFill>
                      <a:srgbClr val="F1F3F8"/>
                    </a:solidFill>
                  </a:tcPr>
                </a:tc>
                <a:tc>
                  <a:txBody>
                    <a:bodyPr wrap="square"/>
                    <a:lstStyle/>
                    <a:p>
                      <a:pPr algn="ctr"/>
                      <a:r>
                        <a:rPr sz="1150" b="0" i="0">
                          <a:solidFill>
                            <a:srgbClr val="1A1A1A"/>
                          </a:solidFill>
                          <a:latin typeface="Arial"/>
                        </a:rPr>
                        <a:t>17.01 mA</a:t>
                      </a:r>
                    </a:p>
                  </a:txBody>
                  <a:tcPr marL="54864" marR="54864" marT="18288" marB="18288" anchor="ctr">
                    <a:solidFill>
                      <a:srgbClr val="F1F3F8"/>
                    </a:solidFill>
                  </a:tcPr>
                </a:tc>
                <a:tc>
                  <a:txBody>
                    <a:bodyPr wrap="square"/>
                    <a:lstStyle/>
                    <a:p>
                      <a:pPr algn="ctr"/>
                      <a:r>
                        <a:rPr sz="1150" b="0" i="0">
                          <a:solidFill>
                            <a:srgbClr val="1A1A1A"/>
                          </a:solidFill>
                          <a:latin typeface="Arial"/>
                        </a:rPr>
                        <a:t>16.7 dB</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c>
                  <a:txBody>
                    <a:bodyPr wrap="square"/>
                    <a:lstStyle/>
                    <a:p>
                      <a:pPr algn="ctr"/>
                      <a:r>
                        <a:rPr sz="1150" b="0" i="0">
                          <a:solidFill>
                            <a:srgbClr val="1A1A1A"/>
                          </a:solidFill>
                          <a:latin typeface="Arial"/>
                        </a:rPr>
                        <a:t>run pending</a:t>
                      </a:r>
                    </a:p>
                  </a:txBody>
                  <a:tcPr marL="54864" marR="54864" marT="18288" marB="18288" anchor="ctr">
                    <a:solidFill>
                      <a:srgbClr val="F1F3F8"/>
                    </a:solidFill>
                  </a:tcPr>
                </a:tc>
              </a:tr>
            </a:tbl>
          </a:graphicData>
        </a:graphic>
      </p:graphicFrame>
      <p:sp>
        <p:nvSpPr>
          <p:cNvPr id="7" name="Rounded Rectangle 6"/>
          <p:cNvSpPr/>
          <p:nvPr/>
        </p:nvSpPr>
        <p:spPr>
          <a:xfrm>
            <a:off x="8503920" y="4572000"/>
            <a:ext cx="3200400" cy="1097280"/>
          </a:xfrm>
          <a:prstGeom prst="roundRect">
            <a:avLst>
              <a:gd name="adj" fmla="val 50000"/>
            </a:avLst>
          </a:prstGeom>
          <a:solidFill>
            <a:srgbClr val="FDEB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 rIns="27432" tIns="9144" bIns="9144" wrap="square"/>
          <a:lstStyle/>
          <a:p>
            <a:pPr algn="ctr"/>
            <a:r>
              <a:rPr sz="1200" b="1" i="0">
                <a:solidFill>
                  <a:srgbClr val="F20013"/>
                </a:solidFill>
                <a:latin typeface="Arial"/>
              </a:rPr>
              <a:t>INTERCONNECT eyes: run 'Step 1: eye bends 0-4 check'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9509760" cy="685800"/>
          </a:xfrm>
          <a:prstGeom prst="rect">
            <a:avLst/>
          </a:prstGeom>
          <a:noFill/>
        </p:spPr>
        <p:txBody>
          <a:bodyPr wrap="square" lIns="27432" rIns="27432" tIns="18288" bIns="18288" anchor="t">
            <a:spAutoFit/>
          </a:bodyPr>
          <a:lstStyle/>
          <a:p>
            <a:pPr algn="l">
              <a:spcAft>
                <a:spcPts val="400"/>
              </a:spcAft>
            </a:pPr>
            <a:r>
              <a:rPr sz="3000" b="0" i="0">
                <a:solidFill>
                  <a:srgbClr val="1A1A1A"/>
                </a:solidFill>
                <a:latin typeface="Arial"/>
              </a:rPr>
              <a:t>Summary</a:t>
            </a:r>
          </a:p>
        </p:txBody>
      </p:sp>
      <p:sp>
        <p:nvSpPr>
          <p:cNvPr id="3" name="Oval 2"/>
          <p:cNvSpPr/>
          <p:nvPr/>
        </p:nvSpPr>
        <p:spPr>
          <a:xfrm>
            <a:off x="731520" y="1645920"/>
            <a:ext cx="502920" cy="502920"/>
          </a:xfrm>
          <a:prstGeom prst="ellipse">
            <a:avLst/>
          </a:prstGeom>
          <a:solidFill>
            <a:srgbClr val="1C8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554480"/>
            <a:ext cx="9601200" cy="411480"/>
          </a:xfrm>
          <a:prstGeom prst="rect">
            <a:avLst/>
          </a:prstGeom>
          <a:noFill/>
        </p:spPr>
        <p:txBody>
          <a:bodyPr wrap="square" lIns="27432" rIns="27432" tIns="18288" bIns="18288" anchor="t">
            <a:spAutoFit/>
          </a:bodyPr>
          <a:lstStyle/>
          <a:p>
            <a:pPr algn="l">
              <a:spcAft>
                <a:spcPts val="400"/>
              </a:spcAft>
            </a:pPr>
            <a:r>
              <a:rPr sz="1900" b="1" i="0">
                <a:solidFill>
                  <a:srgbClr val="1C8C82"/>
                </a:solidFill>
                <a:latin typeface="Arial"/>
              </a:rPr>
              <a:t>Bends are solved inside INTERCONNECT</a:t>
            </a:r>
          </a:p>
        </p:txBody>
      </p:sp>
      <p:sp>
        <p:nvSpPr>
          <p:cNvPr id="5" name="TextBox 4"/>
          <p:cNvSpPr txBox="1"/>
          <p:nvPr/>
        </p:nvSpPr>
        <p:spPr>
          <a:xfrm>
            <a:off x="1463040" y="1965960"/>
            <a:ext cx="9601200" cy="3657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one TL electrode block: sections + bends, exact cascade</a:t>
            </a:r>
          </a:p>
        </p:txBody>
      </p:sp>
      <p:sp>
        <p:nvSpPr>
          <p:cNvPr id="6" name="Oval 5"/>
          <p:cNvSpPr/>
          <p:nvPr/>
        </p:nvSpPr>
        <p:spPr>
          <a:xfrm>
            <a:off x="731520" y="2587752"/>
            <a:ext cx="502920" cy="50292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2496312"/>
            <a:ext cx="9601200" cy="411480"/>
          </a:xfrm>
          <a:prstGeom prst="rect">
            <a:avLst/>
          </a:prstGeom>
          <a:noFill/>
        </p:spPr>
        <p:txBody>
          <a:bodyPr wrap="square" lIns="27432" rIns="27432" tIns="18288" bIns="18288" anchor="t">
            <a:spAutoFit/>
          </a:bodyPr>
          <a:lstStyle/>
          <a:p>
            <a:pPr algn="l">
              <a:spcAft>
                <a:spcPts val="400"/>
              </a:spcAft>
            </a:pPr>
            <a:r>
              <a:rPr sz="1900" b="1" i="0">
                <a:solidFill>
                  <a:srgbClr val="0E2268"/>
                </a:solidFill>
                <a:latin typeface="Arial"/>
              </a:rPr>
              <a:t>More accurate than the built-in block</a:t>
            </a:r>
          </a:p>
        </p:txBody>
      </p:sp>
      <p:sp>
        <p:nvSpPr>
          <p:cNvPr id="8" name="TextBox 7"/>
          <p:cNvSpPr txBox="1"/>
          <p:nvPr/>
        </p:nvSpPr>
        <p:spPr>
          <a:xfrm>
            <a:off x="1463040" y="2907792"/>
            <a:ext cx="9601200" cy="3657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 0.1 dB vs up to 1 dB, on the same electrode</a:t>
            </a:r>
          </a:p>
        </p:txBody>
      </p:sp>
      <p:sp>
        <p:nvSpPr>
          <p:cNvPr id="9" name="Oval 8"/>
          <p:cNvSpPr/>
          <p:nvPr/>
        </p:nvSpPr>
        <p:spPr>
          <a:xfrm>
            <a:off x="731520" y="3529584"/>
            <a:ext cx="502920" cy="50292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3438144"/>
            <a:ext cx="9601200" cy="411480"/>
          </a:xfrm>
          <a:prstGeom prst="rect">
            <a:avLst/>
          </a:prstGeom>
          <a:noFill/>
        </p:spPr>
        <p:txBody>
          <a:bodyPr wrap="square" lIns="27432" rIns="27432" tIns="18288" bIns="18288" anchor="t">
            <a:spAutoFit/>
          </a:bodyPr>
          <a:lstStyle/>
          <a:p>
            <a:pPr algn="l">
              <a:spcAft>
                <a:spcPts val="400"/>
              </a:spcAft>
            </a:pPr>
            <a:r>
              <a:rPr sz="1900" b="1" i="0">
                <a:solidFill>
                  <a:srgbClr val="0E2268"/>
                </a:solidFill>
                <a:latin typeface="Arial"/>
              </a:rPr>
              <a:t>New outputs</a:t>
            </a:r>
          </a:p>
        </p:txBody>
      </p:sp>
      <p:sp>
        <p:nvSpPr>
          <p:cNvPr id="11" name="TextBox 10"/>
          <p:cNvSpPr txBox="1"/>
          <p:nvPr/>
        </p:nvSpPr>
        <p:spPr>
          <a:xfrm>
            <a:off x="1463040" y="3849624"/>
            <a:ext cx="9601200" cy="3657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far-end voltage · one line, two group indices</a:t>
            </a:r>
          </a:p>
        </p:txBody>
      </p:sp>
      <p:sp>
        <p:nvSpPr>
          <p:cNvPr id="12" name="Oval 11"/>
          <p:cNvSpPr/>
          <p:nvPr/>
        </p:nvSpPr>
        <p:spPr>
          <a:xfrm>
            <a:off x="731520" y="4471416"/>
            <a:ext cx="502920" cy="502920"/>
          </a:xfrm>
          <a:prstGeom prst="ellipse">
            <a:avLst/>
          </a:prstGeom>
          <a:solidFill>
            <a:srgbClr val="0E22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4379976"/>
            <a:ext cx="9601200" cy="411480"/>
          </a:xfrm>
          <a:prstGeom prst="rect">
            <a:avLst/>
          </a:prstGeom>
          <a:noFill/>
        </p:spPr>
        <p:txBody>
          <a:bodyPr wrap="square" lIns="27432" rIns="27432" tIns="18288" bIns="18288" anchor="t">
            <a:spAutoFit/>
          </a:bodyPr>
          <a:lstStyle/>
          <a:p>
            <a:pPr algn="l">
              <a:spcAft>
                <a:spcPts val="400"/>
              </a:spcAft>
            </a:pPr>
            <a:r>
              <a:rPr sz="1900" b="1" i="0">
                <a:solidFill>
                  <a:srgbClr val="0E2268"/>
                </a:solidFill>
                <a:latin typeface="Arial"/>
              </a:rPr>
              <a:t>Simpler schematic</a:t>
            </a:r>
          </a:p>
        </p:txBody>
      </p:sp>
      <p:sp>
        <p:nvSpPr>
          <p:cNvPr id="14" name="TextBox 13"/>
          <p:cNvSpPr txBox="1"/>
          <p:nvPr/>
        </p:nvSpPr>
        <p:spPr>
          <a:xfrm>
            <a:off x="1463040" y="4791456"/>
            <a:ext cx="9601200" cy="3657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5 blocks for any N, no pre-computed files</a:t>
            </a:r>
          </a:p>
        </p:txBody>
      </p:sp>
      <p:sp>
        <p:nvSpPr>
          <p:cNvPr id="15" name="Oval 14"/>
          <p:cNvSpPr/>
          <p:nvPr/>
        </p:nvSpPr>
        <p:spPr>
          <a:xfrm>
            <a:off x="731520" y="5413248"/>
            <a:ext cx="502920" cy="502920"/>
          </a:xfrm>
          <a:prstGeom prst="ellipse">
            <a:avLst/>
          </a:prstGeom>
          <a:solidFill>
            <a:srgbClr val="F200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5321808"/>
            <a:ext cx="9601200" cy="411480"/>
          </a:xfrm>
          <a:prstGeom prst="rect">
            <a:avLst/>
          </a:prstGeom>
          <a:noFill/>
        </p:spPr>
        <p:txBody>
          <a:bodyPr wrap="square" lIns="27432" rIns="27432" tIns="18288" bIns="18288" anchor="t">
            <a:spAutoFit/>
          </a:bodyPr>
          <a:lstStyle/>
          <a:p>
            <a:pPr algn="l">
              <a:spcAft>
                <a:spcPts val="400"/>
              </a:spcAft>
            </a:pPr>
            <a:r>
              <a:rPr sz="1900" b="1" i="0">
                <a:solidFill>
                  <a:srgbClr val="F20013"/>
                </a:solidFill>
                <a:latin typeface="Arial"/>
              </a:rPr>
              <a:t>Limits</a:t>
            </a:r>
          </a:p>
        </p:txBody>
      </p:sp>
      <p:sp>
        <p:nvSpPr>
          <p:cNvPr id="17" name="TextBox 16"/>
          <p:cNvSpPr txBox="1"/>
          <p:nvPr/>
        </p:nvSpPr>
        <p:spPr>
          <a:xfrm>
            <a:off x="1463040" y="5733288"/>
            <a:ext cx="9601200" cy="365760"/>
          </a:xfrm>
          <a:prstGeom prst="rect">
            <a:avLst/>
          </a:prstGeom>
          <a:noFill/>
        </p:spPr>
        <p:txBody>
          <a:bodyPr wrap="square" lIns="27432" rIns="27432" tIns="18288" bIns="18288" anchor="t">
            <a:spAutoFit/>
          </a:bodyPr>
          <a:lstStyle/>
          <a:p>
            <a:pPr algn="l">
              <a:spcAft>
                <a:spcPts val="400"/>
              </a:spcAft>
            </a:pPr>
            <a:r>
              <a:rPr sz="1400" b="0" i="0">
                <a:solidFill>
                  <a:srgbClr val="1A1A1A"/>
                </a:solidFill>
                <a:latin typeface="Arial"/>
              </a:rPr>
              <a:t>EO read-back corrected for INTERCONNECT artefacts · sample rate ≥ 2.5 × top frequency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1893</TotalTime>
  <Words>466</Words>
  <Application>Microsoft Office PowerPoint</Application>
  <PresentationFormat>Widescreen</PresentationFormat>
  <Paragraphs>120</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微软雅黑</vt:lpstr>
      <vt:lpstr>Aptos</vt:lpstr>
      <vt:lpstr>Aptos Display</vt:lpstr>
      <vt:lpstr>Aptos Narrow</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29</cp:revision>
  <dcterms:created xsi:type="dcterms:W3CDTF">2025-12-17T10:39:38Z</dcterms:created>
  <dcterms:modified xsi:type="dcterms:W3CDTF">2026-09-28T09:09:54Z</dcterms:modified>
</cp:coreProperties>
</file>