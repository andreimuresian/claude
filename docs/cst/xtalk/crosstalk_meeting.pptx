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CC36F-2A63-4F1A-A353-45229F9441A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462E5-9762-40A4-80E8-4F238B7A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3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48CF-5D94-277B-4917-A50E19718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B7E60-9F66-1883-45F0-77BB1D07B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7522-275D-1405-A7AE-667FFC51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A4E0-3AF4-785D-B839-2214FB64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961D-2F71-1EBE-9298-336DF08B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6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F54A-A149-F283-E5EA-F7BD2906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45B2-B66D-0F60-49F8-3D01C75E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4C4-C4E8-0F2B-8305-E63F462E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418B-3B38-0745-961E-85AF718C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F101-F462-8A72-F015-A1C84179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7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1D38-BB99-CBCC-0265-E2D9A920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88D70-7C38-3390-A780-128242A11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9F3D-2223-1A96-DA2B-5AEFE7D9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064CF-C831-874F-9928-A447F31F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67603-82BC-FE5F-F825-84DDF4A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5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8D5F-8F0B-ACC7-8337-2A1C1526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4044-977A-C190-8DA2-822D701E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6CE2E-3749-07D5-2197-401CA51D6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1F53E-4660-9532-88FE-7908FE6B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2D36A-9311-4E5A-6F39-8CB61AB4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503B4-8197-133A-FA36-3344E3F3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0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A873-F4AC-8E49-8F7E-B9E8F1BA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863D4-05B6-9AE8-5727-1D2C37CB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F5FAA-6EBE-7944-5EA3-802091A1F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806D-1FB3-CD54-CF67-57B401CCF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DF826-1F8C-A403-CAC9-B8A0F676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C510B-763D-1C12-C7EB-7AD5B28E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9C543-285B-F707-8CB7-E0104F8CF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87C71-DDA4-BFF2-0F51-DF26131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2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B840-EA07-22E2-A22C-6A61203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16E4A-72FE-5D84-0374-90AB4556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E8357-F4B7-3331-2EE0-E193FBE8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8554-50D0-DA83-C4F4-02C41DD6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4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500F2-9716-A1A8-4434-8C490850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1DBF5-196B-8AAD-41E9-4D02118C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AE642-89F5-CC7E-8990-F8091CB2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8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C01E-83E8-B257-6ABD-B736ADD1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490AE-893A-0498-EDE1-77F95B83B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ED0CB-EBAB-00CF-187B-BF916FD7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4D795-9810-7D10-4D49-E50A3699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38A76-FED7-34A2-6983-5E894F7D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50DD2-164F-F716-7519-5BE819D4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7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63CD-C176-381B-119D-053C8174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356E7-43B4-F3BF-C480-7ED1E14D6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331D0-5652-5C57-C7DC-7C0F1CF48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17AD-514C-271A-1750-29C99B93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AEC50-6A35-B567-A187-05BCDCAD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574F-382B-1B34-4B85-64B0EA2A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5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51BB-BD45-B536-9FE9-BC1CF3D0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C92E1-EA83-B021-BD95-9356FDF2C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AF5F-2CC1-F4F3-6A42-740EA5EA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6618-FB36-8157-9D99-D5CD7C63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A9AAD-0F5F-B0D7-1934-85BC3F5E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7568-B49F-966C-DA93-622004AC1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C9395-59C8-F7B3-AC4C-46A4249A9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36246-5E71-7241-C520-CC3587A2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16AF4-AB52-5650-0ECF-DB34251D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F979-A3BC-61BF-5DAE-99FB5FFC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9749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28560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B5CBE-16B3-E38A-B202-DD6A9A61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B50FB-DD96-88A4-B12A-5356FDB5D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4A9B6-518F-CF03-4199-4F2D32183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E3D9-04EA-440E-81A8-36F16D0D073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8336F-6941-638B-CC70-DD5FDD180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47DF-32E2-7EEB-3071-DBCF205D4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B6DC9-896C-4421-936D-AC4B2502B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9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88952" cy="12801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A1A1A"/>
                </a:solidFill>
                <a:latin typeface="Arial"/>
              </a:rPr>
              <a:t>Electrical and electro-optic crosstalk:</a:t>
            </a:r>
          </a:p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A1A1A"/>
                </a:solidFill>
                <a:latin typeface="Arial"/>
              </a:rPr>
              <a:t>from CST to INTERCONNECT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29000"/>
            <a:ext cx="12188952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5A606E"/>
                </a:solidFill>
                <a:latin typeface="Arial"/>
              </a:rPr>
              <a:t>Two adjacent TFLN GSG electrodes · uniform line, pitch 200 µm · Python twin, GUI and INTERCONNECT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A crosstalk model for any electrode length, in the GUI and in INTERCONNECT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36118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E2268"/>
                </a:solidFill>
                <a:latin typeface="Arial"/>
              </a:rPr>
              <a:t>−47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246120" cy="9143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FEXT at 30 GHz, 14 mm (−43 dB at 60 GHz)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46304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8536" y="1600200"/>
            <a:ext cx="36118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20013"/>
                </a:solidFill>
                <a:latin typeface="Arial"/>
              </a:rPr>
              <a:t>−47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6" y="2560320"/>
            <a:ext cx="3246120" cy="9143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EO crosstalk B/A at 30 GHz, 14 mm (−36 dB at 60 GHz)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600200"/>
            <a:ext cx="36118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E2268"/>
                </a:solidFill>
                <a:latin typeface="Arial"/>
              </a:rPr>
              <a:t>10</a:t>
            </a:r>
            <a:r>
              <a:rPr sz="4000" b="1" baseline="30000">
                <a:solidFill>
                  <a:srgbClr val="0E2268"/>
                </a:solidFill>
                <a:latin typeface="Arial"/>
              </a:rPr>
              <a:t>−14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560320"/>
            <a:ext cx="3246120" cy="9143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INTERCONNECT element vs Python twin (code check)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532120" cy="2468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13632"/>
            <a:ext cx="5257800" cy="2359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Main message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Two coupled lines = an </a:t>
            </a:r>
            <a:r>
              <a:rPr sz="1350" b="1">
                <a:solidFill>
                  <a:srgbClr val="1A1A1A"/>
                </a:solidFill>
                <a:latin typeface="Arial"/>
              </a:rPr>
              <a:t>even</a:t>
            </a:r>
            <a:r>
              <a:rPr sz="1350" b="0">
                <a:solidFill>
                  <a:srgbClr val="1A1A1A"/>
                </a:solidFill>
                <a:latin typeface="Arial"/>
              </a:rPr>
              <a:t> line + an </a:t>
            </a:r>
            <a:r>
              <a:rPr sz="1350" b="1">
                <a:solidFill>
                  <a:srgbClr val="1A1A1A"/>
                </a:solidFill>
                <a:latin typeface="Arial"/>
              </a:rPr>
              <a:t>odd</a:t>
            </a:r>
            <a:r>
              <a:rPr sz="1350" b="0">
                <a:solidFill>
                  <a:srgbClr val="1A1A1A"/>
                </a:solidFill>
                <a:latin typeface="Arial"/>
              </a:rPr>
              <a:t> line, each the single-line element.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Inputs: average line from 3-D CST; even/odd split from the 2-D and eigenmode solvers.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Crosstalk vs length follows from closed-form formulas: no segmentation, no fitting.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840480"/>
            <a:ext cx="5532120" cy="24688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913632"/>
            <a:ext cx="5257800" cy="2359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20013"/>
                </a:solidFill>
                <a:latin typeface="Arial"/>
              </a:rPr>
              <a:t>Open points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Impedance split δ = 0.21–0.61 % (definition-dependent); 1 mm 3-D NEXT favours 0.23 %.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Port / pad coupling is not in the model.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Full MZM cascade: built, first INTERCONNECT run pending.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Each simulation is used for what it resolves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3383279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3-D CST, time domain (coworker)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Pair, 1 mm and 5 mm, gold, real ports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→ average line: loss, n, 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632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36392"/>
            <a:ext cx="3383279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2-D CST port modes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One port over both lines, 6 modes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→ Δn(f) of even/odd (PEC metal)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634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36592"/>
            <a:ext cx="3383279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CST eigenmode, one 10 µm cell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Gold vs PEC, even and odd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→ gold correction of Δn (×1.146), δ band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2011680"/>
            <a:ext cx="6858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160520" y="3611880"/>
            <a:ext cx="6858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160520" y="5212080"/>
            <a:ext cx="6858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83480" y="2194560"/>
            <a:ext cx="3108960" cy="310896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267712"/>
            <a:ext cx="2926079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20013"/>
                </a:solidFill>
                <a:latin typeface="Arial"/>
              </a:rPr>
              <a:t>Mode tables (even, odd)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γ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e,o</a:t>
            </a:r>
            <a:r>
              <a:rPr sz="1300" b="0">
                <a:solidFill>
                  <a:srgbClr val="1A1A1A"/>
                </a:solidFill>
                <a:latin typeface="Arial"/>
              </a:rPr>
              <a:t> = γ ± jΔβ/2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Z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e,o</a:t>
            </a:r>
            <a:r>
              <a:rPr sz="1300" b="0">
                <a:solidFill>
                  <a:srgbClr val="1A1A1A"/>
                </a:solidFill>
                <a:latin typeface="Arial"/>
              </a:rPr>
              <a:t> = Z (1 ± δ/2)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coupled_even.txt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coupled_odd.txt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valid for any length 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29600" y="2743200"/>
            <a:ext cx="6858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229600" y="4389120"/>
            <a:ext cx="6858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0" y="205740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30552"/>
            <a:ext cx="25146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Python twin + GUI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coupled_line.py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4 graphs, any length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977639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050791"/>
            <a:ext cx="25146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INTERCONNECT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"Coupled TL" scripted element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full MZM cascade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06E"/>
                </a:solidFill>
                <a:latin typeface="Arial"/>
              </a:rPr>
              <a:t>Why not crosstalk straight from 3-D: the 3-D runs' numerical error (|S</a:t>
            </a:r>
            <a:r>
              <a:rPr sz="1200" b="0" baseline="-25000">
                <a:solidFill>
                  <a:srgbClr val="5A606E"/>
                </a:solidFill>
                <a:latin typeface="Arial"/>
              </a:rPr>
              <a:t>21</a:t>
            </a:r>
            <a:r>
              <a:rPr sz="1200" b="0">
                <a:solidFill>
                  <a:srgbClr val="5A606E"/>
                </a:solidFill>
                <a:latin typeface="Arial"/>
              </a:rPr>
              <a:t> − S</a:t>
            </a:r>
            <a:r>
              <a:rPr sz="1200" b="0" baseline="-25000">
                <a:solidFill>
                  <a:srgbClr val="5A606E"/>
                </a:solidFill>
                <a:latin typeface="Arial"/>
              </a:rPr>
              <a:t>43</a:t>
            </a:r>
            <a:r>
              <a:rPr sz="1200" b="0">
                <a:solidFill>
                  <a:srgbClr val="5A606E"/>
                </a:solidFill>
                <a:latin typeface="Arial"/>
              </a:rPr>
              <a:t>| = −56 dB at 5 mm) is as large as the crosstalk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Only the even and odd coplanar modes are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A GSG launch excites line A in its coplanar mode = ½ even + ½ odd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73152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471432"/>
            <a:ext cx="7223760" cy="31836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417320"/>
            <a:ext cx="3749039" cy="3291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490472"/>
            <a:ext cx="3474720" cy="3182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Mode identification (not by eye)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7 conductors → exactly 6 quasi-TEM modes.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Modes 5/6: V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A</a:t>
            </a:r>
            <a:r>
              <a:rPr sz="1350" b="0">
                <a:solidFill>
                  <a:srgbClr val="1A1A1A"/>
                </a:solidFill>
                <a:latin typeface="Arial"/>
              </a:rPr>
              <a:t> = ±V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B</a:t>
            </a:r>
            <a:r>
              <a:rPr sz="1350" b="0">
                <a:solidFill>
                  <a:srgbClr val="1A1A1A"/>
                </a:solidFill>
                <a:latin typeface="Arial"/>
              </a:rPr>
              <a:t> (from exported fields); each line's grounds equal, net current zero.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Near-degenerate pair at the coplanar index (Δn = 1.5·10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−3</a:t>
            </a:r>
            <a:r>
              <a:rPr sz="1350" b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9204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965192"/>
            <a:ext cx="5257800" cy="1307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Why modes 1–4 are not excited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Grounds tied + current returning on own grounds → zero amplitude for the slot and line-vs-frame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892040"/>
            <a:ext cx="5550408" cy="14173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4965192"/>
            <a:ext cx="5276088" cy="1307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20013"/>
                </a:solidFill>
                <a:latin typeface="Arial"/>
              </a:rPr>
              <a:t>Condition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Holds for a symmetric GSG launch. Asymmetric pads, bends without ground bridges or poor ports can excite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Model inputs: index split Δn and impedance split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Two independent numbers from the two couplings of the pair</a:t>
            </a:r>
          </a:p>
        </p:txBody>
      </p:sp>
      <p:pic>
        <p:nvPicPr>
          <p:cNvPr id="4" name="Picture 3" descr="eq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08309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48840"/>
            <a:ext cx="56692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k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L</a:t>
            </a:r>
            <a:r>
              <a:rPr sz="1300" b="0">
                <a:solidFill>
                  <a:srgbClr val="1A1A1A"/>
                </a:solidFill>
                <a:latin typeface="Arial"/>
              </a:rPr>
              <a:t>, k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C</a:t>
            </a:r>
            <a:r>
              <a:rPr sz="1300" b="0">
                <a:solidFill>
                  <a:srgbClr val="1A1A1A"/>
                </a:solidFill>
                <a:latin typeface="Arial"/>
              </a:rPr>
              <a:t>: inductive and capacitive coupling. In a homogeneous dielectric k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L</a:t>
            </a:r>
            <a:r>
              <a:rPr sz="1300" b="0">
                <a:solidFill>
                  <a:srgbClr val="1A1A1A"/>
                </a:solidFill>
                <a:latin typeface="Arial"/>
              </a:rPr>
              <a:t> = k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C</a:t>
            </a:r>
            <a:r>
              <a:rPr sz="1300" b="0">
                <a:solidFill>
                  <a:srgbClr val="1A1A1A"/>
                </a:solidFill>
                <a:latin typeface="Arial"/>
              </a:rPr>
              <a:t> → Δn = 0 (no FEXT).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063240"/>
          <a:ext cx="6949439" cy="1920240"/>
        </p:xfrm>
        <a:graphic>
          <a:graphicData uri="http://schemas.openxmlformats.org/drawingml/2006/table">
            <a:tbl>
              <a:tblPr firstRow="0" bandRow="0"/>
              <a:tblGrid>
                <a:gridCol w="2823209"/>
                <a:gridCol w="1737360"/>
                <a:gridCol w="238887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Δn (30 GHz)</a:t>
                      </a:r>
                    </a:p>
                  </a:txBody>
                  <a:tcPr marL="54864" marR="54864" anchor="ctr">
                    <a:solidFill>
                      <a:srgbClr val="0E22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δ = Z</a:t>
                      </a:r>
                      <a:r>
                        <a:rPr sz="1200" b="1" baseline="-2500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/Z</a:t>
                      </a:r>
                      <a:r>
                        <a:rPr sz="1200" b="1" baseline="-25000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 − 1</a:t>
                      </a:r>
                    </a:p>
                  </a:txBody>
                  <a:tcPr marL="54864" marR="54864" anchor="ctr">
                    <a:solidFill>
                      <a:srgbClr val="0E226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2-D port modes, PEC</a:t>
                      </a:r>
                    </a:p>
                  </a:txBody>
                  <a:tcPr marL="54864" marR="54864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0.00151</a:t>
                      </a:r>
                    </a:p>
                  </a:txBody>
                  <a:tcPr marL="54864" marR="54864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0.30–0.45 %</a:t>
                      </a:r>
                    </a:p>
                  </a:txBody>
                  <a:tcPr marL="54864" marR="54864" anchor="ctr"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Eigenmode, PEC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0.00145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+0.53 %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Eigenmode, gold</a:t>
                      </a:r>
                    </a:p>
                  </a:txBody>
                  <a:tcPr marL="54864" marR="54864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0.00173</a:t>
                      </a:r>
                    </a:p>
                  </a:txBody>
                  <a:tcPr marL="54864" marR="54864" anchor="ctr">
                    <a:solidFill>
                      <a:srgbClr val="F6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+0.21 % … +0.61 %</a:t>
                      </a:r>
                    </a:p>
                  </a:txBody>
                  <a:tcPr marL="54864" marR="54864" anchor="ctr">
                    <a:solidFill>
                      <a:srgbClr val="F6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Used in the model</a:t>
                      </a:r>
                    </a:p>
                  </a:txBody>
                  <a:tcPr marL="54864" marR="54864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2-D × 1.146</a:t>
                      </a:r>
                    </a:p>
                  </a:txBody>
                  <a:tcPr marL="54864" marR="54864" anchor="ctr">
                    <a:solidFill>
                      <a:srgbClr val="FDE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0.21–0.61 % (band)</a:t>
                      </a:r>
                    </a:p>
                  </a:txBody>
                  <a:tcPr marL="54864" marR="54864" anchor="ctr">
                    <a:solidFill>
                      <a:srgbClr val="FDEC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417320"/>
            <a:ext cx="4114800" cy="2331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90472"/>
            <a:ext cx="3840480" cy="22219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How Δn is extracted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2-D: n = βc/(2πf) of modes 5, 6.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Eigenmode: fixed β, Δn/n = (f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o</a:t>
            </a:r>
            <a:r>
              <a:rPr sz="1350" b="0">
                <a:solidFill>
                  <a:srgbClr val="1A1A1A"/>
                </a:solidFill>
                <a:latin typeface="Arial"/>
              </a:rPr>
              <a:t> − f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e</a:t>
            </a:r>
            <a:r>
              <a:rPr sz="1350" b="0">
                <a:solidFill>
                  <a:srgbClr val="1A1A1A"/>
                </a:solidFill>
                <a:latin typeface="Arial"/>
              </a:rPr>
              <a:t>)/f.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Gold raises Δn by 15–20 % vs PEC.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886200"/>
            <a:ext cx="4114800" cy="24231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959352"/>
            <a:ext cx="3840480" cy="2313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20013"/>
                </a:solidFill>
                <a:latin typeface="Arial"/>
              </a:rPr>
              <a:t>Why δ is a band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δ depends on the impedance definition: power–voltage +0.61 %, signal-to-own-grounds +0.21 %.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Physical (non-TEM, lossy gold, ground currents), not mesh (refinement: 2 %).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694944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Model: same loss for both modes; n and Z split around the 3-D line:</a:t>
            </a:r>
          </a:p>
        </p:txBody>
      </p:sp>
      <p:pic>
        <p:nvPicPr>
          <p:cNvPr id="12" name="Picture 11" descr="eq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23560"/>
            <a:ext cx="5650454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The model: even line + odd line, recombined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Exact for a uniform pair; every quantity is closed-form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1.</a:t>
            </a:r>
            <a:r>
              <a:rPr sz="1500" b="0">
                <a:solidFill>
                  <a:srgbClr val="1A1A1A"/>
                </a:solidFill>
                <a:latin typeface="Arial"/>
              </a:rPr>
              <a:t> Each mode is a single uniform line between z</a:t>
            </a:r>
            <a:r>
              <a:rPr sz="1500" b="0" baseline="-25000">
                <a:solidFill>
                  <a:srgbClr val="1A1A1A"/>
                </a:solidFill>
                <a:latin typeface="Arial"/>
              </a:rPr>
              <a:t>0</a:t>
            </a:r>
            <a:r>
              <a:rPr sz="1500" b="0">
                <a:solidFill>
                  <a:srgbClr val="1A1A1A"/>
                </a:solidFill>
                <a:latin typeface="Arial"/>
              </a:rPr>
              <a:t> = 50 Ω ports:</a:t>
            </a:r>
          </a:p>
        </p:txBody>
      </p:sp>
      <p:pic>
        <p:nvPicPr>
          <p:cNvPr id="5" name="Picture 4" descr="eq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8644689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2.</a:t>
            </a:r>
            <a:r>
              <a:rPr sz="1500" b="0">
                <a:solidFill>
                  <a:srgbClr val="1A1A1A"/>
                </a:solidFill>
                <a:latin typeface="Arial"/>
              </a:rPr>
              <a:t> Driving A1 alone = ½ even + ½ odd; the other line picks up the difference:</a:t>
            </a:r>
          </a:p>
        </p:txBody>
      </p:sp>
      <p:pic>
        <p:nvPicPr>
          <p:cNvPr id="7" name="Picture 6" descr="eq_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8251267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3.</a:t>
            </a:r>
            <a:r>
              <a:rPr sz="1500" b="0">
                <a:solidFill>
                  <a:srgbClr val="1A1A1A"/>
                </a:solidFill>
                <a:latin typeface="Arial"/>
              </a:rPr>
              <a:t> Line voltages recombine the same way (used for the EO response):</a:t>
            </a:r>
          </a:p>
        </p:txBody>
      </p:sp>
      <p:pic>
        <p:nvPicPr>
          <p:cNvPr id="9" name="Picture 8" descr="eq_V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4110824" cy="502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5212080"/>
            <a:ext cx="11292840" cy="1097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285232"/>
            <a:ext cx="11018519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Checks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Matches a brute-force solution of the coupled telegrapher equations to 10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−13</a:t>
            </a:r>
            <a:r>
              <a:rPr sz="1350" b="0">
                <a:solidFill>
                  <a:srgbClr val="1A1A1A"/>
                </a:solidFill>
                <a:latin typeface="Arial"/>
              </a:rPr>
              <a:t> (S) and 10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−7</a:t>
            </a:r>
            <a:r>
              <a:rPr sz="1350" b="0">
                <a:solidFill>
                  <a:srgbClr val="1A1A1A"/>
                </a:solidFill>
                <a:latin typeface="Arial"/>
              </a:rPr>
              <a:t> (modulation).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NEXT is set by δ, FEXT by Δn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First order in the even/odd differences (ΔZ = Zδ, Δγ = jΔβ)</a:t>
            </a:r>
          </a:p>
        </p:txBody>
      </p:sp>
      <p:pic>
        <p:nvPicPr>
          <p:cNvPr id="4" name="Picture 3" descr="eq_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233640" cy="566928"/>
          </a:xfrm>
          <a:prstGeom prst="rect">
            <a:avLst/>
          </a:prstGeom>
        </p:spPr>
      </p:pic>
      <p:pic>
        <p:nvPicPr>
          <p:cNvPr id="5" name="Picture 4" descr="eq_f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5303926" cy="5669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310896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182112"/>
            <a:ext cx="3474720" cy="3090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NEXT</a:t>
            </a:r>
            <a:r>
              <a:rPr sz="1350" b="0">
                <a:solidFill>
                  <a:srgbClr val="1A1A1A"/>
                </a:solidFill>
                <a:latin typeface="Arial"/>
              </a:rPr>
              <a:t> = reflection difference: ∂S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11</a:t>
            </a:r>
            <a:r>
              <a:rPr sz="1350" b="0">
                <a:solidFill>
                  <a:srgbClr val="1A1A1A"/>
                </a:solidFill>
                <a:latin typeface="Arial"/>
              </a:rPr>
              <a:t>/∂Z is first order → ∝ δ. Δn enters only through Γ (mismatch).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FEXT</a:t>
            </a:r>
            <a:r>
              <a:rPr sz="1350" b="0">
                <a:solidFill>
                  <a:srgbClr val="1A1A1A"/>
                </a:solidFill>
                <a:latin typeface="Arial"/>
              </a:rPr>
              <a:t> = transmission difference: ∂S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21</a:t>
            </a:r>
            <a:r>
              <a:rPr sz="1350" b="0">
                <a:solidFill>
                  <a:srgbClr val="1A1A1A"/>
                </a:solidFill>
                <a:latin typeface="Arial"/>
              </a:rPr>
              <a:t>/∂t ≈ 1 → ∝ Δn. δ enters only as Γ·δ (second order).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14 mm, 30 GHz: Δn term −42 dB; δ term ≤ −60 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08960"/>
            <a:ext cx="7360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ul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255263"/>
            <a:ext cx="7269480" cy="2907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146304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NEXT saturates at ≈ δ/2 and has nulls at</a:t>
            </a:r>
          </a:p>
        </p:txBody>
      </p:sp>
      <p:pic>
        <p:nvPicPr>
          <p:cNvPr id="11" name="Picture 10" descr="eq_nu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874519"/>
            <a:ext cx="1595309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251460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06E"/>
                </a:solidFill>
                <a:latin typeface="Arial"/>
              </a:rPr>
              <a:t>≈ 5.5 GHz spacing at 14 mm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Model vs 3-D CST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1 mm agrees; 5 mm NEXT above 25 GHz is open (3-D at its error floor)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8638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50076"/>
            <a:ext cx="7772400" cy="43808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37160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444752"/>
            <a:ext cx="2971800" cy="22677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1 mm (reliable run)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FEXT and NEXT within a few dB.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Best-fit δ = 0.23 % (rms 1.9 dB): supports the signal-to-own-grounds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393192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4005072"/>
            <a:ext cx="2971800" cy="22677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20013"/>
                </a:solidFill>
                <a:latin typeface="Arial"/>
              </a:rPr>
              <a:t>5 mm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FEXT envelope agrees.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NEXT &gt; 25 GHz: 3-D has no nulls, 6–10 dB higher; it sits on the run's error floor (−56 dB).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Crosstalk vs electrode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Length enters only through e</a:t>
            </a:r>
            <a:r>
              <a:rPr sz="1500" b="1" baseline="30000">
                <a:solidFill>
                  <a:srgbClr val="0E2268"/>
                </a:solidFill>
                <a:latin typeface="Arial"/>
              </a:rPr>
              <a:t>−γL</a:t>
            </a:r>
            <a:r>
              <a:rPr sz="1500" b="1">
                <a:solidFill>
                  <a:srgbClr val="0E2268"/>
                </a:solidFill>
                <a:latin typeface="Arial"/>
              </a:rPr>
              <a:t>: one model for every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92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" y="1417320"/>
            <a:ext cx="109728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120640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93792"/>
            <a:ext cx="3383280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FEXT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grows ∝ f·L·Δn, then flattens with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5120640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5193792"/>
            <a:ext cx="3383280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oscillates with L; peak level ≈ δ/2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5120640"/>
            <a:ext cx="3666744" cy="11887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5193792"/>
            <a:ext cx="3392424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20013"/>
                </a:solidFill>
                <a:latin typeface="Arial"/>
              </a:rPr>
              <a:t>EO crosstalk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peaks where the aggressor's own walk-off null falls (60 GHz, ~14.7 mm)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Crosstalk window: the four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14 mm, n</a:t>
            </a:r>
            <a:r>
              <a:rPr sz="1500" b="1" baseline="-25000">
                <a:solidFill>
                  <a:srgbClr val="0E2268"/>
                </a:solidFill>
                <a:latin typeface="Arial"/>
              </a:rPr>
              <a:t>g</a:t>
            </a:r>
            <a:r>
              <a:rPr sz="1500" b="1">
                <a:solidFill>
                  <a:srgbClr val="0E2268"/>
                </a:solidFill>
                <a:latin typeface="Arial"/>
              </a:rPr>
              <a:t> = 2.27, source 50 Ω, load 40 Ω; band = δ from 0.21 to 0.61 %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1323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ui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00200"/>
            <a:ext cx="70408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371600"/>
            <a:ext cx="3977639" cy="9601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444752"/>
            <a:ext cx="3703320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E2268"/>
                </a:solidFill>
                <a:latin typeface="Arial"/>
              </a:rPr>
              <a:t>(1) Electrical, all ports 50 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|S</a:t>
            </a:r>
            <a:r>
              <a:rPr sz="1200" b="0" baseline="-25000">
                <a:solidFill>
                  <a:srgbClr val="1A1A1A"/>
                </a:solidFill>
                <a:latin typeface="Arial"/>
              </a:rPr>
              <a:t>31</a:t>
            </a:r>
            <a:r>
              <a:rPr sz="1200" b="0">
                <a:solidFill>
                  <a:srgbClr val="1A1A1A"/>
                </a:solidFill>
                <a:latin typeface="Arial"/>
              </a:rPr>
              <a:t>| NEXT, |S</a:t>
            </a:r>
            <a:r>
              <a:rPr sz="1200" b="0" baseline="-25000">
                <a:solidFill>
                  <a:srgbClr val="1A1A1A"/>
                </a:solidFill>
                <a:latin typeface="Arial"/>
              </a:rPr>
              <a:t>41</a:t>
            </a:r>
            <a:r>
              <a:rPr sz="1200" b="0">
                <a:solidFill>
                  <a:srgbClr val="1A1A1A"/>
                </a:solidFill>
                <a:latin typeface="Arial"/>
              </a:rPr>
              <a:t>| FEXT, as a VNA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468880"/>
            <a:ext cx="3977639" cy="1874519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542032"/>
            <a:ext cx="3703320" cy="17647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E2268"/>
                </a:solidFill>
                <a:latin typeface="Arial"/>
              </a:rPr>
              <a:t>(2) Voltage seen by the light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Device source/load; A driven, B's input on its idle driver.</a:t>
            </a:r>
          </a:p>
        </p:txBody>
      </p:sp>
      <p:pic>
        <p:nvPicPr>
          <p:cNvPr id="10" name="Picture 9" descr="eq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3429000"/>
            <a:ext cx="3749039" cy="4229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72400" y="4480560"/>
            <a:ext cx="3977639" cy="9601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553712"/>
            <a:ext cx="3703320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E2268"/>
                </a:solidFill>
                <a:latin typeface="Arial"/>
              </a:rPr>
              <a:t>(3) EO crosstalk</a:t>
            </a:r>
          </a:p>
        </p:txBody>
      </p:sp>
      <p:pic>
        <p:nvPicPr>
          <p:cNvPr id="13" name="Picture 12" descr="eq_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7" y="4846320"/>
            <a:ext cx="3041242" cy="5029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0" y="5577840"/>
            <a:ext cx="3977639" cy="7315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5650992"/>
            <a:ext cx="3703320" cy="6217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E2268"/>
                </a:solidFill>
                <a:latin typeface="Arial"/>
              </a:rPr>
              <a:t>(4) Victim voltages at B's two 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INTERCONNECT: the "Coupled TL" scripted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The single-line TL element, computed twice (even, odd) and recombined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310896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TL line element (existing)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1 table: f, loss, n, Re Z, Im Z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2 ports + modulation output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exact V(z) integral, no slicing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86200" y="2194560"/>
            <a:ext cx="73152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36192"/>
            <a:ext cx="310896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20013"/>
                </a:solidFill>
                <a:latin typeface="Arial"/>
              </a:rPr>
              <a:t>Coupled TL element (new)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2 tables: coupled_even/odd.txt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ports A1, A2, B1, B2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modulation A, B (+ 2 A, 2 B), far/near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536192"/>
            <a:ext cx="3246120" cy="1719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Recombination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S own line = ½(S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e</a:t>
            </a:r>
            <a:r>
              <a:rPr sz="1350" b="0">
                <a:solidFill>
                  <a:srgbClr val="1A1A1A"/>
                </a:solidFill>
                <a:latin typeface="Arial"/>
              </a:rPr>
              <a:t> + S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o</a:t>
            </a:r>
            <a:r>
              <a:rPr sz="1350" b="0">
                <a:solidFill>
                  <a:srgbClr val="1A1A1A"/>
                </a:solidFill>
                <a:latin typeface="Arial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S other line = ½(S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e</a:t>
            </a:r>
            <a:r>
              <a:rPr sz="1350" b="0">
                <a:solidFill>
                  <a:srgbClr val="1A1A1A"/>
                </a:solidFill>
                <a:latin typeface="Arial"/>
              </a:rPr>
              <a:t> − S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o</a:t>
            </a:r>
            <a:r>
              <a:rPr sz="1350" b="0">
                <a:solidFill>
                  <a:srgbClr val="1A1A1A"/>
                </a:solidFill>
                <a:latin typeface="Arial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same for the modulation outputs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5532120" cy="27889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2"/>
            <a:ext cx="5257800" cy="26791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Tables coupled_even.txt / coupled_odd.txt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Columns: frequency (Hz), loss (dB/m), microwave index, Re Z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0</a:t>
            </a:r>
            <a:r>
              <a:rPr sz="1350" b="0">
                <a:solidFill>
                  <a:srgbClr val="1A1A1A"/>
                </a:solidFill>
                <a:latin typeface="Arial"/>
              </a:rPr>
              <a:t>, Im Z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0</a:t>
            </a:r>
            <a:r>
              <a:rPr sz="1350" b="0">
                <a:solidFill>
                  <a:srgbClr val="1A1A1A"/>
                </a:solidFill>
                <a:latin typeface="Arial"/>
              </a:rPr>
              <a:t> (Ω).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Written by the GUI ("Export tables"): 3-D line fit ± the split (Δn × 1.146, δ = 0.61 %).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0.05 GHz to the Nyquist frequency; above 60 GHz, extrapolated with the single-line fit 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520440"/>
            <a:ext cx="5550408" cy="278892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593592"/>
            <a:ext cx="5276088" cy="267919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Code check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LSF code executed line by line vs Python twin: ≤ 4.5·10</a:t>
            </a:r>
            <a:r>
              <a:rPr sz="1350" b="0" baseline="30000">
                <a:solidFill>
                  <a:srgbClr val="1A1A1A"/>
                </a:solidFill>
                <a:latin typeface="Arial"/>
              </a:rPr>
              <a:t>−14</a:t>
            </a:r>
            <a:r>
              <a:rPr sz="1350" b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INTERCONNECT run (14 mm): aggressor within 0.09 dB / 0.44°; crosstalk error 72–84 dB below the aggressor.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INTERCONNECT test bench (PAIR_MOD / FE / 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Isolates the element: driver, idle victim driver, two terminations, analyser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81912"/>
            <a:ext cx="242316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ENA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output → driver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inputs 1, 2 ← two outputs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90672" y="1965960"/>
            <a:ext cx="2286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5087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581912"/>
            <a:ext cx="242316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SRC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driver, Z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1031" y="1965960"/>
            <a:ext cx="2286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581912"/>
            <a:ext cx="242316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CTL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Coupled TL element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51392" y="1965960"/>
            <a:ext cx="22860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150876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1581912"/>
            <a:ext cx="242316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LOAD_A2 / B2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terminations R</a:t>
            </a:r>
            <a:r>
              <a:rPr sz="1300" b="0" baseline="-25000">
                <a:solidFill>
                  <a:srgbClr val="1A1A1A"/>
                </a:solidFill>
                <a:latin typeface="Arial"/>
              </a:rPr>
              <a:t>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5532120" cy="33375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44952"/>
            <a:ext cx="5257800" cy="32278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Why this form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LOAD_B1 = Z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s</a:t>
            </a:r>
            <a:r>
              <a:rPr sz="1350" b="0">
                <a:solidFill>
                  <a:srgbClr val="1A1A1A"/>
                </a:solidFill>
                <a:latin typeface="Arial"/>
              </a:rPr>
              <a:t>: victim's input on its own idle driver.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Compound with scattering-data analysis on: only there are reflections exact (Step 0 result).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Three rows: an analyser reads two outputs; MOD = modulation A/B, FE = far end, NE = near 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971800"/>
            <a:ext cx="5550408" cy="333756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044952"/>
            <a:ext cx="5276088" cy="32278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How it is compared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Scale, latency and phase convention measured on the aggressor (A).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The same corrections applied to the victim (B): its error is the coupling error alone.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Scale 2.00 = EMF vs incident-wave convention; 341 ps = FIR filter delay.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Full MZM cascade in crosstalk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Two modulators on one coupled electrode; built and dry-run, first INTERCONNECT run pending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194560" cy="1005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201167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Driver A (Z</a:t>
            </a:r>
            <a:r>
              <a:rPr sz="1400" b="1" baseline="-25000">
                <a:solidFill>
                  <a:srgbClr val="0E2268"/>
                </a:solidFill>
                <a:latin typeface="Arial"/>
              </a:rPr>
              <a:t>s</a:t>
            </a:r>
            <a:r>
              <a:rPr sz="1400" b="1">
                <a:solidFill>
                  <a:srgbClr val="0E2268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ENA or PRBS/NRZ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194560" cy="1005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201167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Idle driver B (Z</a:t>
            </a:r>
            <a:r>
              <a:rPr sz="1400" b="1" baseline="-25000">
                <a:solidFill>
                  <a:srgbClr val="0E2268"/>
                </a:solidFill>
                <a:latin typeface="Arial"/>
              </a:rPr>
              <a:t>s</a:t>
            </a:r>
            <a:r>
              <a:rPr sz="1400" b="1">
                <a:solidFill>
                  <a:srgbClr val="0E2268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108960" y="1463040"/>
            <a:ext cx="2926080" cy="228600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36192"/>
            <a:ext cx="27432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20013"/>
                </a:solidFill>
                <a:latin typeface="Arial"/>
              </a:rPr>
              <a:t>Coupled TL (CTL_1)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A1 ───────── A2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B1 ───────── B2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outputs: modulation A, 2 A, B, 2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536192"/>
            <a:ext cx="1828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Load A (R</a:t>
            </a:r>
            <a:r>
              <a:rPr sz="1400" b="1" baseline="-25000">
                <a:solidFill>
                  <a:srgbClr val="0E2268"/>
                </a:solidFill>
                <a:latin typeface="Arial"/>
              </a:rPr>
              <a:t>t</a:t>
            </a:r>
            <a:r>
              <a:rPr sz="1400" b="1">
                <a:solidFill>
                  <a:srgbClr val="0E2268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816352"/>
            <a:ext cx="18288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2268"/>
                </a:solidFill>
                <a:latin typeface="Arial"/>
              </a:rPr>
              <a:t>Load B (R</a:t>
            </a:r>
            <a:r>
              <a:rPr sz="1400" b="1" baseline="-25000">
                <a:solidFill>
                  <a:srgbClr val="0E2268"/>
                </a:solidFill>
                <a:latin typeface="Arial"/>
              </a:rPr>
              <a:t>t</a:t>
            </a:r>
            <a:r>
              <a:rPr sz="1400" b="1">
                <a:solidFill>
                  <a:srgbClr val="0E2268"/>
                </a:solidFill>
                <a:latin typeface="Arial"/>
              </a:rPr>
              <a:t>)</a:t>
            </a:r>
          </a:p>
          <a:p>
            <a:pPr algn="l">
              <a:spcAft>
                <a:spcPts val="200"/>
              </a:spcAft>
            </a:pPr>
          </a:p>
        </p:txBody>
      </p:sp>
      <p:sp>
        <p:nvSpPr>
          <p:cNvPr id="14" name="Right Arrow 13"/>
          <p:cNvSpPr/>
          <p:nvPr/>
        </p:nvSpPr>
        <p:spPr>
          <a:xfrm>
            <a:off x="2697480" y="1783080"/>
            <a:ext cx="36576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2697480" y="3063240"/>
            <a:ext cx="36576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80760" y="1783080"/>
            <a:ext cx="36576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080760" y="3063240"/>
            <a:ext cx="365760" cy="365760"/>
          </a:xfrm>
          <a:prstGeom prst="rightArrow">
            <a:avLst/>
          </a:prstGeom>
          <a:solidFill>
            <a:srgbClr val="5A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1463040"/>
            <a:ext cx="2971800" cy="1005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36192"/>
            <a:ext cx="27889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8B57"/>
                </a:solidFill>
                <a:latin typeface="Arial"/>
              </a:rPr>
              <a:t>MZM A → PIN_A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ENA input 1 / EYE_1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743200"/>
            <a:ext cx="2971800" cy="100584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1587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816352"/>
            <a:ext cx="27889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8B57"/>
                </a:solidFill>
                <a:latin typeface="Arial"/>
              </a:rPr>
              <a:t>MZM B → PIN_B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ENA input 2 / EYE_2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42232"/>
            <a:ext cx="5257800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What it gives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ENA: B/A = EO crosstalk in the receiver, checked against the twin.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Eyes: A's eye on the coupled line; EYE_2 = crosstalk reaching B (driver idle).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Optics, bias, drive, source/load from the sidebar.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069080"/>
            <a:ext cx="5550408" cy="224028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142232"/>
            <a:ext cx="5276088" cy="2130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20013"/>
                </a:solidFill>
                <a:latin typeface="Arial"/>
              </a:rPr>
              <a:t>Reading the ENA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The raw ENA trace is a flat level with a fast ripple: a delay-free spike of the optical path, ~10× the response.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A1A1A"/>
                </a:solidFill>
                <a:latin typeface="Arial"/>
              </a:rPr>
              <a:t>The tool removes it (time gate + cos(πf/f</a:t>
            </a:r>
            <a:r>
              <a:rPr sz="1350" b="0" baseline="-25000">
                <a:solidFill>
                  <a:srgbClr val="1A1A1A"/>
                </a:solidFill>
                <a:latin typeface="Arial"/>
              </a:rPr>
              <a:t>s</a:t>
            </a:r>
            <a:r>
              <a:rPr sz="1350" b="0">
                <a:solidFill>
                  <a:srgbClr val="1A1A1A"/>
                </a:solidFill>
                <a:latin typeface="Arial"/>
              </a:rPr>
              <a:t>) correction) and saves the cleaned EO response and B/A.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926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Arial"/>
              </a:rPr>
              <a:t>Limits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532120" cy="5029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5257800" cy="4919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20013"/>
                </a:solidFill>
                <a:latin typeface="Arial"/>
              </a:rPr>
              <a:t>Limits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δ band</a:t>
            </a:r>
            <a:r>
              <a:rPr sz="1350" b="0">
                <a:solidFill>
                  <a:srgbClr val="1A1A1A"/>
                </a:solidFill>
                <a:latin typeface="Arial"/>
              </a:rPr>
              <a:t> 0.21–0.61 %: NEXT uncertain by ~9 dB; FEXT and EO only ±1 dB.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Port / pad coupling</a:t>
            </a:r>
            <a:r>
              <a:rPr sz="1350" b="0">
                <a:solidFill>
                  <a:srgbClr val="1A1A1A"/>
                </a:solidFill>
                <a:latin typeface="Arial"/>
              </a:rPr>
              <a:t> not modelled (Istanbul 3-D: port FEXT term ≈ −43 dB, dominant on short lines).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5 mm NEXT</a:t>
            </a:r>
            <a:r>
              <a:rPr sz="1350" b="0">
                <a:solidFill>
                  <a:srgbClr val="1A1A1A"/>
                </a:solidFill>
                <a:latin typeface="Arial"/>
              </a:rPr>
              <a:t> above 25 GHz unresolved (3-D error floor).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Straight electrode</a:t>
            </a:r>
            <a:r>
              <a:rPr sz="1350" b="0">
                <a:solidFill>
                  <a:srgbClr val="1A1A1A"/>
                </a:solidFill>
                <a:latin typeface="Arial"/>
              </a:rPr>
              <a:t> only in the cascade; data to 60 GHz.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200 µm pitch</a:t>
            </a:r>
            <a:r>
              <a:rPr sz="1350" b="0">
                <a:solidFill>
                  <a:srgbClr val="1A1A1A"/>
                </a:solidFill>
                <a:latin typeface="Arial"/>
              </a:rPr>
              <a:t> uniform line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280160"/>
            <a:ext cx="5550408" cy="50292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6792" y="1353312"/>
            <a:ext cx="5276088" cy="4919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E2268"/>
                </a:solidFill>
                <a:latin typeface="Arial"/>
              </a:rPr>
              <a:t>Next steps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1.</a:t>
            </a:r>
            <a:r>
              <a:rPr sz="1350" b="0">
                <a:solidFill>
                  <a:srgbClr val="1A1A1A"/>
                </a:solidFill>
                <a:latin typeface="Arial"/>
              </a:rPr>
              <a:t> First INTERCONNECT run of the full cascade (ENA, then eyes).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2.</a:t>
            </a:r>
            <a:r>
              <a:rPr sz="1350" b="0">
                <a:solidFill>
                  <a:srgbClr val="1A1A1A"/>
                </a:solidFill>
                <a:latin typeface="Arial"/>
              </a:rPr>
              <a:t> Narrow δ: second reliable 3-D length (long line, fine symmetric mesh) → keep 0.21–0.25 % if confirmed.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3.</a:t>
            </a:r>
            <a:r>
              <a:rPr sz="1350" b="0">
                <a:solidFill>
                  <a:srgbClr val="1A1A1A"/>
                </a:solidFill>
                <a:latin typeface="Arial"/>
              </a:rPr>
              <a:t> Lab: check that probes/pads tie each line's grounds.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4.</a:t>
            </a:r>
            <a:r>
              <a:rPr sz="1350" b="0">
                <a:solidFill>
                  <a:srgbClr val="1A1A1A"/>
                </a:solidFill>
                <a:latin typeface="Arial"/>
              </a:rPr>
              <a:t> Victim driven with its own pattern: combined eye penalty.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Arial"/>
              </a:rPr>
              <a:t>5.</a:t>
            </a:r>
            <a:r>
              <a:rPr sz="1350" b="0">
                <a:solidFill>
                  <a:srgbClr val="1A1A1A"/>
                </a:solidFill>
                <a:latin typeface="Arial"/>
              </a:rPr>
              <a:t> Slow-wave (Istanbul) line: split from 3-D lengths or a matched eigenmode cell.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466</Words>
  <Application>Microsoft Office PowerPoint</Application>
  <PresentationFormat>Widescreen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微软雅黑</vt:lpstr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29</cp:revision>
  <dcterms:created xsi:type="dcterms:W3CDTF">2025-12-17T10:39:38Z</dcterms:created>
  <dcterms:modified xsi:type="dcterms:W3CDTF">2026-09-28T09:09:54Z</dcterms:modified>
</cp:coreProperties>
</file>