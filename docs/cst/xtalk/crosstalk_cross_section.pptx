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d34bda78-90a1-9525-ccef-d613cef3527f}">
          <p14:sldIdLst>
            <p14:sldId id="256"/>
            <p14:sldId id="257"/>
            <p14:sldId id="258"/>
          </p14:sldIdLst>
        </p14:section>
        <p14:section name="3-D baseline" id="{bc288b57-2532-570e-5df7-3057afe16260}">
          <p14:sldIdLst>
            <p14:sldId id="259"/>
            <p14:sldId id="260"/>
          </p14:sldIdLst>
        </p14:section>
        <p14:section name="Cross-section method" id="{c0d55c44-96b5-e00d-623d-902780c62783}">
          <p14:sldIdLst>
            <p14:sldId id="261"/>
            <p14:sldId id="262"/>
            <p14:sldId id="263"/>
            <p14:sldId id="264"/>
            <p14:sldId id="265"/>
          </p14:sldIdLst>
        </p14:section>
        <p14:section name="Comparison" id="{2bf51c0e-0993-ed1e-b792-92caabad629d}">
          <p14:sldIdLst>
            <p14:sldId id="266"/>
            <p14:sldId id="267"/>
            <p14:sldId id="268"/>
            <p14:sldId id="269"/>
          </p14:sldIdLst>
        </p14:section>
        <p14:section name="Outlook" id="{d0e8a08d-c2df-35f9-8250-a7736e482937}">
          <p14:sldIdLst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n_even − n_odd (× 10⁻³), from CST β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Δn × 1000</c:v>
                </c:pt>
              </c:strCache>
            </c:strRef>
          </c:tx>
          <c:spPr>
            <a:solidFill>
              <a:srgbClr val="C8642A"/>
            </a:solidFill>
            <a:ln w="25400" cap="flat">
              <a:solidFill>
                <a:srgbClr val="C8642A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642A"/>
              </a:solidFill>
              <a:ln w="9525" cap="flat">
                <a:solidFill>
                  <a:srgbClr val="C8642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6</c:v>
                  </c:pt>
                  <c:pt idx="1">
                    <c:v>18</c:v>
                  </c:pt>
                  <c:pt idx="2">
                    <c:v>30</c:v>
                  </c:pt>
                  <c:pt idx="3">
                    <c:v>42</c:v>
                  </c:pt>
                  <c:pt idx="4">
                    <c:v>60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</c:v>
                </c:pt>
                <c:pt idx="1">
                  <c:v>1.51</c:v>
                </c:pt>
                <c:pt idx="2">
                  <c:v>1.51</c:v>
                </c:pt>
                <c:pt idx="3">
                  <c:v>1.52</c:v>
                </c:pt>
                <c:pt idx="4">
                  <c:v>1.57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GHz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8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"/>
          <c:min val="1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00000"/>
                </a:solidFill>
                <a:latin typeface="+mn-lt"/>
              </a:rPr>
              <a:t>Z_even / Z_odd − 1 (%), from field integration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inside metal</c:v>
                </c:pt>
              </c:strCache>
            </c:strRef>
          </c:tx>
          <c:spPr>
            <a:solidFill>
              <a:srgbClr val="1C7293"/>
            </a:solidFill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6</c:v>
                  </c:pt>
                  <c:pt idx="1">
                    <c:v>18</c:v>
                  </c:pt>
                  <c:pt idx="2">
                    <c:v>30</c:v>
                  </c:pt>
                  <c:pt idx="3">
                    <c:v>42</c:v>
                  </c:pt>
                  <c:pt idx="4">
                    <c:v>60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0.44</c:v>
                </c:pt>
                <c:pt idx="1">
                  <c:v>0.44</c:v>
                </c:pt>
                <c:pt idx="2">
                  <c:v>0.45</c:v>
                </c:pt>
                <c:pt idx="3">
                  <c:v>0.45</c:v>
                </c:pt>
                <c:pt idx="4">
                  <c:v>0.46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metal top</c:v>
                </c:pt>
              </c:strCache>
            </c:strRef>
          </c:tx>
          <c:spPr>
            <a:solidFill>
              <a:srgbClr val="6B7B8C"/>
            </a:solidFill>
            <a:ln w="25400" cap="flat">
              <a:solidFill>
                <a:srgbClr val="6B7B8C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B7B8C"/>
              </a:solidFill>
              <a:ln w="9525" cap="flat">
                <a:solidFill>
                  <a:srgbClr val="6B7B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6</c:v>
                  </c:pt>
                  <c:pt idx="1">
                    <c:v>18</c:v>
                  </c:pt>
                  <c:pt idx="2">
                    <c:v>30</c:v>
                  </c:pt>
                  <c:pt idx="3">
                    <c:v>42</c:v>
                  </c:pt>
                  <c:pt idx="4">
                    <c:v>60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0.3</c:v>
                </c:pt>
                <c:pt idx="1">
                  <c:v>0.3</c:v>
                </c:pt>
                <c:pt idx="2">
                  <c:v>0.3</c:v>
                </c:pt>
                <c:pt idx="3">
                  <c:v>0.3</c:v>
                </c:pt>
                <c:pt idx="4">
                  <c:v>0.31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GHz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8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B8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Electrical crosstalk between TFLN electrodes from a single cross-section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2-D port-mode simulation vs full 3-D CST · pitch 200 µm · 1 mm and 5 mm lines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cross-section modes reproduce the 3-D crosstalk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08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modes out of 6 carry all the crosstalk of a single-line launch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645920"/>
            <a:ext cx="3108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1–5 dB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agreement with 3-D CST for 1 mm NEXT and FEXT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645920"/>
            <a:ext cx="3108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834640"/>
            <a:ext cx="31089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 frequency in 2-D, for any line length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206240"/>
            <a:ext cx="110642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Crosstalk = the slow phase drift between an even and an odd wave shared by the two lines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Everything needed comes from one 2-D cross-section: index and impedance of those two waves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Open point: 5 mm NEXT above 25 GHz (model 6–10 dB lower than 3-D), at the 3-D error floor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identical GSG lines with separate grounds</a:t>
            </a:r>
            <a:endParaRPr lang="en-US" sz="3200" dirty="0"/>
          </a:p>
        </p:txBody>
      </p:sp>
      <p:pic>
        <p:nvPicPr>
          <p:cNvPr id="3" name="Image 0" descr="/home/user/claude/docs/cst/xtalk/waveguide_port_x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6583680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0" y="1463040"/>
            <a:ext cx="4389120" cy="4754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Thin-film LiNbO3 on SiO2 on 525 µm Si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line: ground–signal–ground (GSG), 35 µm signal, 4.15 µm gaps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Pitch 200 µm; inner grounds 57 µm apart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Question: how much of line A's signal appears on line B, at the near end (NEXT) and the far end (FEXT)?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Target length 14–15 mm, too long for direct 3-D runs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3-D runs: crosstalk falls fast with pitch, until the error floor</a:t>
            </a:r>
            <a:endParaRPr lang="en-US" sz="3200" dirty="0"/>
          </a:p>
        </p:txBody>
      </p:sp>
      <p:pic>
        <p:nvPicPr>
          <p:cNvPr id="3" name="Image 0" descr="/home/user/claude/docs/cst/xtalk/pitch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7863840" cy="29260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03920" y="128016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641080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200 µm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641080" y="1737360"/>
            <a:ext cx="3017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NEXT ≈ −60 dB, FEXT ≈ −70 dB at 30 GHz (1 mm)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8503920" y="2926080"/>
            <a:ext cx="3291840" cy="1463040"/>
          </a:xfrm>
          <a:prstGeom prst="roundRect">
            <a:avLst>
              <a:gd name="adj" fmla="val 5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41080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400 / 625 µm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41080" y="3383280"/>
            <a:ext cx="3017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below their own error floor (dotted) under ~30 GHz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4480560"/>
            <a:ext cx="11155680" cy="17373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4572000"/>
            <a:ext cx="108813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Error floor = |S21 − S43|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4937760"/>
            <a:ext cx="108813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Lines A and B are identical, so S21 and S43 should be equal. Their difference is the simulation's own error. Crosstalk below it cannot be trusted. Above ~30 GHz the 400 and 625 µm curves rise together: substrate leakage is a hypothesis, not proven.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Chaining five 1 mm blocks does not give the 5 mm crosstalk</a:t>
            </a:r>
            <a:endParaRPr lang="en-US" sz="3200" dirty="0"/>
          </a:p>
        </p:txBody>
      </p:sp>
      <p:pic>
        <p:nvPicPr>
          <p:cNvPr id="3" name="Image 0" descr="/home/user/claude/docs/cst/xtalk/cascade_na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114300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5720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Port phase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5029200"/>
            <a:ext cx="23774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removed: no change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83280" y="45720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2044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37 vs 50 Ω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520440" y="5029200"/>
            <a:ext cx="23774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renormalised: dips remain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45720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5508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A/B asymmetry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55080" y="5029200"/>
            <a:ext cx="23774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symmetrised: 0.0 dB change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9052560" y="457200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89720" y="4663440"/>
            <a:ext cx="2377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Result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9189720" y="5029200"/>
            <a:ext cx="23774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through path OK; NEXT/FEXT wrong → need another method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Idea: driving one line = half even wave + half odd wave</a:t>
            </a:r>
            <a:endParaRPr lang="en-US" sz="3200" dirty="0"/>
          </a:p>
        </p:txBody>
      </p:sp>
      <p:pic>
        <p:nvPicPr>
          <p:cNvPr id="3" name="Image 0" descr="/home/user/claude/docs/cst/xtalk/de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949440" cy="43891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80960" y="1371600"/>
            <a:ext cx="4114800" cy="4937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Even: same voltage on A and B. Odd: opposite voltages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Each wave keeps its shape along a uniform line, but the two travel at slightly different speeds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Their sum slowly moves from line A to line B: that is FEXT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Their impedances differ slightly: reflections at the ports no longer cancel on B: that is NEXT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Only 4 numbers needed: n_even, n_odd, Z_even, Z_odd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2-D port solve finds six quasi-TEM modes</a:t>
            </a:r>
            <a:endParaRPr lang="en-US" sz="3200" dirty="0"/>
          </a:p>
        </p:txBody>
      </p:sp>
      <p:pic>
        <p:nvPicPr>
          <p:cNvPr id="3" name="Image 0" descr="/home/user/claude/docs/cst/xtalk/modes_mont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8229600" cy="363016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869680" y="1371600"/>
            <a:ext cx="2926080" cy="4114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6 metal strips + metal port frame = 7 conductors → 6 modes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Modes 5 and 6: field in the signal gaps, identical on both lines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Modes 1–4: ground-vs-ground or whole-line-vs-frame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B8C"/>
                </a:solidFill>
              </a:rPr>
              <a:t>CST time-domain port solver, 30 GHz, electric shielding, port 943 × 935 µm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GSG launch can only excite the even and odd pair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1097280" cy="109728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37160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6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modes available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63240"/>
            <a:ext cx="2743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C"/>
                </a:solidFill>
              </a:rPr>
              <a:t>any voltage pattern on 6 strips (frame as reference)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51960" y="1371600"/>
            <a:ext cx="1097280" cy="109728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5196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−2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own grounds tied, symmetric drive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3063240"/>
            <a:ext cx="2743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C"/>
                </a:solidFill>
              </a:rPr>
              <a:t>both grounds of a line at the same potential: no slot modes (3, 4)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0" y="1371600"/>
            <a:ext cx="1097280" cy="1097280"/>
          </a:xfrm>
          <a:prstGeom prst="ellipse">
            <a:avLst/>
          </a:prstGeom>
          <a:solidFill>
            <a:srgbClr val="0B2E4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3232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−2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current returns on own grounds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3063240"/>
            <a:ext cx="2743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C"/>
                </a:solidFill>
              </a:rPr>
              <a:t>no net current per line: no line-vs-frame modes (1, 2)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12680" y="1371600"/>
            <a:ext cx="1097280" cy="1097280"/>
          </a:xfrm>
          <a:prstGeom prst="ellipse">
            <a:avLst/>
          </a:prstGeom>
          <a:solidFill>
            <a:srgbClr val="C8642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12680" y="1371600"/>
            <a:ext cx="10972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= 2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9189720" y="2606040"/>
            <a:ext cx="27432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left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189720" y="3063240"/>
            <a:ext cx="274320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B8C"/>
                </a:solidFill>
              </a:rPr>
              <a:t>line A in CPW mode, line B in CPW mode → even and odd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4389120"/>
            <a:ext cx="5212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In the 3-D model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4754880"/>
            <a:ext cx="52120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Lumped ports with PEC bars tie each line's grounds and drive symmetrically: the two constraints hold at both ends.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4297680"/>
            <a:ext cx="5486400" cy="2011680"/>
          </a:xfrm>
          <a:prstGeom prst="roundRect">
            <a:avLst>
              <a:gd name="adj" fmla="val 3636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4389120"/>
            <a:ext cx="5212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Where modes 1–4 can appear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4754880"/>
            <a:ext cx="52120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Asymmetric launches, bends without ground bridges, pads tying grounds differently. To check for the lab probes.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Inputs: index difference and impedance ratio vs frequency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28016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217920" y="128016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Both almost flat over 6–60 GHz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Impedance ratio: integrate the exported field across each gap → voltage per line; equal power → Z ∝ V²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Spread between grid rows (0.30–0.45 %) is the uncertainty → the model is drawn as a band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model: 3-D average line + 2-D even/odd split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3108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3-D single line (coworker)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speed, loss, Z vs 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includes gold losses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0B2E4F"/>
          </a:solidFill>
          <a:ln w="12700">
            <a:solidFill>
              <a:srgbClr val="0B2E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154680"/>
            <a:ext cx="3108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2-D port modes (this work)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Δn(f), Z_even/Z_odd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2286000"/>
            <a:ext cx="2743200" cy="1188720"/>
          </a:xfrm>
          <a:prstGeom prst="roundRect">
            <a:avLst>
              <a:gd name="adj" fmla="val 6154"/>
            </a:avLst>
          </a:prstGeom>
          <a:solidFill>
            <a:srgbClr val="6B7B8C"/>
          </a:solidFill>
          <a:ln w="12700">
            <a:solidFill>
              <a:srgbClr val="6B7B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2331720"/>
            <a:ext cx="25603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γ_even, γ_odd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Z_even, Z_odd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412480" y="228600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C8642A"/>
          </a:solidFill>
          <a:ln w="12700">
            <a:solidFill>
              <a:srgbClr val="C864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03920" y="2331720"/>
            <a:ext cx="3108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NEXT = ½(Γ_e − Γ_o)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FEXT = ½(T_e − T_o)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50 Ω ports, any length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840480" y="2057400"/>
            <a:ext cx="914400" cy="777240"/>
          </a:xfrm>
          <a:prstGeom prst="line">
            <a:avLst/>
          </a:prstGeom>
          <a:noFill/>
          <a:ln w="2540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0480" y="3703320"/>
            <a:ext cx="914400" cy="-777240"/>
          </a:xfrm>
          <a:prstGeom prst="line">
            <a:avLst/>
          </a:prstGeom>
          <a:noFill/>
          <a:ln w="2540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498080" y="2880360"/>
            <a:ext cx="914400" cy="0"/>
          </a:xfrm>
          <a:prstGeom prst="line">
            <a:avLst/>
          </a:prstGeom>
          <a:noFill/>
          <a:ln w="25400">
            <a:solidFill>
              <a:srgbClr val="6B7B8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466344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754880"/>
            <a:ext cx="5212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Why hybrid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5120640"/>
            <a:ext cx="52120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hexahedral port solver treats gold as a perfect conductor: n = 1.888, flat. The real line has n = 2.02 → 1.93 and loss. The split (Δn, ΔZ) comes from geometry and survives; the average comes from 3-D.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17920" y="466344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4754880"/>
            <a:ext cx="5212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Why a band, not a line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5120640"/>
            <a:ext cx="52120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Z_even/Z_odd − 1 is known only to 0.30–0.45 %. The red band is the model with each end of that range. Δn is precise (from β).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vs 3-D CST: levels agree, 5 mm ripples differ</a:t>
            </a:r>
            <a:endParaRPr lang="en-US" sz="3200" dirty="0"/>
          </a:p>
        </p:txBody>
      </p:sp>
      <p:pic>
        <p:nvPicPr>
          <p:cNvPr id="3" name="Image 0" descr="/home/user/claude/docs/cst/xtalk/modal_vs_s4p_v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143000"/>
            <a:ext cx="9235440" cy="54864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Scorecard: 1 mm agrees, 5 mm NEXT is the open point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417320"/>
                <a:gridCol w="1417320"/>
                <a:gridCol w="1417320"/>
                <a:gridCol w="1417320"/>
                <a:gridCol w="1417320"/>
                <a:gridCol w="1600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GHz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GHz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GHz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GHz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GHz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mm NEXT  CST /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−71 / −69…−65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−62 / −61…−57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−60 / −58…−55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−61 / −58…−54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−61 / −59…−56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 dB high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mm FEXT  CST /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−81 / −97…−84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−72 / −76…−72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−71 / −67…−65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−70 / −63…−61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−59 / −59…−58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at 18, 60 GHz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mm FEXT  CST /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−67 / −68…−66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−80 / −59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−57 / −54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−50 / −51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−44 / −48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envelope OK, dips not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mm NEXT  CST / 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−60 / −58…−55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−65 / −68…−62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−53 / −62…−61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−48 / −57…−54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−46 / −56…−55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6–10 dB low &gt; 25 GHz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2062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4297680"/>
            <a:ext cx="5212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Why 5 mm NEXT may be off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4663440"/>
            <a:ext cx="52120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uniform line must show NEXT nulls every ~15 GHz. The 3-D 5 mm NEXT has none above 25 GHz: an extra near-end contribution (ports, ground modes) or numerical error.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42062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55080" y="4297680"/>
            <a:ext cx="52120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Why we cannot tell yet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355080" y="4663440"/>
            <a:ext cx="5212080" cy="1554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5 mm 3-D error floor |S21 − S43| ≈ −56 dB at 30 GHz: the disputed values sit on it. Test: finer port mesh in the 5 mm 3-D run.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Cost: one cross-section replaces a family of long 3-D runs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3108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B7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834640"/>
            <a:ext cx="3108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 3-D run, each length, and the 5 mm run was already at its error floor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80560" y="1645920"/>
            <a:ext cx="3108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6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minutes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834640"/>
            <a:ext cx="3108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per 2-D frequency point with 2 adaptive passes; 5 points cover 6–60 GHz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0" y="1645920"/>
            <a:ext cx="31089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64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2834640"/>
            <a:ext cx="31089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any length afterwards: 1, 5 or 14 mm is a formula, no cascade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</a:rPr>
              <a:t>The first 2-D run took about 47 min with 3 adaptive passes; pass 3 changed the line impedance by only 0.36 %.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for the real 14 mm line</a:t>
            </a:r>
            <a:endParaRPr lang="en-US" sz="3200" dirty="0"/>
          </a:p>
        </p:txBody>
      </p:sp>
      <p:pic>
        <p:nvPicPr>
          <p:cNvPr id="3" name="Image 0" descr="/home/user/claude/docs/cst/xtalk/predict_14m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8046720" cy="2834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86800" y="1280160"/>
            <a:ext cx="3108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−48 dB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8686800" y="178308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</a:rPr>
              <a:t>FEXT at 30 GHz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2240280"/>
            <a:ext cx="3108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−43 dB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686800" y="274320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</a:rPr>
              <a:t>FEXT at 60 GHz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−54 dB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3703320"/>
            <a:ext cx="3108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B8C"/>
                </a:solidFill>
              </a:rPr>
              <a:t>NEXT at 60 GHz (line only)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FEXT grows with length (about +20 dB from 1 mm to 14 mm); it dominates for long lines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NEXT saturates with length; any near-end contribution from pads or ports must be added separately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Pitch 200 µm, straight uniform line, 50 Ω terminations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Slow-wave lines: same physics, one unit cell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Still uniform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2918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T-loaded grounds repeat every period p ≪ wavelength. Over a period the wave sees one effective n, Z, α: the line behaves as uniform.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3484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Still even + odd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434840" y="1828800"/>
            <a:ext cx="32918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Two identical, aligned lines keep the A↔B mirror symmetry: the pair modes are still even and odd (Bloch modes).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18388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But no 2-D port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183880" y="1828800"/>
            <a:ext cx="32918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cross-section cannot see the tees. Use one period instead.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023360"/>
            <a:ext cx="1106424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Option 1: 3-D eigenmode solve of one period of both lines, periodic boundaries → β_even, β_odd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Option 2: short 3-D runs of N and 2N periods → 4-port transfer matrix → eigenvalues give γ_even, γ_odd and Bloch impedances (the extraction we already wrote, applied to cells)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Then the same model, the same INTERCONNECT block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B8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1. Finer port mesh in the 5 mm 3-D run: settles the NEXT question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2. INTERCONNECT coupled-electrode block: 4 RF ports + EO outputs, from this model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3. Unit-cell extraction for slow-wave lines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pper Ink">
  <a:themeElements>
    <a:clrScheme name="Copper Ink">
      <a:dk1>
        <a:srgbClr val="1B2430"/>
      </a:dk1>
      <a:lt1>
        <a:srgbClr val="FFFFFF"/>
      </a:lt1>
      <a:dk2>
        <a:srgbClr val="0B2E4F"/>
      </a:dk2>
      <a:lt2>
        <a:srgbClr val="EEF2F6"/>
      </a:lt2>
      <a:accent1>
        <a:srgbClr val="C8642A"/>
      </a:accent1>
      <a:accent2>
        <a:srgbClr val="1C7293"/>
      </a:accent2>
      <a:accent3>
        <a:srgbClr val="6B7B8C"/>
      </a:accent3>
      <a:accent4>
        <a:srgbClr val="2E8B57"/>
      </a:accent4>
      <a:accent5>
        <a:srgbClr val="B03A2E"/>
      </a:accent5>
      <a:accent6>
        <a:srgbClr val="D9A441"/>
      </a:accent6>
      <a:hlink>
        <a:srgbClr val="1C7293"/>
      </a:hlink>
      <a:folHlink>
        <a:srgbClr val="6B7B8C"/>
      </a:folHlink>
    </a:clrScheme>
    <a:fontScheme name="Copper In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Crosstalk of coupled TFLN electrodes from cross-section modes</dc:title>
  <dc:subject>PptxGenJS Presentation</dc:subject>
  <dc:creator>PptxGenJS</dc:creator>
  <cp:lastModifiedBy>PptxGenJS</cp:lastModifiedBy>
  <cp:revision>1</cp:revision>
  <dcterms:created xsi:type="dcterms:W3CDTF">2026-10-19T09:02:45Z</dcterms:created>
  <dcterms:modified xsi:type="dcterms:W3CDTF">2026-10-19T09:02:45Z</dcterms:modified>
</cp:coreProperties>
</file>