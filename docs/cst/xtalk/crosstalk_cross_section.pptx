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3CC36F-2A63-4F1A-A353-45229F9441A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7462E5-9762-40A4-80E8-4F238B7AC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032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48CF-5D94-277B-4917-A50E19718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4B7E60-9F66-1883-45F0-77BB1D07B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77522-275D-1405-A7AE-667FFC51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2A4E0-3AF4-785D-B839-2214FB648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0E961D-2F71-1EBE-9298-336DF08B1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969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F54A-A149-F283-E5EA-F7BD29065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D45B2-B66D-0F60-49F8-3D01C75E5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CF4C4-C4E8-0F2B-8305-E63F462E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9418B-3B38-0745-961E-85AF718CB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CAF101-F462-8A72-F015-A1C841792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679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71D38-BB99-CBCC-0265-E2D9A9201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F88D70-7C38-3390-A780-128242A11E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C99F3D-2223-1A96-DA2B-5AEFE7D96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3064CF-C831-874F-9928-A447F31F3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67603-82BC-FE5F-F825-84DDF4AF9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257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A8D5F-8F0B-ACC7-8337-2A1C15267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74044-977A-C190-8DA2-822D701ED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76CE2E-3749-07D5-2197-401CA51D6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01F53E-4660-9532-88FE-7908FE6B8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12D36A-9311-4E5A-6F39-8CB61AB4E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6503B4-8197-133A-FA36-3344E3F3C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05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BA873-F4AC-8E49-8F7E-B9E8F1BAB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E863D4-05B6-9AE8-5727-1D2C37CB6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F5FAA-6EBE-7944-5EA3-802091A1FF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F4806D-1FB3-CD54-CF67-57B401CCF0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6DF826-1F8C-A403-CAC9-B8A0F6769A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8C510B-763D-1C12-C7EB-7AD5B28EE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D9C543-285B-F707-8CB7-E0104F8CF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687C71-DDA4-BFF2-0F51-DF26131BF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22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DB840-EA07-22E2-A22C-6A612038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E16E4A-72FE-5D84-0374-90AB45569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E8357-F4B7-3331-2EE0-E193FBE83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018554-50D0-DA83-C4F4-02C41DD67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242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4500F2-9716-A1A8-4434-8C4908507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1DBF5-196B-8AAD-41E9-4D02118C9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AE642-89F5-CC7E-8990-F8091CB24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189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6C01E-83E8-B257-6ABD-B736ADD1C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490AE-893A-0498-EDE1-77F95B83B9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2ED0CB-EBAB-00CF-187B-BF916FD7D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D4D795-9810-7D10-4D49-E50A36996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38A76-FED7-34A2-6983-5E894F7D3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850DD2-164F-F716-7519-5BE819D49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377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663CD-C176-381B-119D-053C81741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6356E7-43B4-F3BF-C480-7ED1E14D65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8331D0-5652-5C57-C7DC-7C0F1CF48D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3317AD-514C-271A-1750-29C99B934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9AEC50-6A35-B567-A187-05BCDCAD5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6574F-382B-1B34-4B85-64B0EA2A4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7571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B51BB-BD45-B536-9FE9-BC1CF3D00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6C92E1-EA83-B021-BD95-9356FDF2C1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FAF5F-2CC1-F4F3-6A42-740EA5EAD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36618-FB36-8157-9D99-D5CD7C638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A9AAD-0F5F-B0D7-1934-85BC3F5E8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814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127568-B49F-966C-DA93-622004AC1D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5C9395-59C8-F7B3-AC4C-46A4249A9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36246-5E71-7241-C520-CC3587A2A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16AF4-AB52-5650-0ECF-DB34251DC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5F979-A3BC-61BF-5DAE-99FB5FFC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0535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1040" y="0"/>
            <a:ext cx="2467880" cy="2057147"/>
          </a:xfrm>
          <a:prstGeom prst="rect">
            <a:avLst/>
          </a:prstGeom>
          <a:noFill/>
        </p:spPr>
      </p:pic>
      <p:grpSp>
        <p:nvGrpSpPr>
          <p:cNvPr id="8" name="组合 7"/>
          <p:cNvGrpSpPr/>
          <p:nvPr userDrawn="1"/>
        </p:nvGrpSpPr>
        <p:grpSpPr>
          <a:xfrm>
            <a:off x="0" y="6485001"/>
            <a:ext cx="12192000" cy="383243"/>
            <a:chOff x="0" y="4833033"/>
            <a:chExt cx="9144000" cy="287432"/>
          </a:xfrm>
        </p:grpSpPr>
        <p:sp>
          <p:nvSpPr>
            <p:cNvPr id="9" name="Text Box 2"/>
            <p:cNvSpPr txBox="1">
              <a:spLocks noChangeArrowheads="1"/>
            </p:cNvSpPr>
            <p:nvPr/>
          </p:nvSpPr>
          <p:spPr bwMode="auto">
            <a:xfrm>
              <a:off x="0" y="4835723"/>
              <a:ext cx="1763688" cy="284742"/>
            </a:xfrm>
            <a:prstGeom prst="rect">
              <a:avLst/>
            </a:prstGeom>
            <a:solidFill>
              <a:srgbClr val="DC0000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0" name="Text Box 2"/>
            <p:cNvSpPr txBox="1">
              <a:spLocks noChangeArrowheads="1"/>
            </p:cNvSpPr>
            <p:nvPr/>
          </p:nvSpPr>
          <p:spPr bwMode="auto">
            <a:xfrm>
              <a:off x="1763688" y="4835723"/>
              <a:ext cx="7380312" cy="284742"/>
            </a:xfrm>
            <a:prstGeom prst="rect">
              <a:avLst/>
            </a:prstGeom>
            <a:solidFill>
              <a:srgbClr val="00288C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0" y="4833033"/>
              <a:ext cx="9143999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TW" sz="1800" dirty="0">
                  <a:solidFill>
                    <a:schemeClr val="bg1"/>
                  </a:solidFill>
                  <a:latin typeface="Arial" panose="020B0604020202020204" pitchFamily="34" charset="0"/>
                  <a:ea typeface="PMingLiU" pitchFamily="18" charset="-120"/>
                  <a:cs typeface="Arial" panose="020B0604020202020204" pitchFamily="34" charset="0"/>
                </a:rPr>
                <a:t>www.afrmilan.com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97498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61"/>
          <p:cNvGrpSpPr/>
          <p:nvPr userDrawn="1"/>
        </p:nvGrpSpPr>
        <p:grpSpPr>
          <a:xfrm>
            <a:off x="631357" y="453550"/>
            <a:ext cx="996088" cy="0"/>
            <a:chOff x="707557" y="548800"/>
            <a:chExt cx="996088" cy="0"/>
          </a:xfrm>
        </p:grpSpPr>
        <p:cxnSp>
          <p:nvCxnSpPr>
            <p:cNvPr id="10" name="直接连接符 9"/>
            <p:cNvCxnSpPr/>
            <p:nvPr/>
          </p:nvCxnSpPr>
          <p:spPr bwMode="auto">
            <a:xfrm>
              <a:off x="707557" y="548800"/>
              <a:ext cx="29953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F2001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直接连接符 11"/>
            <p:cNvCxnSpPr/>
            <p:nvPr/>
          </p:nvCxnSpPr>
          <p:spPr bwMode="auto">
            <a:xfrm>
              <a:off x="983645" y="548800"/>
              <a:ext cx="7200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0E226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3" name="组合 12"/>
          <p:cNvGrpSpPr/>
          <p:nvPr userDrawn="1"/>
        </p:nvGrpSpPr>
        <p:grpSpPr>
          <a:xfrm>
            <a:off x="10607281" y="233681"/>
            <a:ext cx="1177119" cy="900000"/>
            <a:chOff x="7955458" y="175261"/>
            <a:chExt cx="882839" cy="675000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60" t="23787" r="27970" b="32989"/>
            <a:stretch>
              <a:fillRect/>
            </a:stretch>
          </p:blipFill>
          <p:spPr>
            <a:xfrm>
              <a:off x="7955458" y="175261"/>
              <a:ext cx="882839" cy="675000"/>
            </a:xfrm>
            <a:prstGeom prst="rect">
              <a:avLst/>
            </a:prstGeom>
          </p:spPr>
        </p:pic>
        <p:sp>
          <p:nvSpPr>
            <p:cNvPr id="15" name="椭圆 14"/>
            <p:cNvSpPr/>
            <p:nvPr userDrawn="1"/>
          </p:nvSpPr>
          <p:spPr>
            <a:xfrm>
              <a:off x="8676456" y="195486"/>
              <a:ext cx="144016" cy="14401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</p:spTree>
    <p:extLst>
      <p:ext uri="{BB962C8B-B14F-4D97-AF65-F5344CB8AC3E}">
        <p14:creationId xmlns:p14="http://schemas.microsoft.com/office/powerpoint/2010/main" val="33285602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FB5CBE-16B3-E38A-B202-DD6A9A61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2B50FB-DD96-88A4-B12A-5356FDB5D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94A9B6-518F-CF03-4199-4F2D321837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8336F-6941-638B-CC70-DD5FDD1807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247DF-32E2-7EEB-3071-DBCF205D4F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391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103120"/>
            <a:ext cx="12188952" cy="11887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1A1A1A"/>
                </a:solidFill>
                <a:latin typeface="Arial"/>
              </a:rPr>
              <a:t>Electrical crosstalk from a single cross-section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337560"/>
            <a:ext cx="12188952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5A606E"/>
                </a:solidFill>
                <a:latin typeface="Arial"/>
              </a:rPr>
              <a:t>2-D port modes vs full 3-D CST · two TFLN GSG lines, pitch 200 µm · 1 mm and 5 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Two cross-section modes reproduce the crosstalk of the 3-D simulations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361188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0E2268"/>
                </a:solidFill>
                <a:latin typeface="Arial"/>
              </a:rPr>
              <a:t>2 of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3246120" cy="100583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modes carry all the crosstalk of a single-line launch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6304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88536" y="1600200"/>
            <a:ext cx="361188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0E2268"/>
                </a:solidFill>
                <a:latin typeface="Arial"/>
              </a:rPr>
              <a:t>1–5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1416" y="2560320"/>
            <a:ext cx="3246120" cy="100583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agreement with 3-D CST, 1 mm NEXT and FEXT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6304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2" y="1600200"/>
            <a:ext cx="361188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20013"/>
                </a:solidFill>
                <a:latin typeface="Arial"/>
              </a:rPr>
              <a:t>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2560320"/>
            <a:ext cx="3246120" cy="100583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per frequency in 2-D, for any line length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5532120" cy="23774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005072"/>
            <a:ext cx="5257800" cy="22677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Main message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Crosstalk = slow phase drift between an </a:t>
            </a:r>
            <a:r>
              <a:rPr sz="1200" b="1">
                <a:solidFill>
                  <a:srgbClr val="1A1A1A"/>
                </a:solidFill>
                <a:latin typeface="Arial"/>
              </a:rPr>
              <a:t>even</a:t>
            </a:r>
            <a:r>
              <a:rPr sz="1200" b="0">
                <a:solidFill>
                  <a:srgbClr val="1A1A1A"/>
                </a:solidFill>
                <a:latin typeface="Arial"/>
              </a:rPr>
              <a:t> and an </a:t>
            </a:r>
            <a:r>
              <a:rPr sz="1200" b="1">
                <a:solidFill>
                  <a:srgbClr val="1A1A1A"/>
                </a:solidFill>
                <a:latin typeface="Arial"/>
              </a:rPr>
              <a:t>odd</a:t>
            </a:r>
            <a:r>
              <a:rPr sz="1200" b="0">
                <a:solidFill>
                  <a:srgbClr val="1A1A1A"/>
                </a:solidFill>
                <a:latin typeface="Arial"/>
              </a:rPr>
              <a:t> wave shared by the two lines.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Their index and impedance come from one 2-D cross-section; any length follows from a formula.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931920"/>
            <a:ext cx="5532120" cy="23774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4005072"/>
            <a:ext cx="5257800" cy="22677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F20013"/>
                </a:solidFill>
                <a:latin typeface="Arial"/>
              </a:rPr>
              <a:t>Open point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5 mm NEXT above 25 GHz: model 6–10 dB below 3-D.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The 3-D values sit on the 5 mm error floor (−56 dB). Test: finer port mesh.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Structure and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Two identical GSG lines; the grounds of the two lines are not connected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676656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aveguide_port_x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780" y="1463040"/>
            <a:ext cx="5867399" cy="4800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52360" y="1417320"/>
            <a:ext cx="4297680" cy="48920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1490472"/>
            <a:ext cx="4023360" cy="47823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Setup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Thin-film LiNbO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3</a:t>
            </a:r>
            <a:r>
              <a:rPr sz="1200" b="0">
                <a:solidFill>
                  <a:srgbClr val="1A1A1A"/>
                </a:solidFill>
                <a:latin typeface="Arial"/>
              </a:rPr>
              <a:t> on SiO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2</a:t>
            </a:r>
            <a:r>
              <a:rPr sz="1200" b="0">
                <a:solidFill>
                  <a:srgbClr val="1A1A1A"/>
                </a:solidFill>
                <a:latin typeface="Arial"/>
              </a:rPr>
              <a:t> on 525 µm Si.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Each line: ground–signal–ground, signal 35 µm, gaps 4.15 µm.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Pitch 200 µm; inner grounds 57 µm apart.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NEXT</a:t>
            </a:r>
            <a:r>
              <a:rPr sz="1200" b="0">
                <a:solidFill>
                  <a:srgbClr val="1A1A1A"/>
                </a:solidFill>
                <a:latin typeface="Arial"/>
              </a:rPr>
              <a:t> = S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31</a:t>
            </a:r>
            <a:r>
              <a:rPr sz="1200" b="0">
                <a:solidFill>
                  <a:srgbClr val="1A1A1A"/>
                </a:solidFill>
                <a:latin typeface="Arial"/>
              </a:rPr>
              <a:t>: line A's signal seen at the near end of line B.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FEXT</a:t>
            </a:r>
            <a:r>
              <a:rPr sz="1200" b="0">
                <a:solidFill>
                  <a:srgbClr val="1A1A1A"/>
                </a:solidFill>
                <a:latin typeface="Arial"/>
              </a:rPr>
              <a:t> = S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41</a:t>
            </a:r>
            <a:r>
              <a:rPr sz="1200" b="0">
                <a:solidFill>
                  <a:srgbClr val="1A1A1A"/>
                </a:solidFill>
                <a:latin typeface="Arial"/>
              </a:rPr>
              <a:t>: seen at the far end.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Target length 14–15 mm: too long for direct 3-D runs.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3-D baseline: pitch study at 1 mm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Crosstalk falls fast with pitch, until it reaches the simulation's own error floor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758952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tch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28571"/>
            <a:ext cx="7498080" cy="27492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75320" y="1417320"/>
            <a:ext cx="3474720" cy="14173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490472"/>
            <a:ext cx="3200400" cy="1307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200 µm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NEXT ≈ −60 dB, FEXT ≈ −70 dB at 30 GHz.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75320" y="2971800"/>
            <a:ext cx="3474720" cy="14173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3044952"/>
            <a:ext cx="3200400" cy="1307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400 / 625 µm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below their own error floor (dotted) under ~30 GHz.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92840" cy="173736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645152"/>
            <a:ext cx="11018519" cy="162763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F20013"/>
                </a:solidFill>
                <a:latin typeface="Arial"/>
              </a:rPr>
              <a:t>Error floor = |S</a:t>
            </a:r>
            <a:r>
              <a:rPr sz="1350" b="1" baseline="-25000">
                <a:solidFill>
                  <a:srgbClr val="F20013"/>
                </a:solidFill>
                <a:latin typeface="Arial"/>
              </a:rPr>
              <a:t>21</a:t>
            </a:r>
            <a:r>
              <a:rPr sz="1350" b="1">
                <a:solidFill>
                  <a:srgbClr val="F20013"/>
                </a:solidFill>
                <a:latin typeface="Arial"/>
              </a:rPr>
              <a:t> − S</a:t>
            </a:r>
            <a:r>
              <a:rPr sz="1350" b="1" baseline="-25000">
                <a:solidFill>
                  <a:srgbClr val="F20013"/>
                </a:solidFill>
                <a:latin typeface="Arial"/>
              </a:rPr>
              <a:t>43</a:t>
            </a:r>
            <a:r>
              <a:rPr sz="1350" b="1">
                <a:solidFill>
                  <a:srgbClr val="F20013"/>
                </a:solidFill>
                <a:latin typeface="Arial"/>
              </a:rPr>
              <a:t>|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Lines A and B are identical, so S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21</a:t>
            </a:r>
            <a:r>
              <a:rPr sz="1200" b="0">
                <a:solidFill>
                  <a:srgbClr val="1A1A1A"/>
                </a:solidFill>
                <a:latin typeface="Arial"/>
              </a:rPr>
              <a:t> = S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43</a:t>
            </a:r>
            <a:r>
              <a:rPr sz="1200" b="0">
                <a:solidFill>
                  <a:srgbClr val="1A1A1A"/>
                </a:solidFill>
                <a:latin typeface="Arial"/>
              </a:rPr>
              <a:t> in an exact solution: their difference is the run's numerical error.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Crosstalk below it is not trustworthy. Above ~30 GHz the 400 and 625 µm curves rise together: substrate leakage is a hypothesis, not proven.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Chaining five 1 mm blocks fails for crosstalk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The through path is reproduced; NEXT and FEXT are not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1129284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scade_na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48" y="1463040"/>
            <a:ext cx="10940142" cy="3063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47548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828032"/>
            <a:ext cx="2423160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Port phase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removed: no change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47548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4828032"/>
            <a:ext cx="2423160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37 vs 50 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renormalised: dips remain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7548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4828032"/>
            <a:ext cx="2423160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A/B asymmetry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symmetrised: 0.0 dB change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4754880"/>
            <a:ext cx="2697480" cy="15544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98280" y="4828032"/>
            <a:ext cx="2423160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F20013"/>
                </a:solidFill>
                <a:latin typeface="Arial"/>
              </a:rPr>
              <a:t>Conclusion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need a method that does not rely on 3-D crosstalk values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Idea: one line driven = half even + half odd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Each wave keeps its shape on a uniform line; only their speeds and impedances differ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69494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00432"/>
            <a:ext cx="6858000" cy="4325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35240" y="1417320"/>
            <a:ext cx="4114800" cy="48920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490472"/>
            <a:ext cx="3840480" cy="47823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Physics in four numbers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A1A1A"/>
                </a:solidFill>
                <a:latin typeface="Arial"/>
              </a:rPr>
              <a:t>Even:</a:t>
            </a:r>
            <a:r>
              <a:rPr sz="1200" b="0">
                <a:solidFill>
                  <a:srgbClr val="1A1A1A"/>
                </a:solidFill>
                <a:latin typeface="Arial"/>
              </a:rPr>
              <a:t> same voltage on A and B. </a:t>
            </a:r>
            <a:r>
              <a:rPr sz="1200" b="1">
                <a:solidFill>
                  <a:srgbClr val="1A1A1A"/>
                </a:solidFill>
                <a:latin typeface="Arial"/>
              </a:rPr>
              <a:t>Odd:</a:t>
            </a:r>
            <a:r>
              <a:rPr sz="1200" b="0">
                <a:solidFill>
                  <a:srgbClr val="1A1A1A"/>
                </a:solidFill>
                <a:latin typeface="Arial"/>
              </a:rPr>
              <a:t> opposite voltages.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Different speeds → their sum drifts from line A to line B: </a:t>
            </a:r>
            <a:r>
              <a:rPr sz="1200" b="1">
                <a:solidFill>
                  <a:srgbClr val="1A1A1A"/>
                </a:solidFill>
                <a:latin typeface="Arial"/>
              </a:rPr>
              <a:t>FEXT</a:t>
            </a:r>
            <a:r>
              <a:rPr sz="1200" b="0">
                <a:solidFill>
                  <a:srgbClr val="1A1A1A"/>
                </a:solidFill>
                <a:latin typeface="Arial"/>
              </a:rPr>
              <a:t>, set by Δn.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Different impedances → port reflections no longer cancel on B: </a:t>
            </a:r>
            <a:r>
              <a:rPr sz="1200" b="1">
                <a:solidFill>
                  <a:srgbClr val="1A1A1A"/>
                </a:solidFill>
                <a:latin typeface="Arial"/>
              </a:rPr>
              <a:t>NEXT</a:t>
            </a:r>
            <a:r>
              <a:rPr sz="1200" b="0">
                <a:solidFill>
                  <a:srgbClr val="1A1A1A"/>
                </a:solidFill>
                <a:latin typeface="Arial"/>
              </a:rPr>
              <a:t>, set by Z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even</a:t>
            </a:r>
            <a:r>
              <a:rPr sz="1200" b="0">
                <a:solidFill>
                  <a:srgbClr val="1A1A1A"/>
                </a:solidFill>
                <a:latin typeface="Arial"/>
              </a:rPr>
              <a:t>/Z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odd</a:t>
            </a:r>
            <a:r>
              <a:rPr sz="1200" b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Needed: n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even</a:t>
            </a:r>
            <a:r>
              <a:rPr sz="1200" b="0">
                <a:solidFill>
                  <a:srgbClr val="1A1A1A"/>
                </a:solidFill>
                <a:latin typeface="Arial"/>
              </a:rPr>
              <a:t>, n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odd</a:t>
            </a:r>
            <a:r>
              <a:rPr sz="1200" b="0">
                <a:solidFill>
                  <a:srgbClr val="1A1A1A"/>
                </a:solidFill>
                <a:latin typeface="Arial"/>
              </a:rPr>
              <a:t>, Z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even</a:t>
            </a:r>
            <a:r>
              <a:rPr sz="1200" b="0">
                <a:solidFill>
                  <a:srgbClr val="1A1A1A"/>
                </a:solidFill>
                <a:latin typeface="Arial"/>
              </a:rPr>
              <a:t>, Z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odd</a:t>
            </a:r>
            <a:r>
              <a:rPr sz="1200" b="0">
                <a:solidFill>
                  <a:srgbClr val="1A1A1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The 2-D port solve finds six quasi-TEM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6 metal strips + metal port frame = 7 conductors → 6 modes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78638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es_mo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4341"/>
            <a:ext cx="7772400" cy="342355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417320"/>
            <a:ext cx="3200400" cy="36576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490472"/>
            <a:ext cx="2926080" cy="35478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Reading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Modes 5, 6: field in the signal gaps, identical on both lines → the even/odd pair.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Modes 1–4: ground vs ground, or whole line vs frame.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CST time-domain port solver, port modes only, electric shielding, port 650 × 900 µm. Run at 6, 18, 30, 42, 60 GHz.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A GSG launch excites only the even/odd pair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Counting what the port allows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1463040"/>
            <a:ext cx="1051560" cy="1051560"/>
          </a:xfrm>
          <a:prstGeom prst="ellipse">
            <a:avLst/>
          </a:prstGeom>
          <a:solidFill>
            <a:srgbClr val="0E2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463040"/>
            <a:ext cx="1051560" cy="10515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26974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modes available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269748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any voltage pattern on the 6 strips</a:t>
            </a:r>
          </a:p>
        </p:txBody>
      </p:sp>
      <p:sp>
        <p:nvSpPr>
          <p:cNvPr id="8" name="Oval 7"/>
          <p:cNvSpPr/>
          <p:nvPr/>
        </p:nvSpPr>
        <p:spPr>
          <a:xfrm>
            <a:off x="4114800" y="1463040"/>
            <a:ext cx="1051560" cy="1051560"/>
          </a:xfrm>
          <a:prstGeom prst="ellipse">
            <a:avLst/>
          </a:prstGeom>
          <a:solidFill>
            <a:srgbClr val="0E2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1463040"/>
            <a:ext cx="1051560" cy="10515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− 2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651760"/>
            <a:ext cx="26974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grounds tied, symmetric feed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91840"/>
            <a:ext cx="269748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removes the slot modes 3, 4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0" y="1463040"/>
            <a:ext cx="1051560" cy="1051560"/>
          </a:xfrm>
          <a:prstGeom prst="ellipse">
            <a:avLst/>
          </a:prstGeom>
          <a:solidFill>
            <a:srgbClr val="0E2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463040"/>
            <a:ext cx="1051560" cy="10515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651760"/>
            <a:ext cx="26974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current returns on own grounds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291840"/>
            <a:ext cx="269748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removes the line-vs-frame modes 1, 2</a:t>
            </a:r>
          </a:p>
        </p:txBody>
      </p:sp>
      <p:sp>
        <p:nvSpPr>
          <p:cNvPr id="16" name="Oval 15"/>
          <p:cNvSpPr/>
          <p:nvPr/>
        </p:nvSpPr>
        <p:spPr>
          <a:xfrm>
            <a:off x="9784080" y="1463040"/>
            <a:ext cx="1051560" cy="1051560"/>
          </a:xfrm>
          <a:prstGeom prst="ellipse">
            <a:avLst/>
          </a:prstGeom>
          <a:solidFill>
            <a:srgbClr val="F200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1463040"/>
            <a:ext cx="1051560" cy="10515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=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651760"/>
            <a:ext cx="26974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E2268"/>
                </a:solidFill>
                <a:latin typeface="Arial"/>
              </a:rPr>
              <a:t>remaining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291840"/>
            <a:ext cx="269748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A in CPW mode, B in CPW mode = even + odd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023360"/>
            <a:ext cx="5532120" cy="2286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096512"/>
            <a:ext cx="5257800" cy="2176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In the 3-D model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Lumped ports + PEC bars tie each line's grounds and drive symmetrically: both conditions hold at both ends.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Approximate: the neighbour breaks each line's own mirror symmetry slightly.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4023360"/>
            <a:ext cx="5532120" cy="2286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4096512"/>
            <a:ext cx="5257800" cy="2176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F20013"/>
                </a:solidFill>
                <a:latin typeface="Arial"/>
              </a:rPr>
              <a:t>Where modes 1–4 can appear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Asymmetric launches, bends without ground bridges, pads tying grounds differently.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To check: the lab probes and pads.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Model inputs from the 2-D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Both even/odd differences are almost flat over 6–60 GHz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112928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puts_vs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20" y="1463040"/>
            <a:ext cx="1089660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5257800"/>
            <a:ext cx="5532120" cy="105156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330952"/>
            <a:ext cx="5257800" cy="94183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E2268"/>
                </a:solidFill>
                <a:latin typeface="Arial"/>
              </a:rPr>
              <a:t>Δn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A1A1A"/>
                </a:solidFill>
                <a:latin typeface="Arial"/>
              </a:rPr>
              <a:t>from the β of modes 5 and 6 (CST info box): n = βc/(2πf).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5257800"/>
            <a:ext cx="5532120" cy="105156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5330952"/>
            <a:ext cx="5257800" cy="94183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E2268"/>
                </a:solidFill>
                <a:latin typeface="Arial"/>
              </a:rPr>
              <a:t>Z</a:t>
            </a:r>
            <a:r>
              <a:rPr sz="1300" b="1" baseline="-25000">
                <a:solidFill>
                  <a:srgbClr val="0E2268"/>
                </a:solidFill>
                <a:latin typeface="Arial"/>
              </a:rPr>
              <a:t>even</a:t>
            </a:r>
            <a:r>
              <a:rPr sz="1300" b="1">
                <a:solidFill>
                  <a:srgbClr val="0E2268"/>
                </a:solidFill>
                <a:latin typeface="Arial"/>
              </a:rPr>
              <a:t>/Z</a:t>
            </a:r>
            <a:r>
              <a:rPr sz="1300" b="1" baseline="-25000">
                <a:solidFill>
                  <a:srgbClr val="0E2268"/>
                </a:solidFill>
                <a:latin typeface="Arial"/>
              </a:rPr>
              <a:t>odd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A1A1A"/>
                </a:solidFill>
                <a:latin typeface="Arial"/>
              </a:rPr>
              <a:t>integrate E</a:t>
            </a:r>
            <a:r>
              <a:rPr sz="1150" b="0" baseline="-25000">
                <a:solidFill>
                  <a:srgbClr val="1A1A1A"/>
                </a:solidFill>
                <a:latin typeface="Arial"/>
              </a:rPr>
              <a:t>y</a:t>
            </a:r>
            <a:r>
              <a:rPr sz="1150" b="0">
                <a:solidFill>
                  <a:srgbClr val="1A1A1A"/>
                </a:solidFill>
                <a:latin typeface="Arial"/>
              </a:rPr>
              <a:t> across each gap → line voltages; equal power → Z ∝ V</a:t>
            </a:r>
            <a:r>
              <a:rPr sz="1150" b="0" baseline="30000">
                <a:solidFill>
                  <a:srgbClr val="1A1A1A"/>
                </a:solidFill>
                <a:latin typeface="Arial"/>
              </a:rPr>
              <a:t>2</a:t>
            </a:r>
            <a:r>
              <a:rPr sz="1150" b="0">
                <a:solidFill>
                  <a:srgbClr val="1A1A1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Hybrid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Average line from 3-D, even/odd split from 2-D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383280" cy="1188720"/>
          </a:xfrm>
          <a:prstGeom prst="roundRect">
            <a:avLst>
              <a:gd name="adj" fmla="val 6000"/>
            </a:avLst>
          </a:prstGeom>
          <a:solidFill>
            <a:srgbClr val="0E2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3200400" cy="10972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3-D single line (coworker)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speed, loss, Z vs f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includes gold losses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17520"/>
            <a:ext cx="3383280" cy="1188720"/>
          </a:xfrm>
          <a:prstGeom prst="roundRect">
            <a:avLst>
              <a:gd name="adj" fmla="val 6000"/>
            </a:avLst>
          </a:prstGeom>
          <a:solidFill>
            <a:srgbClr val="0E2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200400" cy="10972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2-D port modes (this work)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Δn(f), Z</a:t>
            </a:r>
            <a:r>
              <a:rPr sz="1300" b="0" baseline="-25000">
                <a:solidFill>
                  <a:srgbClr val="FFFFFF"/>
                </a:solidFill>
                <a:latin typeface="Arial"/>
              </a:rPr>
              <a:t>even</a:t>
            </a:r>
            <a:r>
              <a:rPr sz="1300" b="0">
                <a:solidFill>
                  <a:srgbClr val="FFFFFF"/>
                </a:solidFill>
                <a:latin typeface="Arial"/>
              </a:rPr>
              <a:t>/Z</a:t>
            </a:r>
            <a:r>
              <a:rPr sz="1300" b="0" baseline="-25000">
                <a:solidFill>
                  <a:srgbClr val="FFFFFF"/>
                </a:solidFill>
                <a:latin typeface="Arial"/>
              </a:rPr>
              <a:t>odd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2697480"/>
            <a:ext cx="82296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937760" y="228600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2560320" cy="10972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γ</a:t>
            </a:r>
            <a:r>
              <a:rPr sz="1300" b="0" baseline="-25000">
                <a:solidFill>
                  <a:srgbClr val="FFFFFF"/>
                </a:solidFill>
                <a:latin typeface="Arial"/>
              </a:rPr>
              <a:t>even</a:t>
            </a:r>
            <a:r>
              <a:rPr sz="1300" b="0">
                <a:solidFill>
                  <a:srgbClr val="FFFFFF"/>
                </a:solidFill>
                <a:latin typeface="Arial"/>
              </a:rPr>
              <a:t>, γ</a:t>
            </a:r>
            <a:r>
              <a:rPr sz="1300" b="0" baseline="-25000">
                <a:solidFill>
                  <a:srgbClr val="FFFFFF"/>
                </a:solidFill>
                <a:latin typeface="Arial"/>
              </a:rPr>
              <a:t>odd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Z</a:t>
            </a:r>
            <a:r>
              <a:rPr sz="1300" b="0" baseline="-25000">
                <a:solidFill>
                  <a:srgbClr val="FFFFFF"/>
                </a:solidFill>
                <a:latin typeface="Arial"/>
              </a:rPr>
              <a:t>even</a:t>
            </a:r>
            <a:r>
              <a:rPr sz="1300" b="0">
                <a:solidFill>
                  <a:srgbClr val="FFFFFF"/>
                </a:solidFill>
                <a:latin typeface="Arial"/>
              </a:rPr>
              <a:t>, Z</a:t>
            </a:r>
            <a:r>
              <a:rPr sz="1300" b="0" baseline="-25000">
                <a:solidFill>
                  <a:srgbClr val="FFFFFF"/>
                </a:solidFill>
                <a:latin typeface="Arial"/>
              </a:rPr>
              <a:t>odd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2697480"/>
            <a:ext cx="822960" cy="365760"/>
          </a:xfrm>
          <a:prstGeom prst="rightArrow">
            <a:avLst/>
          </a:prstGeom>
          <a:solidFill>
            <a:srgbClr val="5A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0" y="2286000"/>
            <a:ext cx="2971800" cy="1188720"/>
          </a:xfrm>
          <a:prstGeom prst="roundRect">
            <a:avLst>
              <a:gd name="adj" fmla="val 6000"/>
            </a:avLst>
          </a:prstGeom>
          <a:solidFill>
            <a:srgbClr val="F200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331720"/>
            <a:ext cx="2788920" cy="10972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NEXT = ½(Γ</a:t>
            </a:r>
            <a:r>
              <a:rPr sz="1300" b="0" baseline="-25000">
                <a:solidFill>
                  <a:srgbClr val="FFFFFF"/>
                </a:solidFill>
                <a:latin typeface="Arial"/>
              </a:rPr>
              <a:t>e</a:t>
            </a:r>
            <a:r>
              <a:rPr sz="1300" b="0">
                <a:solidFill>
                  <a:srgbClr val="FFFFFF"/>
                </a:solidFill>
                <a:latin typeface="Arial"/>
              </a:rPr>
              <a:t> − Γ</a:t>
            </a:r>
            <a:r>
              <a:rPr sz="1300" b="0" baseline="-25000">
                <a:solidFill>
                  <a:srgbClr val="FFFFFF"/>
                </a:solidFill>
                <a:latin typeface="Arial"/>
              </a:rPr>
              <a:t>o</a:t>
            </a:r>
            <a:r>
              <a:rPr sz="1300" b="0">
                <a:solidFill>
                  <a:srgbClr val="FFFFFF"/>
                </a:solidFill>
                <a:latin typeface="Arial"/>
              </a:rPr>
              <a:t>)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FEXT = ½(T</a:t>
            </a:r>
            <a:r>
              <a:rPr sz="1300" b="0" baseline="-25000">
                <a:solidFill>
                  <a:srgbClr val="FFFFFF"/>
                </a:solidFill>
                <a:latin typeface="Arial"/>
              </a:rPr>
              <a:t>e</a:t>
            </a:r>
            <a:r>
              <a:rPr sz="1300" b="0">
                <a:solidFill>
                  <a:srgbClr val="FFFFFF"/>
                </a:solidFill>
                <a:latin typeface="Arial"/>
              </a:rPr>
              <a:t> − T</a:t>
            </a:r>
            <a:r>
              <a:rPr sz="1300" b="0" baseline="-25000">
                <a:solidFill>
                  <a:srgbClr val="FFFFFF"/>
                </a:solidFill>
                <a:latin typeface="Arial"/>
              </a:rPr>
              <a:t>o</a:t>
            </a:r>
            <a:r>
              <a:rPr sz="1300" b="0">
                <a:solidFill>
                  <a:srgbClr val="FFFFFF"/>
                </a:solidFill>
                <a:latin typeface="Arial"/>
              </a:rPr>
              <a:t>)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50 Ω ports, any length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80560"/>
            <a:ext cx="5532120" cy="18288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553712"/>
            <a:ext cx="5257800" cy="17190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Why hybrid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The hexahedral port solver treats gold as a perfect conductor: n = 1.888, flat, no loss.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The 3-D line has n = 2.02 → 1.93 and loss. The split comes from geometry and is kept.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4480560"/>
            <a:ext cx="5532120" cy="18288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4553712"/>
            <a:ext cx="5257800" cy="17190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F20013"/>
                </a:solidFill>
                <a:latin typeface="Arial"/>
              </a:rPr>
              <a:t>Why a band, not a 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Z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even</a:t>
            </a:r>
            <a:r>
              <a:rPr sz="1200" b="0">
                <a:solidFill>
                  <a:srgbClr val="1A1A1A"/>
                </a:solidFill>
                <a:latin typeface="Arial"/>
              </a:rPr>
              <a:t>/Z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odd</a:t>
            </a:r>
            <a:r>
              <a:rPr sz="1200" b="0">
                <a:solidFill>
                  <a:srgbClr val="1A1A1A"/>
                </a:solidFill>
                <a:latin typeface="Arial"/>
              </a:rPr>
              <a:t> − 1 known only to 0.30–0.45 %: the model is drawn at both ends, shaded between.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NEXT ∝ this value (band ≈ 3.5 dB); FEXT barely depends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Model vs 3-D CST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Black: coworker's 3-D runs · red band: cross-section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371600"/>
            <a:ext cx="9601200" cy="4983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al_vs_s4p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729" y="1417320"/>
            <a:ext cx="733806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1 mm agrees; 5 mm NEXT above 25 GHz is the open point (values in dB, CST / model)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92836" cy="2286000"/>
        </p:xfrm>
        <a:graphic>
          <a:graphicData uri="http://schemas.openxmlformats.org/drawingml/2006/table">
            <a:tbl>
              <a:tblPr firstRow="0" bandRow="0"/>
              <a:tblGrid>
                <a:gridCol w="1472979"/>
                <a:gridCol w="1571177"/>
                <a:gridCol w="1571177"/>
                <a:gridCol w="1571177"/>
                <a:gridCol w="1571177"/>
                <a:gridCol w="1571177"/>
                <a:gridCol w="196397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6 GHz</a:t>
                      </a:r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18 GHz</a:t>
                      </a:r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30 GHz</a:t>
                      </a:r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42 GHz</a:t>
                      </a:r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60 GHz</a:t>
                      </a:r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anchor="ctr">
                    <a:solidFill>
                      <a:srgbClr val="0E226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1 mm NEXT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−71 / −69…−65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−62 / −61…−57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−60 / −58…−55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−61 / −58…−54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−61 / −59…−56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1–5 dB high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1 mm FEXT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−81 / −97…−84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−72 / −76…−72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−71 / −67…−65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−70 / −63…−61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−59 / −59…−58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good at 18, 60 GHz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5 mm FEXT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−67 / −68…−66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−80 / −59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−57 / −54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−50 / −51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−44 / −48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envelope OK, dips not</a:t>
                      </a:r>
                    </a:p>
                  </a:txBody>
                  <a:tcPr marL="54864" marR="54864" anchor="ctr">
                    <a:solidFill>
                      <a:srgbClr val="F6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5 mm NEXT</a:t>
                      </a:r>
                    </a:p>
                  </a:txBody>
                  <a:tcPr marL="54864" marR="54864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−60 / −58…−55</a:t>
                      </a:r>
                    </a:p>
                  </a:txBody>
                  <a:tcPr marL="54864" marR="54864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−65 / −68…−62</a:t>
                      </a:r>
                    </a:p>
                  </a:txBody>
                  <a:tcPr marL="54864" marR="54864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−53 / −62…−61</a:t>
                      </a:r>
                    </a:p>
                  </a:txBody>
                  <a:tcPr marL="54864" marR="54864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−48 / −57…−54</a:t>
                      </a:r>
                    </a:p>
                  </a:txBody>
                  <a:tcPr marL="54864" marR="54864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−46 / −56…−55</a:t>
                      </a:r>
                    </a:p>
                  </a:txBody>
                  <a:tcPr marL="54864" marR="54864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6–10 dB low &gt; 25 GHz</a:t>
                      </a:r>
                    </a:p>
                  </a:txBody>
                  <a:tcPr marL="54864" marR="54864" anchor="ctr">
                    <a:solidFill>
                      <a:srgbClr val="FDECEE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023360"/>
            <a:ext cx="5532120" cy="2286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4096512"/>
            <a:ext cx="5257800" cy="2176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F20013"/>
                </a:solidFill>
                <a:latin typeface="Arial"/>
              </a:rPr>
              <a:t>Why 5 mm NEXT may be off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A uniform line must show NEXT nulls every ~15 GHz. The 3-D 5 mm NEXT has none above 25 GHz.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Extra near-end coupling (ports, ground modes) or numerical error.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4023360"/>
            <a:ext cx="5532120" cy="2286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36792" y="4096512"/>
            <a:ext cx="5257800" cy="2176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Why we cannot tell yet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5 mm error floor |S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21</a:t>
            </a:r>
            <a:r>
              <a:rPr sz="1200" b="0">
                <a:solidFill>
                  <a:srgbClr val="1A1A1A"/>
                </a:solidFill>
                <a:latin typeface="Arial"/>
              </a:rPr>
              <a:t> − S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43</a:t>
            </a:r>
            <a:r>
              <a:rPr sz="1200" b="0">
                <a:solidFill>
                  <a:srgbClr val="1A1A1A"/>
                </a:solidFill>
                <a:latin typeface="Arial"/>
              </a:rPr>
              <a:t>| ≈ −56 dB at 30 GHz: the disputed values sit on it.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Test: 5 mm 3-D run with finer mesh around the ports.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One cross-section replaces a family of long 3-D runs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11880" cy="25603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361188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5A606E"/>
                </a:solidFill>
                <a:latin typeface="Arial"/>
              </a:rPr>
              <a:t>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3246120" cy="13715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per 3-D run and per length; the 5 mm run already sits at its error floor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63040"/>
            <a:ext cx="3611880" cy="25603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88536" y="1600200"/>
            <a:ext cx="361188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0E2268"/>
                </a:solidFill>
                <a:latin typeface="Arial"/>
              </a:rPr>
              <a:t>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1416" y="2560320"/>
            <a:ext cx="3246120" cy="13715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per 2-D frequency point (2 adaptive passes); 5 points cover 6–60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63040"/>
            <a:ext cx="3611880" cy="25603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2" y="1600200"/>
            <a:ext cx="361188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20013"/>
                </a:solidFill>
                <a:latin typeface="Arial"/>
              </a:rPr>
              <a:t>free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2560320"/>
            <a:ext cx="3246120" cy="137159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any length afterwards: 1, 5 or 14 mm is a formula, no cascade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1124712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First 2-D run: ~47 min with 3 adaptive passes; pass 3 changed the line impedance by only 0.36 %.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Prediction for the 14 mm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Hybrid model, pitch 200 µm, straight uniform line, 50 Ω terminations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78638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dict_14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20190"/>
            <a:ext cx="7772400" cy="27203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417320"/>
            <a:ext cx="310896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20013"/>
                </a:solidFill>
                <a:latin typeface="Arial"/>
              </a:rPr>
              <a:t>−48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938528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FEXT at 30 GHz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2404872"/>
            <a:ext cx="310896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20013"/>
                </a:solidFill>
                <a:latin typeface="Arial"/>
              </a:rPr>
              <a:t>−43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9260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FEXT at 60 GHz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392424"/>
            <a:ext cx="310896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E2268"/>
                </a:solidFill>
                <a:latin typeface="Arial"/>
              </a:rPr>
              <a:t>≈ −54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913632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06E"/>
                </a:solidFill>
                <a:latin typeface="Arial"/>
              </a:rPr>
              <a:t>NEXT at 60 GHz (line only)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572000"/>
            <a:ext cx="11292840" cy="173736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645152"/>
            <a:ext cx="11018519" cy="162763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Reading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FEXT grows with length (about +20 dB from 1 to 14 mm) and dominates long lines.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NEXT saturates with length; any near-end contribution of pads or ports must be added separately.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Slow-wave (T-loaded)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Same physics; the cross-section becomes one unit cell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36192"/>
            <a:ext cx="3337560" cy="2176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Still uniform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Tees repeat every few tens of µm ≪ RF wavelength: one effective n, Z, α per line up to 60 GHz.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8536" y="146304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25696" y="1536192"/>
            <a:ext cx="3337560" cy="2176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Still even + odd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Identical, aligned lines keep the A↔B symmetry: the pair modes stay even and odd (Bloch modes).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46304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1536192"/>
            <a:ext cx="3337560" cy="2176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F20013"/>
                </a:solidFill>
                <a:latin typeface="Arial"/>
              </a:rPr>
              <a:t>No 2-D 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One cross-section cannot see the tees: extract from one period instead.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23360"/>
            <a:ext cx="5532120" cy="2286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2"/>
            <a:ext cx="5257800" cy="2176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Option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3-D eigenmode solve of one period of both lines, periodic boundaries → β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even</a:t>
            </a:r>
            <a:r>
              <a:rPr sz="1200" b="0">
                <a:solidFill>
                  <a:srgbClr val="1A1A1A"/>
                </a:solidFill>
                <a:latin typeface="Arial"/>
              </a:rPr>
              <a:t>, β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odd</a:t>
            </a:r>
            <a:r>
              <a:rPr sz="1200" b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Check: does the eigenmode solver accept anisotropic LiNbO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3</a:t>
            </a:r>
            <a:r>
              <a:rPr sz="1200" b="0">
                <a:solidFill>
                  <a:srgbClr val="1A1A1A"/>
                </a:solidFill>
                <a:latin typeface="Arial"/>
              </a:rPr>
              <a:t>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023360"/>
            <a:ext cx="5532120" cy="2286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4096512"/>
            <a:ext cx="5257800" cy="2176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0E2268"/>
                </a:solidFill>
                <a:latin typeface="Arial"/>
              </a:rPr>
              <a:t>Option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Short 3-D runs of N and 2N periods → 4 × 4 transfer matrices → eigenvalues give γ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even</a:t>
            </a:r>
            <a:r>
              <a:rPr sz="1200" b="0">
                <a:solidFill>
                  <a:srgbClr val="1A1A1A"/>
                </a:solidFill>
                <a:latin typeface="Arial"/>
              </a:rPr>
              <a:t>, γ</a:t>
            </a:r>
            <a:r>
              <a:rPr sz="1200" b="0" baseline="-25000">
                <a:solidFill>
                  <a:srgbClr val="1A1A1A"/>
                </a:solidFill>
                <a:latin typeface="Arial"/>
              </a:rPr>
              <a:t>odd</a:t>
            </a:r>
            <a:r>
              <a:rPr sz="1200" b="0">
                <a:solidFill>
                  <a:srgbClr val="1A1A1A"/>
                </a:solidFill>
                <a:latin typeface="Arial"/>
              </a:rPr>
              <a:t>; ports cancel.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Reuses the extraction already written.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A1A1A"/>
                </a:solidFill>
                <a:latin typeface="Arial"/>
              </a:rPr>
              <a:t>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2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737360"/>
            <a:ext cx="2468880" cy="164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1  5 mm port mesh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settles whether the 5 mm NEXT excess is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64592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2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01568" y="1737360"/>
            <a:ext cx="2468880" cy="164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2  INTERCONNECT block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4 RF ports + EO outputs, from this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2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6208" y="1737360"/>
            <a:ext cx="2468880" cy="164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3  Lab launch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check probes/pads tie each line's grounds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64592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2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0848" y="1737360"/>
            <a:ext cx="2468880" cy="164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2268"/>
                </a:solidFill>
                <a:latin typeface="Arial"/>
              </a:rPr>
              <a:t>4  Slow-wave lines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Arial"/>
              </a:rPr>
              <a:t>unit-cell extraction, same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1893</TotalTime>
  <Words>466</Words>
  <Application>Microsoft Office PowerPoint</Application>
  <PresentationFormat>Widescreen</PresentationFormat>
  <Paragraphs>120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微软雅黑</vt:lpstr>
      <vt:lpstr>Aptos</vt:lpstr>
      <vt:lpstr>Aptos Display</vt:lpstr>
      <vt:lpstr>Aptos Narrow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Andrei.Muresian</dc:creator>
  <cp:lastModifiedBy>Andrei.Muresian</cp:lastModifiedBy>
  <cp:revision>29</cp:revision>
  <dcterms:created xsi:type="dcterms:W3CDTF">2025-12-17T10:39:38Z</dcterms:created>
  <dcterms:modified xsi:type="dcterms:W3CDTF">2026-09-28T09:09:54Z</dcterms:modified>
</cp:coreProperties>
</file>